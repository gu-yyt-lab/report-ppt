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  <p:sldMasterId id="2147483667" r:id="rId3"/>
  </p:sldMasterIdLst>
  <p:notesMasterIdLst>
    <p:notesMasterId r:id="rId31"/>
  </p:notesMasterIdLst>
  <p:handoutMasterIdLst>
    <p:handoutMasterId r:id="rId32"/>
  </p:handoutMasterIdLst>
  <p:sldIdLst>
    <p:sldId id="257" r:id="rId4"/>
    <p:sldId id="258" r:id="rId5"/>
    <p:sldId id="289" r:id="rId6"/>
    <p:sldId id="260" r:id="rId7"/>
    <p:sldId id="261" r:id="rId8"/>
    <p:sldId id="266" r:id="rId9"/>
    <p:sldId id="263" r:id="rId10"/>
    <p:sldId id="264" r:id="rId11"/>
    <p:sldId id="265" r:id="rId12"/>
    <p:sldId id="267" r:id="rId13"/>
    <p:sldId id="268" r:id="rId14"/>
    <p:sldId id="269" r:id="rId15"/>
    <p:sldId id="274" r:id="rId16"/>
    <p:sldId id="270" r:id="rId17"/>
    <p:sldId id="271" r:id="rId18"/>
    <p:sldId id="275" r:id="rId19"/>
    <p:sldId id="272" r:id="rId20"/>
    <p:sldId id="276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8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9CE1AC2-A934-4615-BD20-AF81BF938B40}">
          <p14:sldIdLst>
            <p14:sldId id="257"/>
            <p14:sldId id="258"/>
            <p14:sldId id="289"/>
            <p14:sldId id="260"/>
            <p14:sldId id="261"/>
            <p14:sldId id="266"/>
            <p14:sldId id="263"/>
            <p14:sldId id="264"/>
            <p14:sldId id="265"/>
            <p14:sldId id="267"/>
            <p14:sldId id="268"/>
            <p14:sldId id="269"/>
            <p14:sldId id="274"/>
            <p14:sldId id="270"/>
            <p14:sldId id="271"/>
            <p14:sldId id="275"/>
            <p14:sldId id="272"/>
            <p14:sldId id="276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8"/>
          </p14:sldIdLst>
        </p14:section>
        <p14:section name="附录" id="{54916D00-FF17-494C-A2EC-BC23D257A18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21" userDrawn="1">
          <p15:clr>
            <a:srgbClr val="A4A3A4"/>
          </p15:clr>
        </p15:guide>
        <p15:guide id="2" pos="39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0" clrIdx="0"/>
  <p:cmAuthor id="2" name="DELL" initials="D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8C8C8"/>
    <a:srgbClr val="F2F2F2"/>
    <a:srgbClr val="0F6EB2"/>
    <a:srgbClr val="0B497B"/>
    <a:srgbClr val="E2E9F7"/>
    <a:srgbClr val="DCDCDC"/>
    <a:srgbClr val="F0F0F0"/>
    <a:srgbClr val="E6E6E6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21" d="100"/>
          <a:sy n="121" d="100"/>
        </p:scale>
        <p:origin x="595" y="86"/>
      </p:cViewPr>
      <p:guideLst>
        <p:guide orient="horz" pos="2121"/>
        <p:guide pos="39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验证 AP</c:v>
                </c:pt>
              </c:strCache>
            </c:strRef>
          </c:tx>
          <c:spPr>
            <a:solidFill>
              <a:srgbClr val="126FAD"/>
            </a:solidFill>
            <a:ln>
              <a:noFill/>
            </a:ln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endpoint</c:v>
                </c:pt>
                <c:pt idx="1">
                  <c:v>exact_pair</c:v>
                </c:pt>
                <c:pt idx="2">
                  <c:v>exact_pair_context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0.14595573941000861</c:v>
                </c:pt>
                <c:pt idx="1">
                  <c:v>0.19874832491420649</c:v>
                </c:pt>
                <c:pt idx="2">
                  <c:v>0.151424745684613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974-4728-ADED-067F104A071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24"/>
          <c:min val="0"/>
        </c:scaling>
        <c:delete val="0"/>
        <c:axPos val="l"/>
        <c:majorGridlines>
          <c:spPr>
            <a:ln>
              <a:solidFill>
                <a:srgbClr val="DCE6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</a:t>
            </a:r>
          </a:p>
          <a:p>
            <a:endParaRPr/>
          </a:p>
          <a:p>
            <a:r>
              <a:t>讲解提示：本次汇报日期沿用模板 2026 年 9 月 15 日；实验截止 9 月 12 日。汇报人、专业、导师沿用模板封面，不沿用原结束页的其他课题信息。</a:t>
            </a:r>
          </a:p>
          <a:p>
            <a:endParaRPr/>
          </a:p>
          <a:p>
            <a:r>
              <a:t>资料依据：</a:t>
            </a:r>
          </a:p>
          <a:p>
            <a:r>
              <a:t>E:\生物网络数据集\相关文件\DA-MEF.pptx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目录</a:t>
            </a:r>
          </a:p>
          <a:p>
            <a:endParaRPr/>
          </a:p>
          <a:p>
            <a:r>
              <a:t>讲解提示：按研究背景、研究综述、数据与方法、结果与分析展开。重点是证据归属与受控实验，不将已跑通等同于已全面验证。</a:t>
            </a:r>
          </a:p>
          <a:p>
            <a:endParaRPr/>
          </a:p>
          <a:p>
            <a:r>
              <a:t>资料依据：</a:t>
            </a:r>
          </a:p>
          <a:p>
            <a:r>
              <a:t>功能对照.md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讲解话术：本项目的背景可以分为三个层次。首先，临床推进预测不能只看某一条直接关联。</a:t>
            </a:r>
            <a:r>
              <a:rPr lang="en-US" altLang="zh-CN"/>
              <a:t>THBKG </a:t>
            </a:r>
            <a:r>
              <a:rPr lang="zh-CN" altLang="en-US"/>
              <a:t>原论文报告，</a:t>
            </a:r>
            <a:r>
              <a:rPr lang="en-US" altLang="zh-CN"/>
              <a:t>72.8% </a:t>
            </a:r>
            <a:r>
              <a:rPr lang="zh-CN" altLang="en-US"/>
              <a:t>的候选配对在决策时没有直接靶点</a:t>
            </a:r>
            <a:r>
              <a:rPr lang="en-US" altLang="zh-CN"/>
              <a:t>—</a:t>
            </a:r>
            <a:r>
              <a:rPr lang="zh-CN" altLang="en-US"/>
              <a:t>疾病证据，因此需要通过相邻靶点、通路等网络关系获取间接支持。这个比例是原论文结果，不是本项目重新统计的结果。其次，历史决策必须使用当时已知的证据。</a:t>
            </a:r>
            <a:r>
              <a:rPr lang="en-US" altLang="zh-CN"/>
              <a:t>THBKG </a:t>
            </a:r>
            <a:r>
              <a:rPr lang="zh-CN" altLang="en-US"/>
              <a:t>为边记录时间，能够恢复决策前的图，并保留多跳结构。在此基础上，</a:t>
            </a:r>
            <a:r>
              <a:rPr lang="en-US" altLang="zh-CN"/>
              <a:t>DA-MEF </a:t>
            </a:r>
            <a:r>
              <a:rPr lang="zh-CN" altLang="en-US"/>
              <a:t>方法关注不同候选对不同证据来源的依赖差异：不增加外部数据，而是将直接、临床和网络证据分别池化，再利用源级门控融合。这里介绍的是方法动机，是否优于基线需要通过后面的受控实验验证。下一页介绍具体研究目标。</a:t>
            </a:r>
          </a:p>
          <a:p>
            <a:endParaRPr lang="zh-CN" altLang="en-US"/>
          </a:p>
          <a:p>
            <a:r>
              <a:rPr lang="zh-CN" altLang="en-US"/>
              <a:t>来源一：</a:t>
            </a:r>
            <a:r>
              <a:rPr lang="en-US" altLang="zh-CN"/>
              <a:t>《</a:t>
            </a:r>
            <a:r>
              <a:rPr lang="zh-CN" altLang="en-US"/>
              <a:t>生物网络数据集</a:t>
            </a:r>
            <a:r>
              <a:rPr lang="en-US" altLang="zh-CN"/>
              <a:t>.pdf》</a:t>
            </a:r>
            <a:r>
              <a:rPr lang="zh-CN" altLang="en-US"/>
              <a:t>，第</a:t>
            </a:r>
            <a:r>
              <a:rPr lang="en-US" altLang="zh-CN"/>
              <a:t>1</a:t>
            </a:r>
            <a:r>
              <a:rPr lang="zh-CN" altLang="en-US"/>
              <a:t>页摘要、引言，第</a:t>
            </a:r>
            <a:r>
              <a:rPr lang="en-US" altLang="zh-CN"/>
              <a:t>2</a:t>
            </a:r>
            <a:r>
              <a:rPr lang="zh-CN" altLang="en-US"/>
              <a:t>页决策对齐基准与多跳传播，第</a:t>
            </a:r>
            <a:r>
              <a:rPr lang="en-US" altLang="zh-CN"/>
              <a:t>3</a:t>
            </a:r>
            <a:r>
              <a:rPr lang="zh-CN" altLang="en-US"/>
              <a:t>页 </a:t>
            </a:r>
            <a:r>
              <a:rPr lang="en-US" altLang="zh-CN"/>
              <a:t>as-of </a:t>
            </a:r>
            <a:r>
              <a:rPr lang="zh-CN" altLang="en-US"/>
              <a:t>查询。</a:t>
            </a:r>
          </a:p>
          <a:p>
            <a:r>
              <a:rPr lang="zh-CN" altLang="en-US"/>
              <a:t>来源二：</a:t>
            </a:r>
            <a:r>
              <a:rPr lang="en-US" altLang="zh-CN"/>
              <a:t>《</a:t>
            </a:r>
            <a:r>
              <a:rPr lang="zh-CN" altLang="en-US"/>
              <a:t>方法核心内容</a:t>
            </a:r>
            <a:r>
              <a:rPr lang="en-US" altLang="zh-CN"/>
              <a:t>.pdf》</a:t>
            </a:r>
            <a:r>
              <a:rPr lang="zh-CN" altLang="en-US"/>
              <a:t>，第</a:t>
            </a:r>
            <a:r>
              <a:rPr lang="en-US" altLang="zh-CN"/>
              <a:t>1</a:t>
            </a:r>
            <a:r>
              <a:rPr lang="zh-CN" altLang="en-US"/>
              <a:t>页问题定义、总体框架，第</a:t>
            </a:r>
            <a:r>
              <a:rPr lang="en-US" altLang="zh-CN"/>
              <a:t>2</a:t>
            </a:r>
            <a:r>
              <a:rPr lang="zh-CN" altLang="en-US"/>
              <a:t>页时间子图与多证据融合，第</a:t>
            </a:r>
            <a:r>
              <a:rPr lang="en-US" altLang="zh-CN"/>
              <a:t>3</a:t>
            </a:r>
            <a:r>
              <a:rPr lang="zh-CN" altLang="en-US"/>
              <a:t>页核心创新点。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问题与动机</a:t>
            </a:r>
          </a:p>
          <a:p>
            <a:endParaRPr/>
          </a:p>
          <a:p>
            <a:r>
              <a:t>讲解提示：THBKG 原论文强调直接证据缺失场景中的图传播价值；本汇报不将原论文统计当作本地重新测得的数据。</a:t>
            </a:r>
          </a:p>
          <a:p>
            <a:endParaRPr/>
          </a:p>
          <a:p>
            <a:r>
              <a:t>资料依据：</a:t>
            </a:r>
          </a:p>
          <a:p>
            <a:r>
              <a:t>相关文件/生物网络数据集.docx</a:t>
            </a:r>
          </a:p>
          <a:p>
            <a:r>
              <a:t>相关文件/方法核心内容.pdf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研究综述</a:t>
            </a:r>
          </a:p>
          <a:p>
            <a:endParaRPr/>
          </a:p>
          <a:p>
            <a:r>
              <a:t>讲解提示：这是方法路线对照，不是完整系统文献综述。THBKG 引用来自用户提供的论文，arXiv:2608.05982v1。DA-MEF 名称采用最新方法文档的 Decision-Aligned Multi-Evidence Fusion。</a:t>
            </a:r>
          </a:p>
          <a:p>
            <a:endParaRPr/>
          </a:p>
          <a:p>
            <a:r>
              <a:t>资料依据：</a:t>
            </a:r>
          </a:p>
          <a:p>
            <a:r>
              <a:t>相关文件/生物网络数据集.docx：Siu et al., THBKG, 2026</a:t>
            </a:r>
          </a:p>
          <a:p>
            <a:r>
              <a:t>相关文件/方法核心内容.pdf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总体模型</a:t>
            </a:r>
          </a:p>
          <a:p>
            <a:endParaRPr/>
          </a:p>
          <a:p>
            <a:r>
              <a:t>讲解提示：当前实际顺序先 HGT，再使用节点表示构造证据消息并池化。图编码器不是三套互相独立的模型；direct 精确边归属也不意味着节点表示不含上下文。</a:t>
            </a:r>
          </a:p>
          <a:p>
            <a:endParaRPr/>
          </a:p>
          <a:p>
            <a:r>
              <a:t>资料依据：</a:t>
            </a:r>
          </a:p>
          <a:p>
            <a:r>
              <a:t>src/models/da_mef.py：DAMEFLinkPredictor.forward</a:t>
            </a:r>
          </a:p>
          <a:p>
            <a:r>
              <a:t>功能对照.md：整体流程图与最新三类证据定义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数据基础</a:t>
            </a:r>
          </a:p>
          <a:p>
            <a:endParaRPr/>
          </a:p>
          <a:p>
            <a:r>
              <a:t>讲解提示：本地 metadata 精确统计：节点 110396，时间边 11073864，发布关系三元组 19。反向扩展后的训练视图关系数与发布文件计数不同。</a:t>
            </a:r>
          </a:p>
          <a:p>
            <a:endParaRPr/>
          </a:p>
          <a:p>
            <a:r>
              <a:t>资料依据：</a:t>
            </a:r>
          </a:p>
          <a:p>
            <a:r>
              <a:t>external_data/hf_thbkg/metadata.json</a:t>
            </a:r>
          </a:p>
          <a:p>
            <a:r>
              <a:t>src/data/temporal_loader.py</a:t>
            </a:r>
          </a:p>
          <a:p>
            <a:r>
              <a:t>src/advancement_core.py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时间划分</a:t>
            </a:r>
          </a:p>
          <a:p>
            <a:endParaRPr/>
          </a:p>
          <a:p>
            <a:r>
              <a:t>讲解提示：train.parquet 包含训练及验证候选；训练入口按年份分出 13,991/7,611。eval.parquet 保持 7,193 条。训练窗口实验仅删去旧训练监督，不移动验证标签。</a:t>
            </a:r>
          </a:p>
          <a:p>
            <a:endParaRPr/>
          </a:p>
          <a:p>
            <a:r>
              <a:t>资料依据：</a:t>
            </a:r>
          </a:p>
          <a:p>
            <a:r>
              <a:t>runs/26.03/runs/da_mef_0003/results.yaml</a:t>
            </a:r>
          </a:p>
          <a:p>
            <a:r>
              <a:t>runs/26.03/runs/distribution_shift_s52_20260912_v1/SUMMARY.md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决策时间约束</a:t>
            </a:r>
          </a:p>
          <a:p>
            <a:endParaRPr/>
          </a:p>
          <a:p>
            <a:r>
              <a:t>讲解提示：代码向时间采样器传入 y−1，实现整数年份上的严格小于。最新快照选择仅作用于已采样的可见边；RTE 不是防止未来泄漏的替代品。</a:t>
            </a:r>
          </a:p>
          <a:p>
            <a:endParaRPr/>
          </a:p>
          <a:p>
            <a:r>
              <a:t>资料依据：</a:t>
            </a:r>
          </a:p>
          <a:p>
            <a:r>
              <a:t>src/train_advancement_lambdarank.py：seed_time 与 LinkNeighborLoader</a:t>
            </a:r>
          </a:p>
          <a:p>
            <a:r>
              <a:t>tests/test_clinical_context.py</a:t>
            </a:r>
          </a:p>
          <a:p>
            <a:r>
              <a:t>相关文件/方法核心内容.pdf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模块对照 1：问题定义与时间子图</a:t>
            </a:r>
          </a:p>
          <a:p>
            <a:endParaRPr/>
          </a:p>
          <a:p>
            <a:r>
              <a:t>讲解提示：先把查询样本和历史子图写清楚，再解释编码与融合。seed_time=edge_time−1 是代码中的严格小于约束。</a:t>
            </a:r>
          </a:p>
          <a:p>
            <a:endParaRPr/>
          </a:p>
          <a:p>
            <a:r>
              <a:t>资料依据：</a:t>
            </a:r>
          </a:p>
          <a:p>
            <a:r>
              <a:t>相关文件/方法核心内容.pdf</a:t>
            </a:r>
          </a:p>
          <a:p>
            <a:r>
              <a:t>src/data/temporal_loader.py</a:t>
            </a:r>
          </a:p>
          <a:p>
            <a:r>
              <a:t>src/train_advancement_lambdarank.py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模块对照 2：决策时刻边特征</a:t>
            </a:r>
          </a:p>
          <a:p>
            <a:endParaRPr/>
          </a:p>
          <a:p>
            <a:r>
              <a:t>讲解提示：本页把公式中的 e_ruv 与代码类名对应起来。use_recency=false 不等于完全没有 Δt；当前候选仍启用 RTE 与时间边特征。</a:t>
            </a:r>
          </a:p>
          <a:p>
            <a:endParaRPr/>
          </a:p>
          <a:p>
            <a:r>
              <a:t>资料依据：</a:t>
            </a:r>
          </a:p>
          <a:p>
            <a:r>
              <a:t>相关文件/DA-MEF_全文公式逐条详解_完整文档.docx</a:t>
            </a:r>
          </a:p>
          <a:p>
            <a:r>
              <a:t>src/models/da_mef.py</a:t>
            </a:r>
          </a:p>
          <a:p>
            <a:r>
              <a:t>src/models/hgt_conv_rte.py</a:t>
            </a:r>
          </a:p>
          <a:p>
            <a:r>
              <a:t>config/experiments/da_mef_0003.yaml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模块对照 3：时间感知异质图编码</a:t>
            </a:r>
          </a:p>
          <a:p>
            <a:endParaRPr/>
          </a:p>
          <a:p>
            <a:r>
              <a:t>讲解提示：这里将原文的异质消息公式与 HGTConvRTE、DAMEFLinkPredictor.forward 对齐，并明确当前 RTE 的扩展性质。</a:t>
            </a:r>
          </a:p>
          <a:p>
            <a:endParaRPr/>
          </a:p>
          <a:p>
            <a:r>
              <a:t>资料依据：</a:t>
            </a:r>
          </a:p>
          <a:p>
            <a:r>
              <a:t>相关文件/方法核心内容.pdf</a:t>
            </a:r>
          </a:p>
          <a:p>
            <a:r>
              <a:t>src/models/hgt_conv_rte.py</a:t>
            </a:r>
          </a:p>
          <a:p>
            <a:r>
              <a:t>src/models/da_mef.py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三类证据定义</a:t>
            </a:r>
          </a:p>
          <a:p>
            <a:endParaRPr/>
          </a:p>
          <a:p>
            <a:r>
              <a:t>讲解提示：采用用户最终明确的语义：Clinical 是 context，其 endpoint-based pooling 不视为 bug。未匹配的关系默认进入 network，实际类别需要结合元数据解释。</a:t>
            </a:r>
          </a:p>
          <a:p>
            <a:endParaRPr/>
          </a:p>
          <a:p>
            <a:r>
              <a:t>资料依据：</a:t>
            </a:r>
          </a:p>
          <a:p>
            <a:r>
              <a:t>功能对照.md：三类证据的语义与归属范围</a:t>
            </a:r>
          </a:p>
          <a:p>
            <a:r>
              <a:t>src/models/da_mef.py：assign_source 与 _scope_rows</a:t>
            </a:r>
          </a:p>
          <a:p>
            <a:r>
              <a:t>tests/test_clinical_context.py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模块对照 4：三类证据如何分组</a:t>
            </a:r>
          </a:p>
          <a:p>
            <a:endParaRPr/>
          </a:p>
          <a:p>
            <a:r>
              <a:t>讲解提示：当前推荐语义是 Direct=exact_pair，Clinical=temporal context，Network=biological context。Clinical 跨端点不等于时间泄漏。</a:t>
            </a:r>
          </a:p>
          <a:p>
            <a:endParaRPr/>
          </a:p>
          <a:p>
            <a:r>
              <a:t>资料依据：</a:t>
            </a:r>
          </a:p>
          <a:p>
            <a:r>
              <a:t>功能对照.md</a:t>
            </a:r>
          </a:p>
          <a:p>
            <a:r>
              <a:t>src/models/da_mef.py</a:t>
            </a:r>
          </a:p>
          <a:p>
            <a:r>
              <a:t>tests/test_clinical_context.py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模块对照 5：类内注意力池化</a:t>
            </a:r>
          </a:p>
          <a:p>
            <a:endParaRPr/>
          </a:p>
          <a:p>
            <a:r>
              <a:t>讲解提示：本页补充公式、实现函数和空源行为。实际注意力权重可用于诊断，但需要单独做稳定性分析后再解释。</a:t>
            </a:r>
          </a:p>
          <a:p>
            <a:endParaRPr/>
          </a:p>
          <a:p>
            <a:r>
              <a:t>资料依据：</a:t>
            </a:r>
          </a:p>
          <a:p>
            <a:r>
              <a:t>相关文件/DA-MEF_全文公式逐条详解_完整文档.docx</a:t>
            </a:r>
          </a:p>
          <a:p>
            <a:r>
              <a:t>src/models/da_mef.py：MultiEvidenceFusion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注意力与门控</a:t>
            </a:r>
          </a:p>
          <a:p>
            <a:endParaRPr/>
          </a:p>
          <a:p>
            <a:r>
              <a:t>讲解提示：这里明确三类证据分别使用专属 Attention Pool：Direct→z_D、Clinical→z_C、Network→z_N。之后对每个 z_m 使用对应的门控参数，再计算 h_fuse。无证据时使用该源的可学习空表示。</a:t>
            </a:r>
          </a:p>
          <a:p>
            <a:endParaRPr/>
          </a:p>
          <a:p>
            <a:r>
              <a:t>资料依据：</a:t>
            </a:r>
          </a:p>
          <a:p>
            <a:r>
              <a:t>相关文件/DA-MEF_全文公式逐条详解_完整文档.docx：5.2–5.4</a:t>
            </a:r>
          </a:p>
          <a:p>
            <a:r>
              <a:t>src/models/da_mef.py：MultiEvidenceFusion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模块对照 6：源级门控、融合与预测</a:t>
            </a:r>
          </a:p>
          <a:p>
            <a:endParaRPr/>
          </a:p>
          <a:p>
            <a:r>
              <a:t>讲解提示：h_pair 使用端点表示、拼接和逐元素乘积。当前 decoder 接收融合表示并输出 logits；fusion_mode=latest 只描述时间快照选择。</a:t>
            </a:r>
          </a:p>
          <a:p>
            <a:endParaRPr/>
          </a:p>
          <a:p>
            <a:r>
              <a:t>资料依据：</a:t>
            </a:r>
          </a:p>
          <a:p>
            <a:r>
              <a:t>相关文件/DA-MEF_全文公式逐条详解_完整文档.docx</a:t>
            </a:r>
          </a:p>
          <a:p>
            <a:r>
              <a:t>src/models/da_mef.py</a:t>
            </a:r>
          </a:p>
          <a:p>
            <a:r>
              <a:t>src/models/decoder.py</a:t>
            </a:r>
          </a:p>
          <a:p>
            <a:r>
              <a:t>config/experiments/da_mef_0003.yaml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训练目标与配置</a:t>
            </a:r>
          </a:p>
          <a:p>
            <a:endParaRPr/>
          </a:p>
          <a:p>
            <a:r>
              <a:t>讲解提示：当前 mean reduction，论文公式写作求和，因此不声称损失归约完全逐式等价。批次按决策年分组；无正负配对时 rank 项为零。超参数和模型结构在窗口实验中保持一致。</a:t>
            </a:r>
          </a:p>
          <a:p>
            <a:endParaRPr/>
          </a:p>
          <a:p>
            <a:r>
              <a:t>资料依据：</a:t>
            </a:r>
          </a:p>
          <a:p>
            <a:r>
              <a:t>src/losses/da_mef_loss.py</a:t>
            </a:r>
          </a:p>
          <a:p>
            <a:r>
              <a:t>config/experiments/evidence_scope_ablation/exact_pair_s52.yaml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评估口径</a:t>
            </a:r>
          </a:p>
          <a:p>
            <a:endParaRPr/>
          </a:p>
          <a:p>
            <a:r>
              <a:t>讲解提示：当前为全局排序结果，不能直接与原论文 TA-mean 指标比较。P@K 与 NDCG@K 使用的排序入口不同，并列分数时可能选中不同候选；da_mef_0003 的 P@10=1 与 NDCG@10&lt;1 需结合原始分数核对，不在本报告中把未复核原因当作已确认结论。</a:t>
            </a:r>
          </a:p>
          <a:p>
            <a:endParaRPr/>
          </a:p>
          <a:p>
            <a:r>
              <a:t>资料依据：</a:t>
            </a:r>
          </a:p>
          <a:p>
            <a:r>
              <a:t>src/benchmark/metrics.py</a:t>
            </a:r>
          </a:p>
          <a:p>
            <a:r>
              <a:t>src/benchmark/concentration.py</a:t>
            </a:r>
          </a:p>
          <a:p>
            <a:r>
              <a:t>src/advancement_core.py：compute_metrics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验证零值诊断</a:t>
            </a:r>
          </a:p>
          <a:p>
            <a:endParaRPr/>
          </a:p>
          <a:p>
            <a:r>
              <a:t>讲解提示：案例来自 da_mef_0001 的独立重推断，验证 AP 复现约0.158108。疾病分组均值解释65.63%的分数方差仅为描述统计。该报告包含历史代码状态；本页只使用已复核样本数字。</a:t>
            </a:r>
          </a:p>
          <a:p>
            <a:endParaRPr/>
          </a:p>
          <a:p>
            <a:r>
              <a:t>资料依据：</a:t>
            </a:r>
          </a:p>
          <a:p>
            <a:r>
              <a:t>VALIDATION_ZERO_DIAGNOSIS.md</a:t>
            </a:r>
          </a:p>
          <a:p>
            <a:r>
              <a:t>runs/26.03/runs/da_mef_0001/validation_diagnostic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归属消融设计</a:t>
            </a:r>
          </a:p>
          <a:p>
            <a:endParaRPr/>
          </a:p>
          <a:p>
            <a:r>
              <a:t>讲解提示：本组是 Direct 归属消融，不是 Clinical scope 消融。exact_pair_context 在现有 network 通道路由非精确直接边，不新增一组可训练参数。全部结果保存冻结源码与 manifest。</a:t>
            </a:r>
          </a:p>
          <a:p>
            <a:endParaRPr/>
          </a:p>
          <a:p>
            <a:r>
              <a:t>资料依据：</a:t>
            </a:r>
          </a:p>
          <a:p>
            <a:r>
              <a:t>功能对照.md：三种证据归属模式及全量消融实验</a:t>
            </a:r>
          </a:p>
          <a:p>
            <a:r>
              <a:t>runs\26.03\runs\scope_ablation_s52_1789140015701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归属消融结果</a:t>
            </a:r>
          </a:p>
          <a:p>
            <a:endParaRPr/>
          </a:p>
          <a:p>
            <a:r>
              <a:t>讲解提示：表格为各组最佳验证 AP 所在轮次。exact_pair 相对 endpoint 提升约36.2%。不是多种子统计显著结论。疾病Top100集中度43%→45%，未支持偏置已消除。</a:t>
            </a:r>
          </a:p>
          <a:p>
            <a:endParaRPr/>
          </a:p>
          <a:p>
            <a:r>
              <a:t>资料依据：</a:t>
            </a:r>
          </a:p>
          <a:p>
            <a:r>
              <a:t>runs/26.03/runs/scope_ablation_s52_1789140015701/validation_comparison.csv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独立测试与边界</a:t>
            </a:r>
          </a:p>
          <a:p>
            <a:endParaRPr/>
          </a:p>
          <a:p>
            <a:r>
              <a:t>讲解提示：测试只报告按验证选出的 checkpoint，不用于选模式。三组数值来自各目录 results.yaml；验证 exact_pair Top100正例中最大疾病占比95.65%。</a:t>
            </a:r>
          </a:p>
          <a:p>
            <a:endParaRPr/>
          </a:p>
          <a:p>
            <a:r>
              <a:t>资料依据：</a:t>
            </a:r>
          </a:p>
          <a:p>
            <a:r>
              <a:t>功能对照.md：三种证据归属模式及全量消融实验</a:t>
            </a:r>
          </a:p>
          <a:p>
            <a:r>
              <a:t>runs\26.03\runs\scope_ablation_s52_1789140015701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当前小模型实跑</a:t>
            </a:r>
          </a:p>
          <a:p>
            <a:endParaRPr/>
          </a:p>
          <a:p>
            <a:r>
              <a:t>讲解提示：测试P@10=1仅说明该次前10命中率，不代表整体准确率100%。测试Top100正例最大疾病占比1，仍高度集中。当前paper_strict=false，RTE=true，不能宣称全文严格复现。</a:t>
            </a:r>
          </a:p>
          <a:p>
            <a:endParaRPr/>
          </a:p>
          <a:p>
            <a:r>
              <a:t>资料依据：</a:t>
            </a:r>
          </a:p>
          <a:p>
            <a:r>
              <a:t>runs/26.03/runs/da_mef_0003/results.yaml</a:t>
            </a:r>
          </a:p>
          <a:p>
            <a:r>
              <a:t>config/experiments/da_mef_0003.yaml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训练窗口实验</a:t>
            </a:r>
          </a:p>
          <a:p>
            <a:endParaRPr/>
          </a:p>
          <a:p>
            <a:r>
              <a:t>讲解提示：本轮按用户要求结束。recent3中止前最佳第9轮，0.1397为日志四舍五入值，未完成最终测试。不同窗口每个epoch更新次数不同。本轮全历史AP0.1593与da_mef_0003的0.1907差异来源未核实。</a:t>
            </a:r>
          </a:p>
          <a:p>
            <a:endParaRPr/>
          </a:p>
          <a:p>
            <a:r>
              <a:t>资料依据：</a:t>
            </a:r>
          </a:p>
          <a:p>
            <a:r>
              <a:t>runs/26.03/runs/distribution_shift_s52_20260912_v1/SUMMARY.md</a:t>
            </a:r>
          </a:p>
          <a:p>
            <a:r>
              <a:t>runs/26.03/runs/distribution_shift_s52_20260912_v1/status.json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阶段结论</a:t>
            </a:r>
          </a:p>
          <a:p>
            <a:endParaRPr/>
          </a:p>
          <a:p>
            <a:r>
              <a:t>讲解提示：这是按当前证据范围给出的验收结论。没有宣称训练分布漂移已解决、全部优化都提升或整个代码库已全面审计。</a:t>
            </a:r>
          </a:p>
          <a:p>
            <a:endParaRPr/>
          </a:p>
          <a:p>
            <a:r>
              <a:t>资料依据：</a:t>
            </a:r>
          </a:p>
          <a:p>
            <a:r>
              <a:t>功能对照.md：最新三类定义与训练窗口结项</a:t>
            </a:r>
          </a:p>
          <a:p>
            <a:r>
              <a:t>相关文件/DA-MEF_全文公式逐条详解_完整文档.docx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结束页</a:t>
            </a:r>
          </a:p>
          <a:p>
            <a:endParaRPr/>
          </a:p>
          <a:p>
            <a:r>
              <a:t>讲解提示：汇报人、专业、导师、日期统一使用模板封面信息。感谢聆听。</a:t>
            </a:r>
          </a:p>
          <a:p>
            <a:endParaRPr/>
          </a:p>
          <a:p>
            <a:r>
              <a:t>资料依据：</a:t>
            </a:r>
          </a:p>
          <a:p>
            <a:r>
              <a:t>E:\生物网络数据集\相关文件\DA-MEF.pptx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1.xml"/><Relationship Id="rId4" Type="http://schemas.openxmlformats.org/officeDocument/2006/relationships/tags" Target="../tags/tag40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2026/9/15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0" y="126581"/>
            <a:ext cx="12192000" cy="4518319"/>
          </a:xfrm>
          <a:custGeom>
            <a:avLst/>
            <a:gdLst>
              <a:gd name="connsiteX0" fmla="*/ 0 w 12192000"/>
              <a:gd name="connsiteY0" fmla="*/ 0 h 4518319"/>
              <a:gd name="connsiteX1" fmla="*/ 12192000 w 12192000"/>
              <a:gd name="connsiteY1" fmla="*/ 0 h 4518319"/>
              <a:gd name="connsiteX2" fmla="*/ 12192000 w 12192000"/>
              <a:gd name="connsiteY2" fmla="*/ 738477 h 4518319"/>
              <a:gd name="connsiteX3" fmla="*/ 12192000 w 12192000"/>
              <a:gd name="connsiteY3" fmla="*/ 2267460 h 4518319"/>
              <a:gd name="connsiteX4" fmla="*/ 12192000 w 12192000"/>
              <a:gd name="connsiteY4" fmla="*/ 3993201 h 4518319"/>
              <a:gd name="connsiteX5" fmla="*/ 12031745 w 12192000"/>
              <a:gd name="connsiteY5" fmla="*/ 4026797 h 4518319"/>
              <a:gd name="connsiteX6" fmla="*/ 6096001 w 12192000"/>
              <a:gd name="connsiteY6" fmla="*/ 4518319 h 4518319"/>
              <a:gd name="connsiteX7" fmla="*/ 160257 w 12192000"/>
              <a:gd name="connsiteY7" fmla="*/ 4026797 h 4518319"/>
              <a:gd name="connsiteX8" fmla="*/ 0 w 12192000"/>
              <a:gd name="connsiteY8" fmla="*/ 3993201 h 4518319"/>
              <a:gd name="connsiteX9" fmla="*/ 0 w 12192000"/>
              <a:gd name="connsiteY9" fmla="*/ 2267460 h 4518319"/>
              <a:gd name="connsiteX10" fmla="*/ 0 w 12192000"/>
              <a:gd name="connsiteY10" fmla="*/ 738478 h 4518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4518319">
                <a:moveTo>
                  <a:pt x="0" y="0"/>
                </a:moveTo>
                <a:lnTo>
                  <a:pt x="12192000" y="0"/>
                </a:lnTo>
                <a:lnTo>
                  <a:pt x="12192000" y="738477"/>
                </a:lnTo>
                <a:lnTo>
                  <a:pt x="12192000" y="2267460"/>
                </a:lnTo>
                <a:lnTo>
                  <a:pt x="12192000" y="3993201"/>
                </a:lnTo>
                <a:lnTo>
                  <a:pt x="12031745" y="4026797"/>
                </a:lnTo>
                <a:cubicBezTo>
                  <a:pt x="10418700" y="4333861"/>
                  <a:pt x="8350738" y="4518319"/>
                  <a:pt x="6096001" y="4518319"/>
                </a:cubicBezTo>
                <a:cubicBezTo>
                  <a:pt x="3841265" y="4518319"/>
                  <a:pt x="1773302" y="4333861"/>
                  <a:pt x="160257" y="4026797"/>
                </a:cubicBezTo>
                <a:lnTo>
                  <a:pt x="0" y="3993201"/>
                </a:lnTo>
                <a:lnTo>
                  <a:pt x="0" y="2267460"/>
                </a:lnTo>
                <a:lnTo>
                  <a:pt x="0" y="738478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0" y="0"/>
            <a:ext cx="12192000" cy="4518319"/>
          </a:xfrm>
          <a:custGeom>
            <a:avLst/>
            <a:gdLst>
              <a:gd name="connsiteX0" fmla="*/ 0 w 12192000"/>
              <a:gd name="connsiteY0" fmla="*/ 0 h 4518319"/>
              <a:gd name="connsiteX1" fmla="*/ 12192000 w 12192000"/>
              <a:gd name="connsiteY1" fmla="*/ 0 h 4518319"/>
              <a:gd name="connsiteX2" fmla="*/ 12192000 w 12192000"/>
              <a:gd name="connsiteY2" fmla="*/ 738477 h 4518319"/>
              <a:gd name="connsiteX3" fmla="*/ 12192000 w 12192000"/>
              <a:gd name="connsiteY3" fmla="*/ 2267460 h 4518319"/>
              <a:gd name="connsiteX4" fmla="*/ 12192000 w 12192000"/>
              <a:gd name="connsiteY4" fmla="*/ 3993201 h 4518319"/>
              <a:gd name="connsiteX5" fmla="*/ 12031745 w 12192000"/>
              <a:gd name="connsiteY5" fmla="*/ 4026797 h 4518319"/>
              <a:gd name="connsiteX6" fmla="*/ 6096001 w 12192000"/>
              <a:gd name="connsiteY6" fmla="*/ 4518319 h 4518319"/>
              <a:gd name="connsiteX7" fmla="*/ 160257 w 12192000"/>
              <a:gd name="connsiteY7" fmla="*/ 4026797 h 4518319"/>
              <a:gd name="connsiteX8" fmla="*/ 0 w 12192000"/>
              <a:gd name="connsiteY8" fmla="*/ 3993201 h 4518319"/>
              <a:gd name="connsiteX9" fmla="*/ 0 w 12192000"/>
              <a:gd name="connsiteY9" fmla="*/ 2267460 h 4518319"/>
              <a:gd name="connsiteX10" fmla="*/ 0 w 12192000"/>
              <a:gd name="connsiteY10" fmla="*/ 738478 h 4518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4518319">
                <a:moveTo>
                  <a:pt x="0" y="0"/>
                </a:moveTo>
                <a:lnTo>
                  <a:pt x="12192000" y="0"/>
                </a:lnTo>
                <a:lnTo>
                  <a:pt x="12192000" y="738477"/>
                </a:lnTo>
                <a:lnTo>
                  <a:pt x="12192000" y="2267460"/>
                </a:lnTo>
                <a:lnTo>
                  <a:pt x="12192000" y="3993201"/>
                </a:lnTo>
                <a:lnTo>
                  <a:pt x="12031745" y="4026797"/>
                </a:lnTo>
                <a:cubicBezTo>
                  <a:pt x="10418700" y="4333861"/>
                  <a:pt x="8350738" y="4518319"/>
                  <a:pt x="6096001" y="4518319"/>
                </a:cubicBezTo>
                <a:cubicBezTo>
                  <a:pt x="3841265" y="4518319"/>
                  <a:pt x="1773302" y="4333861"/>
                  <a:pt x="160257" y="4026797"/>
                </a:cubicBezTo>
                <a:lnTo>
                  <a:pt x="0" y="3993201"/>
                </a:lnTo>
                <a:lnTo>
                  <a:pt x="0" y="2267460"/>
                </a:lnTo>
                <a:lnTo>
                  <a:pt x="0" y="738478"/>
                </a:lnTo>
                <a:close/>
              </a:path>
            </a:pathLst>
          </a:custGeom>
          <a:solidFill>
            <a:srgbClr val="027C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地院logo透明png"/>
          <p:cNvPicPr>
            <a:picLocks noChangeAspect="1"/>
          </p:cNvPicPr>
          <p:nvPr userDrawn="1"/>
        </p:nvPicPr>
        <p:blipFill>
          <a:blip r:embed="rId2"/>
          <a:srcRect r="78671"/>
          <a:stretch>
            <a:fillRect/>
          </a:stretch>
        </p:blipFill>
        <p:spPr>
          <a:xfrm>
            <a:off x="10368280" y="5414010"/>
            <a:ext cx="1320800" cy="1443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4459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39200" y="64459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第 </a:t>
            </a:r>
            <a:fld id="{84377AA6-5F82-4755-B29C-FAB6A572A0B7}" type="slidenum"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 页</a:t>
            </a:r>
          </a:p>
        </p:txBody>
      </p:sp>
      <p:sp>
        <p:nvSpPr>
          <p:cNvPr id="7" name="任意多边形: 形状 6"/>
          <p:cNvSpPr/>
          <p:nvPr/>
        </p:nvSpPr>
        <p:spPr>
          <a:xfrm>
            <a:off x="1" y="0"/>
            <a:ext cx="5099335" cy="6858000"/>
          </a:xfrm>
          <a:custGeom>
            <a:avLst/>
            <a:gdLst>
              <a:gd name="connsiteX0" fmla="*/ 0 w 5099335"/>
              <a:gd name="connsiteY0" fmla="*/ 0 h 6858000"/>
              <a:gd name="connsiteX1" fmla="*/ 3926059 w 5099335"/>
              <a:gd name="connsiteY1" fmla="*/ 0 h 6858000"/>
              <a:gd name="connsiteX2" fmla="*/ 3986170 w 5099335"/>
              <a:gd name="connsiteY2" fmla="*/ 76492 h 6858000"/>
              <a:gd name="connsiteX3" fmla="*/ 5099335 w 5099335"/>
              <a:gd name="connsiteY3" fmla="*/ 3429000 h 6858000"/>
              <a:gd name="connsiteX4" fmla="*/ 3986170 w 5099335"/>
              <a:gd name="connsiteY4" fmla="*/ 6781508 h 6858000"/>
              <a:gd name="connsiteX5" fmla="*/ 3926059 w 5099335"/>
              <a:gd name="connsiteY5" fmla="*/ 6858000 h 6858000"/>
              <a:gd name="connsiteX6" fmla="*/ 0 w 509933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99335" h="6858000">
                <a:moveTo>
                  <a:pt x="0" y="0"/>
                </a:moveTo>
                <a:lnTo>
                  <a:pt x="3926059" y="0"/>
                </a:lnTo>
                <a:lnTo>
                  <a:pt x="3986170" y="76492"/>
                </a:lnTo>
                <a:cubicBezTo>
                  <a:pt x="4685309" y="1011352"/>
                  <a:pt x="5099335" y="2171825"/>
                  <a:pt x="5099335" y="3429000"/>
                </a:cubicBezTo>
                <a:cubicBezTo>
                  <a:pt x="5099335" y="4686175"/>
                  <a:pt x="4685309" y="5846649"/>
                  <a:pt x="3986170" y="6781508"/>
                </a:cubicBezTo>
                <a:lnTo>
                  <a:pt x="392605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0" y="0"/>
            <a:ext cx="4923484" cy="6858000"/>
          </a:xfrm>
          <a:custGeom>
            <a:avLst/>
            <a:gdLst>
              <a:gd name="connsiteX0" fmla="*/ 0 w 4923484"/>
              <a:gd name="connsiteY0" fmla="*/ 0 h 6858000"/>
              <a:gd name="connsiteX1" fmla="*/ 3750208 w 4923484"/>
              <a:gd name="connsiteY1" fmla="*/ 0 h 6858000"/>
              <a:gd name="connsiteX2" fmla="*/ 3810319 w 4923484"/>
              <a:gd name="connsiteY2" fmla="*/ 76492 h 6858000"/>
              <a:gd name="connsiteX3" fmla="*/ 4923484 w 4923484"/>
              <a:gd name="connsiteY3" fmla="*/ 3429000 h 6858000"/>
              <a:gd name="connsiteX4" fmla="*/ 3810319 w 4923484"/>
              <a:gd name="connsiteY4" fmla="*/ 6781508 h 6858000"/>
              <a:gd name="connsiteX5" fmla="*/ 3750208 w 4923484"/>
              <a:gd name="connsiteY5" fmla="*/ 6858000 h 6858000"/>
              <a:gd name="connsiteX6" fmla="*/ 0 w 492348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23484" h="6858000">
                <a:moveTo>
                  <a:pt x="0" y="0"/>
                </a:moveTo>
                <a:lnTo>
                  <a:pt x="3750208" y="0"/>
                </a:lnTo>
                <a:lnTo>
                  <a:pt x="3810319" y="76492"/>
                </a:lnTo>
                <a:cubicBezTo>
                  <a:pt x="4509458" y="1011352"/>
                  <a:pt x="4923484" y="2171825"/>
                  <a:pt x="4923484" y="3429000"/>
                </a:cubicBezTo>
                <a:cubicBezTo>
                  <a:pt x="4923484" y="4686175"/>
                  <a:pt x="4509458" y="5846649"/>
                  <a:pt x="3810319" y="6781508"/>
                </a:cubicBezTo>
                <a:lnTo>
                  <a:pt x="375020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27C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39200" y="64459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第 </a:t>
            </a:r>
            <a:fld id="{84377AA6-5F82-4755-B29C-FAB6A572A0B7}" type="slidenum"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 页</a:t>
            </a:r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39200" y="64459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第 </a:t>
            </a:r>
            <a:fld id="{84377AA6-5F82-4755-B29C-FAB6A572A0B7}" type="slidenum"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 页</a:t>
            </a:r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39200" y="64459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第 </a:t>
            </a:r>
            <a:fld id="{84377AA6-5F82-4755-B29C-FAB6A572A0B7}" type="slidenum"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 页</a:t>
            </a:r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39200" y="64459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第 </a:t>
            </a:r>
            <a:fld id="{84377AA6-5F82-4755-B29C-FAB6A572A0B7}" type="slidenum"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 页</a:t>
            </a:r>
          </a:p>
        </p:txBody>
      </p:sp>
      <p:sp>
        <p:nvSpPr>
          <p:cNvPr id="7" name="任意多边形: 形状 6"/>
          <p:cNvSpPr/>
          <p:nvPr userDrawn="1"/>
        </p:nvSpPr>
        <p:spPr>
          <a:xfrm>
            <a:off x="0" y="126581"/>
            <a:ext cx="12192000" cy="4518319"/>
          </a:xfrm>
          <a:custGeom>
            <a:avLst/>
            <a:gdLst>
              <a:gd name="connsiteX0" fmla="*/ 0 w 12192000"/>
              <a:gd name="connsiteY0" fmla="*/ 0 h 4518319"/>
              <a:gd name="connsiteX1" fmla="*/ 12192000 w 12192000"/>
              <a:gd name="connsiteY1" fmla="*/ 0 h 4518319"/>
              <a:gd name="connsiteX2" fmla="*/ 12192000 w 12192000"/>
              <a:gd name="connsiteY2" fmla="*/ 738477 h 4518319"/>
              <a:gd name="connsiteX3" fmla="*/ 12192000 w 12192000"/>
              <a:gd name="connsiteY3" fmla="*/ 2267460 h 4518319"/>
              <a:gd name="connsiteX4" fmla="*/ 12192000 w 12192000"/>
              <a:gd name="connsiteY4" fmla="*/ 3993201 h 4518319"/>
              <a:gd name="connsiteX5" fmla="*/ 12031745 w 12192000"/>
              <a:gd name="connsiteY5" fmla="*/ 4026797 h 4518319"/>
              <a:gd name="connsiteX6" fmla="*/ 6096001 w 12192000"/>
              <a:gd name="connsiteY6" fmla="*/ 4518319 h 4518319"/>
              <a:gd name="connsiteX7" fmla="*/ 160257 w 12192000"/>
              <a:gd name="connsiteY7" fmla="*/ 4026797 h 4518319"/>
              <a:gd name="connsiteX8" fmla="*/ 0 w 12192000"/>
              <a:gd name="connsiteY8" fmla="*/ 3993201 h 4518319"/>
              <a:gd name="connsiteX9" fmla="*/ 0 w 12192000"/>
              <a:gd name="connsiteY9" fmla="*/ 2267460 h 4518319"/>
              <a:gd name="connsiteX10" fmla="*/ 0 w 12192000"/>
              <a:gd name="connsiteY10" fmla="*/ 738478 h 4518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4518319">
                <a:moveTo>
                  <a:pt x="0" y="0"/>
                </a:moveTo>
                <a:lnTo>
                  <a:pt x="12192000" y="0"/>
                </a:lnTo>
                <a:lnTo>
                  <a:pt x="12192000" y="738477"/>
                </a:lnTo>
                <a:lnTo>
                  <a:pt x="12192000" y="2267460"/>
                </a:lnTo>
                <a:lnTo>
                  <a:pt x="12192000" y="3993201"/>
                </a:lnTo>
                <a:lnTo>
                  <a:pt x="12031745" y="4026797"/>
                </a:lnTo>
                <a:cubicBezTo>
                  <a:pt x="10418700" y="4333861"/>
                  <a:pt x="8350738" y="4518319"/>
                  <a:pt x="6096001" y="4518319"/>
                </a:cubicBezTo>
                <a:cubicBezTo>
                  <a:pt x="3841265" y="4518319"/>
                  <a:pt x="1773302" y="4333861"/>
                  <a:pt x="160257" y="4026797"/>
                </a:cubicBezTo>
                <a:lnTo>
                  <a:pt x="0" y="3993201"/>
                </a:lnTo>
                <a:lnTo>
                  <a:pt x="0" y="2267460"/>
                </a:lnTo>
                <a:lnTo>
                  <a:pt x="0" y="738478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0" y="0"/>
            <a:ext cx="12192000" cy="4518319"/>
          </a:xfrm>
          <a:custGeom>
            <a:avLst/>
            <a:gdLst>
              <a:gd name="connsiteX0" fmla="*/ 0 w 12192000"/>
              <a:gd name="connsiteY0" fmla="*/ 0 h 4518319"/>
              <a:gd name="connsiteX1" fmla="*/ 12192000 w 12192000"/>
              <a:gd name="connsiteY1" fmla="*/ 0 h 4518319"/>
              <a:gd name="connsiteX2" fmla="*/ 12192000 w 12192000"/>
              <a:gd name="connsiteY2" fmla="*/ 738477 h 4518319"/>
              <a:gd name="connsiteX3" fmla="*/ 12192000 w 12192000"/>
              <a:gd name="connsiteY3" fmla="*/ 2267460 h 4518319"/>
              <a:gd name="connsiteX4" fmla="*/ 12192000 w 12192000"/>
              <a:gd name="connsiteY4" fmla="*/ 3993201 h 4518319"/>
              <a:gd name="connsiteX5" fmla="*/ 12031745 w 12192000"/>
              <a:gd name="connsiteY5" fmla="*/ 4026797 h 4518319"/>
              <a:gd name="connsiteX6" fmla="*/ 6096001 w 12192000"/>
              <a:gd name="connsiteY6" fmla="*/ 4518319 h 4518319"/>
              <a:gd name="connsiteX7" fmla="*/ 160257 w 12192000"/>
              <a:gd name="connsiteY7" fmla="*/ 4026797 h 4518319"/>
              <a:gd name="connsiteX8" fmla="*/ 0 w 12192000"/>
              <a:gd name="connsiteY8" fmla="*/ 3993201 h 4518319"/>
              <a:gd name="connsiteX9" fmla="*/ 0 w 12192000"/>
              <a:gd name="connsiteY9" fmla="*/ 2267460 h 4518319"/>
              <a:gd name="connsiteX10" fmla="*/ 0 w 12192000"/>
              <a:gd name="connsiteY10" fmla="*/ 738478 h 4518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4518319">
                <a:moveTo>
                  <a:pt x="0" y="0"/>
                </a:moveTo>
                <a:lnTo>
                  <a:pt x="12192000" y="0"/>
                </a:lnTo>
                <a:lnTo>
                  <a:pt x="12192000" y="738477"/>
                </a:lnTo>
                <a:lnTo>
                  <a:pt x="12192000" y="2267460"/>
                </a:lnTo>
                <a:lnTo>
                  <a:pt x="12192000" y="3993201"/>
                </a:lnTo>
                <a:lnTo>
                  <a:pt x="12031745" y="4026797"/>
                </a:lnTo>
                <a:cubicBezTo>
                  <a:pt x="10418700" y="4333861"/>
                  <a:pt x="8350738" y="4518319"/>
                  <a:pt x="6096001" y="4518319"/>
                </a:cubicBezTo>
                <a:cubicBezTo>
                  <a:pt x="3841265" y="4518319"/>
                  <a:pt x="1773302" y="4333861"/>
                  <a:pt x="160257" y="4026797"/>
                </a:cubicBezTo>
                <a:lnTo>
                  <a:pt x="0" y="3993201"/>
                </a:lnTo>
                <a:lnTo>
                  <a:pt x="0" y="2267460"/>
                </a:lnTo>
                <a:lnTo>
                  <a:pt x="0" y="738478"/>
                </a:lnTo>
                <a:close/>
              </a:path>
            </a:pathLst>
          </a:custGeom>
          <a:solidFill>
            <a:srgbClr val="027C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地院logo透明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73440" y="6045835"/>
            <a:ext cx="3861435" cy="9004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3267-99DF-470F-81DF-9CA829E28D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3267-99DF-470F-81DF-9CA829E28D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3267-99DF-470F-81DF-9CA829E28D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3267-99DF-470F-81DF-9CA829E28D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3267-99DF-470F-81DF-9CA829E28D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3267-99DF-470F-81DF-9CA829E28D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3267-99DF-470F-81DF-9CA829E28D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9ABF-F8C6-4954-AE25-3DDEFD48256F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3267-99DF-470F-81DF-9CA829E28D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9ABF-F8C6-4954-AE25-3DDEFD48256F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3267-99DF-470F-81DF-9CA829E28D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9ABF-F8C6-4954-AE25-3DDEFD48256F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3267-99DF-470F-81DF-9CA829E28D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3267-99DF-470F-81DF-9CA829E28D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39200" y="64459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第 </a:t>
            </a:r>
            <a:fld id="{84377AA6-5F82-4755-B29C-FAB6A572A0B7}" type="slidenum"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 页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hf hd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39ABF-F8C6-4954-AE25-3DDEFD48256F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E3267-99DF-470F-81DF-9CA829E28D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5.svg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17" Type="http://schemas.openxmlformats.org/officeDocument/2006/relationships/image" Target="../media/image4.png"/><Relationship Id="rId2" Type="http://schemas.openxmlformats.org/officeDocument/2006/relationships/tags" Target="../tags/tag48.xml"/><Relationship Id="rId16" Type="http://schemas.openxmlformats.org/officeDocument/2006/relationships/image" Target="../media/image3.svg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5" Type="http://schemas.openxmlformats.org/officeDocument/2006/relationships/tags" Target="../tags/tag51.xml"/><Relationship Id="rId15" Type="http://schemas.openxmlformats.org/officeDocument/2006/relationships/image" Target="../media/image2.png"/><Relationship Id="rId10" Type="http://schemas.openxmlformats.org/officeDocument/2006/relationships/tags" Target="../tags/tag56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Relationship Id="rId4" Type="http://schemas.openxmlformats.org/officeDocument/2006/relationships/chart" Target="../charts/char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稻壳儿智宇https://www.docer.com/works?userid=328340712"/>
          <p:cNvSpPr/>
          <p:nvPr/>
        </p:nvSpPr>
        <p:spPr>
          <a:xfrm>
            <a:off x="132080" y="1567815"/>
            <a:ext cx="11857355" cy="16433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indent="0" algn="ctr" fontAlgn="base">
              <a:lnSpc>
                <a:spcPct val="120000"/>
              </a:lnSpc>
            </a:pPr>
            <a:r>
              <a:rPr lang="en-US" altLang="zh-CN" sz="4800" b="1" spc="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DA-MEF </a:t>
            </a:r>
          </a:p>
          <a:p>
            <a:pPr indent="0" algn="ctr" fontAlgn="base">
              <a:lnSpc>
                <a:spcPct val="120000"/>
              </a:lnSpc>
            </a:pPr>
            <a:r>
              <a:rPr lang="zh-CN" altLang="en-US" sz="4800" b="1" spc="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多证据融合模型构建及阶段性实验分析</a:t>
            </a:r>
          </a:p>
        </p:txBody>
      </p:sp>
      <p:graphicFrame>
        <p:nvGraphicFramePr>
          <p:cNvPr id="20" name="稻壳儿智宇https://www.docer.com/works?userid=3283407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307345"/>
              </p:ext>
            </p:extLst>
          </p:nvPr>
        </p:nvGraphicFramePr>
        <p:xfrm>
          <a:off x="3867345" y="4884640"/>
          <a:ext cx="4456430" cy="170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dist"/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汇报人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：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林真毅</a:t>
                      </a:r>
                      <a:endParaRPr lang="zh-CN" sz="1800" b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algn="dist"/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硕士专业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：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软件</a:t>
                      </a:r>
                      <a:r>
                        <a:rPr lang="zh-CN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工程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algn="dist"/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指导教师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：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尹彦婷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dist"/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日期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：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2026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年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9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月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15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日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文本框 19"/>
          <p:cNvSpPr txBox="1"/>
          <p:nvPr/>
        </p:nvSpPr>
        <p:spPr>
          <a:xfrm>
            <a:off x="-71120" y="0"/>
            <a:ext cx="7278370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稻壳儿智宇https://www.docer.com/works?userid=328340712"/>
          <p:cNvSpPr txBox="1"/>
          <p:nvPr/>
        </p:nvSpPr>
        <p:spPr>
          <a:xfrm>
            <a:off x="1362988" y="2967335"/>
            <a:ext cx="15544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目录</a:t>
            </a:r>
          </a:p>
        </p:txBody>
      </p:sp>
      <p:cxnSp>
        <p:nvCxnSpPr>
          <p:cNvPr id="21" name="稻壳儿智宇https://www.docer.com/works?userid=328340712"/>
          <p:cNvCxnSpPr/>
          <p:nvPr/>
        </p:nvCxnSpPr>
        <p:spPr>
          <a:xfrm flipH="1">
            <a:off x="2140228" y="2331000"/>
            <a:ext cx="0" cy="41468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稻壳儿智宇https://www.docer.com/works?userid=328340712"/>
          <p:cNvCxnSpPr/>
          <p:nvPr/>
        </p:nvCxnSpPr>
        <p:spPr>
          <a:xfrm flipH="1">
            <a:off x="2140228" y="4112313"/>
            <a:ext cx="0" cy="41468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730885" y="1061085"/>
            <a:ext cx="2666365" cy="722631"/>
            <a:chOff x="1151" y="1671"/>
            <a:chExt cx="4199" cy="1138"/>
          </a:xfrm>
        </p:grpSpPr>
        <p:pic>
          <p:nvPicPr>
            <p:cNvPr id="7" name="图形 6"/>
            <p:cNvPicPr>
              <a:picLocks noChangeAspect="1"/>
            </p:cNvPicPr>
            <p:nvPr/>
          </p:nvPicPr>
          <p:blipFill>
            <a:blip r:embed="rId15" cstate="email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51" y="1671"/>
              <a:ext cx="868" cy="1139"/>
            </a:xfrm>
            <a:prstGeom prst="rect">
              <a:avLst/>
            </a:prstGeom>
          </p:spPr>
        </p:pic>
        <p:pic>
          <p:nvPicPr>
            <p:cNvPr id="10" name="图形 9"/>
            <p:cNvPicPr>
              <a:picLocks noChangeAspect="1"/>
            </p:cNvPicPr>
            <p:nvPr/>
          </p:nvPicPr>
          <p:blipFill>
            <a:blip r:embed="rId17" cstate="email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230" y="1889"/>
              <a:ext cx="3120" cy="701"/>
            </a:xfrm>
            <a:prstGeom prst="rect">
              <a:avLst/>
            </a:prstGeom>
          </p:spPr>
        </p:pic>
      </p:grpSp>
      <p:sp>
        <p:nvSpPr>
          <p:cNvPr id="3" name="矩形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31965" y="1819275"/>
            <a:ext cx="628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1A3A7A"/>
                </a:solidFill>
              </a:defRPr>
            </a:pPr>
            <a:r>
              <a:rPr sz="1800" b="0" i="0">
                <a:solidFill>
                  <a:srgbClr val="1A3A7A"/>
                </a:solidFill>
              </a:rPr>
              <a:t>01</a:t>
            </a: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460615" y="1726311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lang="zh-CN" sz="2400" b="0" i="0" dirty="0">
                <a:solidFill>
                  <a:srgbClr val="0A0A0A"/>
                </a:solidFill>
              </a:rPr>
              <a:t>研究</a:t>
            </a:r>
            <a:r>
              <a:rPr lang="zh-CN" altLang="en-US" sz="2400" b="0" i="0" dirty="0">
                <a:solidFill>
                  <a:srgbClr val="0A0A0A"/>
                </a:solidFill>
              </a:rPr>
              <a:t>目标</a:t>
            </a:r>
            <a:endParaRPr lang="zh-CN" sz="2400" b="0" i="0" dirty="0">
              <a:solidFill>
                <a:srgbClr val="0A0A0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831965" y="2200275"/>
            <a:ext cx="3143250" cy="9525"/>
          </a:xfrm>
          <a:prstGeom prst="rect">
            <a:avLst/>
          </a:prstGeom>
          <a:solidFill>
            <a:srgbClr val="D8D2C6"/>
          </a:solidFill>
          <a:ln w="0">
            <a:solidFill>
              <a:srgbClr val="D8D2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31965" y="2733675"/>
            <a:ext cx="628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1A3A7A"/>
                </a:solidFill>
              </a:defRPr>
            </a:pPr>
            <a:r>
              <a:rPr sz="1800" b="0" i="0">
                <a:solidFill>
                  <a:srgbClr val="1A3A7A"/>
                </a:solidFill>
              </a:rPr>
              <a:t>0</a:t>
            </a:r>
            <a:r>
              <a:rPr lang="en-US" sz="1800" b="0" i="0">
                <a:solidFill>
                  <a:srgbClr val="1A3A7A"/>
                </a:solidFill>
              </a:rPr>
              <a:t>2</a:t>
            </a:r>
          </a:p>
        </p:txBody>
      </p:sp>
      <p:sp>
        <p:nvSpPr>
          <p:cNvPr id="30" name="矩形 2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460615" y="2640711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lang="zh-CN" sz="2400">
                <a:sym typeface="+mn-ea"/>
              </a:rPr>
              <a:t>研究综述</a:t>
            </a:r>
            <a:endParaRPr lang="zh-CN" sz="2400" b="0" i="0">
              <a:solidFill>
                <a:srgbClr val="0A0A0A"/>
              </a:solidFill>
              <a:sym typeface="+mn-ea"/>
            </a:endParaRPr>
          </a:p>
        </p:txBody>
      </p:sp>
      <p:sp>
        <p:nvSpPr>
          <p:cNvPr id="31" name="矩形 3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831965" y="3114675"/>
            <a:ext cx="3143250" cy="18000"/>
          </a:xfrm>
          <a:prstGeom prst="rect">
            <a:avLst/>
          </a:prstGeom>
          <a:solidFill>
            <a:srgbClr val="D8D2C6"/>
          </a:solidFill>
          <a:ln w="0">
            <a:solidFill>
              <a:srgbClr val="D8D2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31965" y="3648075"/>
            <a:ext cx="628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1A3A7A"/>
                </a:solidFill>
              </a:defRPr>
            </a:pPr>
            <a:r>
              <a:rPr sz="1800" b="0" i="0">
                <a:solidFill>
                  <a:srgbClr val="1A3A7A"/>
                </a:solidFill>
              </a:rPr>
              <a:t>0</a:t>
            </a:r>
            <a:r>
              <a:rPr lang="en-US" sz="1800" b="0" i="0">
                <a:solidFill>
                  <a:srgbClr val="1A3A7A"/>
                </a:solidFill>
              </a:rPr>
              <a:t>3</a:t>
            </a:r>
          </a:p>
        </p:txBody>
      </p:sp>
      <p:sp>
        <p:nvSpPr>
          <p:cNvPr id="36" name="矩形 3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460615" y="3555111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lang="zh-CN" sz="2400" b="0" i="0">
                <a:solidFill>
                  <a:srgbClr val="0A0A0A"/>
                </a:solidFill>
              </a:rPr>
              <a:t>数据与方法</a:t>
            </a:r>
          </a:p>
        </p:txBody>
      </p:sp>
      <p:sp>
        <p:nvSpPr>
          <p:cNvPr id="37" name="矩形 3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831965" y="4029075"/>
            <a:ext cx="3143250" cy="9525"/>
          </a:xfrm>
          <a:prstGeom prst="rect">
            <a:avLst/>
          </a:prstGeom>
          <a:solidFill>
            <a:srgbClr val="D8D2C6"/>
          </a:solidFill>
          <a:ln w="0">
            <a:solidFill>
              <a:srgbClr val="D8D2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矩形 40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31965" y="4562475"/>
            <a:ext cx="628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1A3A7A"/>
                </a:solidFill>
              </a:defRPr>
            </a:pPr>
            <a:r>
              <a:rPr sz="1800" b="0" i="0">
                <a:solidFill>
                  <a:srgbClr val="1A3A7A"/>
                </a:solidFill>
              </a:rPr>
              <a:t>0</a:t>
            </a:r>
            <a:r>
              <a:rPr lang="en-US" sz="1800" b="0" i="0">
                <a:solidFill>
                  <a:srgbClr val="1A3A7A"/>
                </a:solidFill>
              </a:rPr>
              <a:t>4</a:t>
            </a:r>
          </a:p>
        </p:txBody>
      </p:sp>
      <p:sp>
        <p:nvSpPr>
          <p:cNvPr id="42" name="矩形 4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460615" y="4469511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0A0A0A"/>
                </a:solidFill>
              </a:defRPr>
            </a:pPr>
            <a:r>
              <a:rPr lang="zh-CN" sz="2400" b="0" i="0">
                <a:solidFill>
                  <a:srgbClr val="0A0A0A"/>
                </a:solidFill>
              </a:rPr>
              <a:t>结果与分析</a:t>
            </a:r>
          </a:p>
        </p:txBody>
      </p:sp>
      <p:sp>
        <p:nvSpPr>
          <p:cNvPr id="43" name="矩形 4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831965" y="4943475"/>
            <a:ext cx="3143250" cy="9525"/>
          </a:xfrm>
          <a:prstGeom prst="rect">
            <a:avLst/>
          </a:prstGeom>
          <a:solidFill>
            <a:srgbClr val="D8D2C6"/>
          </a:solidFill>
          <a:ln w="0">
            <a:solidFill>
              <a:srgbClr val="D8D2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第 </a:t>
            </a:r>
            <a:fld id="{84377AA6-5F82-4755-B29C-FAB6A572A0B7}" type="slidenum"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2</a:t>
            </a:fld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 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363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研究</a:t>
            </a:r>
            <a:r>
              <a:rPr lang="zh-CN" altLang="en-US" sz="2000" b="1" dirty="0">
                <a:solidFill>
                  <a:srgbClr val="FFFFFF"/>
                </a:solidFill>
                <a:latin typeface="Microsoft YaHei"/>
                <a:ea typeface="Microsoft YaHei"/>
              </a:rPr>
              <a:t>目标</a:t>
            </a:r>
            <a:endParaRPr sz="20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288036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2487168" cy="39607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2200" b="1">
                <a:solidFill>
                  <a:srgbClr val="FFFFFF"/>
                </a:solidFill>
                <a:latin typeface="Microsoft YaHei"/>
                <a:ea typeface="Microsoft YaHei"/>
              </a:rPr>
              <a:t>项目背景</a:t>
            </a:r>
            <a:endParaRPr sz="22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99232" y="1042416"/>
            <a:ext cx="8549640" cy="29815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600" b="0" dirty="0">
                <a:solidFill>
                  <a:srgbClr val="64748B"/>
                </a:solidFill>
                <a:latin typeface="Microsoft YaHei"/>
                <a:ea typeface="Microsoft YaHei"/>
              </a:rPr>
              <a:t>从 </a:t>
            </a:r>
            <a:r>
              <a:rPr lang="en-US" altLang="zh-CN" sz="1600" b="0" dirty="0">
                <a:solidFill>
                  <a:srgbClr val="64748B"/>
                </a:solidFill>
                <a:latin typeface="Microsoft YaHei"/>
                <a:ea typeface="Microsoft YaHei"/>
              </a:rPr>
              <a:t>THBKG </a:t>
            </a:r>
            <a:r>
              <a:rPr lang="zh-CN" altLang="en-US" sz="1600" b="0" dirty="0">
                <a:solidFill>
                  <a:srgbClr val="64748B"/>
                </a:solidFill>
                <a:latin typeface="Microsoft YaHei"/>
                <a:ea typeface="Microsoft YaHei"/>
              </a:rPr>
              <a:t>的历史证据与多跳支持，到 </a:t>
            </a:r>
            <a:r>
              <a:rPr lang="en-US" altLang="zh-CN" sz="1600" b="0" dirty="0">
                <a:solidFill>
                  <a:srgbClr val="64748B"/>
                </a:solidFill>
                <a:latin typeface="Microsoft YaHei"/>
                <a:ea typeface="Microsoft YaHei"/>
              </a:rPr>
              <a:t>DA-MEF </a:t>
            </a:r>
            <a:r>
              <a:rPr lang="zh-CN" altLang="en-US" sz="1600" b="0" dirty="0">
                <a:solidFill>
                  <a:srgbClr val="64748B"/>
                </a:solidFill>
                <a:latin typeface="Microsoft YaHei"/>
                <a:ea typeface="Microsoft YaHei"/>
              </a:rPr>
              <a:t>的决策对齐多证据融合</a:t>
            </a:r>
            <a:endParaRPr sz="1600" b="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03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1783080"/>
            <a:ext cx="3520440" cy="352044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783080"/>
            <a:ext cx="50292" cy="3520440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1929384"/>
            <a:ext cx="3154680" cy="3797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altLang="zh-CN" sz="2100" b="1">
                <a:solidFill>
                  <a:srgbClr val="126FAD"/>
                </a:solidFill>
                <a:latin typeface="Microsoft YaHei"/>
                <a:ea typeface="Microsoft YaHei"/>
              </a:rPr>
              <a:t>01  </a:t>
            </a:r>
            <a:r>
              <a:rPr lang="zh-CN" altLang="en-US" sz="2100" b="1">
                <a:solidFill>
                  <a:srgbClr val="126FAD"/>
                </a:solidFill>
                <a:latin typeface="Microsoft YaHei"/>
                <a:ea typeface="Microsoft YaHei"/>
              </a:rPr>
              <a:t>临床问题与证据缺口</a:t>
            </a:r>
            <a:endParaRPr sz="2100" b="1" dirty="0">
              <a:solidFill>
                <a:srgbClr val="126FAD"/>
              </a:solidFill>
              <a:latin typeface="Microsoft YaHei"/>
              <a:ea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2496312"/>
            <a:ext cx="3154680" cy="22734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任务：预测进入 </a:t>
            </a:r>
            <a:r>
              <a:rPr lang="en-US" altLang="zh-CN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II </a:t>
            </a: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期的靶点</a:t>
            </a:r>
            <a:r>
              <a:rPr lang="en-US" altLang="zh-CN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—</a:t>
            </a: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疾病组合，能否在三年内推进至 </a:t>
            </a:r>
            <a:r>
              <a:rPr lang="en-US" altLang="zh-CN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III </a:t>
            </a: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期。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lang="zh-CN" altLang="en-US"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问题：约</a:t>
            </a:r>
            <a:r>
              <a:rPr lang="en-US" altLang="zh-CN" sz="1700" dirty="0">
                <a:solidFill>
                  <a:srgbClr val="23364B"/>
                </a:solidFill>
                <a:latin typeface="Microsoft YaHei"/>
                <a:ea typeface="Microsoft YaHei"/>
              </a:rPr>
              <a:t>72.8% 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的配对在决策时缺少直接证据，需要结合相邻靶点、通路等间接信息进行判断</a:t>
            </a:r>
            <a:endParaRPr sz="170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34256" y="1783080"/>
            <a:ext cx="3520440" cy="352044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34256" y="1783080"/>
            <a:ext cx="50292" cy="3520440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17136" y="1929384"/>
            <a:ext cx="3154680" cy="3797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2100" b="1">
                <a:solidFill>
                  <a:srgbClr val="126FAD"/>
                </a:solidFill>
                <a:latin typeface="Microsoft YaHei"/>
                <a:ea typeface="Microsoft YaHei"/>
              </a:rPr>
              <a:t>02  THBKG </a:t>
            </a:r>
            <a:r>
              <a:rPr lang="zh-CN" altLang="en-US" sz="2100" b="1">
                <a:solidFill>
                  <a:srgbClr val="126FAD"/>
                </a:solidFill>
                <a:latin typeface="Microsoft YaHei"/>
                <a:ea typeface="Microsoft YaHei"/>
              </a:rPr>
              <a:t>提供时间图</a:t>
            </a:r>
            <a:endParaRPr sz="2100" b="1">
              <a:solidFill>
                <a:srgbClr val="126FAD"/>
              </a:solidFill>
              <a:latin typeface="Microsoft YaHei"/>
              <a:ea typeface="Microsoft Ya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17136" y="2496312"/>
            <a:ext cx="3154680" cy="19725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用最新图预测历史决策，可能引入当时尚未出现的证据。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lang="zh-CN" altLang="en-US"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altLang="zh-CN" sz="1700" dirty="0">
                <a:solidFill>
                  <a:srgbClr val="23364B"/>
                </a:solidFill>
                <a:latin typeface="Microsoft YaHei"/>
                <a:ea typeface="Microsoft YaHei"/>
              </a:rPr>
              <a:t>THBKG 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记录证据发生时间，可按决策年份恢复历史子图，并保留多跳生物网络连接</a:t>
            </a: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。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211312" y="1783080"/>
            <a:ext cx="3520440" cy="352044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11312" y="1783080"/>
            <a:ext cx="50292" cy="3520440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94192" y="1929384"/>
            <a:ext cx="3154680" cy="3797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2100" b="1">
                <a:solidFill>
                  <a:srgbClr val="126FAD"/>
                </a:solidFill>
                <a:latin typeface="Microsoft YaHei"/>
                <a:ea typeface="Microsoft YaHei"/>
              </a:rPr>
              <a:t>03  DA-MEF </a:t>
            </a:r>
            <a:r>
              <a:rPr lang="zh-CN" altLang="en-US" sz="2100" b="1">
                <a:solidFill>
                  <a:srgbClr val="126FAD"/>
                </a:solidFill>
                <a:latin typeface="Microsoft YaHei"/>
                <a:ea typeface="Microsoft YaHei"/>
              </a:rPr>
              <a:t>的研究切入</a:t>
            </a:r>
            <a:endParaRPr sz="2100" b="1">
              <a:solidFill>
                <a:srgbClr val="126FAD"/>
              </a:solidFill>
              <a:latin typeface="Microsoft YaHei"/>
              <a:ea typeface="Microsoft Ya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94192" y="2496312"/>
            <a:ext cx="3154680" cy="22734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不同候选依赖的证据来源不同，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将其</a:t>
            </a: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显式区分并自适应融合。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lang="zh-CN" altLang="en-US"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不额外引入数据，</a:t>
            </a: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在历史图编码基础上，对直接、临床、网络三类证据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先进行类内汇总，再通过源级门控自适应融合。</a:t>
            </a:r>
            <a:endParaRPr sz="170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38912" y="5843016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6072" y="5760335"/>
            <a:ext cx="10972800" cy="61760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研究思路：恢复决策时刻证据状态，利用多跳网络传播补充间接支持，并对 </a:t>
            </a:r>
            <a:r>
              <a:rPr lang="en-US" altLang="zh-CN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Direct</a:t>
            </a:r>
            <a:r>
              <a:rPr lang="zh-CN" altLang="en-US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Clinical</a:t>
            </a:r>
            <a:r>
              <a:rPr lang="zh-CN" altLang="en-US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Network </a:t>
            </a:r>
            <a:r>
              <a:rPr lang="zh-CN" altLang="en-US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证据进行自适应融合。</a:t>
            </a:r>
            <a:endParaRPr sz="1700" b="1" dirty="0">
              <a:solidFill>
                <a:srgbClr val="126FAD"/>
              </a:solidFill>
              <a:latin typeface="Microsoft YaHei"/>
              <a:ea typeface="Microsoft YaHei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EAF13AF-310D-5541-D1B2-55D56CF5D0CE}"/>
              </a:ext>
            </a:extLst>
          </p:cNvPr>
          <p:cNvSpPr txBox="1"/>
          <p:nvPr/>
        </p:nvSpPr>
        <p:spPr>
          <a:xfrm>
            <a:off x="4721617" y="6316093"/>
            <a:ext cx="85723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 err="1"/>
              <a:t>T</a:t>
            </a:r>
            <a:r>
              <a:rPr lang="en-US" altLang="zh-CN" sz="1000" dirty="0" err="1"/>
              <a:t>emproal</a:t>
            </a:r>
            <a:r>
              <a:rPr lang="en-US" altLang="zh-CN" sz="1000" dirty="0"/>
              <a:t> </a:t>
            </a:r>
            <a:r>
              <a:rPr lang="en-US" altLang="zh-CN" sz="1000" b="1" dirty="0"/>
              <a:t>H</a:t>
            </a:r>
            <a:r>
              <a:rPr lang="en-US" altLang="zh-CN" sz="1000" dirty="0"/>
              <a:t>eterogeneous </a:t>
            </a:r>
            <a:r>
              <a:rPr lang="en-US" altLang="zh-CN" sz="1000" b="1" dirty="0"/>
              <a:t>B</a:t>
            </a:r>
            <a:r>
              <a:rPr lang="en-US" altLang="zh-CN" sz="1000" dirty="0"/>
              <a:t>iomedical </a:t>
            </a:r>
            <a:r>
              <a:rPr lang="en-US" altLang="zh-CN" sz="1000" b="1" dirty="0"/>
              <a:t>K</a:t>
            </a:r>
            <a:r>
              <a:rPr lang="en-US" altLang="zh-CN" sz="1000" dirty="0"/>
              <a:t>nowledge </a:t>
            </a:r>
            <a:r>
              <a:rPr lang="en-US" altLang="zh-CN" sz="1000" b="1" dirty="0"/>
              <a:t>G</a:t>
            </a:r>
            <a:r>
              <a:rPr lang="en-US" altLang="zh-CN" sz="1000" dirty="0"/>
              <a:t>raph </a:t>
            </a:r>
            <a:r>
              <a:rPr lang="zh-CN" altLang="en-US" sz="1000" dirty="0"/>
              <a:t>时间异构生物医学知识图谱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CFD3877-DE95-C1D0-A898-580DE5BD6D86}"/>
              </a:ext>
            </a:extLst>
          </p:cNvPr>
          <p:cNvSpPr txBox="1"/>
          <p:nvPr/>
        </p:nvSpPr>
        <p:spPr>
          <a:xfrm>
            <a:off x="4721617" y="6582915"/>
            <a:ext cx="85723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D</a:t>
            </a:r>
            <a:r>
              <a:rPr lang="en-US" altLang="zh-CN" sz="1000" dirty="0"/>
              <a:t>ecision-</a:t>
            </a:r>
            <a:r>
              <a:rPr lang="en-US" altLang="zh-CN" sz="1000" b="1" dirty="0"/>
              <a:t>A</a:t>
            </a:r>
            <a:r>
              <a:rPr lang="en-US" altLang="zh-CN" sz="1000" dirty="0"/>
              <a:t>ligned </a:t>
            </a:r>
            <a:r>
              <a:rPr lang="en-US" altLang="zh-CN" sz="1000" b="1" dirty="0"/>
              <a:t>M</a:t>
            </a:r>
            <a:r>
              <a:rPr lang="en-US" altLang="zh-CN" sz="1000" dirty="0"/>
              <a:t>ulti-</a:t>
            </a:r>
            <a:r>
              <a:rPr lang="en-US" altLang="zh-CN" sz="1000" b="1" dirty="0"/>
              <a:t>E</a:t>
            </a:r>
            <a:r>
              <a:rPr lang="en-US" altLang="zh-CN" sz="1000" dirty="0"/>
              <a:t>vidence </a:t>
            </a:r>
            <a:r>
              <a:rPr lang="en-US" altLang="zh-CN" sz="1000" b="1" dirty="0"/>
              <a:t>F</a:t>
            </a:r>
            <a:r>
              <a:rPr lang="en-US" altLang="zh-CN" sz="1000" dirty="0"/>
              <a:t>usion </a:t>
            </a:r>
            <a:r>
              <a:rPr lang="en-US" altLang="zh-CN" sz="1000" b="1" dirty="0"/>
              <a:t>N</a:t>
            </a:r>
            <a:r>
              <a:rPr lang="en-US" altLang="zh-CN" sz="1000" dirty="0"/>
              <a:t>etwork </a:t>
            </a:r>
            <a:r>
              <a:rPr lang="zh-CN" altLang="en-US" sz="1000" dirty="0"/>
              <a:t>决策对齐的多证据融合网络</a:t>
            </a:r>
          </a:p>
        </p:txBody>
      </p:sp>
    </p:spTree>
    <p:extLst>
      <p:ext uri="{BB962C8B-B14F-4D97-AF65-F5344CB8AC3E}">
        <p14:creationId xmlns:p14="http://schemas.microsoft.com/office/powerpoint/2010/main" val="4238600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363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FFFFFF"/>
                </a:solidFill>
                <a:latin typeface="Microsoft YaHei"/>
                <a:ea typeface="Microsoft YaHei"/>
              </a:rPr>
              <a:t>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288036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2487168" cy="3749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问题与动机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05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1874519"/>
            <a:ext cx="272491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956815"/>
            <a:ext cx="2542032" cy="31444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b="1" dirty="0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  <a:endParaRPr sz="17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00400" y="1874519"/>
            <a:ext cx="395935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91840" y="1956815"/>
            <a:ext cx="377647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对模型的影响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1874519"/>
            <a:ext cx="450799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69479" y="1956815"/>
            <a:ext cx="432511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本项目的处理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14015"/>
            <a:ext cx="2724912" cy="75895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2505456"/>
            <a:ext cx="2542032" cy="6152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靶点疾病配对之间</a:t>
            </a: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直接关联证据不足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00400" y="2414015"/>
            <a:ext cx="3959352" cy="75895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1840" y="2505456"/>
            <a:ext cx="3776472" cy="63093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3364B"/>
                </a:solidFill>
                <a:latin typeface="Microsoft YaHei"/>
                <a:ea typeface="Microsoft YaHei"/>
              </a:rPr>
              <a:t>只读 A-B 的直接边，可能缺少输入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2414015"/>
            <a:ext cx="4507992" cy="75895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69479" y="2505456"/>
            <a:ext cx="4325112" cy="6152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保留</a:t>
            </a: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 HGT </a:t>
            </a: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的多跳上下文传播</a:t>
            </a: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，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添加</a:t>
            </a: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间接证据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的</a:t>
            </a: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获取与插入参与决策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3191256"/>
            <a:ext cx="2724912" cy="7589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282696"/>
            <a:ext cx="2542032" cy="6152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不同</a:t>
            </a: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证据</a:t>
            </a: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来源支持程度不同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200400" y="3191256"/>
            <a:ext cx="3959352" cy="7589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91840" y="3282696"/>
            <a:ext cx="3776472" cy="63093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统一混合后难以分辨来源作用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178040" y="3191256"/>
            <a:ext cx="4507992" cy="7589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69479" y="3282696"/>
            <a:ext cx="4325112" cy="63093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3364B"/>
                </a:solidFill>
                <a:latin typeface="Microsoft YaHei"/>
                <a:ea typeface="Microsoft YaHei"/>
              </a:rPr>
              <a:t>三类证据分别池化、门控融合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968496"/>
            <a:ext cx="2724912" cy="75895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059935"/>
            <a:ext cx="2542032" cy="63093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历史决策与图更新时间不同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200400" y="3968496"/>
            <a:ext cx="3959352" cy="75895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1840" y="4059935"/>
            <a:ext cx="3776472" cy="63093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未来证据进入输入会产生泄漏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178040" y="3968496"/>
            <a:ext cx="4507992" cy="75895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69479" y="4059935"/>
            <a:ext cx="4325112" cy="63093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按每个样本的决策年截断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00" y="4745736"/>
            <a:ext cx="2724912" cy="7589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4837175"/>
            <a:ext cx="2542032" cy="63093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标签分布随年份变化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200400" y="4745736"/>
            <a:ext cx="3959352" cy="7589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91840" y="4837175"/>
            <a:ext cx="3776472" cy="63093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旧规律可能无法泛化到后期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178040" y="4745736"/>
            <a:ext cx="4507992" cy="7589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69479" y="4837175"/>
            <a:ext cx="4325112" cy="63093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固定时序验证并进行窗口实验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38912" y="5843016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2648" y="5907024"/>
            <a:ext cx="10972800" cy="31444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dirty="0" err="1">
                <a:solidFill>
                  <a:srgbClr val="126FAD"/>
                </a:solidFill>
                <a:latin typeface="Microsoft YaHei"/>
                <a:ea typeface="Microsoft YaHei"/>
              </a:rPr>
              <a:t>核心问题：如何让模型在</a:t>
            </a:r>
            <a:r>
              <a:rPr sz="1700" b="1" dirty="0" err="1">
                <a:solidFill>
                  <a:srgbClr val="126FAD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当时</a:t>
            </a:r>
            <a:r>
              <a:rPr sz="1700" b="1" dirty="0" err="1">
                <a:solidFill>
                  <a:srgbClr val="126FAD"/>
                </a:solidFill>
                <a:latin typeface="Microsoft YaHei"/>
                <a:ea typeface="Microsoft YaHei"/>
              </a:rPr>
              <a:t>可见的证据中，为当前配对</a:t>
            </a:r>
            <a:r>
              <a:rPr sz="1700" b="1" dirty="0" err="1">
                <a:solidFill>
                  <a:srgbClr val="126FAD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选择有用支持</a:t>
            </a:r>
            <a:r>
              <a:rPr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363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 dirty="0" err="1">
                <a:solidFill>
                  <a:srgbClr val="818181"/>
                </a:solidFill>
                <a:latin typeface="Microsoft YaHei"/>
                <a:ea typeface="Microsoft YaHei"/>
              </a:rPr>
              <a:t>数据与方法</a:t>
            </a:r>
            <a:endParaRPr sz="2000" b="1" dirty="0">
              <a:solidFill>
                <a:srgbClr val="818181"/>
              </a:solidFill>
              <a:latin typeface="Microsoft YaHei"/>
              <a:ea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288036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2487168" cy="3749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1005840"/>
            <a:ext cx="85496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64748B"/>
                </a:solidFill>
                <a:latin typeface="Microsoft YaHei"/>
                <a:ea typeface="Microsoft YaHei"/>
              </a:rPr>
              <a:t>从直接证据评分到决策对齐的多证据融合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06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1874519"/>
            <a:ext cx="272491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956815"/>
            <a:ext cx="254203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研究路线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1874519"/>
            <a:ext cx="391363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91840" y="1956815"/>
            <a:ext cx="373075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已有能力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874519"/>
            <a:ext cx="455371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59" y="1956815"/>
            <a:ext cx="437083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本项目关注的补充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14015"/>
            <a:ext cx="2724912" cy="80467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2505456"/>
            <a:ext cx="2542032" cy="6766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3364B"/>
                </a:solidFill>
                <a:latin typeface="Microsoft YaHei"/>
                <a:ea typeface="Microsoft YaHei"/>
              </a:rPr>
              <a:t>直接证据评分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2414015"/>
            <a:ext cx="3913632" cy="80467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1840" y="2505456"/>
            <a:ext cx="3730752" cy="6766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3364B"/>
                </a:solidFill>
                <a:latin typeface="Microsoft YaHei"/>
                <a:ea typeface="Microsoft YaHei"/>
              </a:rPr>
              <a:t>读取当前靶点—疾病关联强度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2414015"/>
            <a:ext cx="4553712" cy="80467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23759" y="2505456"/>
            <a:ext cx="4370832" cy="6152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证据缺失时，补充</a:t>
            </a:r>
            <a:r>
              <a:rPr sz="1700" b="0" dirty="0" err="1">
                <a:solidFill>
                  <a:srgbClr val="23364B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间接</a:t>
            </a: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网络</a:t>
            </a: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并添加注意力权重</a:t>
            </a: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支持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3236975"/>
            <a:ext cx="2724912" cy="804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328415"/>
            <a:ext cx="2542032" cy="6766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异质图编码（HGT</a:t>
            </a: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3236975"/>
            <a:ext cx="3913632" cy="804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91840" y="3328415"/>
            <a:ext cx="3730752" cy="6766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利用不同关系传播邻域信息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132320" y="3236975"/>
            <a:ext cx="4553712" cy="804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23759" y="3328415"/>
            <a:ext cx="4370832" cy="31444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显式区分来源，形成</a:t>
            </a:r>
            <a:r>
              <a:rPr sz="1700" b="0" dirty="0" err="1">
                <a:solidFill>
                  <a:srgbClr val="23364B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源级证据</a:t>
            </a: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表示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57200" y="4059935"/>
            <a:ext cx="2724912" cy="80467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151375"/>
            <a:ext cx="2542032" cy="6766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3364B"/>
                </a:solidFill>
                <a:latin typeface="Microsoft YaHei"/>
                <a:ea typeface="Microsoft YaHei"/>
              </a:rPr>
              <a:t>THBKG 决策对齐基准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4059935"/>
            <a:ext cx="3913632" cy="80467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1840" y="4151375"/>
            <a:ext cx="3730752" cy="6766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边带时间戳，可恢复历史证据视图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132320" y="4059935"/>
            <a:ext cx="4553712" cy="80467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23759" y="4151375"/>
            <a:ext cx="4370832" cy="6766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沿用时间协议与发布标签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00" y="4882896"/>
            <a:ext cx="2724912" cy="804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4974336"/>
            <a:ext cx="2542032" cy="31444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DA-MEF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4882896"/>
            <a:ext cx="3913632" cy="804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91840" y="4974336"/>
            <a:ext cx="3730752" cy="6766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配对状态驱动三类证据的门控融合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132320" y="4882896"/>
            <a:ext cx="4553712" cy="804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23759" y="4974336"/>
            <a:ext cx="4370832" cy="31444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dirty="0" err="1">
                <a:solidFill>
                  <a:srgbClr val="23364B"/>
                </a:solidFill>
                <a:latin typeface="Microsoft YaHei"/>
                <a:ea typeface="Microsoft YaHei"/>
              </a:rPr>
              <a:t>验证证据归属、泛化与可解释性</a:t>
            </a:r>
            <a:endParaRPr sz="1700" b="1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38912" y="5843016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2648" y="5907024"/>
            <a:ext cx="10972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dirty="0" err="1">
                <a:solidFill>
                  <a:srgbClr val="126FAD"/>
                </a:solidFill>
                <a:latin typeface="Microsoft YaHei"/>
                <a:ea typeface="Microsoft YaHei"/>
              </a:rPr>
              <a:t>继承</a:t>
            </a:r>
            <a:r>
              <a:rPr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 THBKG </a:t>
            </a:r>
            <a:r>
              <a:rPr sz="1700" b="1" dirty="0" err="1">
                <a:solidFill>
                  <a:srgbClr val="126FAD"/>
                </a:solidFill>
                <a:latin typeface="Microsoft YaHei"/>
                <a:ea typeface="Microsoft YaHei"/>
              </a:rPr>
              <a:t>的数据与时间协议，在证据选择与融合层增加建模能力</a:t>
            </a:r>
            <a:r>
              <a:rPr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363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288036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2487168" cy="3749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总体模型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11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2148840"/>
            <a:ext cx="2029968" cy="26974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148840"/>
            <a:ext cx="50292" cy="2697480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295144"/>
            <a:ext cx="1664208" cy="3797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2100" b="1" dirty="0">
                <a:solidFill>
                  <a:srgbClr val="126FAD"/>
                </a:solidFill>
                <a:latin typeface="Microsoft YaHei"/>
                <a:ea typeface="Microsoft YaHei"/>
              </a:rPr>
              <a:t>构造</a:t>
            </a:r>
            <a:r>
              <a:rPr sz="2100" b="1" dirty="0" err="1">
                <a:solidFill>
                  <a:srgbClr val="126FAD"/>
                </a:solidFill>
                <a:latin typeface="Microsoft YaHei"/>
                <a:ea typeface="Microsoft YaHei"/>
              </a:rPr>
              <a:t>历史子图</a:t>
            </a:r>
            <a:endParaRPr sz="2100" b="1" dirty="0">
              <a:solidFill>
                <a:srgbClr val="126FAD"/>
              </a:solidFill>
              <a:latin typeface="Microsoft YaHei"/>
              <a:ea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2862072"/>
            <a:ext cx="1664208" cy="18928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t &lt; 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最新可见快照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2523744" y="3273552"/>
            <a:ext cx="201168" cy="182880"/>
          </a:xfrm>
          <a:prstGeom prst="rightArrow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761488" y="2148840"/>
            <a:ext cx="2029968" cy="26974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61488" y="2148840"/>
            <a:ext cx="50292" cy="2697480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44368" y="2295144"/>
            <a:ext cx="1664208" cy="3797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2100" b="1" dirty="0">
                <a:solidFill>
                  <a:srgbClr val="126FAD"/>
                </a:solidFill>
                <a:latin typeface="Microsoft YaHei"/>
                <a:ea typeface="Microsoft YaHei"/>
              </a:rPr>
              <a:t>构造</a:t>
            </a:r>
            <a:r>
              <a:rPr sz="2100" b="1" dirty="0" err="1">
                <a:solidFill>
                  <a:srgbClr val="126FAD"/>
                </a:solidFill>
                <a:latin typeface="Microsoft YaHei"/>
                <a:ea typeface="Microsoft YaHei"/>
              </a:rPr>
              <a:t>时间边</a:t>
            </a:r>
            <a:endParaRPr sz="2100" b="1" dirty="0">
              <a:solidFill>
                <a:srgbClr val="126FAD"/>
              </a:solidFill>
              <a:latin typeface="Microsoft YaHei"/>
              <a:ea typeface="Microsoft Ya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44368" y="2862072"/>
            <a:ext cx="1664208" cy="18928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3364B"/>
                </a:solidFill>
                <a:latin typeface="Microsoft YaHei"/>
                <a:ea typeface="Microsoft YaHei"/>
              </a:rPr>
              <a:t>[s, n, Δt, r]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3364B"/>
                </a:solidFill>
                <a:latin typeface="Microsoft YaHei"/>
                <a:ea typeface="Microsoft YaHei"/>
              </a:rPr>
              <a:t>类型特定节点投影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828031" y="3273552"/>
            <a:ext cx="201168" cy="182880"/>
          </a:xfrm>
          <a:prstGeom prst="rightArrow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059681" y="2148840"/>
            <a:ext cx="2029968" cy="26974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65776" y="2148840"/>
            <a:ext cx="50292" cy="2697480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48656" y="2295144"/>
            <a:ext cx="1796796" cy="3797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2100" b="1" dirty="0">
                <a:solidFill>
                  <a:srgbClr val="126FAD"/>
                </a:solidFill>
                <a:latin typeface="Microsoft YaHei"/>
                <a:ea typeface="Microsoft YaHei"/>
              </a:rPr>
              <a:t>进行</a:t>
            </a:r>
            <a:r>
              <a:rPr sz="2100" b="1" dirty="0">
                <a:solidFill>
                  <a:srgbClr val="126FAD"/>
                </a:solidFill>
                <a:latin typeface="Microsoft YaHei"/>
                <a:ea typeface="Microsoft YaHei"/>
              </a:rPr>
              <a:t>HGT </a:t>
            </a:r>
            <a:r>
              <a:rPr sz="2100" b="1" dirty="0" err="1">
                <a:solidFill>
                  <a:srgbClr val="126FAD"/>
                </a:solidFill>
                <a:latin typeface="Microsoft YaHei"/>
                <a:ea typeface="Microsoft YaHei"/>
              </a:rPr>
              <a:t>编码</a:t>
            </a:r>
            <a:endParaRPr sz="2100" b="1" dirty="0">
              <a:solidFill>
                <a:srgbClr val="126FAD"/>
              </a:solidFill>
              <a:latin typeface="Microsoft YaHei"/>
              <a:ea typeface="Microsoft YaHe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48656" y="2862072"/>
            <a:ext cx="1664208" cy="69224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异质关系注意力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进行</a:t>
            </a: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多跳传播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7132320" y="3273552"/>
            <a:ext cx="201168" cy="182880"/>
          </a:xfrm>
          <a:prstGeom prst="rightArrow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370064" y="2148840"/>
            <a:ext cx="2029968" cy="26974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370064" y="2148840"/>
            <a:ext cx="50292" cy="2697480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56932" y="2290730"/>
            <a:ext cx="1979676" cy="3797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2100" b="1" dirty="0">
                <a:solidFill>
                  <a:srgbClr val="126FAD"/>
                </a:solidFill>
                <a:latin typeface="Microsoft YaHei"/>
                <a:ea typeface="Microsoft YaHei"/>
              </a:rPr>
              <a:t>启动</a:t>
            </a:r>
            <a:r>
              <a:rPr sz="2100" b="1" dirty="0" err="1">
                <a:solidFill>
                  <a:srgbClr val="126FAD"/>
                </a:solidFill>
                <a:latin typeface="Microsoft YaHei"/>
                <a:ea typeface="Microsoft YaHei"/>
              </a:rPr>
              <a:t>多证据融合</a:t>
            </a:r>
            <a:endParaRPr sz="2100" b="1" dirty="0">
              <a:solidFill>
                <a:srgbClr val="126FAD"/>
              </a:solidFill>
              <a:latin typeface="Microsoft YaHei"/>
              <a:ea typeface="Microsoft YaHe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552944" y="2862072"/>
            <a:ext cx="1664208" cy="12939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三类分别</a:t>
            </a: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进行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池内池外的</a:t>
            </a: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池化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配对状态驱动门控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8" name="Right Arrow 37"/>
          <p:cNvSpPr/>
          <p:nvPr/>
        </p:nvSpPr>
        <p:spPr>
          <a:xfrm>
            <a:off x="9436608" y="3273552"/>
            <a:ext cx="201168" cy="182880"/>
          </a:xfrm>
          <a:prstGeom prst="rightArrow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674352" y="2148840"/>
            <a:ext cx="2029968" cy="26974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674352" y="2148840"/>
            <a:ext cx="50292" cy="2697480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57232" y="2295144"/>
            <a:ext cx="16642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26FAD"/>
                </a:solidFill>
                <a:latin typeface="Microsoft YaHei"/>
                <a:ea typeface="Microsoft YaHei"/>
              </a:rPr>
              <a:t>预测与训练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57232" y="2862072"/>
            <a:ext cx="1664208" cy="9930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MLP + Sigmoid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分类</a:t>
            </a: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 + </a:t>
            </a: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分类，排序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损失计算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38912" y="5843016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648" y="5907024"/>
            <a:ext cx="10972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26FAD"/>
                </a:solidFill>
                <a:latin typeface="Microsoft YaHei"/>
                <a:ea typeface="Microsoft YaHei"/>
              </a:rPr>
              <a:t>HGT 负责学习网络表示；DA-MEF 融合层负责区分并选择证据来源。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363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288036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2487168" cy="39607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基础</a:t>
            </a:r>
            <a:r>
              <a:rPr lang="zh-CN" altLang="en-US"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数据分析</a:t>
            </a:r>
            <a:endParaRPr sz="22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54680" y="1005840"/>
            <a:ext cx="85496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64748B"/>
                </a:solidFill>
                <a:latin typeface="Microsoft YaHei"/>
                <a:ea typeface="Microsoft YaHei"/>
              </a:rPr>
              <a:t>THBKG 26.03：图证据、节点映射与监督标签分开加载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08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1783080"/>
            <a:ext cx="3474720" cy="128016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783080"/>
            <a:ext cx="50292" cy="1280160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1929384"/>
            <a:ext cx="31089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26FAD"/>
                </a:solidFill>
                <a:latin typeface="Microsoft YaHei"/>
                <a:ea typeface="Microsoft YaHei"/>
              </a:rPr>
              <a:t>110,396 个节点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96312"/>
            <a:ext cx="3108960" cy="4754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3364B"/>
                </a:solidFill>
                <a:latin typeface="Microsoft YaHei"/>
                <a:ea typeface="Microsoft YaHei"/>
              </a:rPr>
              <a:t>5 种节点类型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1783080"/>
            <a:ext cx="3474720" cy="128016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43400" y="1783080"/>
            <a:ext cx="50292" cy="1280160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1929384"/>
            <a:ext cx="31089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26FAD"/>
                </a:solidFill>
                <a:latin typeface="Microsoft YaHei"/>
                <a:ea typeface="Microsoft YaHei"/>
              </a:rPr>
              <a:t>11.07 M 条边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496312"/>
            <a:ext cx="3108960" cy="4754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3364B"/>
                </a:solidFill>
                <a:latin typeface="Microsoft YaHei"/>
                <a:ea typeface="Microsoft YaHei"/>
              </a:rPr>
              <a:t>发布图的时间边记录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783080"/>
            <a:ext cx="3474720" cy="128016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1783080"/>
            <a:ext cx="50292" cy="1280160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1929384"/>
            <a:ext cx="31089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26FAD"/>
                </a:solidFill>
                <a:latin typeface="Microsoft YaHei"/>
                <a:ea typeface="Microsoft YaHei"/>
              </a:rPr>
              <a:t>19 种关系三元组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429000"/>
            <a:ext cx="400507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511296"/>
            <a:ext cx="3822192" cy="29815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数据</a:t>
            </a:r>
            <a:endParaRPr sz="16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480560" y="3429000"/>
            <a:ext cx="432511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0" y="3511296"/>
            <a:ext cx="414223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内容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23960" y="3429000"/>
            <a:ext cx="286207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15400" y="3511296"/>
            <a:ext cx="2679191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训练中的作用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968496"/>
            <a:ext cx="4005072" cy="60350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059935"/>
            <a:ext cx="3822192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3364B"/>
                </a:solidFill>
                <a:latin typeface="Microsoft YaHei"/>
                <a:ea typeface="Microsoft YaHei"/>
              </a:rPr>
              <a:t>graph.safetensors + metadata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0" y="3968496"/>
            <a:ext cx="4325112" cy="60350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0" y="4059935"/>
            <a:ext cx="4142232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3364B"/>
                </a:solidFill>
                <a:latin typeface="Microsoft YaHei"/>
                <a:ea typeface="Microsoft YaHei"/>
              </a:rPr>
              <a:t>节点特征、关系边、年份、score/novelty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23960" y="3968496"/>
            <a:ext cx="2862072" cy="60350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15400" y="4059935"/>
            <a:ext cx="2679191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3364B"/>
                </a:solidFill>
                <a:latin typeface="Microsoft YaHei"/>
                <a:ea typeface="Microsoft YaHei"/>
              </a:rPr>
              <a:t>构造历史证据子图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590288"/>
            <a:ext cx="4005072" cy="6035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4681727"/>
            <a:ext cx="3822192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3364B"/>
                </a:solidFill>
                <a:latin typeface="Microsoft YaHei"/>
                <a:ea typeface="Microsoft YaHei"/>
              </a:rPr>
              <a:t>mappings/*.parquet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0" y="4590288"/>
            <a:ext cx="4325112" cy="6035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0" y="4681727"/>
            <a:ext cx="4142232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3364B"/>
                </a:solidFill>
                <a:latin typeface="Microsoft YaHei"/>
                <a:ea typeface="Microsoft YaHei"/>
              </a:rPr>
              <a:t>实体标识与整数索引的映射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23960" y="4590288"/>
            <a:ext cx="2862072" cy="6035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15400" y="4681727"/>
            <a:ext cx="2679191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3364B"/>
                </a:solidFill>
                <a:latin typeface="Microsoft YaHei"/>
                <a:ea typeface="Microsoft YaHei"/>
              </a:rPr>
              <a:t>查询对齐与预测还原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212079"/>
            <a:ext cx="4005072" cy="60350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" y="5303519"/>
            <a:ext cx="3822192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3364B"/>
                </a:solidFill>
                <a:latin typeface="Microsoft YaHei"/>
                <a:ea typeface="Microsoft YaHei"/>
              </a:rPr>
              <a:t>labels/train.parquet + eval.parquet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0" y="5212079"/>
            <a:ext cx="4325112" cy="60350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0" y="5303519"/>
            <a:ext cx="4142232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3364B"/>
                </a:solidFill>
                <a:latin typeface="Microsoft YaHei"/>
                <a:ea typeface="Microsoft YaHei"/>
              </a:rPr>
              <a:t>靶点、疾病、决策年份、结局标签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23960" y="5212079"/>
            <a:ext cx="2862072" cy="60350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915400" y="5303519"/>
            <a:ext cx="2679191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3364B"/>
                </a:solidFill>
                <a:latin typeface="Microsoft YaHei"/>
                <a:ea typeface="Microsoft YaHei"/>
              </a:rPr>
              <a:t>监督与固定时序评估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8912" y="5843016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12648" y="5907024"/>
            <a:ext cx="10972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26FAD"/>
                </a:solidFill>
                <a:latin typeface="Microsoft YaHei"/>
                <a:ea typeface="Microsoft YaHei"/>
              </a:rPr>
              <a:t>监督标签不作为图证据输入；训练视图添加反向边时保留原始时间和特征。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363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288036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2487168" cy="39607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时间划分</a:t>
            </a:r>
            <a:r>
              <a:rPr lang="zh-CN" altLang="en-US"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分组</a:t>
            </a:r>
            <a:endParaRPr sz="22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54680" y="1005840"/>
            <a:ext cx="85496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64748B"/>
                </a:solidFill>
                <a:latin typeface="Microsoft YaHei"/>
                <a:ea typeface="Microsoft YaHei"/>
              </a:rPr>
              <a:t>28,795 个监督样本，验证与测试始终保持时间外推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09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1874519"/>
            <a:ext cx="190195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956815"/>
            <a:ext cx="171907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集合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1874519"/>
            <a:ext cx="263347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8880" y="1956815"/>
            <a:ext cx="2450591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决策年份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1874519"/>
            <a:ext cx="217627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0" y="1956815"/>
            <a:ext cx="1993391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样本数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1874519"/>
            <a:ext cx="217627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0" y="1956815"/>
            <a:ext cx="1993391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正例数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1874519"/>
            <a:ext cx="226771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0" y="1956815"/>
            <a:ext cx="2084831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正例率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414015"/>
            <a:ext cx="1901952" cy="6858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2505456"/>
            <a:ext cx="1719072" cy="5577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训练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2414015"/>
            <a:ext cx="2633472" cy="6858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468880" y="2505456"/>
            <a:ext cx="2450591" cy="5577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1995–2010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2414015"/>
            <a:ext cx="2176272" cy="6858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20640" y="2505456"/>
            <a:ext cx="1993391" cy="5577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13,991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2414015"/>
            <a:ext cx="2176272" cy="6858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0" y="2505456"/>
            <a:ext cx="1993391" cy="5577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4,129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0" y="2414015"/>
            <a:ext cx="2267712" cy="6858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09760" y="2505456"/>
            <a:ext cx="2084831" cy="5577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29.51%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118103"/>
            <a:ext cx="1901952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209544"/>
            <a:ext cx="1719072" cy="5577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验证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3118103"/>
            <a:ext cx="2633472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68880" y="3209544"/>
            <a:ext cx="2450591" cy="5577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2011–2015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0" y="3118103"/>
            <a:ext cx="2176272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20640" y="3209544"/>
            <a:ext cx="1993391" cy="5577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7,611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60" y="3118103"/>
            <a:ext cx="2176272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0" y="3209544"/>
            <a:ext cx="1993391" cy="5577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788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0" y="3118103"/>
            <a:ext cx="2267712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509760" y="3209544"/>
            <a:ext cx="2084831" cy="5577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10.35%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822191"/>
            <a:ext cx="1901952" cy="6858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" y="3913631"/>
            <a:ext cx="1719072" cy="5577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测试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77440" y="3822191"/>
            <a:ext cx="2633472" cy="6858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468880" y="3913631"/>
            <a:ext cx="2450591" cy="5577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2016–2021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0" y="3822191"/>
            <a:ext cx="2176272" cy="6858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20640" y="3913631"/>
            <a:ext cx="1993391" cy="5577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7,193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60" y="3822191"/>
            <a:ext cx="2176272" cy="6858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5200" y="3913631"/>
            <a:ext cx="1993391" cy="5577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668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18320" y="3822191"/>
            <a:ext cx="2267712" cy="6858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509760" y="3913631"/>
            <a:ext cx="2084831" cy="5577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9.29%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4828032"/>
            <a:ext cx="11064240" cy="3797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训练集正例率明显高于后期</a:t>
            </a:r>
            <a:r>
              <a:rPr lang="zh-CN" altLang="en-US" sz="2100" b="1" dirty="0">
                <a:solidFill>
                  <a:srgbClr val="153B76"/>
                </a:solidFill>
                <a:latin typeface="Microsoft YaHei"/>
                <a:ea typeface="Microsoft YaHei"/>
              </a:rPr>
              <a:t>：这是已观察到的标签分布变化发现存在正例的</a:t>
            </a:r>
            <a:r>
              <a:rPr lang="zh-CN" altLang="en-US" sz="2100" b="1" dirty="0">
                <a:solidFill>
                  <a:srgbClr val="153B76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年份漂移</a:t>
            </a:r>
            <a:r>
              <a:rPr lang="zh-CN" altLang="en-US" sz="2100" b="1" dirty="0">
                <a:solidFill>
                  <a:srgbClr val="153B76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79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sz="2000" b="1" dirty="0">
              <a:solidFill>
                <a:srgbClr val="818181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288036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2487168" cy="3749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决策时间约束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1005840"/>
            <a:ext cx="85496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64748B"/>
                </a:solidFill>
                <a:latin typeface="Microsoft YaHei"/>
                <a:ea typeface="Microsoft YaHei"/>
              </a:rPr>
              <a:t>预测 2010 年的 A-B：所有动态证据必须满足 t &lt; 2010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10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4360" y="2240280"/>
            <a:ext cx="2377440" cy="20116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2414016"/>
            <a:ext cx="2157984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98979"/>
                </a:solidFill>
                <a:latin typeface="Microsoft YaHei"/>
                <a:ea typeface="Microsoft YaHei"/>
              </a:rPr>
              <a:t>2008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063240"/>
            <a:ext cx="2157984" cy="3307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A-C </a:t>
            </a:r>
            <a:r>
              <a:rPr sz="18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临床历史</a:t>
            </a:r>
            <a:r>
              <a:rPr lang="zh-CN" altLang="en-US"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（间接）</a:t>
            </a:r>
            <a:endParaRPr sz="18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4088" y="3657600"/>
            <a:ext cx="215798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98979"/>
                </a:solidFill>
                <a:latin typeface="Microsoft YaHei"/>
                <a:ea typeface="Microsoft YaHei"/>
              </a:rPr>
              <a:t>可用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2240280"/>
            <a:ext cx="2377440" cy="20116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84448" y="2414016"/>
            <a:ext cx="2157984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98979"/>
                </a:solidFill>
                <a:latin typeface="Microsoft YaHei"/>
                <a:ea typeface="Microsoft YaHei"/>
              </a:rPr>
              <a:t>2009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4448" y="3063240"/>
            <a:ext cx="2157984" cy="3307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A-B </a:t>
            </a:r>
            <a:r>
              <a:rPr sz="18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关联证据</a:t>
            </a:r>
            <a:r>
              <a:rPr lang="zh-CN" altLang="en-US"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（</a:t>
            </a:r>
            <a:r>
              <a:rPr lang="zh-CN" altLang="en-US" dirty="0">
                <a:solidFill>
                  <a:srgbClr val="23364B"/>
                </a:solidFill>
                <a:latin typeface="Microsoft YaHei"/>
                <a:ea typeface="Microsoft YaHei"/>
              </a:rPr>
              <a:t>直接</a:t>
            </a:r>
            <a:r>
              <a:rPr lang="zh-CN" altLang="en-US"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）</a:t>
            </a:r>
            <a:endParaRPr sz="18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84448" y="3657600"/>
            <a:ext cx="215798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98979"/>
                </a:solidFill>
                <a:latin typeface="Microsoft YaHei"/>
                <a:ea typeface="Microsoft YaHei"/>
              </a:rPr>
              <a:t>可用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2240280"/>
            <a:ext cx="2377440" cy="2011680"/>
          </a:xfrm>
          <a:prstGeom prst="roundRect">
            <a:avLst>
              <a:gd name="adj" fmla="val 8000"/>
            </a:avLst>
          </a:prstGeom>
          <a:solidFill>
            <a:srgbClr val="FFF3E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8" y="2414016"/>
            <a:ext cx="2157984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C87E25"/>
                </a:solidFill>
                <a:latin typeface="Microsoft YaHei"/>
                <a:ea typeface="Microsoft YaHei"/>
              </a:rPr>
              <a:t>2010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3063240"/>
            <a:ext cx="2157984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决策当年事件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3657600"/>
            <a:ext cx="215798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C87E25"/>
                </a:solidFill>
                <a:latin typeface="Microsoft YaHei"/>
                <a:ea typeface="Microsoft YaHei"/>
              </a:rPr>
              <a:t>不可用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2240280"/>
            <a:ext cx="2377440" cy="2011680"/>
          </a:xfrm>
          <a:prstGeom prst="roundRect">
            <a:avLst>
              <a:gd name="adj" fmla="val 8000"/>
            </a:avLst>
          </a:prstGeom>
          <a:solidFill>
            <a:srgbClr val="FFF3E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45167" y="2414016"/>
            <a:ext cx="2157984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C87E25"/>
                </a:solidFill>
                <a:latin typeface="Microsoft YaHei"/>
                <a:ea typeface="Microsoft YaHei"/>
              </a:rPr>
              <a:t>2015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7" y="3063240"/>
            <a:ext cx="2157984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未来临床结果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7" y="3657600"/>
            <a:ext cx="215798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C87E25"/>
                </a:solidFill>
                <a:latin typeface="Microsoft YaHei"/>
                <a:ea typeface="Microsoft YaHei"/>
              </a:rPr>
              <a:t>不可用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736592"/>
            <a:ext cx="1097280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53B76"/>
                </a:solidFill>
                <a:latin typeface="Microsoft YaHei"/>
                <a:ea typeface="Microsoft YaHei"/>
              </a:rPr>
              <a:t>G(&lt;y) = { e : tₑ &lt; y }       Δt = y − tₑ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5843016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363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490384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4767492" cy="39607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模块对照</a:t>
            </a:r>
            <a:r>
              <a:rPr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 1：</a:t>
            </a:r>
            <a:r>
              <a:rPr lang="zh-CN" altLang="en-US"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决策时刻与证据范围</a:t>
            </a:r>
            <a:endParaRPr sz="22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40235" y="1108196"/>
            <a:ext cx="8549640" cy="31444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dirty="0">
                <a:solidFill>
                  <a:srgbClr val="64748B"/>
                </a:solidFill>
                <a:latin typeface="Microsoft YaHei"/>
                <a:ea typeface="Microsoft YaHei"/>
              </a:rPr>
              <a:t>严格限定决策时刻可见信息，避免未来信息进入模型</a:t>
            </a:r>
            <a:endParaRPr sz="170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12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1828800"/>
            <a:ext cx="3657600" cy="379476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1993392"/>
            <a:ext cx="32004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26FAD"/>
                </a:solidFill>
                <a:latin typeface="Microsoft YaHei"/>
                <a:ea typeface="Microsoft YaHei"/>
              </a:rPr>
              <a:t>对应公式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578608"/>
            <a:ext cx="3200400" cy="1417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153B76"/>
                </a:solidFill>
                <a:latin typeface="Microsoft YaHei"/>
                <a:ea typeface="Microsoft YaHei"/>
              </a:rPr>
              <a:t>G = (V, E, R, 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153B76"/>
                </a:solidFill>
                <a:latin typeface="Microsoft YaHei"/>
                <a:ea typeface="Microsoft YaHei"/>
              </a:rPr>
              <a:t>qᵢ = (gᵢ, dᵢ, yᵢ)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153B76"/>
                </a:solidFill>
                <a:latin typeface="Microsoft YaHei"/>
                <a:ea typeface="Microsoft YaHei"/>
              </a:rPr>
              <a:t>G&lt;yᵢ = { e : tₑ &lt; yᵢ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24528"/>
            <a:ext cx="3200400" cy="9601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3364B"/>
                </a:solidFill>
                <a:latin typeface="Microsoft YaHei"/>
                <a:ea typeface="Microsoft YaHei"/>
              </a:rPr>
              <a:t>每个样本由靶点、疾病和决策年份组成；输入只能来自决策时刻之前。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1836917"/>
            <a:ext cx="3657600" cy="37947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1993392"/>
            <a:ext cx="32004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98979"/>
                </a:solidFill>
                <a:latin typeface="Microsoft YaHei"/>
                <a:ea typeface="Microsoft YaHei"/>
              </a:rPr>
              <a:t>代码实现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578608"/>
            <a:ext cx="3200400" cy="29815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src/data/temporal_loader.py</a:t>
            </a:r>
            <a:endParaRPr lang="en-US"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600" y="1828800"/>
            <a:ext cx="3474720" cy="379476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1993392"/>
            <a:ext cx="30175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C87E25"/>
                </a:solidFill>
                <a:latin typeface="Microsoft YaHei"/>
                <a:ea typeface="Microsoft YaHei"/>
              </a:rPr>
              <a:t>作用与边界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578608"/>
            <a:ext cx="3017520" cy="195720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作用：构造历史快照</a:t>
            </a: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固定时间</a:t>
            </a: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，</a:t>
            </a: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避免未来信息泄漏</a:t>
            </a: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边界</a:t>
            </a: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监督标签来自外部数据；标签用于定义预测目标，不作为历史图证据直接输入。</a:t>
            </a:r>
            <a:endParaRPr sz="170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38912" y="5843016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3503" y="5924645"/>
            <a:ext cx="10972800" cy="31675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这一层首先确定“决策时刻模型能看见什么”；后续 </a:t>
            </a:r>
            <a:r>
              <a:rPr lang="en-US" altLang="zh-CN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HGT </a:t>
            </a:r>
            <a:r>
              <a:rPr lang="zh-CN" altLang="en-US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与 </a:t>
            </a:r>
            <a:r>
              <a:rPr lang="en-US" altLang="zh-CN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DA-MEF </a:t>
            </a:r>
            <a:r>
              <a:rPr lang="zh-CN" altLang="en-US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均在此证据范围内进行计算</a:t>
            </a:r>
            <a:r>
              <a:rPr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BB374567-F8D7-D30B-9E27-634902707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544" y="2884492"/>
            <a:ext cx="2536719" cy="268007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BAD9AE1E-8B6D-389A-9426-5996C43236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544" y="5496873"/>
            <a:ext cx="2380783" cy="470776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35C0E04D-E8C4-47F9-E6CC-7AFBF83258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7120" y="5539930"/>
            <a:ext cx="2536720" cy="330517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E402293F-7D2F-5844-2074-9E19B57D18FF}"/>
              </a:ext>
            </a:extLst>
          </p:cNvPr>
          <p:cNvSpPr txBox="1"/>
          <p:nvPr/>
        </p:nvSpPr>
        <p:spPr>
          <a:xfrm>
            <a:off x="2731312" y="3148671"/>
            <a:ext cx="1529791" cy="384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样本</a:t>
            </a:r>
            <a:r>
              <a:rPr lang="en-US" altLang="zh-CN" dirty="0"/>
              <a:t>q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79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sz="2000" b="1" dirty="0">
              <a:solidFill>
                <a:srgbClr val="818181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-1" y="941832"/>
            <a:ext cx="3626069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3581926" cy="39607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模块对照</a:t>
            </a:r>
            <a:r>
              <a:rPr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 2：</a:t>
            </a:r>
            <a:r>
              <a:rPr lang="zh-CN" altLang="en-US"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决策边特征</a:t>
            </a:r>
            <a:endParaRPr sz="22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26068" y="1087222"/>
            <a:ext cx="85496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将证据强度、证据新颖性、年龄和关系类型编码到边消息</a:t>
            </a:r>
            <a:endParaRPr sz="1700" b="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13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38912" y="1793538"/>
            <a:ext cx="3749039" cy="38404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1993392"/>
            <a:ext cx="32918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26FAD"/>
                </a:solidFill>
                <a:latin typeface="Microsoft YaHei"/>
                <a:ea typeface="Microsoft YaHei"/>
              </a:rPr>
              <a:t>对应公式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1" y="1828800"/>
            <a:ext cx="3749039" cy="3840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1993392"/>
            <a:ext cx="32918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98979"/>
                </a:solidFill>
                <a:latin typeface="Microsoft YaHei"/>
                <a:ea typeface="Microsoft YaHei"/>
              </a:rPr>
              <a:t>代码实现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596896"/>
            <a:ext cx="3291840" cy="13784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src/models/da_mef.py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• </a:t>
            </a: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DecisionEdgeFeatures</a:t>
            </a:r>
            <a:endParaRPr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•</a:t>
            </a:r>
            <a:r>
              <a:rPr 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DecisionEdgeFeatures.forword</a:t>
            </a:r>
            <a:r>
              <a:rPr lang="en-US" altLang="zh-CN"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()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321040" y="1828800"/>
            <a:ext cx="3383280" cy="384048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1993392"/>
            <a:ext cx="29260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C87E25"/>
                </a:solidFill>
                <a:latin typeface="Microsoft YaHei"/>
                <a:ea typeface="Microsoft YaHei"/>
              </a:rPr>
              <a:t>作用与边界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596896"/>
            <a:ext cx="2926080" cy="18725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作用</a:t>
            </a: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让网络消息同时感知“证据强度”和“证据距决策时点多久”</a:t>
            </a:r>
            <a:r>
              <a:rPr sz="1600" dirty="0">
                <a:solidFill>
                  <a:srgbClr val="23364B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边界</a:t>
            </a: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只使用决策时点之前可见的证据；不使用未来信息</a:t>
            </a:r>
            <a:r>
              <a:rPr sz="1600" dirty="0">
                <a:solidFill>
                  <a:srgbClr val="23364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" y="5843016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" y="5907024"/>
            <a:ext cx="10972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dirty="0" err="1">
                <a:solidFill>
                  <a:srgbClr val="126FAD"/>
                </a:solidFill>
                <a:latin typeface="Microsoft YaHei"/>
                <a:ea typeface="Microsoft YaHei"/>
              </a:rPr>
              <a:t>边特征把“证据是什么”和“证据何时发生”同时交给编码器</a:t>
            </a:r>
            <a:r>
              <a:rPr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576E831-9154-23A6-EBC7-C413B89E3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478024"/>
            <a:ext cx="3179905" cy="1491807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E42339B6-7361-B163-5300-A2116DC5D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41358"/>
            <a:ext cx="3179905" cy="1602443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4972FB0C-16DD-4D45-26BE-081208B9D2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451461"/>
            <a:ext cx="3179905" cy="504825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62CB31B2-47FB-8E1C-852F-9C462F29E08F}"/>
              </a:ext>
            </a:extLst>
          </p:cNvPr>
          <p:cNvSpPr txBox="1"/>
          <p:nvPr/>
        </p:nvSpPr>
        <p:spPr>
          <a:xfrm>
            <a:off x="4594858" y="3672967"/>
            <a:ext cx="3337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原始边信息 → 决策时点边特征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363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4134118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79" y="1005840"/>
            <a:ext cx="4331165" cy="39607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模块对照</a:t>
            </a:r>
            <a:r>
              <a:rPr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 3：</a:t>
            </a:r>
            <a:r>
              <a:rPr lang="en-US" altLang="zh-CN"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HGT </a:t>
            </a:r>
            <a:r>
              <a:rPr lang="zh-CN" altLang="en-US"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信息传播</a:t>
            </a:r>
            <a:endParaRPr sz="22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15068" y="1058143"/>
            <a:ext cx="85496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b="0" dirty="0">
                <a:solidFill>
                  <a:srgbClr val="64748B"/>
                </a:solidFill>
                <a:latin typeface="Microsoft YaHei"/>
                <a:ea typeface="Microsoft YaHei"/>
              </a:rPr>
              <a:t>按节点类型、关系类型和邻域注意力传播多跳上下文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14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66029" y="1828800"/>
            <a:ext cx="3749039" cy="388620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85800" y="1993392"/>
            <a:ext cx="32918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26FAD"/>
                </a:solidFill>
                <a:latin typeface="Microsoft YaHei"/>
                <a:ea typeface="Microsoft YaHei"/>
              </a:rPr>
              <a:t>对应公式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628" y="4021386"/>
            <a:ext cx="3291840" cy="6152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τ(v) </a:t>
            </a: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区分节点类型</a:t>
            </a: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；α </a:t>
            </a: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是关系与邻域相关的注意力权重</a:t>
            </a: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。</a:t>
            </a:r>
            <a:endParaRPr sz="170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89120" y="1828800"/>
            <a:ext cx="3749039" cy="3886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1993392"/>
            <a:ext cx="32918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98979"/>
                </a:solidFill>
                <a:latin typeface="Microsoft YaHei"/>
                <a:ea typeface="Microsoft YaHei"/>
              </a:rPr>
              <a:t>代码实现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596896"/>
            <a:ext cx="3291840" cy="23774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src/models/da_mef.py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• DAMEF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• </a:t>
            </a: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DAMEFLinkPredictor.forward</a:t>
            </a:r>
            <a:endParaRPr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src/models/hgt_conv_rte.py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• relation-specific attention/message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2211" y="1828800"/>
            <a:ext cx="3383280" cy="388620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1993392"/>
            <a:ext cx="29260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C87E25"/>
                </a:solidFill>
                <a:latin typeface="Microsoft YaHei"/>
                <a:ea typeface="Microsoft YaHei"/>
              </a:rPr>
              <a:t>作用与边界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596896"/>
            <a:ext cx="2926080" cy="18678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作用：补充</a:t>
            </a: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 A-B </a:t>
            </a: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缺失的间接网络支持</a:t>
            </a: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，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保留多跳上下文</a:t>
            </a: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边界：</a:t>
            </a:r>
            <a:r>
              <a:rPr lang="en-US" altLang="zh-CN" sz="1600" dirty="0" err="1">
                <a:solidFill>
                  <a:srgbClr val="23364B"/>
                </a:solidFill>
                <a:latin typeface="Microsoft YaHei"/>
                <a:ea typeface="Microsoft YaHei"/>
              </a:rPr>
              <a:t>HGT</a:t>
            </a:r>
            <a:r>
              <a:rPr lang="en-US" altLang="zh-CN" sz="1600" dirty="0">
                <a:solidFill>
                  <a:srgbClr val="23364B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的跨节点传播属于 </a:t>
            </a:r>
            <a:r>
              <a:rPr lang="en-US" altLang="zh-CN" sz="1600" dirty="0">
                <a:solidFill>
                  <a:srgbClr val="23364B"/>
                </a:solidFill>
                <a:latin typeface="Microsoft YaHei"/>
                <a:ea typeface="Microsoft YaHei"/>
              </a:rPr>
              <a:t>Network 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上下文，不改变 </a:t>
            </a:r>
            <a:r>
              <a:rPr lang="en-US" altLang="zh-CN" sz="1600" dirty="0">
                <a:solidFill>
                  <a:srgbClr val="23364B"/>
                </a:solidFill>
                <a:latin typeface="Microsoft YaHei"/>
                <a:ea typeface="Microsoft YaHei"/>
              </a:rPr>
              <a:t>Direct 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的证据归属</a:t>
            </a:r>
            <a:r>
              <a:rPr sz="1600" dirty="0">
                <a:solidFill>
                  <a:srgbClr val="23364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" y="5843016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5795561"/>
            <a:ext cx="10972800" cy="6152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altLang="zh-CN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HGT </a:t>
            </a:r>
            <a:r>
              <a:rPr lang="zh-CN" altLang="en-US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解决“网络中还有哪些相关信息”，通过节点</a:t>
            </a:r>
            <a:r>
              <a:rPr lang="en-US" altLang="zh-CN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/</a:t>
            </a:r>
            <a:r>
              <a:rPr lang="zh-CN" altLang="en-US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边级注意力完成信息传播；即</a:t>
            </a:r>
            <a:r>
              <a:rPr lang="zh-CN" altLang="en-US" sz="1700" b="1" dirty="0">
                <a:solidFill>
                  <a:srgbClr val="126FAD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第一次权重，节点级 </a:t>
            </a:r>
            <a:r>
              <a:rPr lang="en-US" altLang="zh-CN" sz="1700" b="1" dirty="0">
                <a:solidFill>
                  <a:srgbClr val="126FAD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/ </a:t>
            </a:r>
            <a:r>
              <a:rPr lang="zh-CN" altLang="en-US" sz="1700" b="1" dirty="0">
                <a:solidFill>
                  <a:srgbClr val="126FAD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边级的信息传播权重</a:t>
            </a:r>
            <a:endParaRPr sz="1700" b="1" dirty="0">
              <a:solidFill>
                <a:srgbClr val="126FAD"/>
              </a:solidFill>
              <a:highlight>
                <a:srgbClr val="FFFF00"/>
              </a:highlight>
              <a:latin typeface="Microsoft YaHei"/>
              <a:ea typeface="Microsoft YaHei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559B43CF-B0E4-2544-854A-3F13290D6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09" y="2596896"/>
            <a:ext cx="3336614" cy="1248727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D9E62B4-2931-BA29-D259-3F55FD66EF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1657" y="1853428"/>
            <a:ext cx="1617293" cy="776866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4DA5FED-8435-8CEB-3659-5160ADBB3CFE}"/>
              </a:ext>
            </a:extLst>
          </p:cNvPr>
          <p:cNvSpPr txBox="1"/>
          <p:nvPr/>
        </p:nvSpPr>
        <p:spPr>
          <a:xfrm>
            <a:off x="438912" y="4959180"/>
            <a:ext cx="42582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rgbClr val="23364B"/>
                </a:solidFill>
                <a:latin typeface="Microsoft YaHei"/>
                <a:ea typeface="Microsoft YaHei"/>
              </a:rPr>
              <a:t>形成节点类型投影 → 关系感知消息构造 → 注意力加权聚合</a:t>
            </a:r>
            <a:endParaRPr lang="zh-CN" altLang="en-US" sz="1100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F8A59668-A6D5-31FE-261E-DC4A9D0EB3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9888" y="5253228"/>
            <a:ext cx="56197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363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288036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2487168" cy="3749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三类证据定义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1005840"/>
            <a:ext cx="8549640" cy="31675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altLang="zh-CN" sz="1700" dirty="0">
                <a:solidFill>
                  <a:srgbClr val="64748B"/>
                </a:solidFill>
                <a:latin typeface="Microsoft YaHei"/>
                <a:ea typeface="Microsoft YaHei"/>
              </a:rPr>
              <a:t>Direct </a:t>
            </a:r>
            <a:r>
              <a:rPr lang="zh-CN" altLang="en-US" sz="1700" dirty="0">
                <a:solidFill>
                  <a:srgbClr val="64748B"/>
                </a:solidFill>
                <a:latin typeface="Microsoft YaHei"/>
                <a:ea typeface="Microsoft YaHei"/>
              </a:rPr>
              <a:t>表示配对证据；</a:t>
            </a:r>
            <a:r>
              <a:rPr lang="en-US" altLang="zh-CN" sz="1700" dirty="0">
                <a:solidFill>
                  <a:srgbClr val="64748B"/>
                </a:solidFill>
                <a:latin typeface="Microsoft YaHei"/>
                <a:ea typeface="Microsoft YaHei"/>
              </a:rPr>
              <a:t>Clinical </a:t>
            </a:r>
            <a:r>
              <a:rPr lang="zh-CN" altLang="en-US" sz="1700" dirty="0">
                <a:solidFill>
                  <a:srgbClr val="64748B"/>
                </a:solidFill>
                <a:latin typeface="Microsoft YaHei"/>
                <a:ea typeface="Microsoft YaHei"/>
              </a:rPr>
              <a:t>与 </a:t>
            </a:r>
            <a:r>
              <a:rPr lang="en-US" altLang="zh-CN" sz="1700" dirty="0">
                <a:solidFill>
                  <a:srgbClr val="64748B"/>
                </a:solidFill>
                <a:latin typeface="Microsoft YaHei"/>
                <a:ea typeface="Microsoft YaHei"/>
              </a:rPr>
              <a:t>Network </a:t>
            </a:r>
            <a:r>
              <a:rPr lang="zh-CN" altLang="en-US" sz="1700" dirty="0">
                <a:solidFill>
                  <a:srgbClr val="64748B"/>
                </a:solidFill>
                <a:latin typeface="Microsoft YaHei"/>
                <a:ea typeface="Microsoft YaHei"/>
              </a:rPr>
              <a:t>提供受时序约束的上下文信息</a:t>
            </a:r>
            <a:endParaRPr sz="1700" b="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18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1874519"/>
            <a:ext cx="281635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956815"/>
            <a:ext cx="263347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证据类别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874519"/>
            <a:ext cx="491947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1956815"/>
            <a:ext cx="473659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预测 A-B 时收集什么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874519"/>
            <a:ext cx="345643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1956815"/>
            <a:ext cx="3273551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归属边界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14015"/>
            <a:ext cx="2816352" cy="1014983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2505456"/>
            <a:ext cx="2633472" cy="72628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Direct Evidence</a:t>
            </a:r>
            <a:endParaRPr lang="en-US" sz="18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dirty="0">
                <a:solidFill>
                  <a:srgbClr val="23364B"/>
                </a:solidFill>
                <a:latin typeface="Microsoft YaHei"/>
                <a:ea typeface="Microsoft YaHei"/>
              </a:rPr>
              <a:t>直接证据</a:t>
            </a:r>
            <a:endParaRPr sz="18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91840" y="2414015"/>
            <a:ext cx="4919472" cy="1014983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1840" y="2419271"/>
            <a:ext cx="4736592" cy="9731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dirty="0">
                <a:solidFill>
                  <a:srgbClr val="23364B"/>
                </a:solidFill>
                <a:latin typeface="Microsoft YaHei"/>
                <a:ea typeface="Microsoft YaHei"/>
              </a:rPr>
              <a:t>与 </a:t>
            </a:r>
            <a:r>
              <a:rPr lang="en-US" altLang="zh-CN" dirty="0">
                <a:solidFill>
                  <a:srgbClr val="23364B"/>
                </a:solidFill>
                <a:latin typeface="Microsoft YaHei"/>
                <a:ea typeface="Microsoft YaHei"/>
              </a:rPr>
              <a:t>A-B </a:t>
            </a:r>
            <a:r>
              <a:rPr lang="zh-CN" altLang="en-US" dirty="0">
                <a:solidFill>
                  <a:srgbClr val="23364B"/>
                </a:solidFill>
                <a:latin typeface="Microsoft YaHei"/>
                <a:ea typeface="Microsoft YaHei"/>
              </a:rPr>
              <a:t>精确匹配的生物学证据</a:t>
            </a:r>
            <a:br>
              <a:rPr lang="zh-CN" altLang="en-US" dirty="0">
                <a:solidFill>
                  <a:srgbClr val="23364B"/>
                </a:solidFill>
                <a:latin typeface="Microsoft YaHei"/>
                <a:ea typeface="Microsoft YaHei"/>
              </a:rPr>
            </a:br>
            <a:r>
              <a:rPr lang="zh-CN" altLang="en-US" dirty="0">
                <a:solidFill>
                  <a:srgbClr val="23364B"/>
                </a:solidFill>
                <a:latin typeface="Microsoft YaHei"/>
                <a:ea typeface="Microsoft YaHei"/>
              </a:rPr>
              <a:t>文献、遗传、动物模型、</a:t>
            </a:r>
            <a:r>
              <a:rPr lang="en-US" altLang="zh-CN" dirty="0">
                <a:solidFill>
                  <a:srgbClr val="23364B"/>
                </a:solidFill>
                <a:latin typeface="Microsoft YaHei"/>
                <a:ea typeface="Microsoft YaHei"/>
              </a:rPr>
              <a:t>RNA </a:t>
            </a:r>
            <a:r>
              <a:rPr lang="zh-CN" altLang="en-US" dirty="0">
                <a:solidFill>
                  <a:srgbClr val="23364B"/>
                </a:solidFill>
                <a:latin typeface="Microsoft YaHei"/>
                <a:ea typeface="Microsoft YaHei"/>
              </a:rPr>
              <a:t>表达、突变、受影响通路</a:t>
            </a:r>
            <a:endParaRPr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229600" y="2414015"/>
            <a:ext cx="3456432" cy="1014983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2505456"/>
            <a:ext cx="3273551" cy="65460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dirty="0">
                <a:solidFill>
                  <a:srgbClr val="23364B"/>
                </a:solidFill>
                <a:latin typeface="Microsoft YaHei"/>
                <a:ea typeface="Microsoft YaHei"/>
              </a:rPr>
              <a:t>仅归属于当前 </a:t>
            </a:r>
            <a:r>
              <a:rPr lang="en-US" altLang="zh-CN" dirty="0">
                <a:solidFill>
                  <a:srgbClr val="23364B"/>
                </a:solidFill>
                <a:latin typeface="Microsoft YaHei"/>
                <a:ea typeface="Microsoft YaHei"/>
              </a:rPr>
              <a:t>A-B </a:t>
            </a:r>
            <a:r>
              <a:rPr lang="zh-CN" altLang="en-US" dirty="0">
                <a:solidFill>
                  <a:srgbClr val="23364B"/>
                </a:solidFill>
                <a:latin typeface="Microsoft YaHei"/>
                <a:ea typeface="Microsoft YaHei"/>
              </a:rPr>
              <a:t>配对</a:t>
            </a:r>
            <a:br>
              <a:rPr lang="zh-CN" altLang="en-US" dirty="0">
                <a:solidFill>
                  <a:srgbClr val="23364B"/>
                </a:solidFill>
                <a:latin typeface="Microsoft YaHei"/>
                <a:ea typeface="Microsoft YaHei"/>
              </a:rPr>
            </a:br>
            <a:r>
              <a:rPr lang="zh-CN" altLang="en-US" dirty="0">
                <a:solidFill>
                  <a:srgbClr val="23364B"/>
                </a:solidFill>
                <a:latin typeface="Microsoft YaHei"/>
                <a:ea typeface="Microsoft YaHei"/>
              </a:rPr>
              <a:t>兼容 </a:t>
            </a:r>
            <a:r>
              <a:rPr lang="en-US" altLang="zh-CN" dirty="0">
                <a:solidFill>
                  <a:srgbClr val="23364B"/>
                </a:solidFill>
                <a:latin typeface="Microsoft YaHei"/>
                <a:ea typeface="Microsoft YaHei"/>
              </a:rPr>
              <a:t>A→B </a:t>
            </a:r>
            <a:r>
              <a:rPr lang="zh-CN" altLang="en-US" dirty="0">
                <a:solidFill>
                  <a:srgbClr val="23364B"/>
                </a:solidFill>
                <a:latin typeface="Microsoft YaHei"/>
                <a:ea typeface="Microsoft YaHei"/>
              </a:rPr>
              <a:t>与 </a:t>
            </a:r>
            <a:r>
              <a:rPr lang="en-US" altLang="zh-CN" dirty="0">
                <a:solidFill>
                  <a:srgbClr val="23364B"/>
                </a:solidFill>
                <a:latin typeface="Microsoft YaHei"/>
                <a:ea typeface="Microsoft YaHei"/>
              </a:rPr>
              <a:t>B→A</a:t>
            </a:r>
            <a:endParaRPr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3447287"/>
            <a:ext cx="2816352" cy="1014983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538727"/>
            <a:ext cx="2633472" cy="72628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Clinical Context</a:t>
            </a:r>
            <a:endParaRPr lang="en-US" sz="18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历史临床证据</a:t>
            </a:r>
            <a:endParaRPr sz="18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291840" y="3447287"/>
            <a:ext cx="4919472" cy="1014983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83280" y="3538727"/>
            <a:ext cx="4736592" cy="65460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altLang="zh-CN" dirty="0">
                <a:solidFill>
                  <a:srgbClr val="23364B"/>
                </a:solidFill>
                <a:latin typeface="Microsoft YaHei"/>
                <a:ea typeface="Microsoft YaHei"/>
              </a:rPr>
              <a:t>A-B </a:t>
            </a:r>
            <a:r>
              <a:rPr lang="zh-CN" altLang="en-US" dirty="0">
                <a:solidFill>
                  <a:srgbClr val="23364B"/>
                </a:solidFill>
                <a:latin typeface="Microsoft YaHei"/>
                <a:ea typeface="Microsoft YaHei"/>
              </a:rPr>
              <a:t>及共享端点相关配对的历史临床状态与开发信息</a:t>
            </a:r>
            <a:endParaRPr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229600" y="3447287"/>
            <a:ext cx="3456432" cy="1014983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3538727"/>
            <a:ext cx="3273551" cy="65460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dirty="0">
                <a:solidFill>
                  <a:srgbClr val="23364B"/>
                </a:solidFill>
                <a:latin typeface="Microsoft YaHei"/>
                <a:ea typeface="Microsoft YaHei"/>
              </a:rPr>
              <a:t>允许共享端点，作为临床上下文</a:t>
            </a:r>
            <a:br>
              <a:rPr lang="zh-CN" altLang="en-US" dirty="0">
                <a:solidFill>
                  <a:srgbClr val="23364B"/>
                </a:solidFill>
                <a:latin typeface="Microsoft YaHei"/>
                <a:ea typeface="Microsoft YaHei"/>
              </a:rPr>
            </a:br>
            <a:r>
              <a:rPr lang="zh-CN" altLang="en-US" dirty="0">
                <a:solidFill>
                  <a:srgbClr val="23364B"/>
                </a:solidFill>
                <a:latin typeface="Microsoft YaHei"/>
                <a:ea typeface="Microsoft YaHei"/>
              </a:rPr>
              <a:t>所有信息必须早于决策年</a:t>
            </a:r>
            <a:endParaRPr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57200" y="4480559"/>
            <a:ext cx="2816352" cy="1014983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571999"/>
            <a:ext cx="2633472" cy="72628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Network Context</a:t>
            </a:r>
            <a:endParaRPr lang="en-US" sz="18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生物网络上下文</a:t>
            </a:r>
            <a:endParaRPr sz="18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291840" y="4480559"/>
            <a:ext cx="4919472" cy="1014983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83280" y="4571999"/>
            <a:ext cx="4736592" cy="8869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A 的 PPI / GO / 通路，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B 的疾病本体与相关网络关系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480559"/>
            <a:ext cx="3456432" cy="1014983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21040" y="4571999"/>
            <a:ext cx="3273551" cy="8869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显式池化端点邻域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更远信息经 HGT 传播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5843016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363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425196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3919042" cy="39607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模块对照</a:t>
            </a:r>
            <a:r>
              <a:rPr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 4：三</a:t>
            </a:r>
            <a:r>
              <a:rPr lang="zh-CN" altLang="en-US"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类</a:t>
            </a:r>
            <a:r>
              <a:rPr sz="22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证据</a:t>
            </a:r>
            <a:r>
              <a:rPr lang="zh-CN" altLang="en-US"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归属</a:t>
            </a:r>
            <a:endParaRPr sz="22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5365" y="1067717"/>
            <a:ext cx="8549640" cy="31675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dirty="0">
                <a:solidFill>
                  <a:srgbClr val="64748B"/>
                </a:solidFill>
                <a:latin typeface="Microsoft YaHei"/>
                <a:ea typeface="Microsoft YaHei"/>
              </a:rPr>
              <a:t>先按证据语义分组，再在组内完成信息池化</a:t>
            </a:r>
            <a:endParaRPr sz="170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15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1828800"/>
            <a:ext cx="3794760" cy="38404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1993392"/>
            <a:ext cx="32918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26FAD"/>
                </a:solidFill>
                <a:latin typeface="Microsoft YaHei"/>
                <a:ea typeface="Microsoft YaHei"/>
              </a:rPr>
              <a:t>分组规则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615184"/>
            <a:ext cx="3291840" cy="271048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dirty="0">
                <a:solidFill>
                  <a:srgbClr val="153B76"/>
                </a:solidFill>
                <a:latin typeface="Microsoft YaHei"/>
                <a:ea typeface="Microsoft YaHei"/>
              </a:rPr>
              <a:t>Direct：</a:t>
            </a:r>
            <a:r>
              <a:rPr lang="zh-CN" altLang="en-US" sz="1700" b="1" dirty="0">
                <a:solidFill>
                  <a:srgbClr val="153B76"/>
                </a:solidFill>
                <a:latin typeface="Microsoft YaHei"/>
                <a:ea typeface="Microsoft YaHei"/>
              </a:rPr>
              <a:t>当前 </a:t>
            </a:r>
            <a:r>
              <a:rPr lang="en-US" altLang="zh-CN" sz="1700" b="1" dirty="0">
                <a:solidFill>
                  <a:srgbClr val="153B76"/>
                </a:solidFill>
                <a:latin typeface="Microsoft YaHei"/>
                <a:ea typeface="Microsoft YaHei"/>
              </a:rPr>
              <a:t>A-B </a:t>
            </a:r>
            <a:r>
              <a:rPr lang="zh-CN" altLang="en-US" sz="1700" b="1" dirty="0">
                <a:solidFill>
                  <a:srgbClr val="153B76"/>
                </a:solidFill>
                <a:latin typeface="Microsoft YaHei"/>
                <a:ea typeface="Microsoft YaHei"/>
              </a:rPr>
              <a:t>精确匹配的直接生物学证据</a:t>
            </a:r>
            <a:endParaRPr sz="1700" b="1" dirty="0">
              <a:solidFill>
                <a:srgbClr val="153B76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1" dirty="0">
              <a:solidFill>
                <a:srgbClr val="153B76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dirty="0">
                <a:solidFill>
                  <a:srgbClr val="153B76"/>
                </a:solidFill>
                <a:latin typeface="Microsoft YaHei"/>
                <a:ea typeface="Microsoft YaHei"/>
              </a:rPr>
              <a:t>Clinical：</a:t>
            </a:r>
            <a:r>
              <a:rPr lang="zh-CN" altLang="en-US" sz="1700" b="1" dirty="0">
                <a:solidFill>
                  <a:srgbClr val="153B76"/>
                </a:solidFill>
                <a:latin typeface="Microsoft YaHei"/>
                <a:ea typeface="Microsoft YaHei"/>
              </a:rPr>
              <a:t>受决策时间约束的临床上下文</a:t>
            </a:r>
            <a:endParaRPr sz="1700" b="1" dirty="0">
              <a:solidFill>
                <a:srgbClr val="153B76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1" dirty="0">
              <a:solidFill>
                <a:srgbClr val="153B76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Network：</a:t>
            </a:r>
            <a:r>
              <a:rPr lang="en-US" altLang="zh-CN" sz="17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PPI</a:t>
            </a:r>
            <a:r>
              <a:rPr lang="zh-CN" altLang="en-US" sz="1700" b="1" dirty="0">
                <a:solidFill>
                  <a:srgbClr val="153B76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1700" b="1" dirty="0">
                <a:solidFill>
                  <a:srgbClr val="153B76"/>
                </a:solidFill>
                <a:latin typeface="Microsoft YaHei"/>
                <a:ea typeface="Microsoft YaHei"/>
              </a:rPr>
              <a:t>GO</a:t>
            </a:r>
            <a:r>
              <a:rPr lang="zh-CN" altLang="en-US" sz="1700" b="1" dirty="0">
                <a:solidFill>
                  <a:srgbClr val="153B76"/>
                </a:solidFill>
                <a:latin typeface="Microsoft YaHei"/>
                <a:ea typeface="Microsoft YaHei"/>
              </a:rPr>
              <a:t>、通路及 </a:t>
            </a:r>
            <a:r>
              <a:rPr lang="en-US" altLang="zh-CN" sz="1700" b="1" dirty="0">
                <a:solidFill>
                  <a:srgbClr val="153B76"/>
                </a:solidFill>
                <a:latin typeface="Microsoft YaHei"/>
                <a:ea typeface="Microsoft YaHei"/>
              </a:rPr>
              <a:t>HGT </a:t>
            </a:r>
            <a:r>
              <a:rPr lang="zh-CN" altLang="en-US" sz="1700" b="1" dirty="0">
                <a:solidFill>
                  <a:srgbClr val="153B76"/>
                </a:solidFill>
                <a:latin typeface="Microsoft YaHei"/>
                <a:ea typeface="Microsoft YaHei"/>
              </a:rPr>
              <a:t>多跳网络上下文</a:t>
            </a:r>
            <a:endParaRPr sz="1700" b="1" dirty="0">
              <a:solidFill>
                <a:srgbClr val="153B76"/>
              </a:solidFill>
              <a:latin typeface="Microsoft YaHei"/>
              <a:ea typeface="Microsoft YaHe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434840" y="1828800"/>
            <a:ext cx="3794760" cy="3840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1993392"/>
            <a:ext cx="32918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98979"/>
                </a:solidFill>
                <a:latin typeface="Microsoft YaHei"/>
                <a:ea typeface="Microsoft YaHei"/>
              </a:rPr>
              <a:t>代码实现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377440"/>
            <a:ext cx="3291840" cy="2606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src/models/da_mef.py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• DEFAULT_EVIDENCE_SOURCES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• </a:t>
            </a: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assign_source</a:t>
            </a:r>
            <a:endParaRPr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• _</a:t>
            </a: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scope_rows</a:t>
            </a:r>
            <a:endParaRPr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• </a:t>
            </a: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direct_evidence_scope</a:t>
            </a: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 = </a:t>
            </a: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exact_pair</a:t>
            </a:r>
            <a:endParaRPr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tests/test_clinical_context.py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1830099"/>
            <a:ext cx="3337560" cy="384048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0" y="1993392"/>
            <a:ext cx="28803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C87E25"/>
                </a:solidFill>
                <a:latin typeface="Microsoft YaHei"/>
                <a:ea typeface="Microsoft YaHei"/>
              </a:rPr>
              <a:t>作用与边界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596896"/>
            <a:ext cx="2880360" cy="215097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作用</a:t>
            </a: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避免跨端点信息被误归为 </a:t>
            </a:r>
            <a:r>
              <a:rPr lang="en-US" altLang="zh-CN" sz="1600" dirty="0">
                <a:solidFill>
                  <a:srgbClr val="23364B"/>
                </a:solidFill>
                <a:latin typeface="Microsoft YaHei"/>
                <a:ea typeface="Microsoft YaHei"/>
              </a:rPr>
              <a:t>Direct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，同时保留 </a:t>
            </a:r>
            <a:r>
              <a:rPr lang="en-US" altLang="zh-CN" sz="1600" dirty="0">
                <a:solidFill>
                  <a:srgbClr val="23364B"/>
                </a:solidFill>
                <a:latin typeface="Microsoft YaHei"/>
                <a:ea typeface="Microsoft YaHei"/>
              </a:rPr>
              <a:t>Clinical / Network 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的上下文价值</a:t>
            </a:r>
            <a:r>
              <a:rPr sz="1600" dirty="0">
                <a:solidFill>
                  <a:srgbClr val="23364B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边界</a:t>
            </a: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只有与当前 </a:t>
            </a:r>
            <a:r>
              <a:rPr lang="en-US" altLang="zh-CN" sz="1600" dirty="0">
                <a:solidFill>
                  <a:srgbClr val="23364B"/>
                </a:solidFill>
                <a:latin typeface="Microsoft YaHei"/>
                <a:ea typeface="Microsoft YaHei"/>
              </a:rPr>
              <a:t>A-B 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精确匹配的直接证据进入 </a:t>
            </a:r>
            <a:r>
              <a:rPr lang="en-US" altLang="zh-CN" sz="1600" dirty="0">
                <a:solidFill>
                  <a:srgbClr val="23364B"/>
                </a:solidFill>
                <a:latin typeface="Microsoft YaHei"/>
                <a:ea typeface="Microsoft YaHei"/>
              </a:rPr>
              <a:t>Direct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；跨端点信息不再进入 </a:t>
            </a:r>
            <a:r>
              <a:rPr lang="en-US" altLang="zh-CN" sz="1600" dirty="0">
                <a:solidFill>
                  <a:srgbClr val="23364B"/>
                </a:solidFill>
                <a:latin typeface="Microsoft YaHei"/>
                <a:ea typeface="Microsoft YaHei"/>
              </a:rPr>
              <a:t>Direct</a:t>
            </a: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" y="5843016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" y="5907024"/>
            <a:ext cx="10972800" cy="31675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先控制证据归属，再完成组内融合，避免 </a:t>
            </a:r>
            <a:r>
              <a:rPr lang="en-US" altLang="zh-CN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Direct </a:t>
            </a:r>
            <a:r>
              <a:rPr lang="zh-CN" altLang="en-US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与上下文信息混淆</a:t>
            </a:r>
            <a:r>
              <a:rPr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7423640-3AEC-0512-91B7-D318F8BAB574}"/>
              </a:ext>
            </a:extLst>
          </p:cNvPr>
          <p:cNvSpPr txBox="1"/>
          <p:nvPr/>
        </p:nvSpPr>
        <p:spPr>
          <a:xfrm>
            <a:off x="4480560" y="5256670"/>
            <a:ext cx="3840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23364B"/>
                </a:solidFill>
                <a:latin typeface="Microsoft YaHei"/>
                <a:ea typeface="Microsoft YaHei"/>
              </a:rPr>
              <a:t>原始关系 → 证据类型归属 → </a:t>
            </a:r>
            <a:r>
              <a:rPr lang="en-US" altLang="zh-CN" sz="1000" dirty="0">
                <a:solidFill>
                  <a:srgbClr val="23364B"/>
                </a:solidFill>
                <a:latin typeface="Microsoft YaHei"/>
                <a:ea typeface="Microsoft YaHei"/>
              </a:rPr>
              <a:t>Direct scope </a:t>
            </a:r>
            <a:r>
              <a:rPr lang="zh-CN" altLang="en-US" sz="1000" dirty="0">
                <a:solidFill>
                  <a:srgbClr val="23364B"/>
                </a:solidFill>
                <a:latin typeface="Microsoft YaHei"/>
                <a:ea typeface="Microsoft YaHei"/>
              </a:rPr>
              <a:t>过滤 → 分组池化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363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-1" y="941832"/>
            <a:ext cx="4085646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799" y="1016812"/>
            <a:ext cx="3793824" cy="39607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模块对照</a:t>
            </a:r>
            <a:r>
              <a:rPr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 5：</a:t>
            </a:r>
            <a:r>
              <a:rPr lang="zh-CN" altLang="en-US"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证据源内融合</a:t>
            </a:r>
            <a:endParaRPr sz="22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85645" y="1058459"/>
            <a:ext cx="85496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对每一类证据学习不同权重，形成源级表示</a:t>
            </a:r>
            <a:r>
              <a:rPr sz="1700" b="0" dirty="0">
                <a:solidFill>
                  <a:srgbClr val="64748B"/>
                </a:solidFill>
                <a:latin typeface="Microsoft YaHei"/>
                <a:ea typeface="Microsoft YaHei"/>
              </a:rPr>
              <a:t> zₘ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16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1828800"/>
            <a:ext cx="3749039" cy="38404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85800" y="1993392"/>
            <a:ext cx="32918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26FAD"/>
                </a:solidFill>
                <a:latin typeface="Microsoft YaHei"/>
                <a:ea typeface="Microsoft YaHei"/>
              </a:rPr>
              <a:t>对应公式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615184"/>
            <a:ext cx="3291840" cy="3797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endParaRPr sz="2100" b="1" dirty="0">
              <a:solidFill>
                <a:srgbClr val="153B76"/>
              </a:solidFill>
              <a:latin typeface="Microsoft YaHei"/>
              <a:ea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3783" y="4937371"/>
            <a:ext cx="3291840" cy="58599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同一来源内，不同证据的权重由当前 </a:t>
            </a:r>
            <a:r>
              <a:rPr lang="en-US" altLang="zh-CN" sz="1600" dirty="0">
                <a:solidFill>
                  <a:srgbClr val="23364B"/>
                </a:solidFill>
                <a:latin typeface="Microsoft YaHei"/>
                <a:ea typeface="Microsoft YaHei"/>
              </a:rPr>
              <a:t>target–disease 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配对状态 </a:t>
            </a:r>
            <a:r>
              <a:rPr lang="en-US" altLang="zh-CN" sz="1600" dirty="0">
                <a:solidFill>
                  <a:srgbClr val="23364B"/>
                </a:solidFill>
                <a:latin typeface="Microsoft YaHei"/>
                <a:ea typeface="Microsoft YaHei"/>
              </a:rPr>
              <a:t>q 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决定</a:t>
            </a:r>
            <a:endParaRPr sz="160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89120" y="1828800"/>
            <a:ext cx="3749039" cy="3840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1993392"/>
            <a:ext cx="32918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98979"/>
                </a:solidFill>
                <a:latin typeface="Microsoft YaHei"/>
                <a:ea typeface="Microsoft YaHei"/>
              </a:rPr>
              <a:t>代码实现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596896"/>
            <a:ext cx="3291840" cy="2423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src/models/da_mef.py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• </a:t>
            </a: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MultiEvidenceFusion</a:t>
            </a:r>
            <a:endParaRPr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• _</a:t>
            </a: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pool_source_attention</a:t>
            </a:r>
            <a:endParaRPr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• attention query / masked </a:t>
            </a: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softmax</a:t>
            </a:r>
            <a:endParaRPr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• learned empty-source representation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828800"/>
            <a:ext cx="3383280" cy="384048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1993392"/>
            <a:ext cx="29260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C87E25"/>
                </a:solidFill>
                <a:latin typeface="Microsoft YaHei"/>
                <a:ea typeface="Microsoft YaHei"/>
              </a:rPr>
              <a:t>作用与边界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596896"/>
            <a:ext cx="2926080" cy="158934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作用</a:t>
            </a: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同一来源内自适应选择重要证据</a:t>
            </a: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边界</a:t>
            </a: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只做类内融合，不负责三类证据之间融合</a:t>
            </a:r>
            <a:endParaRPr sz="160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38912" y="5843016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03504" y="5921654"/>
                <a:ext cx="10972800" cy="314445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l">
                  <a:lnSpc>
                    <a:spcPct val="115000"/>
                  </a:lnSpc>
                  <a:spcAft>
                    <a:spcPts val="600"/>
                  </a:spcAft>
                </a:pPr>
                <a:r>
                  <a:rPr lang="zh-CN" altLang="en-US" sz="1700" b="1" dirty="0">
                    <a:solidFill>
                      <a:srgbClr val="126FAD"/>
                    </a:solidFill>
                    <a:latin typeface="Microsoft YaHei"/>
                    <a:ea typeface="Microsoft YaHei"/>
                  </a:rPr>
                  <a:t>类内注意力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700" b="1" i="1" dirty="0" err="1">
                            <a:solidFill>
                              <a:srgbClr val="126FAD"/>
                            </a:solidFill>
                            <a:latin typeface="Cambria Math" panose="02040503050406030204" pitchFamily="18" charset="0"/>
                            <a:ea typeface="Microsoft YaHei"/>
                          </a:rPr>
                        </m:ctrlPr>
                      </m:sSubPr>
                      <m:e>
                        <m:r>
                          <a:rPr lang="en-US" altLang="zh-CN" sz="1700" b="1" dirty="0">
                            <a:solidFill>
                              <a:srgbClr val="126FAD"/>
                            </a:solidFill>
                            <a:latin typeface="Cambria Math" panose="02040503050406030204" pitchFamily="18" charset="0"/>
                            <a:ea typeface="Microsoft YaHei"/>
                          </a:rPr>
                          <m:t>𝛼</m:t>
                        </m:r>
                      </m:e>
                      <m:sub>
                        <m:r>
                          <a:rPr lang="en-US" altLang="zh-CN" sz="1700" b="1" dirty="0" err="1">
                            <a:solidFill>
                              <a:srgbClr val="126FAD"/>
                            </a:solidFill>
                            <a:latin typeface="Cambria Math" panose="02040503050406030204" pitchFamily="18" charset="0"/>
                            <a:ea typeface="Microsoft YaHei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sz="1700" b="1" dirty="0">
                    <a:solidFill>
                      <a:srgbClr val="126FAD"/>
                    </a:solidFill>
                    <a:latin typeface="Microsoft YaHei"/>
                    <a:ea typeface="Microsoft YaHei"/>
                  </a:rPr>
                  <a:t>完成“同类证据选择”，为后续三类证据的融合提供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700" b="1" i="1" dirty="0">
                            <a:solidFill>
                              <a:srgbClr val="126FAD"/>
                            </a:solidFill>
                            <a:latin typeface="Cambria Math" panose="02040503050406030204" pitchFamily="18" charset="0"/>
                            <a:ea typeface="Microsoft YaHei"/>
                          </a:rPr>
                        </m:ctrlPr>
                      </m:sSubPr>
                      <m:e>
                        <m:r>
                          <a:rPr lang="en-US" altLang="zh-CN" sz="1700" b="1" dirty="0">
                            <a:solidFill>
                              <a:srgbClr val="126FAD"/>
                            </a:solidFill>
                            <a:latin typeface="Cambria Math" panose="02040503050406030204" pitchFamily="18" charset="0"/>
                            <a:ea typeface="Microsoft YaHei"/>
                          </a:rPr>
                          <m:t>𝑧</m:t>
                        </m:r>
                      </m:e>
                      <m:sub>
                        <m:r>
                          <a:rPr lang="en-US" altLang="zh-CN" sz="1700" b="1" dirty="0">
                            <a:solidFill>
                              <a:srgbClr val="126FAD"/>
                            </a:solidFill>
                            <a:latin typeface="Cambria Math" panose="02040503050406030204" pitchFamily="18" charset="0"/>
                            <a:ea typeface="Microsoft YaHei"/>
                          </a:rPr>
                          <m:t>𝑚</m:t>
                        </m:r>
                      </m:sub>
                    </m:sSub>
                  </m:oMath>
                </a14:m>
                <a:r>
                  <a:rPr sz="1700" b="1" dirty="0">
                    <a:solidFill>
                      <a:srgbClr val="126FAD"/>
                    </a:solidFill>
                    <a:latin typeface="Microsoft YaHei"/>
                    <a:ea typeface="Microsoft YaHei"/>
                  </a:rPr>
                  <a:t>。</a:t>
                </a:r>
                <a:r>
                  <a:rPr lang="zh-CN" altLang="en-US" sz="1700" b="1" dirty="0">
                    <a:solidFill>
                      <a:srgbClr val="126FAD"/>
                    </a:solidFill>
                    <a:highlight>
                      <a:srgbClr val="FFFF00"/>
                    </a:highlight>
                    <a:latin typeface="Microsoft YaHei"/>
                    <a:ea typeface="Microsoft YaHei"/>
                  </a:rPr>
                  <a:t>第二次权重，同一类证据之间的选择</a:t>
                </a:r>
                <a:endParaRPr sz="1700" b="1" dirty="0">
                  <a:solidFill>
                    <a:srgbClr val="126FAD"/>
                  </a:solidFill>
                  <a:highlight>
                    <a:srgbClr val="FFFF00"/>
                  </a:highlight>
                  <a:latin typeface="Microsoft YaHei"/>
                  <a:ea typeface="Microsoft YaHei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04" y="5921654"/>
                <a:ext cx="10972800" cy="314445"/>
              </a:xfrm>
              <a:prstGeom prst="rect">
                <a:avLst/>
              </a:prstGeom>
              <a:blipFill>
                <a:blip r:embed="rId4"/>
                <a:stretch>
                  <a:fillRect l="-944" t="-9615" b="-3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图片 44">
            <a:extLst>
              <a:ext uri="{FF2B5EF4-FFF2-40B4-BE49-F238E27FC236}">
                <a16:creationId xmlns:a16="http://schemas.microsoft.com/office/drawing/2014/main" id="{5EB32A0B-4ECA-1320-1255-3F387C1C8A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6280" y="2475453"/>
            <a:ext cx="3068164" cy="962374"/>
          </a:xfrm>
          <a:prstGeom prst="rect">
            <a:avLst/>
          </a:prstGeom>
        </p:spPr>
      </p:pic>
      <p:grpSp>
        <p:nvGrpSpPr>
          <p:cNvPr id="34" name="组合 33">
            <a:extLst>
              <a:ext uri="{FF2B5EF4-FFF2-40B4-BE49-F238E27FC236}">
                <a16:creationId xmlns:a16="http://schemas.microsoft.com/office/drawing/2014/main" id="{AD30A628-A01A-8867-F8E5-EECAC7F2DD1D}"/>
              </a:ext>
            </a:extLst>
          </p:cNvPr>
          <p:cNvGrpSpPr/>
          <p:nvPr/>
        </p:nvGrpSpPr>
        <p:grpSpPr>
          <a:xfrm>
            <a:off x="647437" y="4257435"/>
            <a:ext cx="3205850" cy="676794"/>
            <a:chOff x="634940" y="4483270"/>
            <a:chExt cx="3205850" cy="676794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BE10C8D3-1A18-524C-71F6-E82BF6CB3870}"/>
                </a:ext>
              </a:extLst>
            </p:cNvPr>
            <p:cNvSpPr txBox="1"/>
            <p:nvPr/>
          </p:nvSpPr>
          <p:spPr>
            <a:xfrm>
              <a:off x="634940" y="4483270"/>
              <a:ext cx="320585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700" dirty="0">
                  <a:solidFill>
                    <a:srgbClr val="23364B"/>
                  </a:solidFill>
                  <a:latin typeface="Microsoft YaHei"/>
                  <a:ea typeface="Microsoft YaHei"/>
                </a:rPr>
                <a:t>源内各证据注意力权重计算，然后得到经过注意力筛选的</a:t>
              </a:r>
            </a:p>
          </p:txBody>
        </p:sp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F343EE63-36C8-70B2-DD30-9487FFF71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54680" y="4783532"/>
              <a:ext cx="393910" cy="376532"/>
            </a:xfrm>
            <a:prstGeom prst="rect">
              <a:avLst/>
            </a:prstGeom>
          </p:spPr>
        </p:pic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A102A1FA-4444-20AD-A016-9141E42910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783" y="3422883"/>
            <a:ext cx="3093158" cy="7967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79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sz="2000" b="1" dirty="0">
              <a:solidFill>
                <a:srgbClr val="818181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288036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2487168" cy="3749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注意力与门控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1005840"/>
            <a:ext cx="85496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三类证据各自独立池化，得到</a:t>
            </a:r>
            <a:r>
              <a:rPr sz="17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7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z_D、z_C、z_N</a:t>
            </a:r>
            <a:r>
              <a:rPr sz="17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7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后再统一门控融合</a:t>
            </a:r>
            <a:endParaRPr sz="1700" b="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19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1783080"/>
            <a:ext cx="3337560" cy="896112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1856231"/>
            <a:ext cx="2971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26FAD"/>
                </a:solidFill>
                <a:latin typeface="Microsoft YaHei"/>
                <a:ea typeface="Microsoft YaHei"/>
              </a:rPr>
              <a:t>Direct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221991"/>
            <a:ext cx="297180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3364B"/>
                </a:solidFill>
                <a:latin typeface="Microsoft YaHei"/>
                <a:ea typeface="Microsoft YaHei"/>
              </a:rPr>
              <a:t>A-B 文献 / 遗传 / 动物模型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005072" y="2121408"/>
            <a:ext cx="228600" cy="182880"/>
          </a:xfrm>
          <a:prstGeom prst="rightArrow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70832" y="1783080"/>
            <a:ext cx="2331720" cy="896112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17136" y="1874519"/>
            <a:ext cx="203911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53B76"/>
                </a:solidFill>
                <a:latin typeface="Microsoft YaHei"/>
                <a:ea typeface="Microsoft YaHei"/>
              </a:rPr>
              <a:t>专属 Attention Pool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2258568"/>
            <a:ext cx="2039112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53B76"/>
                </a:solidFill>
                <a:latin typeface="Microsoft YaHei"/>
                <a:ea typeface="Microsoft YaHei"/>
              </a:rPr>
              <a:t>→ z_D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876288" y="2121408"/>
            <a:ext cx="228600" cy="182880"/>
          </a:xfrm>
          <a:prstGeom prst="rightArrow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242048" y="1783080"/>
            <a:ext cx="1143000" cy="896112"/>
          </a:xfrm>
          <a:prstGeom prst="roundRect">
            <a:avLst>
              <a:gd name="adj" fmla="val 8000"/>
            </a:avLst>
          </a:prstGeom>
          <a:solidFill>
            <a:srgbClr val="EAF3F9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33488" y="2020824"/>
            <a:ext cx="9601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53B76"/>
                </a:solidFill>
                <a:latin typeface="Microsoft YaHei"/>
                <a:ea typeface="Microsoft YaHei"/>
              </a:rPr>
              <a:t>z_D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944368"/>
            <a:ext cx="3337560" cy="896112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3017520"/>
            <a:ext cx="2971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98979"/>
                </a:solidFill>
                <a:latin typeface="Microsoft YaHei"/>
                <a:ea typeface="Microsoft YaHe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383279"/>
            <a:ext cx="297180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3364B"/>
                </a:solidFill>
                <a:latin typeface="Microsoft YaHei"/>
                <a:ea typeface="Microsoft YaHei"/>
              </a:rPr>
              <a:t>A-B / A-C / D-B 历史临床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005072" y="3282696"/>
            <a:ext cx="228600" cy="182880"/>
          </a:xfrm>
          <a:prstGeom prst="rightArrow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370832" y="2944368"/>
            <a:ext cx="2331720" cy="896112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17136" y="3035808"/>
            <a:ext cx="203911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53B76"/>
                </a:solidFill>
                <a:latin typeface="Microsoft YaHei"/>
                <a:ea typeface="Microsoft YaHei"/>
              </a:rPr>
              <a:t>专属 Attention Pool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136" y="3419856"/>
            <a:ext cx="2039112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dirty="0">
                <a:solidFill>
                  <a:srgbClr val="153B76"/>
                </a:solidFill>
                <a:latin typeface="Microsoft YaHei"/>
                <a:ea typeface="Microsoft YaHei"/>
              </a:rPr>
              <a:t>→ </a:t>
            </a:r>
            <a:r>
              <a:rPr sz="18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z_</a:t>
            </a:r>
            <a:r>
              <a:rPr lang="en-US" sz="18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C</a:t>
            </a:r>
            <a:endParaRPr sz="1800" b="1" dirty="0">
              <a:solidFill>
                <a:srgbClr val="153B76"/>
              </a:solidFill>
              <a:latin typeface="Microsoft YaHei"/>
              <a:ea typeface="Microsoft YaHei"/>
            </a:endParaRPr>
          </a:p>
        </p:txBody>
      </p:sp>
      <p:sp>
        <p:nvSpPr>
          <p:cNvPr id="36" name="Right Arrow 35"/>
          <p:cNvSpPr/>
          <p:nvPr/>
        </p:nvSpPr>
        <p:spPr>
          <a:xfrm>
            <a:off x="6876288" y="3282696"/>
            <a:ext cx="228600" cy="182880"/>
          </a:xfrm>
          <a:prstGeom prst="rightArrow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242048" y="2944368"/>
            <a:ext cx="1143000" cy="896112"/>
          </a:xfrm>
          <a:prstGeom prst="roundRect">
            <a:avLst>
              <a:gd name="adj" fmla="val 8000"/>
            </a:avLst>
          </a:prstGeom>
          <a:solidFill>
            <a:srgbClr val="EAF3F9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33488" y="3182111"/>
            <a:ext cx="9601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53B76"/>
                </a:solidFill>
                <a:latin typeface="Microsoft YaHei"/>
                <a:ea typeface="Microsoft YaHei"/>
              </a:rPr>
              <a:t>z_C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105656"/>
            <a:ext cx="3337560" cy="896112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4178808"/>
            <a:ext cx="2971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C87E25"/>
                </a:solidFill>
                <a:latin typeface="Microsoft YaHei"/>
                <a:ea typeface="Microsoft YaHei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4544568"/>
            <a:ext cx="297180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3364B"/>
                </a:solidFill>
                <a:latin typeface="Microsoft YaHei"/>
                <a:ea typeface="Microsoft YaHei"/>
              </a:rPr>
              <a:t>PPI / GO / 通路 / 本体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005072" y="4443984"/>
            <a:ext cx="228600" cy="182880"/>
          </a:xfrm>
          <a:prstGeom prst="rightArrow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370832" y="4105656"/>
            <a:ext cx="2331720" cy="896112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17136" y="4197096"/>
            <a:ext cx="203911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53B76"/>
                </a:solidFill>
                <a:latin typeface="Microsoft YaHei"/>
                <a:ea typeface="Microsoft YaHei"/>
              </a:rPr>
              <a:t>专属 Attention Pool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17136" y="4581144"/>
            <a:ext cx="2039112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dirty="0">
                <a:solidFill>
                  <a:srgbClr val="153B76"/>
                </a:solidFill>
                <a:latin typeface="Microsoft YaHei"/>
                <a:ea typeface="Microsoft YaHei"/>
              </a:rPr>
              <a:t>→ </a:t>
            </a:r>
            <a:r>
              <a:rPr sz="18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z_</a:t>
            </a:r>
            <a:r>
              <a:rPr lang="en-US" sz="18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N</a:t>
            </a:r>
            <a:endParaRPr sz="1800" b="1" dirty="0">
              <a:solidFill>
                <a:srgbClr val="153B76"/>
              </a:solidFill>
              <a:latin typeface="Microsoft YaHei"/>
              <a:ea typeface="Microsoft YaHei"/>
            </a:endParaRPr>
          </a:p>
        </p:txBody>
      </p:sp>
      <p:sp>
        <p:nvSpPr>
          <p:cNvPr id="46" name="Right Arrow 45"/>
          <p:cNvSpPr/>
          <p:nvPr/>
        </p:nvSpPr>
        <p:spPr>
          <a:xfrm>
            <a:off x="6876288" y="4443984"/>
            <a:ext cx="228600" cy="182880"/>
          </a:xfrm>
          <a:prstGeom prst="rightArrow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242048" y="4105656"/>
            <a:ext cx="1143000" cy="896112"/>
          </a:xfrm>
          <a:prstGeom prst="roundRect">
            <a:avLst>
              <a:gd name="adj" fmla="val 8000"/>
            </a:avLst>
          </a:prstGeom>
          <a:solidFill>
            <a:srgbClr val="EAF3F9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33488" y="4343400"/>
            <a:ext cx="9601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53B76"/>
                </a:solidFill>
                <a:latin typeface="Microsoft YaHei"/>
                <a:ea typeface="Microsoft YaHei"/>
              </a:rPr>
              <a:t>z_N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05088" y="1856231"/>
            <a:ext cx="297180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53B76"/>
                </a:solidFill>
                <a:latin typeface="Microsoft YaHei"/>
                <a:ea typeface="Microsoft YaHei"/>
              </a:rPr>
              <a:t>配对表示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05087" y="2304288"/>
            <a:ext cx="3337559" cy="29815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h_pair</a:t>
            </a:r>
            <a:r>
              <a:rPr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 = [</a:t>
            </a:r>
            <a:r>
              <a:rPr sz="16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h_g</a:t>
            </a:r>
            <a:r>
              <a:rPr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 ; </a:t>
            </a:r>
            <a:r>
              <a:rPr sz="16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h_d</a:t>
            </a:r>
            <a:r>
              <a:rPr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 ; </a:t>
            </a:r>
            <a:r>
              <a:rPr sz="16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h_g</a:t>
            </a:r>
            <a:r>
              <a:rPr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 ⊙ </a:t>
            </a:r>
            <a:r>
              <a:rPr sz="16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h_d</a:t>
            </a:r>
            <a:r>
              <a:rPr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41080" y="3154680"/>
            <a:ext cx="3154680" cy="10241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823960" y="3273552"/>
            <a:ext cx="2788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98979"/>
                </a:solidFill>
                <a:latin typeface="Microsoft YaHei"/>
                <a:ea typeface="Microsoft YaHei"/>
              </a:rPr>
              <a:t>三类源分别门控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3675887"/>
            <a:ext cx="3218686" cy="26507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 dirty="0">
                <a:solidFill>
                  <a:srgbClr val="153B76"/>
                </a:solidFill>
                <a:latin typeface="Microsoft YaHei"/>
                <a:ea typeface="Microsoft YaHei"/>
              </a:rPr>
              <a:t>γₘ = σ(Wₘ[</a:t>
            </a:r>
            <a:r>
              <a:rPr sz="14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h_pair</a:t>
            </a:r>
            <a:r>
              <a:rPr sz="1400" b="1" dirty="0">
                <a:solidFill>
                  <a:srgbClr val="153B76"/>
                </a:solidFill>
                <a:latin typeface="Microsoft YaHei"/>
                <a:ea typeface="Microsoft YaHei"/>
              </a:rPr>
              <a:t> ; zₘ ; cₘ] + bₘ)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41080" y="4434840"/>
            <a:ext cx="3154680" cy="950976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823960" y="4553712"/>
            <a:ext cx="27889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C87E25"/>
                </a:solidFill>
                <a:latin typeface="Microsoft YaHei"/>
                <a:ea typeface="Microsoft YaHei"/>
              </a:rPr>
              <a:t>统一残差融合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23960" y="4937760"/>
            <a:ext cx="27889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h_fuse</a:t>
            </a:r>
            <a:r>
              <a:rPr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 = </a:t>
            </a:r>
            <a:r>
              <a:rPr sz="16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h_pair</a:t>
            </a:r>
            <a:r>
              <a:rPr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 + Σₘ γₘ zₘ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8912" y="5843016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12648" y="5907024"/>
            <a:ext cx="10972800" cy="3139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dirty="0" err="1">
                <a:solidFill>
                  <a:srgbClr val="126FAD"/>
                </a:solidFill>
                <a:latin typeface="Microsoft YaHei"/>
                <a:ea typeface="Microsoft YaHei"/>
              </a:rPr>
              <a:t>每一类证据有自己的池化器；池化结果</a:t>
            </a:r>
            <a:r>
              <a:rPr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 zₘ </a:t>
            </a:r>
            <a:r>
              <a:rPr sz="1700" b="1" dirty="0" err="1">
                <a:solidFill>
                  <a:srgbClr val="126FAD"/>
                </a:solidFill>
                <a:latin typeface="Microsoft YaHei"/>
                <a:ea typeface="Microsoft YaHei"/>
              </a:rPr>
              <a:t>共同进入源级门控和残差融合</a:t>
            </a:r>
            <a:r>
              <a:rPr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。</a:t>
            </a:r>
            <a:r>
              <a:rPr lang="zh-CN" altLang="en-US" sz="1700" b="1" dirty="0">
                <a:solidFill>
                  <a:srgbClr val="126FAD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第三次权重：</a:t>
            </a:r>
            <a:r>
              <a:rPr lang="en-US" altLang="zh-CN" sz="1700" b="1" dirty="0">
                <a:solidFill>
                  <a:srgbClr val="126FAD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DA-MEF </a:t>
            </a:r>
            <a:r>
              <a:rPr lang="zh-CN" altLang="en-US" sz="1700" b="1" dirty="0">
                <a:solidFill>
                  <a:srgbClr val="126FAD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的证据门控权重</a:t>
            </a:r>
            <a:endParaRPr sz="1700" b="1" dirty="0">
              <a:solidFill>
                <a:srgbClr val="126FAD"/>
              </a:solidFill>
              <a:highlight>
                <a:srgbClr val="FFFF00"/>
              </a:highlight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79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sz="2000" b="1" dirty="0">
              <a:solidFill>
                <a:srgbClr val="818181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335280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79" y="1005840"/>
            <a:ext cx="3053783" cy="39607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模块对照</a:t>
            </a:r>
            <a:r>
              <a:rPr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 6：源级</a:t>
            </a:r>
            <a:r>
              <a:rPr lang="zh-CN" altLang="en-US"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融合</a:t>
            </a:r>
            <a:endParaRPr sz="22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56617" y="1020160"/>
            <a:ext cx="8549640" cy="31444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dirty="0">
                <a:solidFill>
                  <a:srgbClr val="64748B"/>
                </a:solidFill>
                <a:latin typeface="Microsoft YaHei"/>
                <a:ea typeface="Microsoft YaHei"/>
              </a:rPr>
              <a:t>根据当前 </a:t>
            </a:r>
            <a:r>
              <a:rPr lang="en-US" altLang="zh-CN" sz="1700" dirty="0">
                <a:solidFill>
                  <a:srgbClr val="64748B"/>
                </a:solidFill>
                <a:latin typeface="Microsoft YaHei"/>
                <a:ea typeface="Microsoft YaHei"/>
              </a:rPr>
              <a:t>target–disease </a:t>
            </a:r>
            <a:r>
              <a:rPr lang="zh-CN" altLang="en-US" sz="1700" dirty="0">
                <a:solidFill>
                  <a:srgbClr val="64748B"/>
                </a:solidFill>
                <a:latin typeface="Microsoft YaHei"/>
                <a:ea typeface="Microsoft YaHei"/>
              </a:rPr>
              <a:t>配对状态，自适应决定三类证据的参与程度</a:t>
            </a:r>
            <a:endParaRPr sz="170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17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1828800"/>
            <a:ext cx="3749039" cy="38404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1993392"/>
            <a:ext cx="32918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26FAD"/>
                </a:solidFill>
                <a:latin typeface="Microsoft YaHei"/>
                <a:ea typeface="Microsoft YaHei"/>
              </a:rPr>
              <a:t>对应公式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1828800"/>
            <a:ext cx="3749039" cy="3840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1993392"/>
            <a:ext cx="32918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98979"/>
                </a:solidFill>
                <a:latin typeface="Microsoft YaHei"/>
                <a:ea typeface="Microsoft YaHei"/>
              </a:rPr>
              <a:t>代码实现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596896"/>
            <a:ext cx="3291840" cy="18985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src/models/da_mef.py</a:t>
            </a:r>
            <a:endParaRPr kumimoji="0" lang="zh-CN" altLang="zh-CN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MultiEvidenceFusion.forward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DAMEFLinkPredictor.forward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CN" sz="16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src/models/decoder.py</a:t>
            </a:r>
            <a:endParaRPr kumimoji="0" lang="zh-CN" altLang="zh-CN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FusionDecoder.forward</a:t>
            </a:r>
            <a:endParaRPr kumimoji="0" lang="zh-CN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321040" y="1828800"/>
            <a:ext cx="3383280" cy="3840480"/>
          </a:xfrm>
          <a:prstGeom prst="roundRect">
            <a:avLst>
              <a:gd name="adj" fmla="val 8000"/>
            </a:avLst>
          </a:prstGeom>
          <a:solidFill>
            <a:srgbClr val="FFF9F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1993392"/>
            <a:ext cx="29260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C87E25"/>
                </a:solidFill>
                <a:latin typeface="Microsoft YaHei"/>
                <a:ea typeface="Microsoft YaHei"/>
              </a:rPr>
              <a:t>作用与边界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596896"/>
            <a:ext cx="2926080" cy="207871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作用</a:t>
            </a: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根据当前 </a:t>
            </a:r>
            <a:r>
              <a:rPr lang="en-US" altLang="zh-CN" sz="1600" dirty="0">
                <a:solidFill>
                  <a:srgbClr val="23364B"/>
                </a:solidFill>
                <a:latin typeface="Microsoft YaHei"/>
                <a:ea typeface="Microsoft YaHei"/>
              </a:rPr>
              <a:t>target–disease 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配对状态，动态调整 </a:t>
            </a:r>
            <a:r>
              <a:rPr lang="en-US" altLang="zh-CN" sz="1600" dirty="0">
                <a:solidFill>
                  <a:srgbClr val="23364B"/>
                </a:solidFill>
                <a:latin typeface="Microsoft YaHei"/>
                <a:ea typeface="Microsoft YaHei"/>
              </a:rPr>
              <a:t>Direct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1600" dirty="0">
                <a:solidFill>
                  <a:srgbClr val="23364B"/>
                </a:solidFill>
                <a:latin typeface="Microsoft YaHei"/>
                <a:ea typeface="Microsoft YaHei"/>
              </a:rPr>
              <a:t>Clinical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1600" dirty="0">
                <a:solidFill>
                  <a:srgbClr val="23364B"/>
                </a:solidFill>
                <a:latin typeface="Microsoft YaHei"/>
                <a:ea typeface="Microsoft YaHei"/>
              </a:rPr>
              <a:t>Network 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三类证据的融合强度</a:t>
            </a: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边界：fusion_mode</a:t>
            </a: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=latest</a:t>
            </a:r>
            <a:r>
              <a:rPr lang="zh-CN" altLang="en-US" sz="1600" dirty="0">
                <a:solidFill>
                  <a:srgbClr val="23364B"/>
                </a:solidFill>
                <a:latin typeface="Microsoft YaHei"/>
                <a:ea typeface="Microsoft YaHei"/>
              </a:rPr>
              <a:t>使用决策时间之前最新可见的证据快照</a:t>
            </a:r>
            <a:r>
              <a:rPr sz="1600" dirty="0">
                <a:solidFill>
                  <a:srgbClr val="23364B"/>
                </a:solidFill>
                <a:latin typeface="Microsoft YaHei"/>
                <a:ea typeface="Microsoft YaHei"/>
              </a:rPr>
              <a:t>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" y="5863108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12648" y="5907024"/>
                <a:ext cx="10972800" cy="316753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600"/>
                  </a:spcAft>
                </a:pPr>
                <a:r>
                  <a:rPr lang="zh-CN" altLang="en-US" sz="1700" b="1" dirty="0">
                    <a:solidFill>
                      <a:srgbClr val="126FAD"/>
                    </a:solidFill>
                    <a:latin typeface="Microsoft YaHei"/>
                    <a:ea typeface="Microsoft YaHei"/>
                  </a:rPr>
                  <a:t>类内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700" b="1" i="1" dirty="0">
                            <a:solidFill>
                              <a:srgbClr val="126FAD"/>
                            </a:solidFill>
                            <a:latin typeface="Cambria Math" panose="02040503050406030204" pitchFamily="18" charset="0"/>
                            <a:ea typeface="Microsoft YaHei"/>
                          </a:rPr>
                        </m:ctrlPr>
                      </m:sSubPr>
                      <m:e>
                        <m:r>
                          <a:rPr lang="en-US" altLang="zh-CN" sz="1700" b="1" dirty="0">
                            <a:solidFill>
                              <a:srgbClr val="126FAD"/>
                            </a:solidFill>
                            <a:latin typeface="Cambria Math" panose="02040503050406030204" pitchFamily="18" charset="0"/>
                            <a:ea typeface="Microsoft YaHei"/>
                          </a:rPr>
                          <m:t>𝛼</m:t>
                        </m:r>
                      </m:e>
                      <m:sub>
                        <m:r>
                          <a:rPr lang="en-US" altLang="zh-CN" sz="1700" b="1" dirty="0" err="1">
                            <a:solidFill>
                              <a:srgbClr val="126FAD"/>
                            </a:solidFill>
                            <a:latin typeface="Cambria Math" panose="02040503050406030204" pitchFamily="18" charset="0"/>
                            <a:ea typeface="Microsoft YaHei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sz="1700" b="1" dirty="0">
                    <a:solidFill>
                      <a:srgbClr val="126FAD"/>
                    </a:solidFill>
                    <a:latin typeface="Microsoft YaHei"/>
                    <a:ea typeface="Microsoft YaHei"/>
                  </a:rPr>
                  <a:t>选择证据，类间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700" b="1" i="1" dirty="0" err="1">
                            <a:solidFill>
                              <a:srgbClr val="126FAD"/>
                            </a:solidFill>
                            <a:latin typeface="Cambria Math" panose="02040503050406030204" pitchFamily="18" charset="0"/>
                            <a:ea typeface="Microsoft YaHei"/>
                          </a:rPr>
                        </m:ctrlPr>
                      </m:sSubPr>
                      <m:e>
                        <m:r>
                          <a:rPr lang="en-US" altLang="zh-CN" sz="1700" b="1" dirty="0">
                            <a:solidFill>
                              <a:srgbClr val="126FAD"/>
                            </a:solidFill>
                            <a:latin typeface="Cambria Math" panose="02040503050406030204" pitchFamily="18" charset="0"/>
                            <a:ea typeface="Microsoft YaHei"/>
                          </a:rPr>
                          <m:t>𝛾</m:t>
                        </m:r>
                      </m:e>
                      <m:sub>
                        <m:r>
                          <a:rPr lang="en-US" altLang="zh-CN" sz="1700" b="1" dirty="0" err="1">
                            <a:solidFill>
                              <a:srgbClr val="126FAD"/>
                            </a:solidFill>
                            <a:latin typeface="Cambria Math" panose="02040503050406030204" pitchFamily="18" charset="0"/>
                            <a:ea typeface="Microsoft YaHei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1700" b="1" dirty="0">
                    <a:solidFill>
                      <a:srgbClr val="126FAD"/>
                    </a:solidFill>
                    <a:latin typeface="Microsoft YaHei"/>
                    <a:ea typeface="Microsoft YaHei"/>
                  </a:rPr>
                  <a:t>调节三类证据参与程度，最终输出推进概率</a:t>
                </a:r>
                <a:r>
                  <a:rPr sz="1700" b="1" dirty="0">
                    <a:solidFill>
                      <a:srgbClr val="126FAD"/>
                    </a:solidFill>
                    <a:latin typeface="Microsoft YaHei"/>
                    <a:ea typeface="Microsoft YaHei"/>
                  </a:rPr>
                  <a:t>。</a:t>
                </a:r>
                <a:r>
                  <a:rPr lang="zh-CN" altLang="en-US" sz="1700" b="1" dirty="0">
                    <a:solidFill>
                      <a:srgbClr val="126FAD"/>
                    </a:solidFill>
                    <a:highlight>
                      <a:srgbClr val="FFFF00"/>
                    </a:highlight>
                    <a:latin typeface="Microsoft YaHei"/>
                    <a:ea typeface="Microsoft YaHei"/>
                  </a:rPr>
                  <a:t>第三次权重，三类证据之间的注意力选择</a:t>
                </a:r>
                <a:endParaRPr sz="1700" b="1" dirty="0">
                  <a:solidFill>
                    <a:srgbClr val="126FAD"/>
                  </a:solidFill>
                  <a:latin typeface="Microsoft YaHei"/>
                  <a:ea typeface="Microsoft YaHei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5907024"/>
                <a:ext cx="10972800" cy="316753"/>
              </a:xfrm>
              <a:prstGeom prst="rect">
                <a:avLst/>
              </a:prstGeom>
              <a:blipFill>
                <a:blip r:embed="rId4"/>
                <a:stretch>
                  <a:fillRect l="-944" t="-9615" b="-32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图片 33">
            <a:extLst>
              <a:ext uri="{FF2B5EF4-FFF2-40B4-BE49-F238E27FC236}">
                <a16:creationId xmlns:a16="http://schemas.microsoft.com/office/drawing/2014/main" id="{5221C1A4-184D-2F2C-024A-8FB3424A2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322" y="2377440"/>
            <a:ext cx="3248025" cy="211455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54517F32-693C-3A7B-FD86-483099F56F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855" y="4685818"/>
            <a:ext cx="3248026" cy="7005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363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288036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2487168" cy="3749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训练目标与配置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1005840"/>
            <a:ext cx="8549640" cy="31444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dirty="0">
                <a:solidFill>
                  <a:srgbClr val="64748B"/>
                </a:solidFill>
                <a:latin typeface="Microsoft YaHei"/>
                <a:ea typeface="Microsoft YaHei"/>
              </a:rPr>
              <a:t>联合优化推进概率预测与候选关系排序能力</a:t>
            </a:r>
            <a:endParaRPr sz="170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20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1828800"/>
            <a:ext cx="5669280" cy="36118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828800"/>
            <a:ext cx="50292" cy="3611880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1975104"/>
            <a:ext cx="53035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26FAD"/>
                </a:solidFill>
                <a:latin typeface="Microsoft YaHei"/>
                <a:ea typeface="Microsoft YaHei"/>
              </a:rPr>
              <a:t>联合优化目标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40080" y="2555018"/>
                <a:ext cx="5303520" cy="2885662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l">
                  <a:lnSpc>
                    <a:spcPct val="115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100" b="0" i="1" dirty="0" smtClean="0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𝑝</m:t>
                      </m:r>
                      <m:r>
                        <a:rPr lang="zh-CN" altLang="en-US" sz="2100" b="0" i="1" dirty="0" smtClean="0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 = </m:t>
                      </m:r>
                      <m:r>
                        <a:rPr lang="zh-CN" altLang="en-US" sz="2100" b="0" i="1" dirty="0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𝑠𝑖𝑔𝑚𝑜𝑖𝑑</m:t>
                      </m:r>
                      <m:r>
                        <a:rPr lang="en-US" altLang="zh-CN" sz="2100" b="0" i="1" dirty="0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(</m:t>
                      </m:r>
                      <m:r>
                        <a:rPr lang="zh-CN" altLang="en-US" sz="2100" b="0" i="1" dirty="0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𝑀𝐿𝑃</m:t>
                      </m:r>
                      <m:r>
                        <a:rPr lang="en-US" altLang="zh-CN" sz="2100" b="0" i="1" dirty="0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(</m:t>
                      </m:r>
                      <m:r>
                        <a:rPr lang="en-US" altLang="zh-CN" sz="2100" b="0" i="1" dirty="0" err="1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h</m:t>
                      </m:r>
                      <m:r>
                        <a:rPr lang="en-US" altLang="zh-CN" sz="2100" b="0" i="1" dirty="0" err="1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_</m:t>
                      </m:r>
                      <m:r>
                        <a:rPr lang="zh-CN" altLang="en-US" sz="2100" b="0" i="1" dirty="0" err="1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𝑓𝑢𝑠𝑒</m:t>
                      </m:r>
                      <m:r>
                        <a:rPr lang="en-US" altLang="zh-CN" sz="2100" b="0" i="1" dirty="0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))</m:t>
                      </m:r>
                    </m:oMath>
                  </m:oMathPara>
                </a14:m>
                <a:endParaRPr lang="zh-CN" altLang="en-US" sz="2100" b="0" dirty="0">
                  <a:solidFill>
                    <a:srgbClr val="23364B"/>
                  </a:solidFill>
                  <a:latin typeface="Microsoft YaHei"/>
                  <a:ea typeface="Microsoft YaHei"/>
                </a:endParaRPr>
              </a:p>
              <a:p>
                <a:pPr algn="l">
                  <a:lnSpc>
                    <a:spcPct val="115000"/>
                  </a:lnSpc>
                  <a:spcAft>
                    <a:spcPts val="600"/>
                  </a:spcAft>
                </a:pPr>
                <a:endParaRPr lang="zh-CN" altLang="en-US" sz="2100" b="0" dirty="0">
                  <a:solidFill>
                    <a:srgbClr val="23364B"/>
                  </a:solidFill>
                  <a:latin typeface="Microsoft YaHei"/>
                  <a:ea typeface="Microsoft YaHei"/>
                </a:endParaRPr>
              </a:p>
              <a:p>
                <a:pPr algn="l">
                  <a:lnSpc>
                    <a:spcPct val="115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100" b="0" i="1" dirty="0" smtClean="0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𝐿</m:t>
                      </m:r>
                      <m:r>
                        <a:rPr lang="zh-CN" altLang="en-US" sz="2100" b="0" i="1" dirty="0" smtClean="0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 = </m:t>
                      </m:r>
                      <m:r>
                        <a:rPr lang="zh-CN" altLang="en-US" sz="2100" b="0" i="1" dirty="0" err="1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𝐿</m:t>
                      </m:r>
                      <m:r>
                        <a:rPr lang="en-US" altLang="zh-CN" sz="2100" b="0" i="1" dirty="0" err="1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_</m:t>
                      </m:r>
                      <m:r>
                        <a:rPr lang="zh-CN" altLang="en-US" sz="2100" b="0" i="1" dirty="0" err="1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𝑐𝑙𝑠</m:t>
                      </m:r>
                      <m:r>
                        <a:rPr lang="zh-CN" altLang="en-US" sz="2100" b="0" i="1" dirty="0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 </m:t>
                      </m:r>
                      <m:r>
                        <a:rPr lang="en-US" altLang="zh-CN" sz="2100" b="0" i="1" dirty="0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+ </m:t>
                      </m:r>
                      <m:r>
                        <a:rPr lang="zh-CN" altLang="en-US" sz="2100" b="0" i="1" dirty="0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𝜆</m:t>
                      </m:r>
                      <m:r>
                        <a:rPr lang="zh-CN" altLang="en-US" sz="2100" b="0" i="1" dirty="0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 · </m:t>
                      </m:r>
                      <m:r>
                        <a:rPr lang="zh-CN" altLang="en-US" sz="2100" b="0" i="1" dirty="0" err="1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𝐿</m:t>
                      </m:r>
                      <m:r>
                        <a:rPr lang="en-US" altLang="zh-CN" sz="2100" b="0" i="1" dirty="0" err="1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_</m:t>
                      </m:r>
                      <m:r>
                        <a:rPr lang="zh-CN" altLang="en-US" sz="2100" b="0" i="1" dirty="0" err="1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𝑟𝑎𝑛𝑘</m:t>
                      </m:r>
                    </m:oMath>
                  </m:oMathPara>
                </a14:m>
                <a:endParaRPr lang="zh-CN" altLang="en-US" sz="2100" b="0" dirty="0">
                  <a:solidFill>
                    <a:srgbClr val="23364B"/>
                  </a:solidFill>
                  <a:latin typeface="Microsoft YaHei"/>
                  <a:ea typeface="Microsoft YaHei"/>
                </a:endParaRPr>
              </a:p>
              <a:p>
                <a:pPr algn="l">
                  <a:lnSpc>
                    <a:spcPct val="115000"/>
                  </a:lnSpc>
                  <a:spcAft>
                    <a:spcPts val="600"/>
                  </a:spcAft>
                </a:pPr>
                <a:endParaRPr lang="zh-CN" altLang="en-US" sz="2100" b="0" dirty="0">
                  <a:solidFill>
                    <a:srgbClr val="23364B"/>
                  </a:solidFill>
                  <a:latin typeface="Microsoft YaHei"/>
                  <a:ea typeface="Microsoft YaHei"/>
                </a:endParaRPr>
              </a:p>
              <a:p>
                <a:pPr algn="l">
                  <a:lnSpc>
                    <a:spcPct val="115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0" i="1" dirty="0" smtClean="0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𝐿</m:t>
                      </m:r>
                      <m:r>
                        <a:rPr lang="en-US" altLang="zh-CN" sz="2400" b="0" i="1" dirty="0" err="1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_</m:t>
                      </m:r>
                      <m:r>
                        <a:rPr lang="zh-CN" altLang="en-US" sz="2400" b="0" i="1" dirty="0" err="1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𝑐𝑙𝑠</m:t>
                      </m:r>
                      <m:r>
                        <a:rPr lang="zh-CN" altLang="en-US" sz="2400" b="0" i="1" dirty="0" err="1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：</m:t>
                      </m:r>
                      <m:r>
                        <a:rPr lang="zh-CN" altLang="en-US" sz="2400" b="0" i="1" dirty="0" err="1">
                          <a:solidFill>
                            <a:srgbClr val="23364B"/>
                          </a:solidFill>
                          <a:latin typeface="Cambria Math" panose="02040503050406030204" pitchFamily="18" charset="0"/>
                          <a:ea typeface="Microsoft YaHei"/>
                        </a:rPr>
                        <m:t>加权二分类交叉熵</m:t>
                      </m:r>
                    </m:oMath>
                  </m:oMathPara>
                </a14:m>
                <a:endParaRPr lang="zh-CN" altLang="en-US" sz="2400" b="0" dirty="0">
                  <a:solidFill>
                    <a:srgbClr val="23364B"/>
                  </a:solidFill>
                  <a:latin typeface="Microsoft YaHei"/>
                  <a:ea typeface="Microsoft YaHei"/>
                </a:endParaRPr>
              </a:p>
              <a:p>
                <a:pPr>
                  <a:lnSpc>
                    <a:spcPct val="115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𝑟𝑎𝑛𝑘</m:t>
                      </m:r>
                      <m:r>
                        <m:rPr>
                          <m:nor/>
                        </m:rPr>
                        <a:rPr lang="en-US" altLang="zh-CN" sz="2400" i="0" dirty="0" smtClean="0">
                          <a:latin typeface="Cambria Math" panose="02040503050406030204" pitchFamily="18" charset="0"/>
                        </a:rPr>
                        <m:t>​=</m:t>
                      </m:r>
                      <m:r>
                        <m:rPr>
                          <m:nor/>
                        </m:rPr>
                        <a:rPr lang="en-US" altLang="zh-CN" sz="240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m:rPr>
                          <m:nor/>
                        </m:rPr>
                        <a:rPr lang="en-US" altLang="zh-CN" sz="2400" i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400" i="0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400" i="0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l-GR" altLang="zh-CN" sz="2400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l-GR" altLang="zh-CN" sz="2400" i="0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ar-AE" altLang="zh-CN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m:rPr>
                          <m:nor/>
                        </m:rPr>
                        <a:rPr lang="ar-AE" altLang="zh-CN" sz="2400" i="0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400" i="0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100" b="0" dirty="0">
                  <a:solidFill>
                    <a:srgbClr val="23364B"/>
                  </a:solidFill>
                  <a:latin typeface="Microsoft YaHei"/>
                  <a:ea typeface="Microsoft YaHei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555018"/>
                <a:ext cx="5303520" cy="28856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6446520" y="1828800"/>
            <a:ext cx="331927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59" y="1911095"/>
            <a:ext cx="3136391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当前候选设置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1828800"/>
            <a:ext cx="190195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19" y="1911095"/>
            <a:ext cx="171907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取值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368296"/>
            <a:ext cx="3319272" cy="57607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59" y="2459736"/>
            <a:ext cx="3136391" cy="4480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3364B"/>
                </a:solidFill>
                <a:latin typeface="Microsoft YaHei"/>
                <a:ea typeface="Microsoft YaHei"/>
              </a:rPr>
              <a:t>隐藏维度 / HGT 层数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368296"/>
            <a:ext cx="1901952" cy="57607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19" y="2459736"/>
            <a:ext cx="1719072" cy="4480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3364B"/>
                </a:solidFill>
                <a:latin typeface="Microsoft YaHei"/>
                <a:ea typeface="Microsoft YaHei"/>
              </a:rPr>
              <a:t>128 /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2962656"/>
            <a:ext cx="3319272" cy="5760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59" y="3054096"/>
            <a:ext cx="3136391" cy="4480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3364B"/>
                </a:solidFill>
                <a:latin typeface="Microsoft YaHei"/>
                <a:ea typeface="Microsoft YaHei"/>
              </a:rPr>
              <a:t>注意力头 / batch size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2962656"/>
            <a:ext cx="1901952" cy="5760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75519" y="3054096"/>
            <a:ext cx="1719072" cy="4480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3364B"/>
                </a:solidFill>
                <a:latin typeface="Microsoft YaHei"/>
                <a:ea typeface="Microsoft YaHei"/>
              </a:rPr>
              <a:t>2 / 32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3557015"/>
            <a:ext cx="3319272" cy="57607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59" y="3648456"/>
            <a:ext cx="3136391" cy="29815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正</a:t>
            </a:r>
            <a:r>
              <a:rPr lang="en-US"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/</a:t>
            </a:r>
            <a:r>
              <a:rPr sz="16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负类别权重</a:t>
            </a:r>
            <a:endParaRPr sz="16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784080" y="3557015"/>
            <a:ext cx="1901952" cy="57607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19" y="3648456"/>
            <a:ext cx="1719072" cy="29815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2.0</a:t>
            </a:r>
            <a:r>
              <a:rPr lang="en-US"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 / </a:t>
            </a:r>
            <a:r>
              <a:rPr sz="1600" b="0" dirty="0">
                <a:solidFill>
                  <a:srgbClr val="23364B"/>
                </a:solidFill>
                <a:latin typeface="Microsoft YaHei"/>
                <a:ea typeface="Microsoft YaHei"/>
              </a:rPr>
              <a:t>1.0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4151376"/>
            <a:ext cx="3319272" cy="5760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59" y="4242816"/>
            <a:ext cx="3136391" cy="4480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3364B"/>
                </a:solidFill>
                <a:latin typeface="Microsoft YaHei"/>
                <a:ea typeface="Microsoft YaHei"/>
              </a:rPr>
              <a:t>margin δ / 排序权重 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84080" y="4151376"/>
            <a:ext cx="1901952" cy="5760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875519" y="4242816"/>
            <a:ext cx="1719072" cy="4480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3364B"/>
                </a:solidFill>
                <a:latin typeface="Microsoft YaHei"/>
                <a:ea typeface="Microsoft YaHei"/>
              </a:rPr>
              <a:t>0.1 / 0.3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4745736"/>
            <a:ext cx="3319272" cy="57607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37959" y="4837176"/>
            <a:ext cx="3136391" cy="4480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3364B"/>
                </a:solidFill>
                <a:latin typeface="Microsoft YaHei"/>
                <a:ea typeface="Microsoft YaHei"/>
              </a:rPr>
              <a:t>选点依据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0" y="4745736"/>
            <a:ext cx="1901952" cy="57607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75519" y="4837176"/>
            <a:ext cx="1719072" cy="4480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3364B"/>
                </a:solidFill>
                <a:latin typeface="Microsoft YaHei"/>
                <a:ea typeface="Microsoft YaHei"/>
              </a:rPr>
              <a:t>验证 AP 最大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" y="5843016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8912" y="5975073"/>
            <a:ext cx="10972800" cy="31444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加权 </a:t>
            </a:r>
            <a:r>
              <a:rPr lang="en-US" altLang="zh-CN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BCE </a:t>
            </a:r>
            <a:r>
              <a:rPr lang="zh-CN" altLang="en-US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优化推进事件概率预测；边际排序损失约束正样本优先级高于负样本。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D42B18FD-2EE3-CCAC-C705-697DA2EAD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8343" y="2180844"/>
            <a:ext cx="1447800" cy="438150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5830D8F7-F0D4-ECC8-3CF1-5C02CCA54A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892" y="2895099"/>
            <a:ext cx="962025" cy="419100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8AE3C374-EA0A-B347-7D8D-B3BEA312AC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1598" y="3791410"/>
            <a:ext cx="2390775" cy="400050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5BEF126C-6ECD-3295-8225-332E0BFCF264}"/>
              </a:ext>
            </a:extLst>
          </p:cNvPr>
          <p:cNvSpPr txBox="1"/>
          <p:nvPr/>
        </p:nvSpPr>
        <p:spPr>
          <a:xfrm>
            <a:off x="4748574" y="6473952"/>
            <a:ext cx="6072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BCE</a:t>
            </a:r>
            <a:r>
              <a:rPr lang="zh-CN" altLang="en-US" sz="1100" dirty="0"/>
              <a:t>：</a:t>
            </a:r>
            <a:r>
              <a:rPr lang="en-US" altLang="zh-CN" sz="1100" dirty="0"/>
              <a:t>Weighted </a:t>
            </a:r>
            <a:r>
              <a:rPr lang="en-US" altLang="zh-CN" sz="1100" b="1" dirty="0"/>
              <a:t>B</a:t>
            </a:r>
            <a:r>
              <a:rPr lang="en-US" altLang="zh-CN" sz="1100" dirty="0"/>
              <a:t>inary </a:t>
            </a:r>
            <a:r>
              <a:rPr lang="en-US" altLang="zh-CN" sz="1100" b="1" dirty="0"/>
              <a:t>C</a:t>
            </a:r>
            <a:r>
              <a:rPr lang="en-US" altLang="zh-CN" sz="1100" dirty="0"/>
              <a:t>ross </a:t>
            </a:r>
            <a:r>
              <a:rPr lang="en-US" altLang="zh-CN" sz="1100" b="1" dirty="0"/>
              <a:t>E</a:t>
            </a:r>
            <a:r>
              <a:rPr lang="en-US" altLang="zh-CN" sz="1100" dirty="0"/>
              <a:t>ntropy</a:t>
            </a:r>
            <a:r>
              <a:rPr lang="zh-CN" altLang="en-US" sz="1100" dirty="0"/>
              <a:t>，加权二元交叉熵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363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3834174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3790030" cy="39607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模型评估指标与解释边界</a:t>
            </a:r>
            <a:endParaRPr sz="22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47452" y="1058459"/>
            <a:ext cx="8549640" cy="31675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以验证</a:t>
            </a:r>
            <a:r>
              <a:rPr sz="1700" b="0" dirty="0">
                <a:solidFill>
                  <a:srgbClr val="64748B"/>
                </a:solidFill>
                <a:latin typeface="Microsoft YaHei"/>
                <a:ea typeface="Microsoft YaHei"/>
              </a:rPr>
              <a:t> AP </a:t>
            </a:r>
            <a:r>
              <a:rPr sz="17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选择</a:t>
            </a:r>
            <a:r>
              <a:rPr sz="1700" b="0" dirty="0">
                <a:solidFill>
                  <a:srgbClr val="64748B"/>
                </a:solidFill>
                <a:latin typeface="Microsoft YaHei"/>
                <a:ea typeface="Microsoft YaHei"/>
              </a:rPr>
              <a:t> checkpoint，</a:t>
            </a:r>
            <a:r>
              <a:rPr lang="zh-CN" altLang="en-US" sz="1700" dirty="0">
                <a:solidFill>
                  <a:srgbClr val="64748B"/>
                </a:solidFill>
                <a:latin typeface="Microsoft YaHei"/>
                <a:ea typeface="Microsoft YaHei"/>
              </a:rPr>
              <a:t>并综合评价分类能力与候选排序质量</a:t>
            </a:r>
            <a:endParaRPr sz="170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22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1874519"/>
            <a:ext cx="299923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956815"/>
            <a:ext cx="2816351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指标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1874519"/>
            <a:ext cx="446227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66160" y="1956815"/>
            <a:ext cx="427939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回答的问题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1874519"/>
            <a:ext cx="373075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9" y="1956815"/>
            <a:ext cx="3547871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解释边界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14015"/>
            <a:ext cx="2999232" cy="82296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2505456"/>
            <a:ext cx="2816351" cy="6949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AP / AP lift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2414015"/>
            <a:ext cx="4462272" cy="82296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2505456"/>
            <a:ext cx="4279392" cy="6152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模型是否能够将真实推进事件排在候选前列？相较随机策略提升多少</a:t>
            </a: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414015"/>
            <a:ext cx="3730752" cy="82296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19" y="2505456"/>
            <a:ext cx="3547871" cy="6949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3364B"/>
                </a:solidFill>
                <a:latin typeface="Microsoft YaHei"/>
                <a:ea typeface="Microsoft YaHei"/>
              </a:rPr>
              <a:t>AP lift = AP / 正例率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255263"/>
            <a:ext cx="2999232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346703"/>
            <a:ext cx="2816351" cy="6949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ROC-AUC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3255263"/>
            <a:ext cx="4462272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66160" y="3346703"/>
            <a:ext cx="4279392" cy="6949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随机正例能否排在随机负例前</a:t>
            </a: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？</a:t>
            </a:r>
            <a:endParaRPr lang="en-US"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模型整体区分正负候选的能力如何</a:t>
            </a:r>
            <a:endParaRPr sz="170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955279" y="3255263"/>
            <a:ext cx="3730752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19" y="3346703"/>
            <a:ext cx="3547871" cy="6152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衡量全局分类能力，不代表 </a:t>
            </a:r>
            <a:r>
              <a:rPr lang="en-US" altLang="zh-CN" sz="1700" dirty="0">
                <a:solidFill>
                  <a:srgbClr val="23364B"/>
                </a:solidFill>
                <a:latin typeface="Microsoft YaHei"/>
                <a:ea typeface="Microsoft YaHei"/>
              </a:rPr>
              <a:t>Top-K 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候选质量</a:t>
            </a:r>
            <a:endParaRPr sz="170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57200" y="4096511"/>
            <a:ext cx="2999232" cy="82296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187951"/>
            <a:ext cx="2816351" cy="6949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Precision@K</a:t>
            </a: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 / NDCG@K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4096511"/>
            <a:ext cx="4462272" cy="82296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66160" y="4187951"/>
            <a:ext cx="4279392" cy="69224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前</a:t>
            </a:r>
            <a:r>
              <a:rPr lang="en-US" altLang="zh-CN"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k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个有多少正例？</a:t>
            </a:r>
            <a:endParaRPr lang="en-US" altLang="zh-CN" sz="170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正例子是否靠的够前？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955279" y="4096511"/>
            <a:ext cx="3730752" cy="82296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46719" y="4187951"/>
            <a:ext cx="3547871" cy="31444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关注候选列表头部质量</a:t>
            </a:r>
            <a:endParaRPr sz="170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00" y="4937759"/>
            <a:ext cx="2999232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029199"/>
            <a:ext cx="2816351" cy="6949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RS@K / </a:t>
            </a: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疾病集中度</a:t>
            </a:r>
            <a:endParaRPr sz="17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474720" y="4937759"/>
            <a:ext cx="4462272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66160" y="5029199"/>
            <a:ext cx="4279392" cy="9161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头部富集多少？是否集中于少数疾病</a:t>
            </a:r>
            <a:r>
              <a:rPr sz="1700" b="0" dirty="0">
                <a:solidFill>
                  <a:srgbClr val="23364B"/>
                </a:solidFill>
                <a:latin typeface="Microsoft YaHei"/>
                <a:ea typeface="Microsoft YaHei"/>
              </a:rPr>
              <a:t>？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模型排名前 </a:t>
            </a:r>
            <a:r>
              <a:rPr lang="en-US" altLang="zh-CN" sz="1700" dirty="0">
                <a:solidFill>
                  <a:srgbClr val="23364B"/>
                </a:solidFill>
                <a:latin typeface="Microsoft YaHei"/>
                <a:ea typeface="Microsoft YaHei"/>
              </a:rPr>
              <a:t>n  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个候选的正例率，是其余候选正例率的多少倍？</a:t>
            </a:r>
            <a:endParaRPr sz="170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955279" y="4937759"/>
            <a:ext cx="3730752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46719" y="5029199"/>
            <a:ext cx="3547871" cy="31444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衡量 </a:t>
            </a:r>
            <a:r>
              <a:rPr lang="en-US" altLang="zh-CN" sz="1700" dirty="0">
                <a:solidFill>
                  <a:srgbClr val="23364B"/>
                </a:solidFill>
                <a:latin typeface="Microsoft YaHei"/>
                <a:ea typeface="Microsoft YaHei"/>
              </a:rPr>
              <a:t>Top-K 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候选中的正例富集程度</a:t>
            </a:r>
            <a:endParaRPr sz="170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79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sz="2000" b="1" dirty="0">
              <a:solidFill>
                <a:srgbClr val="818181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288036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2487168" cy="39607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FF0000"/>
                </a:solidFill>
                <a:latin typeface="Microsoft YaHei"/>
                <a:ea typeface="Microsoft YaHei"/>
              </a:rPr>
              <a:t>验证零值诊断</a:t>
            </a:r>
            <a:endParaRPr sz="2200" b="1" dirty="0">
              <a:solidFill>
                <a:srgbClr val="FF0000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54680" y="1005840"/>
            <a:ext cx="85496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64748B"/>
                </a:solidFill>
                <a:latin typeface="Microsoft YaHei"/>
                <a:ea typeface="Microsoft YaHei"/>
              </a:rPr>
              <a:t>Top-K 为零意味着高分候选未命中正例，需要追查样本结构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23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1828800"/>
            <a:ext cx="5440680" cy="356616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828800"/>
            <a:ext cx="50292" cy="3566160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1975104"/>
            <a:ext cx="50749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2100" b="1">
                <a:solidFill>
                  <a:srgbClr val="126FAD"/>
                </a:solidFill>
                <a:latin typeface="Microsoft YaHei"/>
                <a:ea typeface="Microsoft YaHei"/>
              </a:rPr>
              <a:t>已复核的具体案例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542032"/>
            <a:ext cx="5074920" cy="2761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dirty="0">
                <a:solidFill>
                  <a:srgbClr val="23364B"/>
                </a:solidFill>
                <a:latin typeface="Microsoft YaHei"/>
                <a:ea typeface="Microsoft YaHei"/>
              </a:rPr>
              <a:t>MONDO_0008903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20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dirty="0">
                <a:solidFill>
                  <a:srgbClr val="23364B"/>
                </a:solidFill>
                <a:latin typeface="Microsoft YaHei"/>
                <a:ea typeface="Microsoft YaHei"/>
              </a:rPr>
              <a:t>训练：35 / 72 </a:t>
            </a:r>
            <a:r>
              <a:rPr sz="20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为正例</a:t>
            </a:r>
            <a:endParaRPr sz="20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dirty="0">
                <a:solidFill>
                  <a:srgbClr val="23364B"/>
                </a:solidFill>
                <a:latin typeface="Microsoft YaHei"/>
                <a:ea typeface="Microsoft YaHei"/>
              </a:rPr>
              <a:t>验证：0 / 51 </a:t>
            </a:r>
            <a:r>
              <a:rPr sz="20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为正例</a:t>
            </a:r>
            <a:endParaRPr sz="20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验证平均预测分数：约</a:t>
            </a:r>
            <a:r>
              <a:rPr sz="2000" b="0" dirty="0">
                <a:solidFill>
                  <a:srgbClr val="23364B"/>
                </a:solidFill>
                <a:latin typeface="Microsoft YaHei"/>
                <a:ea typeface="Microsoft YaHei"/>
              </a:rPr>
              <a:t> 0.817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验证</a:t>
            </a:r>
            <a:r>
              <a:rPr sz="2000" b="0" dirty="0">
                <a:solidFill>
                  <a:srgbClr val="23364B"/>
                </a:solidFill>
                <a:latin typeface="Microsoft YaHei"/>
                <a:ea typeface="Microsoft YaHei"/>
              </a:rPr>
              <a:t> Top-100 </a:t>
            </a:r>
            <a:r>
              <a:rPr sz="20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中占</a:t>
            </a:r>
            <a:r>
              <a:rPr sz="2000" b="0" dirty="0">
                <a:solidFill>
                  <a:srgbClr val="23364B"/>
                </a:solidFill>
                <a:latin typeface="Microsoft YaHei"/>
                <a:ea typeface="Microsoft YaHei"/>
              </a:rPr>
              <a:t> 39 </a:t>
            </a:r>
            <a:r>
              <a:rPr sz="20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个，全为负例</a:t>
            </a:r>
            <a:endParaRPr sz="20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63640" y="1828800"/>
            <a:ext cx="5440680" cy="356616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1828800"/>
            <a:ext cx="50292" cy="3566160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1975104"/>
            <a:ext cx="50749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26FAD"/>
                </a:solidFill>
                <a:latin typeface="Microsoft YaHei"/>
                <a:ea typeface="Microsoft YaHei"/>
              </a:rPr>
              <a:t>可以得出的判断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542032"/>
            <a:ext cx="5074920" cy="2761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模型可能依赖疾病层面的规律</a:t>
            </a:r>
            <a:endParaRPr sz="18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8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同疾病共享表示与宽</a:t>
            </a:r>
            <a:r>
              <a:rPr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 Direct </a:t>
            </a:r>
            <a:r>
              <a:rPr sz="18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归属</a:t>
            </a:r>
            <a:endParaRPr sz="18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允许形成疾病偏好；标签变化后</a:t>
            </a:r>
            <a:r>
              <a:rPr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这种偏好可能把负例推到前排</a:t>
            </a:r>
            <a:r>
              <a:rPr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8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dirty="0" err="1">
                <a:solidFill>
                  <a:srgbClr val="23364B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不能解释所有未保存的零值轮次</a:t>
            </a:r>
            <a:r>
              <a:rPr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5843016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5907024"/>
            <a:ext cx="10972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26FAD"/>
                </a:solidFill>
                <a:latin typeface="Microsoft YaHei"/>
                <a:ea typeface="Microsoft YaHei"/>
              </a:rPr>
              <a:t>不能再把大量零值简单归结为“类别不平衡，所以正常”。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F285E51A-3AF8-ACF5-0FB0-1A810A2DC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99413"/>
            <a:ext cx="12192000" cy="3239791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7A245265-3824-52B2-A5A6-0BA7426973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68" y="110871"/>
            <a:ext cx="5875760" cy="28672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79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sz="2000" b="1" dirty="0">
              <a:solidFill>
                <a:srgbClr val="818181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288036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2487168" cy="3749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归属消融设计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1005840"/>
            <a:ext cx="85496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只改变</a:t>
            </a:r>
            <a:r>
              <a:rPr sz="1700" b="0" dirty="0">
                <a:solidFill>
                  <a:srgbClr val="64748B"/>
                </a:solidFill>
                <a:latin typeface="Microsoft YaHei"/>
                <a:ea typeface="Microsoft YaHei"/>
              </a:rPr>
              <a:t> Direct evidence </a:t>
            </a:r>
            <a:r>
              <a:rPr sz="17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scope，Clinical</a:t>
            </a:r>
            <a:r>
              <a:rPr sz="1700" b="0" dirty="0">
                <a:solidFill>
                  <a:srgbClr val="64748B"/>
                </a:solidFill>
                <a:latin typeface="Microsoft YaHei"/>
                <a:ea typeface="Microsoft YaHei"/>
              </a:rPr>
              <a:t> 与 HGT </a:t>
            </a:r>
            <a:r>
              <a:rPr sz="17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保持一致</a:t>
            </a:r>
            <a:endParaRPr sz="1700" b="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24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1874519"/>
            <a:ext cx="304495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956815"/>
            <a:ext cx="286207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模式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1874519"/>
            <a:ext cx="395935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11880" y="1956815"/>
            <a:ext cx="377647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预测 A-B 的 Direct 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1874519"/>
            <a:ext cx="418795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19" y="1956815"/>
            <a:ext cx="400507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其他处理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14015"/>
            <a:ext cx="3044952" cy="859536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2505456"/>
            <a:ext cx="2862072" cy="7315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3364B"/>
                </a:solidFill>
                <a:latin typeface="Microsoft YaHei"/>
                <a:ea typeface="Microsoft YaHei"/>
              </a:rPr>
              <a:t>endpoint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2414015"/>
            <a:ext cx="3959352" cy="859536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11880" y="2505456"/>
            <a:ext cx="3776472" cy="31444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>
                <a:solidFill>
                  <a:srgbClr val="23364B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A-B + A-C + D-B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2414015"/>
            <a:ext cx="4187952" cy="859536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0059" y="2349132"/>
            <a:ext cx="4005072" cy="9161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dirty="0" err="1">
                <a:solidFill>
                  <a:srgbClr val="23364B"/>
                </a:solidFill>
                <a:latin typeface="Microsoft YaHei"/>
                <a:ea typeface="Microsoft YaHei"/>
              </a:rPr>
              <a:t>原来的任一端点归属</a:t>
            </a:r>
            <a:r>
              <a:rPr 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,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预测 </a:t>
            </a:r>
            <a:r>
              <a:rPr lang="en-US" altLang="zh-CN" sz="1700" dirty="0">
                <a:solidFill>
                  <a:srgbClr val="23364B"/>
                </a:solidFill>
                <a:latin typeface="Microsoft YaHei"/>
                <a:ea typeface="Microsoft YaHei"/>
              </a:rPr>
              <a:t>A-B 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时，只要一条证据的任意一个端点和 </a:t>
            </a:r>
            <a:r>
              <a:rPr lang="en-US" altLang="zh-CN" sz="1700" dirty="0">
                <a:solidFill>
                  <a:srgbClr val="23364B"/>
                </a:solidFill>
                <a:latin typeface="Microsoft YaHei"/>
                <a:ea typeface="Microsoft YaHei"/>
              </a:rPr>
              <a:t>A-B 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相同，就可以进入 </a:t>
            </a:r>
            <a:r>
              <a:rPr lang="en-US" altLang="zh-CN" sz="1700" dirty="0">
                <a:solidFill>
                  <a:srgbClr val="23364B"/>
                </a:solidFill>
                <a:latin typeface="Microsoft YaHei"/>
                <a:ea typeface="Microsoft YaHei"/>
              </a:rPr>
              <a:t>Direct evidence 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池。</a:t>
            </a:r>
            <a:endParaRPr sz="170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3291839"/>
            <a:ext cx="3044952" cy="859536"/>
          </a:xfrm>
          <a:prstGeom prst="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383279"/>
            <a:ext cx="2862072" cy="7315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53B76"/>
                </a:solidFill>
                <a:latin typeface="Microsoft YaHei"/>
                <a:ea typeface="Microsoft YaHei"/>
              </a:rPr>
              <a:t>exact_pair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3291839"/>
            <a:ext cx="3959352" cy="859536"/>
          </a:xfrm>
          <a:prstGeom prst="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11880" y="3383279"/>
            <a:ext cx="3776472" cy="7315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53B76"/>
                </a:solidFill>
                <a:latin typeface="Microsoft YaHei"/>
                <a:ea typeface="Microsoft YaHei"/>
              </a:rPr>
              <a:t>仅 A-B（包含正反向）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3291839"/>
            <a:ext cx="4187952" cy="859536"/>
          </a:xfrm>
          <a:prstGeom prst="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0059" y="3290010"/>
            <a:ext cx="4005072" cy="9161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间接信息保留在原</a:t>
            </a:r>
            <a:r>
              <a:rPr sz="1700" b="1" dirty="0">
                <a:solidFill>
                  <a:srgbClr val="153B76"/>
                </a:solidFill>
                <a:latin typeface="Microsoft YaHei"/>
                <a:ea typeface="Microsoft YaHei"/>
              </a:rPr>
              <a:t> HGT / </a:t>
            </a:r>
            <a:r>
              <a:rPr sz="17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上下文路径</a:t>
            </a:r>
            <a:r>
              <a:rPr lang="en-US" sz="1700" b="1" dirty="0">
                <a:solidFill>
                  <a:srgbClr val="153B76"/>
                </a:solidFill>
                <a:latin typeface="Microsoft YaHei"/>
                <a:ea typeface="Microsoft YaHei"/>
              </a:rPr>
              <a:t>,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只有真正对应当前预测 </a:t>
            </a:r>
            <a:r>
              <a:rPr lang="en-US" altLang="zh-CN" sz="1700" dirty="0">
                <a:solidFill>
                  <a:srgbClr val="23364B"/>
                </a:solidFill>
                <a:latin typeface="Microsoft YaHei"/>
                <a:ea typeface="Microsoft YaHei"/>
              </a:rPr>
              <a:t>pair 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的证据才能进入 </a:t>
            </a:r>
            <a:r>
              <a:rPr lang="en-US" altLang="zh-CN" sz="1700" dirty="0">
                <a:solidFill>
                  <a:srgbClr val="23364B"/>
                </a:solidFill>
                <a:latin typeface="Microsoft YaHei"/>
                <a:ea typeface="Microsoft YaHei"/>
              </a:rPr>
              <a:t>Direct</a:t>
            </a:r>
            <a:r>
              <a:rPr lang="zh-CN" altLang="en-US" sz="1700" dirty="0">
                <a:solidFill>
                  <a:srgbClr val="23364B"/>
                </a:solidFill>
                <a:latin typeface="Microsoft YaHei"/>
                <a:ea typeface="Microsoft YaHei"/>
              </a:rPr>
              <a:t>。</a:t>
            </a:r>
            <a:endParaRPr sz="170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57200" y="4169663"/>
            <a:ext cx="3044952" cy="859536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261103"/>
            <a:ext cx="2862072" cy="7315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3364B"/>
                </a:solidFill>
                <a:latin typeface="Microsoft YaHei"/>
                <a:ea typeface="Microsoft YaHei"/>
              </a:rPr>
              <a:t>exact_pair_context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4169663"/>
            <a:ext cx="3959352" cy="859536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11880" y="4261103"/>
            <a:ext cx="3776472" cy="7315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3364B"/>
                </a:solidFill>
                <a:latin typeface="Microsoft YaHei"/>
                <a:ea typeface="Microsoft YaHei"/>
              </a:rPr>
              <a:t>仅 A-B（包含正反向）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79" y="4169663"/>
            <a:ext cx="4187952" cy="859536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89519" y="4261103"/>
            <a:ext cx="4005072" cy="7315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3364B"/>
                </a:solidFill>
                <a:latin typeface="Microsoft YaHei"/>
                <a:ea typeface="Microsoft YaHei"/>
              </a:rPr>
              <a:t>额外将 A-C、D-B 直接边送入 network 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303520"/>
            <a:ext cx="10972800" cy="76033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同源码、同配置控制：seed</a:t>
            </a:r>
            <a:r>
              <a:rPr sz="1900" b="1" dirty="0">
                <a:solidFill>
                  <a:srgbClr val="153B76"/>
                </a:solidFill>
                <a:latin typeface="Microsoft YaHei"/>
                <a:ea typeface="Microsoft YaHei"/>
              </a:rPr>
              <a:t> 52；20 </a:t>
            </a:r>
            <a:r>
              <a:rPr sz="19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个最大</a:t>
            </a:r>
            <a:r>
              <a:rPr sz="1900" b="1" dirty="0">
                <a:solidFill>
                  <a:srgbClr val="153B76"/>
                </a:solidFill>
                <a:latin typeface="Microsoft YaHei"/>
                <a:ea typeface="Microsoft YaHei"/>
              </a:rPr>
              <a:t> </a:t>
            </a:r>
            <a:r>
              <a:rPr sz="19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epoch；按验证</a:t>
            </a:r>
            <a:r>
              <a:rPr sz="1900" b="1" dirty="0">
                <a:solidFill>
                  <a:srgbClr val="153B76"/>
                </a:solidFill>
                <a:latin typeface="Microsoft YaHei"/>
                <a:ea typeface="Microsoft YaHei"/>
              </a:rPr>
              <a:t> AP </a:t>
            </a:r>
            <a:r>
              <a:rPr sz="1900" b="1" dirty="0" err="1">
                <a:solidFill>
                  <a:srgbClr val="153B76"/>
                </a:solidFill>
                <a:latin typeface="Microsoft YaHei"/>
                <a:ea typeface="Microsoft YaHei"/>
              </a:rPr>
              <a:t>选点</a:t>
            </a:r>
            <a:r>
              <a:rPr sz="1900" b="1" dirty="0">
                <a:solidFill>
                  <a:srgbClr val="153B76"/>
                </a:solidFill>
                <a:latin typeface="Microsoft YaHei"/>
                <a:ea typeface="Microsoft YaHei"/>
              </a:rPr>
              <a:t>。</a:t>
            </a:r>
            <a:endParaRPr lang="en-US" sz="1900" b="1" dirty="0">
              <a:solidFill>
                <a:srgbClr val="153B76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900" b="1" dirty="0">
                <a:solidFill>
                  <a:srgbClr val="153B76"/>
                </a:solidFill>
                <a:latin typeface="Microsoft YaHei"/>
                <a:ea typeface="Microsoft YaHei"/>
              </a:rPr>
              <a:t>验证：间接证据不应该伪装成 </a:t>
            </a:r>
            <a:r>
              <a:rPr lang="en-US" altLang="zh-CN" sz="1900" b="1" dirty="0">
                <a:solidFill>
                  <a:srgbClr val="153B76"/>
                </a:solidFill>
                <a:latin typeface="Microsoft YaHei"/>
                <a:ea typeface="Microsoft YaHei"/>
              </a:rPr>
              <a:t>Direct evidence</a:t>
            </a:r>
            <a:r>
              <a:rPr lang="zh-CN" altLang="en-US" sz="1900" b="1" dirty="0">
                <a:solidFill>
                  <a:srgbClr val="153B76"/>
                </a:solidFill>
                <a:latin typeface="Microsoft YaHei"/>
                <a:ea typeface="Microsoft YaHei"/>
              </a:rPr>
              <a:t>，而应该通过 </a:t>
            </a:r>
            <a:r>
              <a:rPr lang="en-US" altLang="zh-CN" sz="1900" b="1" dirty="0">
                <a:solidFill>
                  <a:srgbClr val="153B76"/>
                </a:solidFill>
                <a:latin typeface="Microsoft YaHei"/>
                <a:ea typeface="Microsoft YaHei"/>
              </a:rPr>
              <a:t>HGT </a:t>
            </a:r>
            <a:r>
              <a:rPr lang="zh-CN" altLang="en-US" sz="1900" b="1" dirty="0">
                <a:solidFill>
                  <a:srgbClr val="153B76"/>
                </a:solidFill>
                <a:latin typeface="Microsoft YaHei"/>
                <a:ea typeface="Microsoft YaHei"/>
              </a:rPr>
              <a:t>或 </a:t>
            </a:r>
            <a:r>
              <a:rPr lang="en-US" altLang="zh-CN" sz="1900" b="1" dirty="0">
                <a:solidFill>
                  <a:srgbClr val="153B76"/>
                </a:solidFill>
                <a:latin typeface="Microsoft YaHei"/>
                <a:ea typeface="Microsoft YaHei"/>
              </a:rPr>
              <a:t>Network context </a:t>
            </a:r>
            <a:r>
              <a:rPr lang="zh-CN" altLang="en-US" sz="1900" b="1" dirty="0">
                <a:solidFill>
                  <a:srgbClr val="153B76"/>
                </a:solidFill>
                <a:latin typeface="Microsoft YaHei"/>
                <a:ea typeface="Microsoft YaHei"/>
              </a:rPr>
              <a:t>参与预测</a:t>
            </a:r>
            <a:endParaRPr sz="1900" b="1" dirty="0">
              <a:solidFill>
                <a:srgbClr val="153B76"/>
              </a:solidFill>
              <a:latin typeface="Microsoft YaHei"/>
              <a:ea typeface="Microsoft YaHei"/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D554BD78-DA23-E207-9719-4AFEF2813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831" y="66521"/>
            <a:ext cx="7572375" cy="1943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79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sz="2000" b="1" dirty="0">
              <a:solidFill>
                <a:srgbClr val="818181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288036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2487168" cy="3749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归属消融结果</a:t>
            </a:r>
            <a:endParaRPr sz="22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54680" y="1005840"/>
            <a:ext cx="85496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exact_pair</a:t>
            </a:r>
            <a:r>
              <a:rPr sz="17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7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在本次固定种子对比中获得最高验证</a:t>
            </a:r>
            <a:r>
              <a:rPr sz="1700" b="0" dirty="0">
                <a:solidFill>
                  <a:srgbClr val="64748B"/>
                </a:solidFill>
                <a:latin typeface="Microsoft YaHei"/>
                <a:ea typeface="Microsoft YaHei"/>
              </a:rPr>
              <a:t> 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25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57200" y="1874519"/>
          <a:ext cx="55778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Rectangle 19"/>
          <p:cNvSpPr/>
          <p:nvPr/>
        </p:nvSpPr>
        <p:spPr>
          <a:xfrm>
            <a:off x="6355080" y="1874519"/>
            <a:ext cx="162763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956815"/>
            <a:ext cx="144475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验证指标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1874519"/>
            <a:ext cx="121615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40" y="1956815"/>
            <a:ext cx="103327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endpoint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1874519"/>
            <a:ext cx="130759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1956815"/>
            <a:ext cx="112471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exact_pair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61319" y="1874519"/>
            <a:ext cx="1152144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52759" y="1956815"/>
            <a:ext cx="96926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+ context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414015"/>
            <a:ext cx="1627632" cy="521207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2505456"/>
            <a:ext cx="1444752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最佳轮次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2414015"/>
            <a:ext cx="1216152" cy="521207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92440" y="2505456"/>
            <a:ext cx="1033272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2414015"/>
            <a:ext cx="1307592" cy="521207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0" y="2505456"/>
            <a:ext cx="1124712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61319" y="2414015"/>
            <a:ext cx="1152144" cy="521207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652759" y="2505456"/>
            <a:ext cx="969264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953511"/>
            <a:ext cx="1627632" cy="52120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3044951"/>
            <a:ext cx="1444752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2953511"/>
            <a:ext cx="1216152" cy="52120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92440" y="3044951"/>
            <a:ext cx="1033272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0.1460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2953511"/>
            <a:ext cx="1307592" cy="52120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26880" y="3044951"/>
            <a:ext cx="1124712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0.1987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61319" y="2953511"/>
            <a:ext cx="1152144" cy="52120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652759" y="3044951"/>
            <a:ext cx="969264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0.1514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3493007"/>
            <a:ext cx="1627632" cy="521207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46520" y="3584447"/>
            <a:ext cx="1444752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AUC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01000" y="3493007"/>
            <a:ext cx="1216152" cy="521207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92440" y="3584447"/>
            <a:ext cx="1033272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0.5703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3493007"/>
            <a:ext cx="1307592" cy="521207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26880" y="3584447"/>
            <a:ext cx="1124712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0.6538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61319" y="3493007"/>
            <a:ext cx="1152144" cy="521207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652759" y="3584447"/>
            <a:ext cx="969264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0.6539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4032503"/>
            <a:ext cx="1627632" cy="52120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46520" y="4123943"/>
            <a:ext cx="1444752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NDCG@100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01000" y="4032503"/>
            <a:ext cx="1216152" cy="52120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92440" y="4123943"/>
            <a:ext cx="1033272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0.0894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4032503"/>
            <a:ext cx="1307592" cy="52120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26880" y="4123943"/>
            <a:ext cx="1124712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0.4372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61319" y="4032503"/>
            <a:ext cx="1152144" cy="52120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652759" y="4123943"/>
            <a:ext cx="969264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0.0158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4571999"/>
            <a:ext cx="1627632" cy="521207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46520" y="4663439"/>
            <a:ext cx="1444752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RS@50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01000" y="4571999"/>
            <a:ext cx="1216152" cy="521207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092440" y="4663439"/>
            <a:ext cx="1033272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0.0000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35440" y="4571999"/>
            <a:ext cx="1307592" cy="521207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326880" y="4663439"/>
            <a:ext cx="1124712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4.1403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561319" y="4571999"/>
            <a:ext cx="1152144" cy="521207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652759" y="4663439"/>
            <a:ext cx="969264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3364B"/>
                </a:solidFill>
                <a:latin typeface="Microsoft YaHei"/>
                <a:ea typeface="Microsoft YaHei"/>
              </a:rPr>
              <a:t>0.1921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8912" y="5843016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12648" y="5907024"/>
            <a:ext cx="10972800" cy="31444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dirty="0" err="1">
                <a:solidFill>
                  <a:srgbClr val="126FAD"/>
                </a:solidFill>
                <a:latin typeface="Microsoft YaHei"/>
                <a:ea typeface="Microsoft YaHei"/>
              </a:rPr>
              <a:t>验证</a:t>
            </a:r>
            <a:r>
              <a:rPr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 AP：0.1460 → 0.1987（约 +36.2%）；</a:t>
            </a:r>
            <a:r>
              <a:rPr sz="1700" b="1" dirty="0" err="1">
                <a:solidFill>
                  <a:srgbClr val="126FAD"/>
                </a:solidFill>
                <a:latin typeface="Microsoft YaHei"/>
                <a:ea typeface="Microsoft YaHei"/>
              </a:rPr>
              <a:t>精确限定</a:t>
            </a:r>
            <a:r>
              <a:rPr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 Direct</a:t>
            </a:r>
            <a:r>
              <a:rPr lang="zh-CN" altLang="en-US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效果最明显</a:t>
            </a:r>
            <a:r>
              <a:rPr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，</a:t>
            </a:r>
            <a:r>
              <a:rPr sz="1700" b="1" dirty="0" err="1">
                <a:solidFill>
                  <a:srgbClr val="126FAD"/>
                </a:solidFill>
                <a:latin typeface="Microsoft YaHei"/>
                <a:ea typeface="Microsoft YaHei"/>
              </a:rPr>
              <a:t>保留正常上下文</a:t>
            </a:r>
            <a:r>
              <a:rPr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363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536387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5180990" cy="39607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证据归属策略的独立测试与适用边界</a:t>
            </a:r>
            <a:endParaRPr sz="22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63540" y="1058459"/>
            <a:ext cx="8549640" cy="31444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dirty="0">
                <a:solidFill>
                  <a:srgbClr val="64748B"/>
                </a:solidFill>
                <a:latin typeface="Microsoft YaHei"/>
                <a:ea typeface="Microsoft YaHei"/>
              </a:rPr>
              <a:t>不同证据约束方式影响候选排序质量，但仍受疾病分布影响</a:t>
            </a:r>
            <a:endParaRPr sz="170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26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1874519"/>
            <a:ext cx="281635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956815"/>
            <a:ext cx="263347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测试指标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874519"/>
            <a:ext cx="245059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1956815"/>
            <a:ext cx="226771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endpoint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1874519"/>
            <a:ext cx="272491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52160" y="1956815"/>
            <a:ext cx="254203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exact_pair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1874519"/>
            <a:ext cx="318211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0" y="1956815"/>
            <a:ext cx="299923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exact_pair_context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14015"/>
            <a:ext cx="2816352" cy="585216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505456"/>
            <a:ext cx="263347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3364B"/>
                </a:solidFill>
                <a:latin typeface="Microsoft YaHei"/>
                <a:ea typeface="Microsoft YaHei"/>
              </a:rPr>
              <a:t>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2414015"/>
            <a:ext cx="2450592" cy="585216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83280" y="2505456"/>
            <a:ext cx="226771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3364B"/>
                </a:solidFill>
                <a:latin typeface="Microsoft YaHei"/>
                <a:ea typeface="Microsoft YaHei"/>
              </a:rPr>
              <a:t>0.0993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2414015"/>
            <a:ext cx="2724912" cy="585216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52160" y="2505456"/>
            <a:ext cx="254203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3364B"/>
                </a:solidFill>
                <a:latin typeface="Microsoft YaHei"/>
                <a:ea typeface="Microsoft YaHei"/>
              </a:rPr>
              <a:t>0.1836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414015"/>
            <a:ext cx="3182112" cy="585216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95360" y="2505456"/>
            <a:ext cx="299923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3364B"/>
                </a:solidFill>
                <a:latin typeface="Microsoft YaHei"/>
                <a:ea typeface="Microsoft YaHei"/>
              </a:rPr>
              <a:t>0.1327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017520"/>
            <a:ext cx="2816352" cy="5852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3108960"/>
            <a:ext cx="263347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3364B"/>
                </a:solidFill>
                <a:latin typeface="Microsoft YaHei"/>
                <a:ea typeface="Microsoft YaHei"/>
              </a:rPr>
              <a:t>ROC-AUC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3017520"/>
            <a:ext cx="2450592" cy="5852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83280" y="3108960"/>
            <a:ext cx="226771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3364B"/>
                </a:solidFill>
                <a:latin typeface="Microsoft YaHei"/>
                <a:ea typeface="Microsoft YaHei"/>
              </a:rPr>
              <a:t>0.5409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3017520"/>
            <a:ext cx="2724912" cy="5852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852160" y="3108960"/>
            <a:ext cx="254203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3364B"/>
                </a:solidFill>
                <a:latin typeface="Microsoft YaHei"/>
                <a:ea typeface="Microsoft YaHei"/>
              </a:rPr>
              <a:t>0.6519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3017520"/>
            <a:ext cx="3182112" cy="5852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95360" y="3108960"/>
            <a:ext cx="299923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3364B"/>
                </a:solidFill>
                <a:latin typeface="Microsoft YaHei"/>
                <a:ea typeface="Microsoft YaHei"/>
              </a:rPr>
              <a:t>0.5745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621024"/>
            <a:ext cx="2816352" cy="585216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3712463"/>
            <a:ext cx="263347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3364B"/>
                </a:solidFill>
                <a:latin typeface="Microsoft YaHei"/>
                <a:ea typeface="Microsoft YaHei"/>
              </a:rPr>
              <a:t>NDCG@100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3621024"/>
            <a:ext cx="2450592" cy="585216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83280" y="3712463"/>
            <a:ext cx="226771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3364B"/>
                </a:solidFill>
                <a:latin typeface="Microsoft YaHei"/>
                <a:ea typeface="Microsoft YaHei"/>
              </a:rPr>
              <a:t>0.0000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720" y="3621024"/>
            <a:ext cx="2724912" cy="585216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852160" y="3712463"/>
            <a:ext cx="254203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3364B"/>
                </a:solidFill>
                <a:latin typeface="Microsoft YaHei"/>
                <a:ea typeface="Microsoft YaHei"/>
              </a:rPr>
              <a:t>0.3256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3920" y="3621024"/>
            <a:ext cx="3182112" cy="585216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95360" y="3712463"/>
            <a:ext cx="299923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3364B"/>
                </a:solidFill>
                <a:latin typeface="Microsoft YaHei"/>
                <a:ea typeface="Microsoft YaHei"/>
              </a:rPr>
              <a:t>0.1094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224528"/>
            <a:ext cx="2816352" cy="5852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" y="4315968"/>
            <a:ext cx="263347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3364B"/>
                </a:solidFill>
                <a:latin typeface="Microsoft YaHei"/>
                <a:ea typeface="Microsoft YaHei"/>
              </a:rPr>
              <a:t>RS@50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4224528"/>
            <a:ext cx="2450592" cy="5852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383280" y="4315968"/>
            <a:ext cx="226771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3364B"/>
                </a:solidFill>
                <a:latin typeface="Microsoft YaHei"/>
                <a:ea typeface="Microsoft YaHei"/>
              </a:rPr>
              <a:t>0.0000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720" y="4224528"/>
            <a:ext cx="2724912" cy="5852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52160" y="4315968"/>
            <a:ext cx="254203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3364B"/>
                </a:solidFill>
                <a:latin typeface="Microsoft YaHei"/>
                <a:ea typeface="Microsoft YaHei"/>
              </a:rPr>
              <a:t>3.7306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03920" y="4224528"/>
            <a:ext cx="3182112" cy="5852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95360" y="4315968"/>
            <a:ext cx="2999232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23364B"/>
                </a:solidFill>
                <a:latin typeface="Microsoft YaHei"/>
                <a:ea typeface="Microsoft YaHei"/>
              </a:rPr>
              <a:t>0.2142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5047488"/>
            <a:ext cx="10972800" cy="72327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153B76"/>
                </a:solidFill>
                <a:latin typeface="Microsoft YaHei"/>
                <a:ea typeface="Microsoft YaHei"/>
              </a:rPr>
              <a:t>精确证据约束显著提升候选排序质量，但 </a:t>
            </a:r>
            <a:r>
              <a:rPr lang="en-US" altLang="zh-CN" sz="2000" b="1" dirty="0">
                <a:solidFill>
                  <a:srgbClr val="153B76"/>
                </a:solidFill>
                <a:latin typeface="Microsoft YaHei"/>
                <a:ea typeface="Microsoft YaHei"/>
              </a:rPr>
              <a:t>Top-100 </a:t>
            </a:r>
            <a:r>
              <a:rPr lang="zh-CN" altLang="en-US" sz="2000" b="1" dirty="0">
                <a:solidFill>
                  <a:srgbClr val="153B76"/>
                </a:solidFill>
                <a:latin typeface="Microsoft YaHei"/>
                <a:ea typeface="Microsoft YaHei"/>
              </a:rPr>
              <a:t>疾病分布仍保持集中趋势，模型更喜欢预测某些疾病，说明模型提升主要来自证据匹配增强，而非完全消除疾病覆盖偏向。</a:t>
            </a:r>
            <a:endParaRPr sz="2000" b="1" dirty="0">
              <a:solidFill>
                <a:srgbClr val="153B76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79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sz="2000" b="1" dirty="0">
              <a:solidFill>
                <a:srgbClr val="818181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288036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2487168" cy="39607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当前</a:t>
            </a:r>
            <a:r>
              <a:rPr lang="zh-CN" altLang="en-US"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模型性能验证</a:t>
            </a:r>
            <a:endParaRPr sz="22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94595" y="982980"/>
            <a:ext cx="854964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dirty="0">
                <a:solidFill>
                  <a:srgbClr val="64748B"/>
                </a:solidFill>
                <a:latin typeface="Microsoft YaHei"/>
                <a:ea typeface="Microsoft YaHei"/>
              </a:rPr>
              <a:t>da_mef_0003：完整标签训练已结束，最佳验证轮次为 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27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1828800"/>
            <a:ext cx="3319272" cy="13258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1938528"/>
            <a:ext cx="301752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26FAD"/>
                </a:solidFill>
                <a:latin typeface="Microsoft YaHei"/>
                <a:ea typeface="Microsoft YaHei"/>
              </a:rPr>
              <a:t>0.1907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624328"/>
            <a:ext cx="30175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64748B"/>
                </a:solidFill>
                <a:latin typeface="Microsoft YaHei"/>
                <a:ea typeface="Microsoft YaHei"/>
              </a:rPr>
              <a:t>最佳验证 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1828800"/>
            <a:ext cx="3319272" cy="13258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1938528"/>
            <a:ext cx="301752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26FAD"/>
                </a:solidFill>
                <a:latin typeface="Microsoft YaHei"/>
                <a:ea typeface="Microsoft YaHei"/>
              </a:rPr>
              <a:t>0.1959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624328"/>
            <a:ext cx="30175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64748B"/>
                </a:solidFill>
                <a:latin typeface="Microsoft YaHei"/>
                <a:ea typeface="Microsoft YaHei"/>
              </a:rPr>
              <a:t>独立测试 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1828800"/>
            <a:ext cx="3319272" cy="13258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1938528"/>
            <a:ext cx="301752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26FAD"/>
                </a:solidFill>
                <a:latin typeface="Microsoft YaHei"/>
                <a:ea typeface="Microsoft YaHei"/>
              </a:rPr>
              <a:t>0.6423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624328"/>
            <a:ext cx="30175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64748B"/>
                </a:solidFill>
                <a:latin typeface="Microsoft YaHei"/>
                <a:ea typeface="Microsoft YaHei"/>
              </a:rPr>
              <a:t>独立测试 AUC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584448"/>
            <a:ext cx="279349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666744"/>
            <a:ext cx="261061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测试 AP lift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68980" y="3584448"/>
            <a:ext cx="279349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60420" y="3666744"/>
            <a:ext cx="261061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NDCG@100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3584448"/>
            <a:ext cx="279349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0" y="3666744"/>
            <a:ext cx="261061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RS@100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92540" y="3584448"/>
            <a:ext cx="279349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83980" y="3666744"/>
            <a:ext cx="261061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Precision@10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123944"/>
            <a:ext cx="2793492" cy="6400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4215383"/>
            <a:ext cx="2610612" cy="51206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dirty="0">
                <a:solidFill>
                  <a:srgbClr val="23364B"/>
                </a:solidFill>
                <a:latin typeface="Microsoft YaHei"/>
                <a:ea typeface="Microsoft YaHei"/>
              </a:rPr>
              <a:t>2.109×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68980" y="4123944"/>
            <a:ext cx="2793492" cy="6400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60420" y="4215383"/>
            <a:ext cx="2610612" cy="51206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0.5420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4123944"/>
            <a:ext cx="2793492" cy="6400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72200" y="4215383"/>
            <a:ext cx="2610612" cy="51206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4.7589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92540" y="4123944"/>
            <a:ext cx="2793492" cy="6400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83980" y="4215383"/>
            <a:ext cx="2610612" cy="51206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23364B"/>
                </a:solidFill>
                <a:latin typeface="Microsoft YaHei"/>
                <a:ea typeface="Microsoft YaHei"/>
              </a:rPr>
              <a:t>1.0000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19B460E-6DE4-0300-C3FE-15576229E08C}"/>
              </a:ext>
            </a:extLst>
          </p:cNvPr>
          <p:cNvSpPr txBox="1"/>
          <p:nvPr/>
        </p:nvSpPr>
        <p:spPr>
          <a:xfrm>
            <a:off x="8726272" y="3305464"/>
            <a:ext cx="5028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23364B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Precision@10=Top-10 </a:t>
            </a:r>
            <a:r>
              <a:rPr lang="zh-CN" altLang="en-US" sz="1100" dirty="0">
                <a:solidFill>
                  <a:srgbClr val="23364B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中真正的正样本数量</a:t>
            </a:r>
            <a:r>
              <a:rPr lang="en-US" altLang="zh-CN" sz="1100" dirty="0">
                <a:solidFill>
                  <a:srgbClr val="23364B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/10</a:t>
            </a:r>
            <a:endParaRPr lang="zh-CN" altLang="en-US" sz="1100" dirty="0">
              <a:solidFill>
                <a:srgbClr val="23364B"/>
              </a:solidFill>
              <a:highlight>
                <a:srgbClr val="FFFF00"/>
              </a:highlight>
              <a:latin typeface="Microsoft YaHei"/>
              <a:ea typeface="Microsoft YaHei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AD0B681-9BB9-3A9D-EBF1-08A6A7798B30}"/>
              </a:ext>
            </a:extLst>
          </p:cNvPr>
          <p:cNvSpPr txBox="1"/>
          <p:nvPr/>
        </p:nvSpPr>
        <p:spPr>
          <a:xfrm>
            <a:off x="8871176" y="4817992"/>
            <a:ext cx="2833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23364B"/>
                </a:solidFill>
                <a:latin typeface="Microsoft YaHei"/>
                <a:ea typeface="Microsoft YaHei"/>
              </a:rPr>
              <a:t>模型排在最前面的 </a:t>
            </a:r>
            <a:r>
              <a:rPr lang="en-US" altLang="zh-CN" sz="1200" dirty="0">
                <a:solidFill>
                  <a:srgbClr val="23364B"/>
                </a:solidFill>
                <a:latin typeface="Microsoft YaHei"/>
                <a:ea typeface="Microsoft YaHei"/>
              </a:rPr>
              <a:t>10 </a:t>
            </a:r>
            <a:r>
              <a:rPr lang="zh-CN" altLang="en-US" sz="1200" dirty="0">
                <a:solidFill>
                  <a:srgbClr val="23364B"/>
                </a:solidFill>
                <a:latin typeface="Microsoft YaHei"/>
                <a:ea typeface="Microsoft YaHei"/>
              </a:rPr>
              <a:t>个候选全部是真实正样本</a:t>
            </a:r>
            <a:r>
              <a:rPr lang="en-US" altLang="zh-CN" sz="1200" dirty="0">
                <a:solidFill>
                  <a:srgbClr val="23364B"/>
                </a:solidFill>
                <a:latin typeface="Microsoft YaHei"/>
                <a:ea typeface="Microsoft YaHei"/>
              </a:rPr>
              <a:t>, </a:t>
            </a:r>
            <a:r>
              <a:rPr lang="zh-CN" altLang="en-US" sz="1200" dirty="0">
                <a:solidFill>
                  <a:srgbClr val="23364B"/>
                </a:solidFill>
                <a:latin typeface="Microsoft YaHei"/>
                <a:ea typeface="Microsoft YaHei"/>
              </a:rPr>
              <a:t>目前对此结果有怀疑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14816DF-EA49-1883-7818-9FB3C1FA81AE}"/>
              </a:ext>
            </a:extLst>
          </p:cNvPr>
          <p:cNvSpPr txBox="1"/>
          <p:nvPr/>
        </p:nvSpPr>
        <p:spPr>
          <a:xfrm>
            <a:off x="387066" y="4818885"/>
            <a:ext cx="2933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23364B"/>
                </a:solidFill>
                <a:latin typeface="Microsoft YaHei"/>
                <a:ea typeface="Microsoft YaHei"/>
              </a:rPr>
              <a:t>测试 </a:t>
            </a:r>
            <a:r>
              <a:rPr lang="en-US" altLang="zh-CN" sz="1200" dirty="0">
                <a:solidFill>
                  <a:srgbClr val="23364B"/>
                </a:solidFill>
                <a:latin typeface="Microsoft YaHei"/>
                <a:ea typeface="Microsoft YaHei"/>
              </a:rPr>
              <a:t>AP </a:t>
            </a:r>
            <a:r>
              <a:rPr lang="zh-CN" altLang="en-US" sz="1200" dirty="0">
                <a:solidFill>
                  <a:srgbClr val="23364B"/>
                </a:solidFill>
                <a:latin typeface="Microsoft YaHei"/>
                <a:ea typeface="Microsoft YaHei"/>
              </a:rPr>
              <a:t>约为 </a:t>
            </a:r>
            <a:r>
              <a:rPr lang="en-US" altLang="zh-CN" sz="1200" dirty="0">
                <a:solidFill>
                  <a:srgbClr val="23364B"/>
                </a:solidFill>
                <a:latin typeface="Microsoft YaHei"/>
                <a:ea typeface="Microsoft YaHei"/>
              </a:rPr>
              <a:t>0.1959</a:t>
            </a:r>
            <a:r>
              <a:rPr lang="zh-CN" altLang="en-US" sz="1200" dirty="0">
                <a:solidFill>
                  <a:srgbClr val="23364B"/>
                </a:solidFill>
                <a:latin typeface="Microsoft YaHei"/>
                <a:ea typeface="Microsoft YaHei"/>
              </a:rPr>
              <a:t>，是正例率参考基线的 </a:t>
            </a:r>
            <a:r>
              <a:rPr lang="en-US" altLang="zh-CN" sz="1200" dirty="0">
                <a:solidFill>
                  <a:srgbClr val="23364B"/>
                </a:solidFill>
                <a:latin typeface="Microsoft YaHei"/>
                <a:ea typeface="Microsoft YaHei"/>
              </a:rPr>
              <a:t>2.109 </a:t>
            </a:r>
            <a:r>
              <a:rPr lang="zh-CN" altLang="en-US" sz="1200" dirty="0">
                <a:solidFill>
                  <a:srgbClr val="23364B"/>
                </a:solidFill>
                <a:latin typeface="Microsoft YaHei"/>
                <a:ea typeface="Microsoft YaHei"/>
              </a:rPr>
              <a:t>倍。说明整体排序有提升，但不代表准确率翻倍。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773424A-1BFB-C508-F002-BCB9CBFC8A95}"/>
              </a:ext>
            </a:extLst>
          </p:cNvPr>
          <p:cNvSpPr txBox="1"/>
          <p:nvPr/>
        </p:nvSpPr>
        <p:spPr>
          <a:xfrm>
            <a:off x="3217527" y="4818884"/>
            <a:ext cx="2896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23364B"/>
                </a:solidFill>
                <a:latin typeface="Microsoft YaHei"/>
                <a:ea typeface="Microsoft YaHei"/>
              </a:rPr>
              <a:t>前 </a:t>
            </a:r>
            <a:r>
              <a:rPr lang="en-US" altLang="zh-CN" sz="1200" dirty="0">
                <a:solidFill>
                  <a:srgbClr val="23364B"/>
                </a:solidFill>
                <a:latin typeface="Microsoft YaHei"/>
                <a:ea typeface="Microsoft YaHei"/>
              </a:rPr>
              <a:t>100 </a:t>
            </a:r>
            <a:r>
              <a:rPr lang="zh-CN" altLang="en-US" sz="1200" dirty="0">
                <a:solidFill>
                  <a:srgbClr val="23364B"/>
                </a:solidFill>
                <a:latin typeface="Microsoft YaHei"/>
                <a:ea typeface="Microsoft YaHei"/>
              </a:rPr>
              <a:t>名的位置加权得分达到理想排序的约 </a:t>
            </a:r>
            <a:r>
              <a:rPr lang="en-US" altLang="zh-CN" sz="1200" dirty="0">
                <a:solidFill>
                  <a:srgbClr val="23364B"/>
                </a:solidFill>
                <a:latin typeface="Microsoft YaHei"/>
                <a:ea typeface="Microsoft YaHei"/>
              </a:rPr>
              <a:t>54.2%</a:t>
            </a:r>
            <a:r>
              <a:rPr lang="zh-CN" altLang="en-US" sz="1200" dirty="0">
                <a:solidFill>
                  <a:srgbClr val="23364B"/>
                </a:solidFill>
                <a:latin typeface="Microsoft YaHei"/>
                <a:ea typeface="Microsoft YaHei"/>
              </a:rPr>
              <a:t>。说明有正例靠前，但排序仍不理想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114979B-81D6-A040-DFF7-D807873F217B}"/>
              </a:ext>
            </a:extLst>
          </p:cNvPr>
          <p:cNvSpPr txBox="1"/>
          <p:nvPr/>
        </p:nvSpPr>
        <p:spPr>
          <a:xfrm>
            <a:off x="6113925" y="4817992"/>
            <a:ext cx="2793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23364B"/>
                </a:solidFill>
                <a:latin typeface="Microsoft YaHei"/>
                <a:ea typeface="Microsoft YaHei"/>
              </a:rPr>
              <a:t>前 </a:t>
            </a:r>
            <a:r>
              <a:rPr lang="en-US" altLang="zh-CN" sz="1200" dirty="0">
                <a:solidFill>
                  <a:srgbClr val="23364B"/>
                </a:solidFill>
                <a:latin typeface="Microsoft YaHei"/>
                <a:ea typeface="Microsoft YaHei"/>
              </a:rPr>
              <a:t>100 </a:t>
            </a:r>
            <a:r>
              <a:rPr lang="zh-CN" altLang="en-US" sz="1200" dirty="0">
                <a:solidFill>
                  <a:srgbClr val="23364B"/>
                </a:solidFill>
                <a:latin typeface="Microsoft YaHei"/>
                <a:ea typeface="Microsoft YaHei"/>
              </a:rPr>
              <a:t>名的正例率是剩余候选的约 </a:t>
            </a:r>
            <a:r>
              <a:rPr lang="en-US" altLang="zh-CN" sz="1200" dirty="0">
                <a:solidFill>
                  <a:srgbClr val="23364B"/>
                </a:solidFill>
                <a:latin typeface="Microsoft YaHei"/>
                <a:ea typeface="Microsoft YaHei"/>
              </a:rPr>
              <a:t>4.76 </a:t>
            </a:r>
            <a:r>
              <a:rPr lang="zh-CN" altLang="en-US" sz="1200" dirty="0">
                <a:solidFill>
                  <a:srgbClr val="23364B"/>
                </a:solidFill>
                <a:latin typeface="Microsoft YaHei"/>
                <a:ea typeface="Microsoft YaHei"/>
              </a:rPr>
              <a:t>倍。按公式和样本数反推，前 </a:t>
            </a:r>
            <a:r>
              <a:rPr lang="en-US" altLang="zh-CN" sz="1200" dirty="0">
                <a:solidFill>
                  <a:srgbClr val="23364B"/>
                </a:solidFill>
                <a:latin typeface="Microsoft YaHei"/>
                <a:ea typeface="Microsoft YaHei"/>
              </a:rPr>
              <a:t>100 </a:t>
            </a:r>
            <a:r>
              <a:rPr lang="zh-CN" altLang="en-US" sz="1200" dirty="0">
                <a:solidFill>
                  <a:srgbClr val="23364B"/>
                </a:solidFill>
                <a:latin typeface="Microsoft YaHei"/>
                <a:ea typeface="Microsoft YaHei"/>
              </a:rPr>
              <a:t>名约有 </a:t>
            </a:r>
            <a:r>
              <a:rPr lang="en-US" altLang="zh-CN" sz="1200" dirty="0">
                <a:solidFill>
                  <a:srgbClr val="23364B"/>
                </a:solidFill>
                <a:latin typeface="Microsoft YaHei"/>
                <a:ea typeface="Microsoft YaHei"/>
              </a:rPr>
              <a:t>42 </a:t>
            </a:r>
            <a:r>
              <a:rPr lang="zh-CN" altLang="en-US" sz="1200" dirty="0">
                <a:solidFill>
                  <a:srgbClr val="23364B"/>
                </a:solidFill>
                <a:latin typeface="Microsoft YaHei"/>
                <a:ea typeface="Microsoft YaHei"/>
              </a:rPr>
              <a:t>个正例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268968C3-4D28-9F40-410D-130B9CB7D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396" y="5505338"/>
            <a:ext cx="36195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363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3947686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79" y="1005840"/>
            <a:ext cx="3499945" cy="39607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2200" b="1" dirty="0">
                <a:solidFill>
                  <a:srgbClr val="FFFFFF"/>
                </a:solidFill>
                <a:latin typeface="Microsoft YaHei"/>
                <a:ea typeface="Microsoft YaHei"/>
              </a:rPr>
              <a:t>时间窗口敏感性分析</a:t>
            </a:r>
            <a:endParaRPr sz="22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37549" y="1055816"/>
            <a:ext cx="8549640" cy="31444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dirty="0">
                <a:solidFill>
                  <a:srgbClr val="64748B"/>
                </a:solidFill>
                <a:latin typeface="Microsoft YaHei"/>
                <a:ea typeface="Microsoft YaHei"/>
              </a:rPr>
              <a:t>验证减少历史信息是否能够降低早期数据噪声，同时保持未来预测能力</a:t>
            </a:r>
            <a:endParaRPr sz="170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28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1874519"/>
            <a:ext cx="249631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956815"/>
            <a:ext cx="231343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训练窗口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1874519"/>
            <a:ext cx="203911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63240" y="1956815"/>
            <a:ext cx="1856231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训练样本</a:t>
            </a:r>
            <a:endParaRPr sz="1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0" y="1874519"/>
            <a:ext cx="199339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0" y="1956815"/>
            <a:ext cx="181051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正例率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1874519"/>
            <a:ext cx="245059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1956815"/>
            <a:ext cx="226771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最佳验证 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1874519"/>
            <a:ext cx="2176272" cy="521207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0" y="1956815"/>
            <a:ext cx="1993391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状态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414015"/>
            <a:ext cx="2496312" cy="74066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2505456"/>
            <a:ext cx="2313432" cy="61264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全历史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2414015"/>
            <a:ext cx="2039112" cy="74066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63240" y="2505456"/>
            <a:ext cx="1856231" cy="61264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13,991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2414015"/>
            <a:ext cx="1993392" cy="74066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20640" y="2505456"/>
            <a:ext cx="1810512" cy="61264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29.51%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2414015"/>
            <a:ext cx="2450592" cy="74066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32320" y="2505456"/>
            <a:ext cx="2267712" cy="61264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0.1593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2414015"/>
            <a:ext cx="2176272" cy="74066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0" y="2505456"/>
            <a:ext cx="1993391" cy="61264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完成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172968"/>
            <a:ext cx="2496312" cy="7406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264408"/>
            <a:ext cx="2313432" cy="61264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2006–2010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71800" y="3172968"/>
            <a:ext cx="2039112" cy="7406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63240" y="3264408"/>
            <a:ext cx="1856231" cy="61264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6,774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0" y="3172968"/>
            <a:ext cx="1993392" cy="7406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20640" y="3264408"/>
            <a:ext cx="1810512" cy="61264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17.82%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0" y="3172968"/>
            <a:ext cx="2450592" cy="7406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132320" y="3264408"/>
            <a:ext cx="2267712" cy="61264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0.1516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9760" y="3172968"/>
            <a:ext cx="2176272" cy="7406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01200" y="3264408"/>
            <a:ext cx="1993391" cy="61264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完成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931920"/>
            <a:ext cx="2496312" cy="74066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" y="4023359"/>
            <a:ext cx="2313432" cy="61264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2008–2010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71800" y="3931920"/>
            <a:ext cx="2039112" cy="74066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063240" y="4023359"/>
            <a:ext cx="1856231" cy="61264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3,925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0" y="3931920"/>
            <a:ext cx="1993392" cy="74066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20640" y="4023359"/>
            <a:ext cx="1810512" cy="61264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23364B"/>
                </a:solidFill>
                <a:latin typeface="Microsoft YaHei"/>
                <a:ea typeface="Microsoft YaHei"/>
              </a:rPr>
              <a:t>16.00%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40880" y="3931920"/>
            <a:ext cx="2450592" cy="74066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114032" y="3979910"/>
            <a:ext cx="2267712" cy="72628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dirty="0">
                <a:solidFill>
                  <a:srgbClr val="23364B"/>
                </a:solidFill>
                <a:latin typeface="Microsoft YaHei"/>
                <a:ea typeface="Microsoft YaHei"/>
              </a:rPr>
              <a:t>0.1800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8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509760" y="3931920"/>
            <a:ext cx="2176272" cy="74066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601200" y="4023359"/>
            <a:ext cx="1993391" cy="3307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第1</a:t>
            </a:r>
            <a:r>
              <a:rPr lang="en-US"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7</a:t>
            </a:r>
            <a:r>
              <a:rPr sz="1800" b="0" dirty="0">
                <a:solidFill>
                  <a:srgbClr val="23364B"/>
                </a:solidFill>
                <a:latin typeface="Microsoft YaHei"/>
                <a:ea typeface="Microsoft YaHei"/>
              </a:rPr>
              <a:t>轮后停止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4864608"/>
            <a:ext cx="10972800" cy="8644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altLang="zh-CN"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2008–2010 </a:t>
            </a:r>
            <a:r>
              <a:rPr lang="zh-CN" altLang="en-US"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窗口验证 </a:t>
            </a:r>
            <a:r>
              <a:rPr lang="en-US" altLang="zh-CN"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AP </a:t>
            </a:r>
            <a:r>
              <a:rPr lang="zh-CN" altLang="en-US"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达到 </a:t>
            </a:r>
            <a:r>
              <a:rPr lang="en-US" altLang="zh-CN"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0.1800</a:t>
            </a:r>
            <a:r>
              <a:rPr lang="zh-CN" altLang="en-US"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，较全历史 </a:t>
            </a:r>
            <a:r>
              <a:rPr lang="en-US" altLang="zh-CN"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0.1593 </a:t>
            </a:r>
            <a:r>
              <a:rPr lang="zh-CN" altLang="en-US"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提升约 </a:t>
            </a:r>
            <a:r>
              <a:rPr lang="en-US" altLang="zh-CN"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13.0%</a:t>
            </a:r>
            <a:r>
              <a:rPr lang="zh-CN" altLang="en-US"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；但测试集 </a:t>
            </a:r>
            <a:r>
              <a:rPr lang="en-US" altLang="zh-CN"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Top-10 Precision=0</a:t>
            </a:r>
            <a:r>
              <a:rPr lang="zh-CN" altLang="en-US"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，</a:t>
            </a:r>
            <a:r>
              <a:rPr lang="en-US" altLang="zh-CN"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Top-K </a:t>
            </a:r>
            <a:r>
              <a:rPr lang="zh-CN" altLang="en-US"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排序稳定性仍不足</a:t>
            </a:r>
            <a:r>
              <a:rPr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。</a:t>
            </a:r>
            <a:r>
              <a:rPr lang="zh-CN" altLang="en-US"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训练数据使用多长时间窗口，会影响模型表现；但“只使用近期数据”虽然在验证集上有一定提升，却没有表现出足够稳定的 </a:t>
            </a:r>
            <a:r>
              <a:rPr lang="en-US" altLang="zh-CN"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Top-K </a:t>
            </a:r>
            <a:r>
              <a:rPr lang="zh-CN" altLang="en-US" sz="1600" b="1" dirty="0">
                <a:solidFill>
                  <a:srgbClr val="153B76"/>
                </a:solidFill>
                <a:latin typeface="Microsoft YaHei"/>
                <a:ea typeface="Microsoft YaHei"/>
              </a:rPr>
              <a:t>泛化优势，因此暂时不替换原来的全历史方案</a:t>
            </a:r>
            <a:endParaRPr sz="1600" b="1" dirty="0">
              <a:solidFill>
                <a:srgbClr val="153B76"/>
              </a:solidFill>
              <a:latin typeface="Microsoft YaHei"/>
              <a:ea typeface="Microsoft YaHe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38912" y="5843016"/>
            <a:ext cx="11301984" cy="484632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12648" y="5907024"/>
            <a:ext cx="10972800" cy="31675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暂不采用近期窗口作为默认训练策略，继续保留全历史数据方案</a:t>
            </a:r>
            <a:r>
              <a:rPr sz="1700" b="1" dirty="0">
                <a:solidFill>
                  <a:srgbClr val="126FAD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emplate_s3_p28.png"/>
          <p:cNvPicPr>
            <a:picLocks noChangeAspect="1"/>
          </p:cNvPicPr>
          <p:nvPr/>
        </p:nvPicPr>
        <p:blipFill>
          <a:blip r:embed="rId3"/>
          <a:srcRect l="20403" t="35981" r="19219" b="34183"/>
          <a:stretch>
            <a:fillRect/>
          </a:stretch>
        </p:blipFill>
        <p:spPr>
          <a:xfrm>
            <a:off x="457200" y="64008"/>
            <a:ext cx="2191816" cy="713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0166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5886" y="201168"/>
            <a:ext cx="2157984" cy="79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rgbClr val="818181"/>
                </a:solidFill>
                <a:latin typeface="Microsoft YaHei"/>
                <a:ea typeface="Microsoft YaHei"/>
              </a:rPr>
              <a:t>研究目标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sz="2000" b="1" dirty="0">
              <a:solidFill>
                <a:srgbClr val="818181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17820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3540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研究综述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675473" y="0"/>
            <a:ext cx="2257653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1193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818181"/>
                </a:solidFill>
                <a:latin typeface="Microsoft YaHei"/>
                <a:ea typeface="Microsoft YaHei"/>
              </a:rPr>
              <a:t>数据与方法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127" y="0"/>
            <a:ext cx="2257653" cy="795528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8847" y="201168"/>
            <a:ext cx="2157984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91695" cy="3200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entagon 12"/>
          <p:cNvSpPr/>
          <p:nvPr/>
        </p:nvSpPr>
        <p:spPr>
          <a:xfrm>
            <a:off x="0" y="941832"/>
            <a:ext cx="2880360" cy="512064"/>
          </a:xfrm>
          <a:prstGeom prst="homePlate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1005840"/>
            <a:ext cx="2487168" cy="3749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阶段结论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1005840"/>
            <a:ext cx="8549640" cy="31444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 dirty="0">
                <a:solidFill>
                  <a:srgbClr val="64748B"/>
                </a:solidFill>
                <a:latin typeface="Microsoft YaHei"/>
                <a:ea typeface="Microsoft YaHei"/>
              </a:rPr>
              <a:t>核心流程已跑通，方法一致性与稳定性仍需验证</a:t>
            </a:r>
            <a:endParaRPr sz="170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8912" y="6428232"/>
            <a:ext cx="11301984" cy="10972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0018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lang="en-US" altLang="zh-CN" sz="1000" b="0">
                <a:solidFill>
                  <a:srgbClr val="64748B"/>
                </a:solidFill>
                <a:latin typeface="Microsoft YaHei"/>
                <a:ea typeface="Microsoft YaHei"/>
              </a:rPr>
              <a:t>29</a:t>
            </a:r>
            <a:endParaRPr sz="10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1828800"/>
            <a:ext cx="3520440" cy="36118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828800"/>
            <a:ext cx="50292" cy="3611880"/>
          </a:xfrm>
          <a:prstGeom prst="rect">
            <a:avLst/>
          </a:prstGeom>
          <a:solidFill>
            <a:srgbClr val="12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1975104"/>
            <a:ext cx="315468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26FAD"/>
                </a:solidFill>
                <a:latin typeface="Microsoft YaHei"/>
                <a:ea typeface="Microsoft YaHei"/>
              </a:rPr>
              <a:t>已经完成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542032"/>
            <a:ext cx="3154680" cy="28072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时间图、映射、标签接入</a:t>
            </a: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三类证据的归属与融合</a:t>
            </a: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小规模检查和全量标签训练</a:t>
            </a: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dirty="0">
                <a:solidFill>
                  <a:srgbClr val="23364B"/>
                </a:solidFill>
                <a:latin typeface="Microsoft YaHei"/>
                <a:ea typeface="Microsoft YaHei"/>
              </a:rPr>
              <a:t>Direct </a:t>
            </a:r>
            <a:r>
              <a:rPr sz="19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归属受控消融</a:t>
            </a: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34256" y="1828800"/>
            <a:ext cx="3520440" cy="36118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34256" y="1828800"/>
            <a:ext cx="50292" cy="3611880"/>
          </a:xfrm>
          <a:prstGeom prst="rect">
            <a:avLst/>
          </a:prstGeom>
          <a:solidFill>
            <a:srgbClr val="198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17136" y="1975104"/>
            <a:ext cx="315468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98979"/>
                </a:solidFill>
                <a:latin typeface="Microsoft YaHei"/>
                <a:ea typeface="Microsoft YaHei"/>
              </a:rPr>
              <a:t>当前保留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2542032"/>
            <a:ext cx="3154680" cy="28072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dirty="0">
                <a:solidFill>
                  <a:srgbClr val="23364B"/>
                </a:solidFill>
                <a:latin typeface="Microsoft YaHei"/>
                <a:ea typeface="Microsoft YaHei"/>
              </a:rPr>
              <a:t>Direct = exact pair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dirty="0">
                <a:solidFill>
                  <a:srgbClr val="23364B"/>
                </a:solidFill>
                <a:latin typeface="Microsoft YaHei"/>
                <a:ea typeface="Microsoft YaHei"/>
              </a:rPr>
              <a:t>Clinical = </a:t>
            </a:r>
            <a:r>
              <a:rPr sz="19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历史临床上下文</a:t>
            </a: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dirty="0">
                <a:solidFill>
                  <a:srgbClr val="23364B"/>
                </a:solidFill>
                <a:latin typeface="Microsoft YaHei"/>
                <a:ea typeface="Microsoft YaHei"/>
              </a:rPr>
              <a:t>Network = </a:t>
            </a:r>
            <a:r>
              <a:rPr sz="19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生物网络上下文</a:t>
            </a: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全历史监督训练</a:t>
            </a: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211312" y="1828800"/>
            <a:ext cx="3520440" cy="361188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11312" y="1828800"/>
            <a:ext cx="50292" cy="3611880"/>
          </a:xfrm>
          <a:prstGeom prst="rect">
            <a:avLst/>
          </a:prstGeom>
          <a:solidFill>
            <a:srgbClr val="C87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94192" y="1975104"/>
            <a:ext cx="315468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C87E25"/>
                </a:solidFill>
                <a:latin typeface="Microsoft YaHei"/>
                <a:ea typeface="Microsoft YaHei"/>
              </a:rPr>
              <a:t>仍待验证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542032"/>
            <a:ext cx="3154680" cy="24130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跨运行与多</a:t>
            </a:r>
            <a:r>
              <a:rPr sz="1900" b="0" dirty="0">
                <a:solidFill>
                  <a:srgbClr val="23364B"/>
                </a:solidFill>
                <a:latin typeface="Microsoft YaHei"/>
                <a:ea typeface="Microsoft YaHei"/>
              </a:rPr>
              <a:t> seed </a:t>
            </a:r>
            <a:r>
              <a:rPr sz="19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稳定性</a:t>
            </a: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dirty="0" err="1">
                <a:solidFill>
                  <a:srgbClr val="FF0000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疾病集中</a:t>
            </a:r>
            <a:r>
              <a:rPr lang="zh-CN" altLang="en-US" sz="1900" b="0" dirty="0">
                <a:solidFill>
                  <a:srgbClr val="23364B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是否影响</a:t>
            </a:r>
            <a:r>
              <a:rPr sz="1900" b="0" dirty="0" err="1">
                <a:solidFill>
                  <a:srgbClr val="FF0000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年份外推</a:t>
            </a:r>
            <a:endParaRPr sz="1900" b="0" dirty="0">
              <a:solidFill>
                <a:srgbClr val="FF0000"/>
              </a:solidFill>
              <a:highlight>
                <a:srgbClr val="FFFF00"/>
              </a:highlight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dirty="0">
                <a:solidFill>
                  <a:srgbClr val="23364B"/>
                </a:solidFill>
                <a:latin typeface="Microsoft YaHei"/>
                <a:ea typeface="Microsoft YaHei"/>
              </a:rPr>
              <a:t>TA </a:t>
            </a:r>
            <a:r>
              <a:rPr sz="1900" b="0" dirty="0" err="1">
                <a:solidFill>
                  <a:srgbClr val="23364B"/>
                </a:solidFill>
                <a:latin typeface="Microsoft YaHei"/>
                <a:ea typeface="Microsoft YaHei"/>
              </a:rPr>
              <a:t>分组指标与案例解释</a:t>
            </a: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0" dirty="0">
              <a:solidFill>
                <a:srgbClr val="23364B"/>
              </a:solidFill>
              <a:latin typeface="Microsoft YaHei"/>
              <a:ea typeface="Microsoft YaHei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270E995-063B-F4CB-5AFF-B56C91688A43}"/>
              </a:ext>
            </a:extLst>
          </p:cNvPr>
          <p:cNvSpPr txBox="1"/>
          <p:nvPr/>
        </p:nvSpPr>
        <p:spPr>
          <a:xfrm>
            <a:off x="8068366" y="5472790"/>
            <a:ext cx="3806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23364B"/>
                </a:solidFill>
                <a:latin typeface="Microsoft YaHei"/>
                <a:ea typeface="Microsoft YaHei"/>
              </a:rPr>
              <a:t>模型是否因为过度偏向训练集中常见的少数疾病，导致到了更晚年份的验证集、测试集时性能下降</a:t>
            </a:r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A99F30E5-DF07-D8A2-1EE4-E0A0A4F1B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12" y="5409414"/>
            <a:ext cx="840813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疾病集中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：Top-K 候选中大量属于少数几个疾病。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年份外推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：用早期年份训练，预测后期年份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影响关系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：判断疾病集中是否是后期预测性能下降、Top-K 出现 0 的原因之一。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稻壳儿智宇https://www.docer.com/works?userid=328340712"/>
          <p:cNvSpPr/>
          <p:nvPr/>
        </p:nvSpPr>
        <p:spPr>
          <a:xfrm>
            <a:off x="132080" y="1567815"/>
            <a:ext cx="11857355" cy="16433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indent="0" algn="ctr" fontAlgn="base">
              <a:lnSpc>
                <a:spcPct val="120000"/>
              </a:lnSpc>
            </a:pPr>
            <a:r>
              <a:rPr sz="3800" b="1" dirty="0">
                <a:solidFill>
                  <a:srgbClr val="FFFFFF"/>
                </a:solidFill>
                <a:latin typeface="Microsoft YaHei"/>
                <a:ea typeface="Microsoft YaHei"/>
              </a:rPr>
              <a:t>DA-MEF</a:t>
            </a:r>
            <a:r>
              <a:rPr lang="en-US" sz="3800" b="1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3800" b="1" dirty="0">
                <a:solidFill>
                  <a:srgbClr val="FFFFFF"/>
                </a:solidFill>
                <a:latin typeface="Microsoft YaHei"/>
                <a:ea typeface="Microsoft YaHei"/>
              </a:rPr>
              <a:t>多证据融合模型设计与实验分析</a:t>
            </a:r>
            <a:endParaRPr sz="3800" b="1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ctr"/>
            <a:r>
              <a:rPr sz="34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请各位老师同学批评指正</a:t>
            </a:r>
            <a:endParaRPr sz="34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graphicFrame>
        <p:nvGraphicFramePr>
          <p:cNvPr id="20" name="稻壳儿智宇https://www.docer.com/works?userid=3283407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307345"/>
              </p:ext>
            </p:extLst>
          </p:nvPr>
        </p:nvGraphicFramePr>
        <p:xfrm>
          <a:off x="3867345" y="4884640"/>
          <a:ext cx="4456430" cy="170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dist"/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汇报人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：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林真毅</a:t>
                      </a:r>
                      <a:endParaRPr lang="zh-CN" sz="1800" b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  <a:sym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algn="dist"/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硕士专业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：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软件</a:t>
                      </a:r>
                      <a:r>
                        <a:rPr lang="zh-CN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工程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algn="dist"/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指导教师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：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尹彦婷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dist"/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日期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：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2026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年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9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月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15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lt"/>
                        </a:rPr>
                        <a:t>日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文本框 19"/>
          <p:cNvSpPr txBox="1"/>
          <p:nvPr/>
        </p:nvSpPr>
        <p:spPr>
          <a:xfrm>
            <a:off x="-71120" y="0"/>
            <a:ext cx="7278370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25,&quot;left&quot;:537.95,&quot;top&quot;:140.25,&quot;width&quot;:247.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25,&quot;left&quot;:537.95,&quot;top&quot;:140.25,&quot;width&quot;:247.5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25,&quot;left&quot;:537.95,&quot;top&quot;:140.25,&quot;width&quot;:247.5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25,&quot;left&quot;:537.95,&quot;top&quot;:140.25,&quot;width&quot;:247.5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25,&quot;left&quot;:537.95,&quot;top&quot;:140.25,&quot;width&quot;:247.5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25,&quot;left&quot;:537.95,&quot;top&quot;:140.25,&quot;width&quot;:247.5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25,&quot;left&quot;:537.95,&quot;top&quot;:140.25,&quot;width&quot;:247.5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25,&quot;left&quot;:537.95,&quot;top&quot;:140.25,&quot;width&quot;:247.5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25,&quot;left&quot;:537.95,&quot;top&quot;:140.25,&quot;width&quot;:247.5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25,&quot;left&quot;:537.95,&quot;top&quot;:140.25,&quot;width&quot;:247.5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25,&quot;left&quot;:537.95,&quot;top&quot;:140.25,&quot;width&quot;:247.5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25,&quot;left&quot;:537.95,&quot;top&quot;:140.25,&quot;width&quot;:247.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</TotalTime>
  <Words>4233</Words>
  <Application>Microsoft Office PowerPoint</Application>
  <PresentationFormat>宽屏</PresentationFormat>
  <Paragraphs>821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27</vt:i4>
      </vt:variant>
    </vt:vector>
  </HeadingPairs>
  <TitlesOfParts>
    <vt:vector size="40" baseType="lpstr">
      <vt:lpstr>Arial Unicode MS</vt:lpstr>
      <vt:lpstr>等线</vt:lpstr>
      <vt:lpstr>等线 Light</vt:lpstr>
      <vt:lpstr>华文行楷</vt:lpstr>
      <vt:lpstr>Microsoft YaHei</vt:lpstr>
      <vt:lpstr>Microsoft YaHei</vt:lpstr>
      <vt:lpstr>Arial</vt:lpstr>
      <vt:lpstr>Calibri</vt:lpstr>
      <vt:lpstr>Cambria Math</vt:lpstr>
      <vt:lpstr>Wingdings</vt:lpstr>
      <vt:lpstr>WPS</vt:lpstr>
      <vt:lpstr>ChatGPT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DA-MEF 多证据融合模型设计与阶段性实验结果</dc:title>
  <dc:subject>THBKG 26.03 项目阶段汇报；实验截至 2026-09-12</dc:subject>
  <dc:creator>林真毅</dc:creator>
  <cp:keywords>DA-MEF, THBKG, evidence fusion, temporal graph, clinical advancement</cp:keywords>
  <cp:lastModifiedBy>suda</cp:lastModifiedBy>
  <cp:revision>240</cp:revision>
  <dcterms:created xsi:type="dcterms:W3CDTF">2019-06-19T02:08:00Z</dcterms:created>
  <dcterms:modified xsi:type="dcterms:W3CDTF">2026-09-15T00:50:05Z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BB9FBF87AA1B4A0B9BB491067EC41680_13</vt:lpwstr>
  </property>
</Properties>
</file>