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1FE5A98-45E3-458D-A303-1FCD43D0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3FCA6EF-312B-4B2A-9244-542CA5ADE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10F63DEF-2B49-40FB-98B7-BC5BE52C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FF202E-78D2-4481-B2A7-B57661987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BC6D496-BBFF-4486-B62D-E2486DDA5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7AE8DF4-4DA6-42E2-9D9F-E86DA3A75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0536EDC-E532-4996-936B-43740893E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47C26EA-A63F-4933-B6CB-1B231D87258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4B32050-D677-48AC-9BCB-8BA9FFA78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2DA3316-1C92-42A6-B16B-A3A34A44D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C1E7E27-C7DE-4513-A873-5AEB4DF26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AFFBA1-0C1D-4F55-8F8B-64E829B8D148}"/>
              </a:ext>
            </a:extLst>
          </p:cNvPr>
          <p:cNvSpPr>
            <a:spLocks noGrp="1"/>
          </p:cNvSpPr>
          <p:nvPr/>
        </p:nvSpPr>
        <p:spPr>
          <a:xfrm>
            <a:off x="457200" y="190500"/>
            <a:ext cx="8572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组会汇报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DED418-8604-417A-A876-CDFC1BCC2794}"/>
              </a:ext>
            </a:extLst>
          </p:cNvPr>
          <p:cNvSpPr>
            <a:spLocks noGrp="1"/>
          </p:cNvSpPr>
          <p:nvPr/>
        </p:nvSpPr>
        <p:spPr>
          <a:xfrm>
            <a:off x="952500" y="1628775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TxGNN</a:t>
            </a:r>
            <a:r>
              <a:rPr sz="4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与 GCGB </a:t>
            </a:r>
            <a:r>
              <a:rPr lang="zh-CN" altLang="en-US" sz="4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参考论文</a:t>
            </a:r>
            <a:r>
              <a:rPr sz="405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</a:t>
            </a:r>
            <a:endParaRPr sz="405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19BE77-78C8-4003-9BCC-44068699259F}"/>
              </a:ext>
            </a:extLst>
          </p:cNvPr>
          <p:cNvSpPr>
            <a:spLocks noGrp="1"/>
          </p:cNvSpPr>
          <p:nvPr/>
        </p:nvSpPr>
        <p:spPr>
          <a:xfrm>
            <a:off x="952500" y="2600325"/>
            <a:ext cx="10287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研究问题、核心方法与两篇比较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32B61A4-FC6D-49F3-B1DE-81E895A7B0FD}"/>
              </a:ext>
            </a:extLst>
          </p:cNvPr>
          <p:cNvSpPr>
            <a:spLocks noGrp="1"/>
          </p:cNvSpPr>
          <p:nvPr/>
        </p:nvSpPr>
        <p:spPr>
          <a:xfrm>
            <a:off x="1428750" y="506730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5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5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重新选择参考论文，先理解两篇各自解决了什么问题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7CA235-75EE-4E63-83EC-52F4329E1272}"/>
              </a:ext>
            </a:extLst>
          </p:cNvPr>
          <p:cNvSpPr>
            <a:spLocks noGrp="1"/>
          </p:cNvSpPr>
          <p:nvPr/>
        </p:nvSpPr>
        <p:spPr>
          <a:xfrm>
            <a:off x="1428750" y="5676900"/>
            <a:ext cx="1028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目前以文献阅读与比较为主，具体研究思路尚未形成</a:t>
            </a:r>
          </a:p>
        </p:txBody>
      </p:sp>
    </p:spTree>
    <p:extLst>
      <p:ext uri="{BB962C8B-B14F-4D97-AF65-F5344CB8AC3E}">
        <p14:creationId xmlns:p14="http://schemas.microsoft.com/office/powerpoint/2010/main" val="589747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C4FD3132-2BD4-41D3-8873-02A714ED5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A60D483-38D7-4E47-A77C-968C7BCA5559}"/>
              </a:ext>
            </a:extLst>
          </p:cNvPr>
          <p:cNvSpPr>
            <a:spLocks noGrp="1"/>
          </p:cNvSpPr>
          <p:nvPr/>
        </p:nvSpPr>
        <p:spPr>
          <a:xfrm>
            <a:off x="7677150" y="0"/>
            <a:ext cx="2257425" cy="790575"/>
          </a:xfrm>
          <a:prstGeom prst="rect">
            <a:avLst/>
          </a:prstGeom>
          <a:solidFill>
            <a:srgbClr val="0F6EB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287924-CFBE-487B-8726-F579366D8CA6}"/>
              </a:ext>
            </a:extLst>
          </p:cNvPr>
          <p:cNvSpPr>
            <a:spLocks noGrp="1"/>
          </p:cNvSpPr>
          <p:nvPr/>
        </p:nvSpPr>
        <p:spPr>
          <a:xfrm>
            <a:off x="333375" y="1333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论文阅读汇报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B03E9A9-C454-4940-B600-D6944903C640}"/>
              </a:ext>
            </a:extLst>
          </p:cNvPr>
          <p:cNvSpPr>
            <a:spLocks noGrp="1"/>
          </p:cNvSpPr>
          <p:nvPr/>
        </p:nvSpPr>
        <p:spPr>
          <a:xfrm>
            <a:off x="316230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TxGNN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76FED0-D58F-4BB6-9983-94E1814EDDD4}"/>
              </a:ext>
            </a:extLst>
          </p:cNvPr>
          <p:cNvSpPr>
            <a:spLocks noGrp="1"/>
          </p:cNvSpPr>
          <p:nvPr/>
        </p:nvSpPr>
        <p:spPr>
          <a:xfrm>
            <a:off x="541972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GCGB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F25DAB-A2C5-411D-AB8F-FF4856971344}"/>
              </a:ext>
            </a:extLst>
          </p:cNvPr>
          <p:cNvSpPr>
            <a:spLocks noGrp="1"/>
          </p:cNvSpPr>
          <p:nvPr/>
        </p:nvSpPr>
        <p:spPr>
          <a:xfrm>
            <a:off x="767715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两篇比较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BE810E9-7AA6-48B0-9461-3C3EC3071C81}"/>
              </a:ext>
            </a:extLst>
          </p:cNvPr>
          <p:cNvSpPr>
            <a:spLocks noGrp="1"/>
          </p:cNvSpPr>
          <p:nvPr/>
        </p:nvSpPr>
        <p:spPr>
          <a:xfrm>
            <a:off x="993457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阅读小结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B44EBE-F77C-4B1E-9738-00C7CAEF5C5E}"/>
              </a:ext>
            </a:extLst>
          </p:cNvPr>
          <p:cNvSpPr>
            <a:spLocks noGrp="1"/>
          </p:cNvSpPr>
          <p:nvPr/>
        </p:nvSpPr>
        <p:spPr>
          <a:xfrm>
            <a:off x="333375" y="1057275"/>
            <a:ext cx="2333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阅读背景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84C496A-2E23-4409-8B97-5E2BDDCFCED2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重新选择参考论文，先把两篇的情况讲清楚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8249F0-7F5D-4FB2-9927-270B12A6D985}"/>
              </a:ext>
            </a:extLst>
          </p:cNvPr>
          <p:cNvSpPr>
            <a:spLocks noGrp="1"/>
          </p:cNvSpPr>
          <p:nvPr/>
        </p:nvSpPr>
        <p:spPr>
          <a:xfrm>
            <a:off x="609600" y="6334125"/>
            <a:ext cx="10382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125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125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125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125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125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125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125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125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125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125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125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rPr>
              <a:t>当前阶段：文献理解与比较，尚未确定参考论文和改进方案</a:t>
            </a:r>
            <a:endParaRPr sz="1125" b="0" dirty="0">
              <a:solidFill>
                <a:srgbClr val="6678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53E484-3B30-4684-83FF-575068F6E100}"/>
              </a:ext>
            </a:extLst>
          </p:cNvPr>
          <p:cNvSpPr>
            <a:spLocks noGrp="1"/>
          </p:cNvSpPr>
          <p:nvPr/>
        </p:nvSpPr>
        <p:spPr>
          <a:xfrm>
            <a:off x="10668000" y="658177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23722E7-CEFB-4F8D-9482-5FBCFC21FDDA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70D936-7CE7-4B17-82C4-6F455FE066F5}"/>
              </a:ext>
            </a:extLst>
          </p:cNvPr>
          <p:cNvSpPr>
            <a:spLocks noGrp="1"/>
          </p:cNvSpPr>
          <p:nvPr/>
        </p:nvSpPr>
        <p:spPr>
          <a:xfrm>
            <a:off x="1485900" y="255270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原参考论文设计不够严谨等原因，需重新选择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87E668-45C2-4977-89CE-D5D5E868B316}"/>
              </a:ext>
            </a:extLst>
          </p:cNvPr>
          <p:cNvSpPr>
            <a:spLocks noGrp="1"/>
          </p:cNvSpPr>
          <p:nvPr/>
        </p:nvSpPr>
        <p:spPr>
          <a:xfrm>
            <a:off x="1485900" y="3076575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目前关注 TxGNN 与 GCGB，两篇都涉及药物重定位。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F17F82-08D6-4DBB-8FF3-BD2C52A4CDB9}"/>
              </a:ext>
            </a:extLst>
          </p:cNvPr>
          <p:cNvSpPr>
            <a:spLocks noGrp="1"/>
          </p:cNvSpPr>
          <p:nvPr/>
        </p:nvSpPr>
        <p:spPr>
          <a:xfrm>
            <a:off x="609600" y="3857625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15DFE54-18A4-4FBF-B01D-7AFED6A3AD4A}"/>
              </a:ext>
            </a:extLst>
          </p:cNvPr>
          <p:cNvSpPr>
            <a:spLocks noGrp="1"/>
          </p:cNvSpPr>
          <p:nvPr/>
        </p:nvSpPr>
        <p:spPr>
          <a:xfrm>
            <a:off x="1485900" y="385762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两篇利用信息的方式不同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829599-0390-49F7-BDF7-6B68D0F4A7DA}"/>
              </a:ext>
            </a:extLst>
          </p:cNvPr>
          <p:cNvSpPr>
            <a:spLocks noGrp="1"/>
          </p:cNvSpPr>
          <p:nvPr/>
        </p:nvSpPr>
        <p:spPr>
          <a:xfrm>
            <a:off x="1485900" y="4381500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TxGNN 借用相似疾病知识，GCGB 融合多个视图的信息。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49A886-17D0-4352-A132-45506A5217D6}"/>
              </a:ext>
            </a:extLst>
          </p:cNvPr>
          <p:cNvSpPr>
            <a:spLocks noGrp="1"/>
          </p:cNvSpPr>
          <p:nvPr/>
        </p:nvSpPr>
        <p:spPr>
          <a:xfrm>
            <a:off x="609600" y="5162550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BEFD2BE-D53D-4638-B651-D6D4935D2E0B}"/>
              </a:ext>
            </a:extLst>
          </p:cNvPr>
          <p:cNvSpPr>
            <a:spLocks noGrp="1"/>
          </p:cNvSpPr>
          <p:nvPr/>
        </p:nvSpPr>
        <p:spPr>
          <a:xfrm>
            <a:off x="1485900" y="51625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目前还没有形成具体 idea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9737F4-BCA6-43C5-A120-F248D074BB5B}"/>
              </a:ext>
            </a:extLst>
          </p:cNvPr>
          <p:cNvSpPr>
            <a:spLocks noGrp="1"/>
          </p:cNvSpPr>
          <p:nvPr/>
        </p:nvSpPr>
        <p:spPr>
          <a:xfrm>
            <a:off x="1485900" y="5686425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先比较研究问题、模型机制和评估设置，再判断后续方向。</a:t>
            </a:r>
          </a:p>
        </p:txBody>
      </p:sp>
    </p:spTree>
    <p:extLst>
      <p:ext uri="{BB962C8B-B14F-4D97-AF65-F5344CB8AC3E}">
        <p14:creationId xmlns:p14="http://schemas.microsoft.com/office/powerpoint/2010/main" val="1267846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BFAE74F2-A780-4F87-9035-513272E43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23FDCF0-6AF7-440C-A8C7-359738BAC072}"/>
              </a:ext>
            </a:extLst>
          </p:cNvPr>
          <p:cNvSpPr>
            <a:spLocks noGrp="1"/>
          </p:cNvSpPr>
          <p:nvPr/>
        </p:nvSpPr>
        <p:spPr>
          <a:xfrm>
            <a:off x="3162300" y="0"/>
            <a:ext cx="2257425" cy="790575"/>
          </a:xfrm>
          <a:prstGeom prst="rect">
            <a:avLst/>
          </a:prstGeom>
          <a:solidFill>
            <a:srgbClr val="0F6EB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A539C9-F91E-447C-9404-01D2FE6362A0}"/>
              </a:ext>
            </a:extLst>
          </p:cNvPr>
          <p:cNvSpPr>
            <a:spLocks noGrp="1"/>
          </p:cNvSpPr>
          <p:nvPr/>
        </p:nvSpPr>
        <p:spPr>
          <a:xfrm>
            <a:off x="333375" y="1333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论文阅读汇报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0943BC-CB67-417B-9AE0-2CDFCE5EEEB6}"/>
              </a:ext>
            </a:extLst>
          </p:cNvPr>
          <p:cNvSpPr>
            <a:spLocks noGrp="1"/>
          </p:cNvSpPr>
          <p:nvPr/>
        </p:nvSpPr>
        <p:spPr>
          <a:xfrm>
            <a:off x="316230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TxGNN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CD2CFCC-3476-4B6D-92E2-29B1E2461789}"/>
              </a:ext>
            </a:extLst>
          </p:cNvPr>
          <p:cNvSpPr>
            <a:spLocks noGrp="1"/>
          </p:cNvSpPr>
          <p:nvPr/>
        </p:nvSpPr>
        <p:spPr>
          <a:xfrm>
            <a:off x="541972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GCGB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904280-D35A-451F-8314-61A1FC79530F}"/>
              </a:ext>
            </a:extLst>
          </p:cNvPr>
          <p:cNvSpPr>
            <a:spLocks noGrp="1"/>
          </p:cNvSpPr>
          <p:nvPr/>
        </p:nvSpPr>
        <p:spPr>
          <a:xfrm>
            <a:off x="767715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两篇比较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997E88-A8D0-4FA0-BCA9-18416A1BB14B}"/>
              </a:ext>
            </a:extLst>
          </p:cNvPr>
          <p:cNvSpPr>
            <a:spLocks noGrp="1"/>
          </p:cNvSpPr>
          <p:nvPr/>
        </p:nvSpPr>
        <p:spPr>
          <a:xfrm>
            <a:off x="993457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阅读小结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D3EEC2-7CE7-4DEF-964D-8AE762D6FA01}"/>
              </a:ext>
            </a:extLst>
          </p:cNvPr>
          <p:cNvSpPr>
            <a:spLocks noGrp="1"/>
          </p:cNvSpPr>
          <p:nvPr/>
        </p:nvSpPr>
        <p:spPr>
          <a:xfrm>
            <a:off x="333375" y="1057275"/>
            <a:ext cx="2333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TxGNN 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76DC7B-8B37-4BC3-AC29-3302A42F5273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没有已知治疗药物，如何预测候选药物？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2896D1-7B74-438D-A76E-292AF3B10689}"/>
              </a:ext>
            </a:extLst>
          </p:cNvPr>
          <p:cNvSpPr>
            <a:spLocks noGrp="1"/>
          </p:cNvSpPr>
          <p:nvPr/>
        </p:nvSpPr>
        <p:spPr>
          <a:xfrm>
            <a:off x="10668000" y="658177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663718-42AB-42FF-B0D2-0948850A9696}"/>
              </a:ext>
            </a:extLst>
          </p:cNvPr>
          <p:cNvSpPr>
            <a:spLocks noGrp="1"/>
          </p:cNvSpPr>
          <p:nvPr/>
        </p:nvSpPr>
        <p:spPr>
          <a:xfrm>
            <a:off x="609600" y="2524125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498DB0-F6A2-401D-86A2-7E521FE37939}"/>
              </a:ext>
            </a:extLst>
          </p:cNvPr>
          <p:cNvSpPr>
            <a:spLocks noGrp="1"/>
          </p:cNvSpPr>
          <p:nvPr/>
        </p:nvSpPr>
        <p:spPr>
          <a:xfrm>
            <a:off x="1485900" y="252412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常规划分中，测试疾病已经有其他药物关系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7C1085-BA8D-4C38-AEF9-E1D548C5F87F}"/>
              </a:ext>
            </a:extLst>
          </p:cNvPr>
          <p:cNvSpPr>
            <a:spLocks noGrp="1"/>
          </p:cNvSpPr>
          <p:nvPr/>
        </p:nvSpPr>
        <p:spPr>
          <a:xfrm>
            <a:off x="1485900" y="3048000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模型已见过目标疾病的部分药物关系，</a:t>
            </a:r>
          </a:p>
          <a:p>
            <a:pPr algn="l">
              <a:buNone/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再利用这些关系预测其余候选药物。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660726D-26D4-47FD-B399-8027FB7BD477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858BB69-FD20-43D8-957A-966BD3CF70B3}"/>
              </a:ext>
            </a:extLst>
          </p:cNvPr>
          <p:cNvSpPr>
            <a:spLocks noGrp="1"/>
          </p:cNvSpPr>
          <p:nvPr/>
        </p:nvSpPr>
        <p:spPr>
          <a:xfrm>
            <a:off x="1485900" y="378142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TxGNN 留出目标疾病的全部治疗标签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D17E3D-1177-4DD3-AA24-113A54CA5D4C}"/>
              </a:ext>
            </a:extLst>
          </p:cNvPr>
          <p:cNvSpPr>
            <a:spLocks noGrp="1"/>
          </p:cNvSpPr>
          <p:nvPr/>
        </p:nvSpPr>
        <p:spPr>
          <a:xfrm>
            <a:off x="1485900" y="4305300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训练中看不到目标疾病的治疗标签，</a:t>
            </a:r>
          </a:p>
          <a:p>
            <a:pPr algn="l">
              <a:buNone/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评估时仍要为它排序候选药物，检验对这些疾病的泛化能力。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91FCD5-63D4-4A7E-BEF7-02761B85C84E}"/>
              </a:ext>
            </a:extLst>
          </p:cNvPr>
          <p:cNvSpPr>
            <a:spLocks noGrp="1"/>
          </p:cNvSpPr>
          <p:nvPr/>
        </p:nvSpPr>
        <p:spPr>
          <a:xfrm>
            <a:off x="609600" y="5038725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629D83-982C-4B0A-8D3B-F2987B3104BD}"/>
              </a:ext>
            </a:extLst>
          </p:cNvPr>
          <p:cNvSpPr>
            <a:spLocks noGrp="1"/>
          </p:cNvSpPr>
          <p:nvPr/>
        </p:nvSpPr>
        <p:spPr>
          <a:xfrm>
            <a:off x="1485900" y="503872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没有治疗标签，仍然可以利用医学知识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47810F-F7A3-49D9-A5F3-ABCD3420BCA5}"/>
              </a:ext>
            </a:extLst>
          </p:cNvPr>
          <p:cNvSpPr>
            <a:spLocks noGrp="1"/>
          </p:cNvSpPr>
          <p:nvPr/>
        </p:nvSpPr>
        <p:spPr>
          <a:xfrm>
            <a:off x="1485900" y="5562600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仍可利用基因、蛋白和表型等图谱关系。</a:t>
            </a:r>
          </a:p>
          <a:p>
            <a:pPr algn="l">
              <a:buNone/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缺少治疗标签，并不等于缺少全部医学知识。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8E0CBE6-A2ED-5487-4AEC-5C0C7BA0D9F0}"/>
              </a:ext>
            </a:extLst>
          </p:cNvPr>
          <p:cNvSpPr>
            <a:spLocks noGrp="1"/>
          </p:cNvSpPr>
          <p:nvPr/>
        </p:nvSpPr>
        <p:spPr>
          <a:xfrm>
            <a:off x="6255027" y="961072"/>
            <a:ext cx="61490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/>
              <a:t>TxGNN</a:t>
            </a:r>
            <a:br/>
            <a:r>
              <a:rPr i="1"/>
              <a:t>A foundation model for clinician-centered drug repurposing</a:t>
            </a:r>
            <a:br/>
            <a:r>
              <a:t>中文：</a:t>
            </a:r>
            <a:r>
              <a:rPr b="1"/>
              <a:t>面向临床医生的药物重定位基础模型</a:t>
            </a:r>
            <a:br/>
            <a:r>
              <a:t>发表于 </a:t>
            </a:r>
            <a:r>
              <a:rPr i="1"/>
              <a:t>Nature Medicine</a:t>
            </a:r>
            <a:r>
              <a:t>，2024 年。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73DEA40-6CE5-0924-5548-DDA09DA55B9A}"/>
              </a:ext>
            </a:extLst>
          </p:cNvPr>
          <p:cNvSpPr>
            <a:spLocks noGrp="1"/>
          </p:cNvSpPr>
          <p:nvPr/>
        </p:nvSpPr>
        <p:spPr>
          <a:xfrm>
            <a:off x="7513983" y="3390900"/>
            <a:ext cx="33925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也就是，主要路径信息不足，</a:t>
            </a:r>
            <a:r>
              <a: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仍可利用基因、蛋白和表型等图谱关系去学习推理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0079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41A22F2B-0BB4-49F4-8071-FDE0D7B21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-414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5B35107-BDEE-4C77-A51F-A9C420AA8BA9}"/>
              </a:ext>
            </a:extLst>
          </p:cNvPr>
          <p:cNvSpPr>
            <a:spLocks noGrp="1"/>
          </p:cNvSpPr>
          <p:nvPr/>
        </p:nvSpPr>
        <p:spPr>
          <a:xfrm>
            <a:off x="3162300" y="0"/>
            <a:ext cx="2257425" cy="790575"/>
          </a:xfrm>
          <a:prstGeom prst="rect">
            <a:avLst/>
          </a:prstGeom>
          <a:solidFill>
            <a:srgbClr val="0F6EB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9CABEC-648B-41A0-BAE7-8C5F67E96CA7}"/>
              </a:ext>
            </a:extLst>
          </p:cNvPr>
          <p:cNvSpPr>
            <a:spLocks noGrp="1"/>
          </p:cNvSpPr>
          <p:nvPr/>
        </p:nvSpPr>
        <p:spPr>
          <a:xfrm>
            <a:off x="333375" y="1333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论文阅读汇报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9AA1EE-7203-4078-8A40-3DC1261AEAE9}"/>
              </a:ext>
            </a:extLst>
          </p:cNvPr>
          <p:cNvSpPr>
            <a:spLocks noGrp="1"/>
          </p:cNvSpPr>
          <p:nvPr/>
        </p:nvSpPr>
        <p:spPr>
          <a:xfrm>
            <a:off x="316230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TxGNN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2E7926-BD68-4CA5-B968-058A72AF598A}"/>
              </a:ext>
            </a:extLst>
          </p:cNvPr>
          <p:cNvSpPr>
            <a:spLocks noGrp="1"/>
          </p:cNvSpPr>
          <p:nvPr/>
        </p:nvSpPr>
        <p:spPr>
          <a:xfrm>
            <a:off x="541972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GCGB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9A4C9F-C43A-496F-9616-04F3413A1DF3}"/>
              </a:ext>
            </a:extLst>
          </p:cNvPr>
          <p:cNvSpPr>
            <a:spLocks noGrp="1"/>
          </p:cNvSpPr>
          <p:nvPr/>
        </p:nvSpPr>
        <p:spPr>
          <a:xfrm>
            <a:off x="767715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两篇比较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31C25B-D994-4793-A440-D9EBFBBC1546}"/>
              </a:ext>
            </a:extLst>
          </p:cNvPr>
          <p:cNvSpPr>
            <a:spLocks noGrp="1"/>
          </p:cNvSpPr>
          <p:nvPr/>
        </p:nvSpPr>
        <p:spPr>
          <a:xfrm>
            <a:off x="993457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阅读小结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EC4946-E106-4D1B-9884-8536715A4068}"/>
              </a:ext>
            </a:extLst>
          </p:cNvPr>
          <p:cNvSpPr>
            <a:spLocks noGrp="1"/>
          </p:cNvSpPr>
          <p:nvPr/>
        </p:nvSpPr>
        <p:spPr>
          <a:xfrm>
            <a:off x="333375" y="1057275"/>
            <a:ext cx="2333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TxGNN 模型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1E41EB-00F7-4D42-BC56-E5BEBC30F7A4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图谱编码后，增强疾病表示再进行预测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08E949-8EF2-4E57-A79B-7B1BFBCE1343}"/>
              </a:ext>
            </a:extLst>
          </p:cNvPr>
          <p:cNvSpPr>
            <a:spLocks noGrp="1"/>
          </p:cNvSpPr>
          <p:nvPr/>
        </p:nvSpPr>
        <p:spPr>
          <a:xfrm>
            <a:off x="10668000" y="658177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D360A05-1CFE-42AE-B49E-731B4221A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9600" y="2771260"/>
            <a:ext cx="7000875" cy="264898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AF79C99-76A6-47D4-8EDB-6774EACFAE61}"/>
              </a:ext>
            </a:extLst>
          </p:cNvPr>
          <p:cNvSpPr>
            <a:spLocks noGrp="1"/>
          </p:cNvSpPr>
          <p:nvPr/>
        </p:nvSpPr>
        <p:spPr>
          <a:xfrm>
            <a:off x="7953375" y="247650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先学习药物与疾病表示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F94ACDC-04E1-4CB1-ACC0-47583BA7B982}"/>
              </a:ext>
            </a:extLst>
          </p:cNvPr>
          <p:cNvSpPr>
            <a:spLocks noGrp="1"/>
          </p:cNvSpPr>
          <p:nvPr/>
        </p:nvSpPr>
        <p:spPr>
          <a:xfrm>
            <a:off x="7953375" y="2886075"/>
            <a:ext cx="3619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沿不同医学关系传递信息，</a:t>
            </a:r>
          </a:p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将药物、疾病等概念</a:t>
            </a:r>
          </a:p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编码成可用于预测的向量。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BF8F5C-008E-4447-BCD7-4EC90AB37174}"/>
              </a:ext>
            </a:extLst>
          </p:cNvPr>
          <p:cNvSpPr>
            <a:spLocks noGrp="1"/>
          </p:cNvSpPr>
          <p:nvPr/>
        </p:nvSpPr>
        <p:spPr>
          <a:xfrm>
            <a:off x="7953375" y="379095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再补充目标疾病的信息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5E19CE-0414-46AD-9D2F-5CC9D8B24958}"/>
              </a:ext>
            </a:extLst>
          </p:cNvPr>
          <p:cNvSpPr>
            <a:spLocks noGrp="1"/>
          </p:cNvSpPr>
          <p:nvPr/>
        </p:nvSpPr>
        <p:spPr>
          <a:xfrm>
            <a:off x="7953375" y="4181475"/>
            <a:ext cx="36195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目标疾病的信息不足时，</a:t>
            </a:r>
          </a:p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借用相似疾病的表示，</a:t>
            </a:r>
          </a:p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补充自身知识。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8DF2E8-7D4A-40C6-8DDB-9FED7F28E539}"/>
              </a:ext>
            </a:extLst>
          </p:cNvPr>
          <p:cNvSpPr>
            <a:spLocks noGrp="1"/>
          </p:cNvSpPr>
          <p:nvPr/>
        </p:nvSpPr>
        <p:spPr>
          <a:xfrm>
            <a:off x="7953375" y="510540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最后分别预测两类关系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9BFCD8-E736-4B42-BCEF-991655EC545F}"/>
              </a:ext>
            </a:extLst>
          </p:cNvPr>
          <p:cNvSpPr>
            <a:spLocks noGrp="1"/>
          </p:cNvSpPr>
          <p:nvPr/>
        </p:nvSpPr>
        <p:spPr>
          <a:xfrm>
            <a:off x="7953375" y="5524500"/>
            <a:ext cx="36195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药物与增强后的疾病表示</a:t>
            </a:r>
            <a:endParaRPr sz="1875" b="0">
              <a:solidFill>
                <a:srgbClr val="0A2C4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共同进入 DistMult 计算关系得分。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0B6275-5FA9-D968-EE2A-A2E947D9611B}"/>
              </a:ext>
            </a:extLst>
          </p:cNvPr>
          <p:cNvSpPr>
            <a:spLocks noGrp="1"/>
          </p:cNvSpPr>
          <p:nvPr/>
        </p:nvSpPr>
        <p:spPr>
          <a:xfrm>
            <a:off x="7953375" y="6134100"/>
            <a:ext cx="3619500" cy="23812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3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5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5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5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5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5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5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5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5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5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buNone/>
              <a:defRPr sz="13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适应证：用于治疗；禁忌证：不宜使用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57C232F-758F-C02A-7EC2-FE84F2B8EBCB}"/>
              </a:ext>
            </a:extLst>
          </p:cNvPr>
          <p:cNvSpPr>
            <a:spLocks noGrp="1"/>
          </p:cNvSpPr>
          <p:nvPr/>
        </p:nvSpPr>
        <p:spPr>
          <a:xfrm>
            <a:off x="1500187" y="2771260"/>
            <a:ext cx="22462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预学习药物疾病关系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3298B6-173E-8B49-FDF4-03EFDB910C8B}"/>
              </a:ext>
            </a:extLst>
          </p:cNvPr>
          <p:cNvSpPr>
            <a:spLocks noGrp="1"/>
          </p:cNvSpPr>
          <p:nvPr/>
        </p:nvSpPr>
        <p:spPr>
          <a:xfrm>
            <a:off x="4406348" y="2476500"/>
            <a:ext cx="155050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疾病信息不足，借助相似疾病表示，补充信息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CC1FF4A-1D1D-A5B1-6633-03AF296CCA8E}"/>
              </a:ext>
            </a:extLst>
          </p:cNvPr>
          <p:cNvSpPr>
            <a:spLocks noGrp="1"/>
          </p:cNvSpPr>
          <p:nvPr/>
        </p:nvSpPr>
        <p:spPr>
          <a:xfrm>
            <a:off x="6778487" y="4234070"/>
            <a:ext cx="10071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预测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F6351AD-B82A-B45A-33BA-0ADD0D82CC50}"/>
              </a:ext>
            </a:extLst>
          </p:cNvPr>
          <p:cNvSpPr>
            <a:spLocks noGrp="1"/>
          </p:cNvSpPr>
          <p:nvPr/>
        </p:nvSpPr>
        <p:spPr>
          <a:xfrm>
            <a:off x="2955235" y="5486400"/>
            <a:ext cx="43790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chemeClr val="tx2">
                    <a:lumMod val="25000"/>
                    <a:lumOff val="75000"/>
                  </a:schemeClr>
                </a:solidFill>
              </a:rPr>
              <a:t>切入点：相似疾病的信息具体怎样借用？</a:t>
            </a:r>
          </a:p>
        </p:txBody>
      </p:sp>
    </p:spTree>
    <p:extLst>
      <p:ext uri="{BB962C8B-B14F-4D97-AF65-F5344CB8AC3E}">
        <p14:creationId xmlns:p14="http://schemas.microsoft.com/office/powerpoint/2010/main" val="561656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298CD90B-61E3-4049-A602-0D3F9B00A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8893F1A-65F7-46C6-9936-9CFB23B072AF}"/>
              </a:ext>
            </a:extLst>
          </p:cNvPr>
          <p:cNvSpPr>
            <a:spLocks noGrp="1"/>
          </p:cNvSpPr>
          <p:nvPr/>
        </p:nvSpPr>
        <p:spPr>
          <a:xfrm>
            <a:off x="3162300" y="0"/>
            <a:ext cx="2257425" cy="790575"/>
          </a:xfrm>
          <a:prstGeom prst="rect">
            <a:avLst/>
          </a:prstGeom>
          <a:solidFill>
            <a:srgbClr val="0F6EB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240045-CF39-466B-9ADF-92B3710D957D}"/>
              </a:ext>
            </a:extLst>
          </p:cNvPr>
          <p:cNvSpPr>
            <a:spLocks noGrp="1"/>
          </p:cNvSpPr>
          <p:nvPr/>
        </p:nvSpPr>
        <p:spPr>
          <a:xfrm>
            <a:off x="333375" y="1333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论文阅读汇报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E2E8C5-D433-42FC-82B7-F84F7D817675}"/>
              </a:ext>
            </a:extLst>
          </p:cNvPr>
          <p:cNvSpPr>
            <a:spLocks noGrp="1"/>
          </p:cNvSpPr>
          <p:nvPr/>
        </p:nvSpPr>
        <p:spPr>
          <a:xfrm>
            <a:off x="316230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TxGNN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0CEA5B-D638-432E-840C-17BF51442567}"/>
              </a:ext>
            </a:extLst>
          </p:cNvPr>
          <p:cNvSpPr>
            <a:spLocks noGrp="1"/>
          </p:cNvSpPr>
          <p:nvPr/>
        </p:nvSpPr>
        <p:spPr>
          <a:xfrm>
            <a:off x="541972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GCGB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9C3697B-6087-410B-907D-C990AED67486}"/>
              </a:ext>
            </a:extLst>
          </p:cNvPr>
          <p:cNvSpPr>
            <a:spLocks noGrp="1"/>
          </p:cNvSpPr>
          <p:nvPr/>
        </p:nvSpPr>
        <p:spPr>
          <a:xfrm>
            <a:off x="767715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两篇比较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0BEF6F-A9C4-43BD-A2B9-A8A7781B5D8C}"/>
              </a:ext>
            </a:extLst>
          </p:cNvPr>
          <p:cNvSpPr>
            <a:spLocks noGrp="1"/>
          </p:cNvSpPr>
          <p:nvPr/>
        </p:nvSpPr>
        <p:spPr>
          <a:xfrm>
            <a:off x="993457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阅读小结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D4A573-7ADA-4711-9687-12FBA8689158}"/>
              </a:ext>
            </a:extLst>
          </p:cNvPr>
          <p:cNvSpPr>
            <a:spLocks noGrp="1"/>
          </p:cNvSpPr>
          <p:nvPr/>
        </p:nvSpPr>
        <p:spPr>
          <a:xfrm>
            <a:off x="333375" y="1057275"/>
            <a:ext cx="2333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TxGNN 核心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A41673F-FA2F-4587-8FE0-80FF48225721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Disease pooling 具体怎样借用知识？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F55174-7EE0-43EE-8163-E66BC79A2496}"/>
              </a:ext>
            </a:extLst>
          </p:cNvPr>
          <p:cNvSpPr>
            <a:spLocks noGrp="1"/>
          </p:cNvSpPr>
          <p:nvPr/>
        </p:nvSpPr>
        <p:spPr>
          <a:xfrm>
            <a:off x="10668000" y="658177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6865AC-8FDC-4E60-8A14-685FF7C3E381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37CB47-828F-4B88-8941-601178B6530C}"/>
              </a:ext>
            </a:extLst>
          </p:cNvPr>
          <p:cNvSpPr>
            <a:spLocks noGrp="1"/>
          </p:cNvSpPr>
          <p:nvPr/>
        </p:nvSpPr>
        <p:spPr>
          <a:xfrm>
            <a:off x="1485900" y="2438400"/>
            <a:ext cx="6334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第一步：用生物学邻域寻找</a:t>
            </a:r>
            <a:r>
              <a:rPr sz="2025" b="1">
                <a:solidFill>
                  <a:srgbClr val="1A3A7A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相似</a:t>
            </a:r>
            <a:r>
              <a: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疾病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78F4A3-3146-48B3-9F67-9616CADC7762}"/>
              </a:ext>
            </a:extLst>
          </p:cNvPr>
          <p:cNvSpPr>
            <a:spLocks noGrp="1"/>
          </p:cNvSpPr>
          <p:nvPr/>
        </p:nvSpPr>
        <p:spPr>
          <a:xfrm>
            <a:off x="1485900" y="2876550"/>
            <a:ext cx="6334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根据基因／蛋白、表型等邻域形成疾病签名，</a:t>
            </a:r>
          </a:p>
          <a:p>
            <a: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用它寻找生物学特征相近的疾病。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8CB873-8A4A-4454-903F-D1A01CA6D648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F18B81-34AB-4CEC-89CF-741291387A0F}"/>
              </a:ext>
            </a:extLst>
          </p:cNvPr>
          <p:cNvSpPr>
            <a:spLocks noGrp="1"/>
          </p:cNvSpPr>
          <p:nvPr/>
        </p:nvSpPr>
        <p:spPr>
          <a:xfrm>
            <a:off x="1485900" y="3543300"/>
            <a:ext cx="6334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第二步：按</a:t>
            </a:r>
            <a:r>
              <a:rPr sz="2025" b="1">
                <a:solidFill>
                  <a:srgbClr val="1A3A7A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相似度</a:t>
            </a:r>
            <a:r>
              <a: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聚合其他疾病的表示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68C8BF-6051-4BC0-BBA0-7E4AA29FC048}"/>
              </a:ext>
            </a:extLst>
          </p:cNvPr>
          <p:cNvSpPr>
            <a:spLocks noGrp="1"/>
          </p:cNvSpPr>
          <p:nvPr/>
        </p:nvSpPr>
        <p:spPr>
          <a:xfrm>
            <a:off x="1485900" y="3981450"/>
            <a:ext cx="6334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相似度越高，贡献越大。</a:t>
            </a:r>
          </a:p>
          <a:p>
            <a: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加权汇总这些疾病的表示，得到补充表示 h_sim。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7C73AA-9B44-40A7-ADFD-DDFA568601FA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D0993B-F01D-4FAE-A4D2-128A8FD6DB93}"/>
              </a:ext>
            </a:extLst>
          </p:cNvPr>
          <p:cNvSpPr>
            <a:spLocks noGrp="1"/>
          </p:cNvSpPr>
          <p:nvPr/>
        </p:nvSpPr>
        <p:spPr>
          <a:xfrm>
            <a:off x="1485900" y="4648200"/>
            <a:ext cx="6334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第三步：用连接度控制借用比例 c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BF6000-8760-4A82-8B47-46CE29CF50A2}"/>
              </a:ext>
            </a:extLst>
          </p:cNvPr>
          <p:cNvSpPr>
            <a:spLocks noGrp="1"/>
          </p:cNvSpPr>
          <p:nvPr/>
        </p:nvSpPr>
        <p:spPr>
          <a:xfrm>
            <a:off x="1485900" y="5086350"/>
            <a:ext cx="633412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c 控制补充表示的占比，1 − c 保留自身信息。</a:t>
            </a:r>
          </a:p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原方法让连接较少的疾病更多依赖补充知识。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E0364FF-0754-4D71-8FBE-D92EFA15BFE9}"/>
              </a:ext>
            </a:extLst>
          </p:cNvPr>
          <p:cNvSpPr>
            <a:spLocks noGrp="1"/>
          </p:cNvSpPr>
          <p:nvPr/>
        </p:nvSpPr>
        <p:spPr>
          <a:xfrm>
            <a:off x="609600" y="56578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1">
                <a:solidFill>
                  <a:srgbClr val="1A3A7A"/>
                </a:solidFill>
                <a:latin typeface="Cambria Math"/>
                <a:ea typeface="Cambria Math"/>
                <a:cs typeface="Cambria Math"/>
              </a:defRPr>
            </a:defPPr>
            <a:lvl1pPr algn="ctr">
              <a:buNone/>
              <a:defRPr sz="2325" b="1">
                <a:solidFill>
                  <a:srgbClr val="1A3A7A"/>
                </a:solidFill>
                <a:latin typeface="Cambria Math"/>
                <a:ea typeface="Cambria Math"/>
                <a:cs typeface="Cambria Math"/>
              </a:defRPr>
            </a:lvl1pPr>
            <a:lvl2pPr algn="ctr">
              <a:buNone/>
              <a:defRPr sz="2325" b="1">
                <a:solidFill>
                  <a:srgbClr val="1A3A7A"/>
                </a:solidFill>
                <a:latin typeface="Cambria Math"/>
                <a:ea typeface="Cambria Math"/>
                <a:cs typeface="Cambria Math"/>
              </a:defRPr>
            </a:lvl2pPr>
            <a:lvl3pPr algn="ctr">
              <a:buNone/>
              <a:defRPr sz="2325" b="1">
                <a:solidFill>
                  <a:srgbClr val="1A3A7A"/>
                </a:solidFill>
                <a:latin typeface="Cambria Math"/>
                <a:ea typeface="Cambria Math"/>
                <a:cs typeface="Cambria Math"/>
              </a:defRPr>
            </a:lvl3pPr>
            <a:lvl4pPr algn="ctr">
              <a:buNone/>
              <a:defRPr sz="2325" b="1">
                <a:solidFill>
                  <a:srgbClr val="1A3A7A"/>
                </a:solidFill>
                <a:latin typeface="Cambria Math"/>
                <a:ea typeface="Cambria Math"/>
                <a:cs typeface="Cambria Math"/>
              </a:defRPr>
            </a:lvl4pPr>
            <a:lvl5pPr algn="ctr">
              <a:buNone/>
              <a:defRPr sz="2325" b="1">
                <a:solidFill>
                  <a:srgbClr val="1A3A7A"/>
                </a:solidFill>
                <a:latin typeface="Cambria Math"/>
                <a:ea typeface="Cambria Math"/>
                <a:cs typeface="Cambria Math"/>
              </a:defRPr>
            </a:lvl5pPr>
            <a:lvl6pPr algn="ctr">
              <a:buNone/>
              <a:defRPr sz="2325" b="1">
                <a:solidFill>
                  <a:srgbClr val="1A3A7A"/>
                </a:solidFill>
                <a:latin typeface="Cambria Math"/>
                <a:ea typeface="Cambria Math"/>
                <a:cs typeface="Cambria Math"/>
              </a:defRPr>
            </a:lvl6pPr>
            <a:lvl7pPr algn="ctr">
              <a:buNone/>
              <a:defRPr sz="2325" b="1">
                <a:solidFill>
                  <a:srgbClr val="1A3A7A"/>
                </a:solidFill>
                <a:latin typeface="Cambria Math"/>
                <a:ea typeface="Cambria Math"/>
                <a:cs typeface="Cambria Math"/>
              </a:defRPr>
            </a:lvl7pPr>
            <a:lvl8pPr algn="ctr">
              <a:buNone/>
              <a:defRPr sz="2325" b="1">
                <a:solidFill>
                  <a:srgbClr val="1A3A7A"/>
                </a:solidFill>
                <a:latin typeface="Cambria Math"/>
                <a:ea typeface="Cambria Math"/>
                <a:cs typeface="Cambria Math"/>
              </a:defRPr>
            </a:lvl8pPr>
            <a:lvl9pPr algn="ctr">
              <a:buNone/>
              <a:defRPr sz="2325" b="1">
                <a:solidFill>
                  <a:srgbClr val="1A3A7A"/>
                </a:solidFill>
                <a:latin typeface="Cambria Math"/>
                <a:ea typeface="Cambria Math"/>
                <a:cs typeface="Cambria Math"/>
              </a:defRPr>
            </a:lvl9pPr>
          </a:lstStyle>
          <a:p>
            <a:pPr algn="ctr">
              <a:buNone/>
              <a:defRPr sz="2325" b="1">
                <a:solidFill>
                  <a:srgbClr val="1A3A7A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1">
                <a:solidFill>
                  <a:srgbClr val="1A3A7A"/>
                </a:solidFill>
                <a:latin typeface="Cambria Math"/>
                <a:ea typeface="Cambria Math"/>
                <a:cs typeface="Cambria Math"/>
              </a:rPr>
              <a:t>h_aug = (1 − c) h_self + c h_sim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420B218-F592-36B9-4FBD-BBE00A46E45E}"/>
              </a:ext>
            </a:extLst>
          </p:cNvPr>
          <p:cNvSpPr>
            <a:spLocks noGrp="1"/>
          </p:cNvSpPr>
          <p:nvPr/>
        </p:nvSpPr>
        <p:spPr>
          <a:xfrm>
            <a:off x="8191500" y="2762250"/>
            <a:ext cx="3286125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1.这个</a:t>
            </a:r>
            <a:r>
              <a:rPr sz="1800" b="0">
                <a:solidFill>
                  <a:srgbClr val="0A2C4A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相似度</a:t>
            </a:r>
            <a:r>
              <a: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感觉可以上语义门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ED03A50-55CE-43E9-C282-169610E4AED2}"/>
              </a:ext>
            </a:extLst>
          </p:cNvPr>
          <p:cNvSpPr>
            <a:spLocks noGrp="1"/>
          </p:cNvSpPr>
          <p:nvPr/>
        </p:nvSpPr>
        <p:spPr>
          <a:xfrm>
            <a:off x="8191500" y="4095750"/>
            <a:ext cx="3286125" cy="914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2.但同一个疾病面对不同药物时，是否都需要同样的补充知识？</a:t>
            </a:r>
          </a:p>
        </p:txBody>
      </p:sp>
      <p:sp>
        <p:nvSpPr>
          <p:cNvPr id="26" name="正文补充说明">
            <a:extLst>
              <a:ext uri="{FF2B5EF4-FFF2-40B4-BE49-F238E27FC236}">
                <a16:creationId xmlns:a16="http://schemas.microsoft.com/office/drawing/2014/main" id="{7F3E08A8-8FEC-453E-AE29-43637202051B}"/>
              </a:ext>
            </a:extLst>
          </p:cNvPr>
          <p:cNvSpPr>
            <a:spLocks noGrp="1"/>
          </p:cNvSpPr>
          <p:nvPr/>
        </p:nvSpPr>
        <p:spPr>
          <a:xfrm>
            <a:off x="1485900" y="6010275"/>
            <a:ext cx="9906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7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7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7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7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7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7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7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7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7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7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buNone/>
              <a:defRPr sz="17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相似度决定向谁借，连接度调节借多少。</a:t>
            </a:r>
          </a:p>
        </p:txBody>
      </p:sp>
    </p:spTree>
    <p:extLst>
      <p:ext uri="{BB962C8B-B14F-4D97-AF65-F5344CB8AC3E}">
        <p14:creationId xmlns:p14="http://schemas.microsoft.com/office/powerpoint/2010/main" val="997651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C39AC1A7-4D35-4F36-90B8-89EC269AC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3D3743F-1C31-4C02-AF83-52861E20A170}"/>
              </a:ext>
            </a:extLst>
          </p:cNvPr>
          <p:cNvSpPr>
            <a:spLocks noGrp="1"/>
          </p:cNvSpPr>
          <p:nvPr/>
        </p:nvSpPr>
        <p:spPr>
          <a:xfrm>
            <a:off x="3162300" y="0"/>
            <a:ext cx="2257425" cy="790575"/>
          </a:xfrm>
          <a:prstGeom prst="rect">
            <a:avLst/>
          </a:prstGeom>
          <a:solidFill>
            <a:srgbClr val="0F6EB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6EABC7A-F4B0-4B8E-9299-59B33BA7439D}"/>
              </a:ext>
            </a:extLst>
          </p:cNvPr>
          <p:cNvSpPr>
            <a:spLocks noGrp="1"/>
          </p:cNvSpPr>
          <p:nvPr/>
        </p:nvSpPr>
        <p:spPr>
          <a:xfrm>
            <a:off x="333375" y="1333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论文阅读汇报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24B547-93BA-45A8-B6E2-A5F3EB240B3D}"/>
              </a:ext>
            </a:extLst>
          </p:cNvPr>
          <p:cNvSpPr>
            <a:spLocks noGrp="1"/>
          </p:cNvSpPr>
          <p:nvPr/>
        </p:nvSpPr>
        <p:spPr>
          <a:xfrm>
            <a:off x="316230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TxGNN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1808B7-1392-4491-A7CD-3D7A84EBA78D}"/>
              </a:ext>
            </a:extLst>
          </p:cNvPr>
          <p:cNvSpPr>
            <a:spLocks noGrp="1"/>
          </p:cNvSpPr>
          <p:nvPr/>
        </p:nvSpPr>
        <p:spPr>
          <a:xfrm>
            <a:off x="541972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GCGB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E323F3-5FFB-476C-857D-E21E4FDE8F6F}"/>
              </a:ext>
            </a:extLst>
          </p:cNvPr>
          <p:cNvSpPr>
            <a:spLocks noGrp="1"/>
          </p:cNvSpPr>
          <p:nvPr/>
        </p:nvSpPr>
        <p:spPr>
          <a:xfrm>
            <a:off x="767715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两篇比较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0A25B2-0DE7-4ED9-B1F1-8F7E9B906EAD}"/>
              </a:ext>
            </a:extLst>
          </p:cNvPr>
          <p:cNvSpPr>
            <a:spLocks noGrp="1"/>
          </p:cNvSpPr>
          <p:nvPr/>
        </p:nvSpPr>
        <p:spPr>
          <a:xfrm>
            <a:off x="993457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阅读小结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539A69-69C2-4488-B6A3-7517A4797FBE}"/>
              </a:ext>
            </a:extLst>
          </p:cNvPr>
          <p:cNvSpPr>
            <a:spLocks noGrp="1"/>
          </p:cNvSpPr>
          <p:nvPr/>
        </p:nvSpPr>
        <p:spPr>
          <a:xfrm>
            <a:off x="333375" y="1057275"/>
            <a:ext cx="2333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TxGNN 证据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31C164-6196-4482-8D35-802FEF1FE061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先预训练医学知识，再检验无治疗标签时的迁移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6263A9-6915-4226-97E7-8DD910D1F42D}"/>
              </a:ext>
            </a:extLst>
          </p:cNvPr>
          <p:cNvSpPr>
            <a:spLocks noGrp="1"/>
          </p:cNvSpPr>
          <p:nvPr/>
        </p:nvSpPr>
        <p:spPr>
          <a:xfrm>
            <a:off x="10668000" y="658177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8F4ED912-253B-4AF4-84E4-D8FEFA5FF2B3}"/>
              </a:ext>
            </a:extLst>
          </p:cNvPr>
          <p:cNvGraphicFramePr/>
          <p:nvPr/>
        </p:nvGraphicFramePr>
        <p:xfrm>
          <a:off x="609600" y="2514600"/>
          <a:ext cx="10972800" cy="2809875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anchor="ctr">
                    <a:lnL w="9525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1A3A7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它在论文中承担什么作用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1A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全关系预训练</a:t>
                      </a:r>
                    </a:p>
                  </a:txBody>
                  <a:tcPr anchor="ctr">
                    <a:lnL w="9525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先从多类关系中学习知识，为后续治疗任务提供初始化。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药物—疾病微调</a:t>
                      </a:r>
                    </a:p>
                  </a:txBody>
                  <a:tcPr anchor="ctr">
                    <a:lnL w="9525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再聚焦适应证与禁忌证预测，此时启用疾病增强。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按疾病留出评估</a:t>
                      </a:r>
                    </a:p>
                  </a:txBody>
                  <a:tcPr anchor="ctr">
                    <a:lnL w="9525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目标疾病没有训练用治疗标签，检验跨疾病知识能否帮助预测。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模型解释</a:t>
                      </a:r>
                    </a:p>
                  </a:txBody>
                  <a:tcPr anchor="ctr">
                    <a:lnL w="9525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提取能保留预测的关键边，展示模型所依赖的多跳路径。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E1F4C977-225C-4CB3-847E-9959C67D207E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疾病留出：训练中无目标治疗标签，评估跨疾病知识能否帮助预测</a:t>
            </a:r>
            <a:r>
              <a:rPr sz="1875" b="1" dirty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9BC6689-8726-CF07-D8BF-24B7C7AA2332}"/>
              </a:ext>
            </a:extLst>
          </p:cNvPr>
          <p:cNvSpPr>
            <a:spLocks noGrp="1"/>
          </p:cNvSpPr>
          <p:nvPr/>
        </p:nvSpPr>
        <p:spPr>
          <a:xfrm>
            <a:off x="5565913" y="676275"/>
            <a:ext cx="61490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训练上，模型先利用知识图谱中的多种关系预训练，再针对适应证和禁忌证关系微调。</a:t>
            </a:r>
          </a:p>
          <a:p>
            <a:r>
              <a:t>评估上，关键设置是疾病留出：训练中没有目标疾病的治疗标签，再看其他疾病的知识能否帮助它预测。</a:t>
            </a:r>
          </a:p>
        </p:txBody>
      </p:sp>
    </p:spTree>
    <p:extLst>
      <p:ext uri="{BB962C8B-B14F-4D97-AF65-F5344CB8AC3E}">
        <p14:creationId xmlns:p14="http://schemas.microsoft.com/office/powerpoint/2010/main" val="2064621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FA28F33D-53D2-4238-9B58-23BE57949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D3D6D13-9266-4AD7-9B94-8C7D72AFE410}"/>
              </a:ext>
            </a:extLst>
          </p:cNvPr>
          <p:cNvSpPr>
            <a:spLocks noGrp="1"/>
          </p:cNvSpPr>
          <p:nvPr/>
        </p:nvSpPr>
        <p:spPr>
          <a:xfrm>
            <a:off x="5419725" y="0"/>
            <a:ext cx="2257425" cy="790575"/>
          </a:xfrm>
          <a:prstGeom prst="rect">
            <a:avLst/>
          </a:prstGeom>
          <a:solidFill>
            <a:srgbClr val="0F6EB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6301B43-9E94-46D3-B2FF-76D6385341C8}"/>
              </a:ext>
            </a:extLst>
          </p:cNvPr>
          <p:cNvSpPr>
            <a:spLocks noGrp="1"/>
          </p:cNvSpPr>
          <p:nvPr/>
        </p:nvSpPr>
        <p:spPr>
          <a:xfrm>
            <a:off x="333375" y="1333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论文阅读汇报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98E606-61D1-42B4-AC96-AADC0E551D95}"/>
              </a:ext>
            </a:extLst>
          </p:cNvPr>
          <p:cNvSpPr>
            <a:spLocks noGrp="1"/>
          </p:cNvSpPr>
          <p:nvPr/>
        </p:nvSpPr>
        <p:spPr>
          <a:xfrm>
            <a:off x="316230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TxGNN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0EFF4F-0D27-4AD0-953D-B872827E281F}"/>
              </a:ext>
            </a:extLst>
          </p:cNvPr>
          <p:cNvSpPr>
            <a:spLocks noGrp="1"/>
          </p:cNvSpPr>
          <p:nvPr/>
        </p:nvSpPr>
        <p:spPr>
          <a:xfrm>
            <a:off x="541972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GCGB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5AAECFB-AB7F-4AB4-BB73-4EA6B146D0E3}"/>
              </a:ext>
            </a:extLst>
          </p:cNvPr>
          <p:cNvSpPr>
            <a:spLocks noGrp="1"/>
          </p:cNvSpPr>
          <p:nvPr/>
        </p:nvSpPr>
        <p:spPr>
          <a:xfrm>
            <a:off x="767715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两篇比较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0B46125-FAC5-447A-A4BE-EA77B839CF13}"/>
              </a:ext>
            </a:extLst>
          </p:cNvPr>
          <p:cNvSpPr>
            <a:spLocks noGrp="1"/>
          </p:cNvSpPr>
          <p:nvPr/>
        </p:nvSpPr>
        <p:spPr>
          <a:xfrm>
            <a:off x="993457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阅读小结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C38C3C-6954-49E4-8D98-7F88A0313568}"/>
              </a:ext>
            </a:extLst>
          </p:cNvPr>
          <p:cNvSpPr>
            <a:spLocks noGrp="1"/>
          </p:cNvSpPr>
          <p:nvPr/>
        </p:nvSpPr>
        <p:spPr>
          <a:xfrm>
            <a:off x="333375" y="1057275"/>
            <a:ext cx="2333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GCGB 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B55055-7138-4B18-A43B-EA5ECC473194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GCGB 用互补视图补监督，用梯度平衡协调训练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4053496-CE7D-46E0-9E6F-62B8541F0A74}"/>
              </a:ext>
            </a:extLst>
          </p:cNvPr>
          <p:cNvSpPr>
            <a:spLocks noGrp="1"/>
          </p:cNvSpPr>
          <p:nvPr/>
        </p:nvSpPr>
        <p:spPr>
          <a:xfrm>
            <a:off x="10668000" y="658177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31F595-34D2-4F1E-8C02-8FB247697657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D57D90-71CE-4874-BC77-8D2AF3863474}"/>
              </a:ext>
            </a:extLst>
          </p:cNvPr>
          <p:cNvSpPr>
            <a:spLocks noGrp="1"/>
          </p:cNvSpPr>
          <p:nvPr/>
        </p:nvSpPr>
        <p:spPr>
          <a:xfrm>
            <a:off x="1485900" y="247650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GCGB 的主任务是药物—疾病</a:t>
            </a:r>
            <a:r>
              <a:rPr sz="2175" b="1">
                <a:solidFill>
                  <a:schemeClr val="tx2">
                    <a:lumMod val="25000"/>
                    <a:lumOff val="75000"/>
                  </a:schemeClr>
                </a:solidFill>
                <a:latin typeface="Microsoft YaHei"/>
                <a:ea typeface="Microsoft YaHei"/>
                <a:cs typeface="Microsoft YaHei"/>
              </a:rPr>
              <a:t>关联预测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61682DF-43B8-41E0-82FD-BCB9F1EFCFF4}"/>
              </a:ext>
            </a:extLst>
          </p:cNvPr>
          <p:cNvSpPr>
            <a:spLocks noGrp="1"/>
          </p:cNvSpPr>
          <p:nvPr/>
        </p:nvSpPr>
        <p:spPr>
          <a:xfrm>
            <a:off x="1485900" y="2905125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输入“药物 A—疾病 D”，输出关联分数，用于筛选潜在药物。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07748D-DDBF-4269-B552-3DA367AFF557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17B299-67D1-4D9D-93FF-2A4CB6F899E1}"/>
              </a:ext>
            </a:extLst>
          </p:cNvPr>
          <p:cNvSpPr>
            <a:spLocks noGrp="1"/>
          </p:cNvSpPr>
          <p:nvPr/>
        </p:nvSpPr>
        <p:spPr>
          <a:xfrm>
            <a:off x="1485900" y="3476625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chemeClr val="tx2">
                    <a:lumMod val="25000"/>
                    <a:lumOff val="75000"/>
                  </a:schemeClr>
                </a:solidFill>
                <a:latin typeface="Microsoft YaHei"/>
                <a:ea typeface="Microsoft YaHei"/>
                <a:cs typeface="Microsoft YaHei"/>
              </a:rPr>
              <a:t>相似性</a:t>
            </a: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信息与交互信息相互补充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3A46F7-BCC7-4CF7-8428-492E2EEE860C}"/>
              </a:ext>
            </a:extLst>
          </p:cNvPr>
          <p:cNvSpPr>
            <a:spLocks noGrp="1"/>
          </p:cNvSpPr>
          <p:nvPr/>
        </p:nvSpPr>
        <p:spPr>
          <a:xfrm>
            <a:off x="1485900" y="3905250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相似图回答“与谁相似”，交互图提供“怎样连接”的关系线索。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098ADF-060A-47F8-9B5A-C38FEEE83F4A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609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07035F5-A2A1-462F-ADE2-A47635157FF7}"/>
              </a:ext>
            </a:extLst>
          </p:cNvPr>
          <p:cNvSpPr>
            <a:spLocks noGrp="1"/>
          </p:cNvSpPr>
          <p:nvPr/>
        </p:nvSpPr>
        <p:spPr>
          <a:xfrm>
            <a:off x="1485900" y="447675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辅助任务能补监督，也可能干扰主任务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8320A46-C286-49A7-A03A-77E3CD165594}"/>
              </a:ext>
            </a:extLst>
          </p:cNvPr>
          <p:cNvSpPr>
            <a:spLocks noGrp="1"/>
          </p:cNvSpPr>
          <p:nvPr/>
        </p:nvSpPr>
        <p:spPr>
          <a:xfrm>
            <a:off x="1485900" y="4905375"/>
            <a:ext cx="9906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对比学习为关联预测补充监督，但两者的参数更新方向可能冲突。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DA795F4-4504-D999-8464-9CD493176DFA}"/>
              </a:ext>
            </a:extLst>
          </p:cNvPr>
          <p:cNvSpPr>
            <a:spLocks noGrp="1"/>
          </p:cNvSpPr>
          <p:nvPr/>
        </p:nvSpPr>
        <p:spPr>
          <a:xfrm>
            <a:off x="1485900" y="5562600"/>
            <a:ext cx="990600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相似药物和相似疾病提供</a:t>
            </a:r>
            <a:r>
              <a:rPr sz="1650" b="0">
                <a:solidFill>
                  <a:srgbClr val="0A2C4A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一类</a:t>
            </a: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线索，药物—疾病—蛋白交互图提供</a:t>
            </a:r>
            <a:r>
              <a:rPr sz="1650" b="0">
                <a:solidFill>
                  <a:srgbClr val="0A2C4A"/>
                </a:solidFill>
                <a:highlight>
                  <a:srgbClr val="FFFF00"/>
                </a:highlight>
                <a:latin typeface="Microsoft YaHei"/>
                <a:ea typeface="Microsoft YaHei"/>
                <a:cs typeface="Microsoft YaHei"/>
              </a:rPr>
              <a:t>另一类</a:t>
            </a: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线索。模型希望利用这些互补信息，并通过对比学习补充稀疏的监督信号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4333B08-209E-494A-7BC1-BBF6AA69E6EF}"/>
              </a:ext>
            </a:extLst>
          </p:cNvPr>
          <p:cNvSpPr>
            <a:spLocks noGrp="1"/>
          </p:cNvSpPr>
          <p:nvPr/>
        </p:nvSpPr>
        <p:spPr>
          <a:xfrm>
            <a:off x="6023113" y="777240"/>
            <a:ext cx="573156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GCGB</a:t>
            </a:r>
            <a:br>
              <a:rPr sz="1400"/>
            </a:br>
            <a:r>
              <a:rPr sz="1400" i="1"/>
              <a:t>Heterogeneous graph contrastive learning with gradient balance for drug repositioning</a:t>
            </a:r>
            <a:br>
              <a:rPr sz="1400"/>
            </a:br>
            <a:r>
              <a:rPr sz="1400"/>
              <a:t>中文：</a:t>
            </a:r>
            <a:r>
              <a:rPr sz="1400" b="1"/>
              <a:t>用于药物重定位的梯度平衡异质图对比学习方法</a:t>
            </a:r>
            <a:br>
              <a:rPr sz="1400"/>
            </a:br>
            <a:r>
              <a:rPr sz="1400"/>
              <a:t>发表于 </a:t>
            </a:r>
            <a:r>
              <a:rPr sz="1400" i="1"/>
              <a:t>Briefings in Bioinformatics</a:t>
            </a:r>
            <a:r>
              <a:rPr sz="1400"/>
              <a:t>，2025 年。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C24DA6-41A0-77DC-5586-A00EE74B492E}"/>
              </a:ext>
            </a:extLst>
          </p:cNvPr>
          <p:cNvSpPr txBox="1"/>
          <p:nvPr/>
        </p:nvSpPr>
        <p:spPr>
          <a:xfrm>
            <a:off x="8203096" y="2295525"/>
            <a:ext cx="3646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多图信息交叉融合使用，再按配对进行预测</a:t>
            </a:r>
          </a:p>
        </p:txBody>
      </p:sp>
    </p:spTree>
    <p:extLst>
      <p:ext uri="{BB962C8B-B14F-4D97-AF65-F5344CB8AC3E}">
        <p14:creationId xmlns:p14="http://schemas.microsoft.com/office/powerpoint/2010/main" val="2106338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FF3854BA-B14A-405C-9F2F-281CE1FAC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4FB9DD5-A4F9-43EF-A798-938269B0937B}"/>
              </a:ext>
            </a:extLst>
          </p:cNvPr>
          <p:cNvSpPr>
            <a:spLocks noGrp="1"/>
          </p:cNvSpPr>
          <p:nvPr/>
        </p:nvSpPr>
        <p:spPr>
          <a:xfrm>
            <a:off x="5419725" y="0"/>
            <a:ext cx="2257425" cy="790575"/>
          </a:xfrm>
          <a:prstGeom prst="rect">
            <a:avLst/>
          </a:prstGeom>
          <a:solidFill>
            <a:srgbClr val="0F6EB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D17307-F6B3-4D29-AA5A-0BFB6293DB09}"/>
              </a:ext>
            </a:extLst>
          </p:cNvPr>
          <p:cNvSpPr>
            <a:spLocks noGrp="1"/>
          </p:cNvSpPr>
          <p:nvPr/>
        </p:nvSpPr>
        <p:spPr>
          <a:xfrm>
            <a:off x="333375" y="1333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论文阅读汇报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0AEF2E-F3E0-409A-B72B-E87C1CDFC7D0}"/>
              </a:ext>
            </a:extLst>
          </p:cNvPr>
          <p:cNvSpPr>
            <a:spLocks noGrp="1"/>
          </p:cNvSpPr>
          <p:nvPr/>
        </p:nvSpPr>
        <p:spPr>
          <a:xfrm>
            <a:off x="316230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TxGNN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83BE45-4F95-4C87-92DD-C909DFF7AF66}"/>
              </a:ext>
            </a:extLst>
          </p:cNvPr>
          <p:cNvSpPr>
            <a:spLocks noGrp="1"/>
          </p:cNvSpPr>
          <p:nvPr/>
        </p:nvSpPr>
        <p:spPr>
          <a:xfrm>
            <a:off x="541972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GCGB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DFD0F0-085A-403E-BAB4-1ADFBB23B8B3}"/>
              </a:ext>
            </a:extLst>
          </p:cNvPr>
          <p:cNvSpPr>
            <a:spLocks noGrp="1"/>
          </p:cNvSpPr>
          <p:nvPr/>
        </p:nvSpPr>
        <p:spPr>
          <a:xfrm>
            <a:off x="767715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两篇比较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34930D-15A1-4614-8C65-1FE08152DCA2}"/>
              </a:ext>
            </a:extLst>
          </p:cNvPr>
          <p:cNvSpPr>
            <a:spLocks noGrp="1"/>
          </p:cNvSpPr>
          <p:nvPr/>
        </p:nvSpPr>
        <p:spPr>
          <a:xfrm>
            <a:off x="993457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阅读小结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9BEB1DD-F7C3-456D-86DB-8E1911C6A89B}"/>
              </a:ext>
            </a:extLst>
          </p:cNvPr>
          <p:cNvSpPr>
            <a:spLocks noGrp="1"/>
          </p:cNvSpPr>
          <p:nvPr/>
        </p:nvSpPr>
        <p:spPr>
          <a:xfrm>
            <a:off x="333375" y="1057275"/>
            <a:ext cx="2333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GCGB 模型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ED6DC10-C22A-4A3F-940E-F3355ACEBA4B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先分视图编码，再融合药物与疾病表示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A70B2B-C3A7-4207-89E7-BB68B0D3B1AF}"/>
              </a:ext>
            </a:extLst>
          </p:cNvPr>
          <p:cNvSpPr>
            <a:spLocks noGrp="1"/>
          </p:cNvSpPr>
          <p:nvPr/>
        </p:nvSpPr>
        <p:spPr>
          <a:xfrm>
            <a:off x="10668000" y="658177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FDAFB3D-7B65-4668-840B-C03EB76B9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749353" y="2495550"/>
            <a:ext cx="4864244" cy="340042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BDF78721-DC6C-4D7D-82CB-9D5E3615A189}"/>
              </a:ext>
            </a:extLst>
          </p:cNvPr>
          <p:cNvSpPr>
            <a:spLocks noGrp="1"/>
          </p:cNvSpPr>
          <p:nvPr/>
        </p:nvSpPr>
        <p:spPr>
          <a:xfrm>
            <a:off x="8096250" y="2562225"/>
            <a:ext cx="33813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先编码相似性信息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9553A16-CECE-4A2D-A7F4-5C2CAD429803}"/>
              </a:ext>
            </a:extLst>
          </p:cNvPr>
          <p:cNvSpPr>
            <a:spLocks noGrp="1"/>
          </p:cNvSpPr>
          <p:nvPr/>
        </p:nvSpPr>
        <p:spPr>
          <a:xfrm>
            <a:off x="8096250" y="2943225"/>
            <a:ext cx="33813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药物相似图、疾病相似图</a:t>
            </a:r>
          </a:p>
          <a:p>
            <a:pPr algn="l"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分别用图 Transformer（GT）</a:t>
            </a:r>
          </a:p>
          <a:p>
            <a:pPr algn="l"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学习相似性表示。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CB72D24-7474-4C2D-9311-7F3843B35CA8}"/>
              </a:ext>
            </a:extLst>
          </p:cNvPr>
          <p:cNvSpPr>
            <a:spLocks noGrp="1"/>
          </p:cNvSpPr>
          <p:nvPr/>
        </p:nvSpPr>
        <p:spPr>
          <a:xfrm>
            <a:off x="8096250" y="3819525"/>
            <a:ext cx="33813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再编码异质交互信息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FABAE2-327A-4CE4-A760-45283FD85010}"/>
              </a:ext>
            </a:extLst>
          </p:cNvPr>
          <p:cNvSpPr>
            <a:spLocks noGrp="1"/>
          </p:cNvSpPr>
          <p:nvPr/>
        </p:nvSpPr>
        <p:spPr>
          <a:xfrm>
            <a:off x="8096250" y="4200525"/>
            <a:ext cx="33813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药物—疾病—蛋白交互图</a:t>
            </a:r>
          </a:p>
          <a:p>
            <a:pPr algn="l"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用异质图 Transformer（HGT）</a:t>
            </a:r>
          </a:p>
          <a:p>
            <a:pPr algn="l"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学习交互关系表示。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AA1E0F-2ED9-4718-A90A-B24F56B7CEA2}"/>
              </a:ext>
            </a:extLst>
          </p:cNvPr>
          <p:cNvSpPr>
            <a:spLocks noGrp="1"/>
          </p:cNvSpPr>
          <p:nvPr/>
        </p:nvSpPr>
        <p:spPr>
          <a:xfrm>
            <a:off x="8096250" y="5076825"/>
            <a:ext cx="3381375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先融合节点，再构成配对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C1AEC27-6ED2-456A-B632-EA71FD3C168E}"/>
              </a:ext>
            </a:extLst>
          </p:cNvPr>
          <p:cNvSpPr>
            <a:spLocks noGrp="1"/>
          </p:cNvSpPr>
          <p:nvPr/>
        </p:nvSpPr>
        <p:spPr>
          <a:xfrm>
            <a:off x="8096250" y="5457825"/>
            <a:ext cx="33813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同一药物的两类表示先融合，</a:t>
            </a:r>
          </a:p>
          <a:p>
            <a:pPr algn="l"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疾病也一样。之后才组合配对，</a:t>
            </a:r>
          </a:p>
          <a:p>
            <a:pPr algn="l"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预测药物与疾病的关联。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A092029-D080-3D20-A66C-ED7973C96393}"/>
              </a:ext>
            </a:extLst>
          </p:cNvPr>
          <p:cNvSpPr>
            <a:spLocks noGrp="1"/>
          </p:cNvSpPr>
          <p:nvPr/>
        </p:nvSpPr>
        <p:spPr>
          <a:xfrm>
            <a:off x="6096000" y="1149816"/>
            <a:ext cx="609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两类信息、三张图：先融合节点表示，再预测候选配对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F3A6EF2-8400-11C2-DCCD-04B31F5C4E9C}"/>
              </a:ext>
            </a:extLst>
          </p:cNvPr>
          <p:cNvSpPr>
            <a:spLocks noGrp="1"/>
          </p:cNvSpPr>
          <p:nvPr/>
        </p:nvSpPr>
        <p:spPr>
          <a:xfrm>
            <a:off x="191121" y="29206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药物相似图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B3EEEC1-8BC3-C165-00CC-63D294EA7170}"/>
              </a:ext>
            </a:extLst>
          </p:cNvPr>
          <p:cNvSpPr>
            <a:spLocks noGrp="1"/>
          </p:cNvSpPr>
          <p:nvPr/>
        </p:nvSpPr>
        <p:spPr>
          <a:xfrm>
            <a:off x="333375" y="49832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疾病相似图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45FCD5D-D661-C326-6D69-61751FCFCA78}"/>
              </a:ext>
            </a:extLst>
          </p:cNvPr>
          <p:cNvSpPr>
            <a:spLocks noGrp="1"/>
          </p:cNvSpPr>
          <p:nvPr/>
        </p:nvSpPr>
        <p:spPr>
          <a:xfrm>
            <a:off x="47625" y="3899561"/>
            <a:ext cx="6096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/>
              <a:t>药物—疾病—蛋白交互图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5847030D-12AA-44B1-8805-5D1F3750A1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013" y="2757488"/>
            <a:ext cx="7302917" cy="2747962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C8DE23C6-47B3-805B-2416-5AE9782E79F3}"/>
              </a:ext>
            </a:extLst>
          </p:cNvPr>
          <p:cNvSpPr>
            <a:spLocks noGrp="1"/>
          </p:cNvSpPr>
          <p:nvPr/>
        </p:nvSpPr>
        <p:spPr>
          <a:xfrm>
            <a:off x="782423" y="6292409"/>
            <a:ext cx="6599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三张图分别编码，药物和疾病各自融合，再组合成配对进行预测</a:t>
            </a:r>
          </a:p>
        </p:txBody>
      </p:sp>
    </p:spTree>
    <p:extLst>
      <p:ext uri="{BB962C8B-B14F-4D97-AF65-F5344CB8AC3E}">
        <p14:creationId xmlns:p14="http://schemas.microsoft.com/office/powerpoint/2010/main" val="24713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B842D767-62A6-4DB2-AB64-C1839EAFA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6292689-5A1D-4F66-B7DB-A3B9AE4102A4}"/>
              </a:ext>
            </a:extLst>
          </p:cNvPr>
          <p:cNvSpPr>
            <a:spLocks noGrp="1"/>
          </p:cNvSpPr>
          <p:nvPr/>
        </p:nvSpPr>
        <p:spPr>
          <a:xfrm>
            <a:off x="5419725" y="0"/>
            <a:ext cx="2257425" cy="790575"/>
          </a:xfrm>
          <a:prstGeom prst="rect">
            <a:avLst/>
          </a:prstGeom>
          <a:solidFill>
            <a:srgbClr val="0F6EB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CEBF36-CF7E-4CBE-9A78-F6A79B91A301}"/>
              </a:ext>
            </a:extLst>
          </p:cNvPr>
          <p:cNvSpPr>
            <a:spLocks noGrp="1"/>
          </p:cNvSpPr>
          <p:nvPr/>
        </p:nvSpPr>
        <p:spPr>
          <a:xfrm>
            <a:off x="333375" y="1333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论文阅读汇报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B57DEB-6AE4-424A-B4B1-B09DC991FDBF}"/>
              </a:ext>
            </a:extLst>
          </p:cNvPr>
          <p:cNvSpPr>
            <a:spLocks noGrp="1"/>
          </p:cNvSpPr>
          <p:nvPr/>
        </p:nvSpPr>
        <p:spPr>
          <a:xfrm>
            <a:off x="316230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TxGNN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A6B434-066C-4CDD-9EF1-339153ADB315}"/>
              </a:ext>
            </a:extLst>
          </p:cNvPr>
          <p:cNvSpPr>
            <a:spLocks noGrp="1"/>
          </p:cNvSpPr>
          <p:nvPr/>
        </p:nvSpPr>
        <p:spPr>
          <a:xfrm>
            <a:off x="541972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GCGB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7A44F3-485E-4397-A3F1-A92AA7E77031}"/>
              </a:ext>
            </a:extLst>
          </p:cNvPr>
          <p:cNvSpPr>
            <a:spLocks noGrp="1"/>
          </p:cNvSpPr>
          <p:nvPr/>
        </p:nvSpPr>
        <p:spPr>
          <a:xfrm>
            <a:off x="767715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两篇比较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AB6767B-7BB0-4D98-9573-50CA6AC93C4F}"/>
              </a:ext>
            </a:extLst>
          </p:cNvPr>
          <p:cNvSpPr>
            <a:spLocks noGrp="1"/>
          </p:cNvSpPr>
          <p:nvPr/>
        </p:nvSpPr>
        <p:spPr>
          <a:xfrm>
            <a:off x="993457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阅读小结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61AEE2-DF88-4BE9-AD20-8E0CCA0708F8}"/>
              </a:ext>
            </a:extLst>
          </p:cNvPr>
          <p:cNvSpPr>
            <a:spLocks noGrp="1"/>
          </p:cNvSpPr>
          <p:nvPr/>
        </p:nvSpPr>
        <p:spPr>
          <a:xfrm>
            <a:off x="333375" y="1057275"/>
            <a:ext cx="2333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GCGB 核心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FB8C43-8F6E-413F-8BD7-701A724AA1D8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前向融合决定用什么，梯度平衡协调怎样学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746F963-8B44-4343-AD08-465E1930C89D}"/>
              </a:ext>
            </a:extLst>
          </p:cNvPr>
          <p:cNvSpPr>
            <a:spLocks noGrp="1"/>
          </p:cNvSpPr>
          <p:nvPr/>
        </p:nvSpPr>
        <p:spPr>
          <a:xfrm>
            <a:off x="10668000" y="658177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0790803-CF2F-43A9-A806-CB96D4D22783}"/>
              </a:ext>
            </a:extLst>
          </p:cNvPr>
          <p:cNvSpPr>
            <a:spLocks noGrp="1"/>
          </p:cNvSpPr>
          <p:nvPr/>
        </p:nvSpPr>
        <p:spPr>
          <a:xfrm>
            <a:off x="609600" y="24384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4ACA9-57EB-4FFC-A7EC-A6234474967A}"/>
              </a:ext>
            </a:extLst>
          </p:cNvPr>
          <p:cNvSpPr>
            <a:spLocks noGrp="1"/>
          </p:cNvSpPr>
          <p:nvPr/>
        </p:nvSpPr>
        <p:spPr>
          <a:xfrm>
            <a:off x="1333500" y="2438400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875" b="1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对比学习：让同一节点的不同视图相互对齐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BD7E24-A2BF-4C5F-A0A2-85D00BD196AA}"/>
              </a:ext>
            </a:extLst>
          </p:cNvPr>
          <p:cNvSpPr>
            <a:spLocks noGrp="1"/>
          </p:cNvSpPr>
          <p:nvPr/>
        </p:nvSpPr>
        <p:spPr>
          <a:xfrm>
            <a:off x="1333500" y="2876550"/>
            <a:ext cx="5334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同一药物或疾病的融合表示，</a:t>
            </a:r>
          </a:p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分别对齐相似性与交互表示，补充训练信号。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CB12CDC-5B6C-4ACD-9A6B-F56C0EB33873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4709E9-C4D0-4BB1-87B7-17F47E931CEC}"/>
              </a:ext>
            </a:extLst>
          </p:cNvPr>
          <p:cNvSpPr>
            <a:spLocks noGrp="1"/>
          </p:cNvSpPr>
          <p:nvPr/>
        </p:nvSpPr>
        <p:spPr>
          <a:xfrm>
            <a:off x="1333500" y="3543300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875" b="1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辅助梯度过大，可能主导参数更新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E00DCBB-6D0C-4259-AD73-4C99643C0B8A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5334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比较主辅梯度大小的移动平均。</a:t>
            </a:r>
          </a:p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辅助梯度更大时才修正，避免其主导更新。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AA84CDF-D32E-4178-9F12-3888743E0298}"/>
              </a:ext>
            </a:extLst>
          </p:cNvPr>
          <p:cNvSpPr>
            <a:spLocks noGrp="1"/>
          </p:cNvSpPr>
          <p:nvPr/>
        </p:nvSpPr>
        <p:spPr>
          <a:xfrm>
            <a:off x="609600" y="464820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4BEAD31-3920-4BFE-B0C7-9A2BF73DE6D2}"/>
              </a:ext>
            </a:extLst>
          </p:cNvPr>
          <p:cNvSpPr>
            <a:spLocks noGrp="1"/>
          </p:cNvSpPr>
          <p:nvPr/>
        </p:nvSpPr>
        <p:spPr>
          <a:xfrm>
            <a:off x="1333500" y="4648200"/>
            <a:ext cx="533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875" b="1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只修正辅助梯度，保持主梯度不变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F20B426-14EC-4ED3-B050-DC678C55A730}"/>
              </a:ext>
            </a:extLst>
          </p:cNvPr>
          <p:cNvSpPr>
            <a:spLocks noGrp="1"/>
          </p:cNvSpPr>
          <p:nvPr/>
        </p:nvSpPr>
        <p:spPr>
          <a:xfrm>
            <a:off x="1333500" y="5086350"/>
            <a:ext cx="5334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方向冲突时去掉辅助梯度的反向分量，</a:t>
            </a:r>
          </a:p>
          <a:p>
            <a:pPr algn="l">
              <a:buNone/>
              <a:def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再调整幅度，使辅助训练服务于关联预测。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9B2E30-B6AE-4307-82BE-D4A53EC8CE5D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9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融合：组合信息；对比学习：补监督；梯度平衡：协调参数更新。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4962094-D4EF-AF43-B55B-8CDBDE95CBC1}"/>
              </a:ext>
            </a:extLst>
          </p:cNvPr>
          <p:cNvSpPr>
            <a:spLocks noGrp="1"/>
          </p:cNvSpPr>
          <p:nvPr/>
        </p:nvSpPr>
        <p:spPr>
          <a:xfrm>
            <a:off x="7239000" y="2495550"/>
            <a:ext cx="4333875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跨视图对比学习</a:t>
            </a: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BD5A492-1CF8-FBB0-BAFA-5D3AC629B3B8}"/>
              </a:ext>
            </a:extLst>
          </p:cNvPr>
          <p:cNvSpPr>
            <a:spLocks noGrp="1"/>
          </p:cNvSpPr>
          <p:nvPr/>
        </p:nvSpPr>
        <p:spPr>
          <a:xfrm>
            <a:off x="7239000" y="4286250"/>
            <a:ext cx="4333875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defPPr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buNone/>
              <a:def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梯度平衡</a:t>
            </a:r>
          </a:p>
        </p:txBody>
      </p:sp>
      <p:sp>
        <p:nvSpPr>
          <p:cNvPr id="27" name="Rectangle 1">
            <a:extLst>
              <a:ext uri="{FF2B5EF4-FFF2-40B4-BE49-F238E27FC236}">
                <a16:creationId xmlns:a16="http://schemas.microsoft.com/office/drawing/2014/main" id="{89D9645D-18F5-F5B4-476D-77F0B10D2C4F}"/>
              </a:ext>
            </a:extLst>
          </p:cNvPr>
          <p:cNvSpPr>
            <a:spLocks noGrp="1"/>
          </p:cNvSpPr>
          <p:nvPr/>
        </p:nvSpPr>
        <p:spPr>
          <a:xfrm>
            <a:off x="7239000" y="1000125"/>
            <a:ext cx="3565842" cy="59436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>
            <a:noAutofit/>
          </a:bodyPr>
          <a:lstStyle>
            <a:defPPr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 u="none" strike="noStrike" cap="none" baseline="0">
                <a:ln>
                  <a:noFill/>
                </a:ln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GCGB 的主任务是：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65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 u="none" strike="noStrike" cap="none" baseline="0">
                <a:ln>
                  <a:noFill/>
                </a:ln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判断“药物 A—疾病 D”有没有关联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E6C21EDC-14DB-46A0-93D0-BD628BF32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125" y="2952750"/>
            <a:ext cx="4762500" cy="1133475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5F2ABA12-BAEF-4A38-BC16-3278CD2BB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125" y="4762500"/>
            <a:ext cx="476250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302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BA36D1CA-B899-4750-AF5F-128C4D4B9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387C4D4-5E09-4D24-90AB-32335BC97112}"/>
              </a:ext>
            </a:extLst>
          </p:cNvPr>
          <p:cNvSpPr>
            <a:spLocks noGrp="1"/>
          </p:cNvSpPr>
          <p:nvPr/>
        </p:nvSpPr>
        <p:spPr>
          <a:xfrm>
            <a:off x="7677150" y="0"/>
            <a:ext cx="2257425" cy="790575"/>
          </a:xfrm>
          <a:prstGeom prst="rect">
            <a:avLst/>
          </a:prstGeom>
          <a:solidFill>
            <a:srgbClr val="0F6EB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4E976B-C544-4E51-B7E2-62E054C5F5B8}"/>
              </a:ext>
            </a:extLst>
          </p:cNvPr>
          <p:cNvSpPr>
            <a:spLocks noGrp="1"/>
          </p:cNvSpPr>
          <p:nvPr/>
        </p:nvSpPr>
        <p:spPr>
          <a:xfrm>
            <a:off x="333375" y="1333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论文阅读汇报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334441-5E7C-42CA-AEEC-84559E5386E3}"/>
              </a:ext>
            </a:extLst>
          </p:cNvPr>
          <p:cNvSpPr>
            <a:spLocks noGrp="1"/>
          </p:cNvSpPr>
          <p:nvPr/>
        </p:nvSpPr>
        <p:spPr>
          <a:xfrm>
            <a:off x="316230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TxGNN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434BD86-ED56-4C13-9CE7-BA61A170080B}"/>
              </a:ext>
            </a:extLst>
          </p:cNvPr>
          <p:cNvSpPr>
            <a:spLocks noGrp="1"/>
          </p:cNvSpPr>
          <p:nvPr/>
        </p:nvSpPr>
        <p:spPr>
          <a:xfrm>
            <a:off x="541972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GCGB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A21F3A-1E23-472D-ACE7-D04752A09A1C}"/>
              </a:ext>
            </a:extLst>
          </p:cNvPr>
          <p:cNvSpPr>
            <a:spLocks noGrp="1"/>
          </p:cNvSpPr>
          <p:nvPr/>
        </p:nvSpPr>
        <p:spPr>
          <a:xfrm>
            <a:off x="767715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两篇比较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56BA3A-31C2-44F2-8786-09B9931563D7}"/>
              </a:ext>
            </a:extLst>
          </p:cNvPr>
          <p:cNvSpPr>
            <a:spLocks noGrp="1"/>
          </p:cNvSpPr>
          <p:nvPr/>
        </p:nvSpPr>
        <p:spPr>
          <a:xfrm>
            <a:off x="993457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阅读小结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382136-16D6-4F03-92B4-CB803DAE2F60}"/>
              </a:ext>
            </a:extLst>
          </p:cNvPr>
          <p:cNvSpPr>
            <a:spLocks noGrp="1"/>
          </p:cNvSpPr>
          <p:nvPr/>
        </p:nvSpPr>
        <p:spPr>
          <a:xfrm>
            <a:off x="333375" y="1057275"/>
            <a:ext cx="2333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两篇比较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9B1322-784B-4DD0-9932-619F0C3FDD1F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两篇都做药物重定位，但解决问题的侧重点不同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4AE418-7BEA-4575-B58A-19C3E8546706}"/>
              </a:ext>
            </a:extLst>
          </p:cNvPr>
          <p:cNvSpPr>
            <a:spLocks noGrp="1"/>
          </p:cNvSpPr>
          <p:nvPr/>
        </p:nvSpPr>
        <p:spPr>
          <a:xfrm>
            <a:off x="10668000" y="658177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2898878-06D3-4A63-96EC-50583FB153B7}"/>
              </a:ext>
            </a:extLst>
          </p:cNvPr>
          <p:cNvGraphicFramePr/>
          <p:nvPr/>
        </p:nvGraphicFramePr>
        <p:xfrm>
          <a:off x="609600" y="2524125"/>
          <a:ext cx="10972800" cy="28575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81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比较维度</a:t>
                      </a:r>
                    </a:p>
                  </a:txBody>
                  <a:tcPr anchor="ctr">
                    <a:lnL w="9525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1A3A7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GCGB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1A3A7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TxGNN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1A3A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要解决什么</a:t>
                      </a:r>
                    </a:p>
                  </a:txBody>
                  <a:tcPr anchor="ctr">
                    <a:lnL w="9525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怎样综合不同来源的信息，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提高药物与疾病的关联预测。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疾病没有已知治疗药物时，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怎样预测候选药物。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具体怎么做</a:t>
                      </a:r>
                    </a:p>
                  </a:txBody>
                  <a:tcPr anchor="ctr">
                    <a:lnL w="9525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分别编码相似图与交互图，再融合。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对比学习补监督，梯度平衡协调训练。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先编码医学知识图谱，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再用相似疾病补充目标疾病的信息。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重点看什么</a:t>
                      </a:r>
                    </a:p>
                  </a:txBody>
                  <a:tcPr anchor="ctr">
                    <a:lnL w="9525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各类信息能否互补，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辅助训练是否有助于关联预测。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没有目标疾病的治疗标签时，</a:t>
                      </a:r>
                    </a:p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0A2C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能否借助其他疾病知识完成预测。</a:t>
                      </a:r>
                    </a:p>
                  </a:txBody>
                  <a:tcPr anchor="ctr">
                    <a:lnL w="9525" cmpd="sng">
                      <a:solidFill>
                        <a:srgbClr val="D5DFEC"/>
                      </a:solidFill>
                      <a:prstDash val="solid"/>
                    </a:lnL>
                    <a:lnR w="9525">
                      <a:solidFill>
                        <a:srgbClr val="D5DFEC"/>
                      </a:solidFill>
                      <a:prstDash val="solid"/>
                    </a:lnR>
                    <a:lnT w="9525" cmpd="sng">
                      <a:solidFill>
                        <a:srgbClr val="D5DFEC"/>
                      </a:solidFill>
                      <a:prstDash val="solid"/>
                    </a:lnT>
                    <a:lnB w="9525">
                      <a:solidFill>
                        <a:srgbClr val="D5DFEC"/>
                      </a:solidFill>
                      <a:prstDash val="solid"/>
                    </a:lnB>
                    <a:solidFill>
                      <a:srgbClr val="ED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正文补充说明">
            <a:extLst>
              <a:ext uri="{FF2B5EF4-FFF2-40B4-BE49-F238E27FC236}">
                <a16:creationId xmlns:a16="http://schemas.microsoft.com/office/drawing/2014/main" id="{5358495A-DBD7-462A-B5BB-432FCEC471F1}"/>
              </a:ext>
            </a:extLst>
          </p:cNvPr>
          <p:cNvSpPr>
            <a:spLocks noGrp="1"/>
          </p:cNvSpPr>
          <p:nvPr/>
        </p:nvSpPr>
        <p:spPr>
          <a:xfrm>
            <a:off x="609600" y="55816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TxGNN 看“缺少治疗标签时怎样预测”，GCGB 看“多类信息怎样共同帮助预测”。</a:t>
            </a:r>
          </a:p>
        </p:txBody>
      </p:sp>
    </p:spTree>
    <p:extLst>
      <p:ext uri="{BB962C8B-B14F-4D97-AF65-F5344CB8AC3E}">
        <p14:creationId xmlns:p14="http://schemas.microsoft.com/office/powerpoint/2010/main" val="997412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B621499A-F6CC-4DCF-8F47-623F789E1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2CA6242-162E-4DB8-AD41-5E100E0BD8EA}"/>
              </a:ext>
            </a:extLst>
          </p:cNvPr>
          <p:cNvSpPr>
            <a:spLocks noGrp="1"/>
          </p:cNvSpPr>
          <p:nvPr/>
        </p:nvSpPr>
        <p:spPr>
          <a:xfrm>
            <a:off x="9934575" y="0"/>
            <a:ext cx="2257425" cy="790575"/>
          </a:xfrm>
          <a:prstGeom prst="rect">
            <a:avLst/>
          </a:prstGeom>
          <a:solidFill>
            <a:srgbClr val="0F6EB2"/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2D3339-52B7-4F2D-9B39-6626C301F0F5}"/>
              </a:ext>
            </a:extLst>
          </p:cNvPr>
          <p:cNvSpPr>
            <a:spLocks noGrp="1"/>
          </p:cNvSpPr>
          <p:nvPr/>
        </p:nvSpPr>
        <p:spPr>
          <a:xfrm>
            <a:off x="333375" y="133350"/>
            <a:ext cx="2762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论文阅读汇报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200B1B-6FE8-4647-A2D7-6A7AB7873946}"/>
              </a:ext>
            </a:extLst>
          </p:cNvPr>
          <p:cNvSpPr>
            <a:spLocks noGrp="1"/>
          </p:cNvSpPr>
          <p:nvPr/>
        </p:nvSpPr>
        <p:spPr>
          <a:xfrm>
            <a:off x="316230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TxGNN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63A131-A535-46D7-BCF2-4374834E5579}"/>
              </a:ext>
            </a:extLst>
          </p:cNvPr>
          <p:cNvSpPr>
            <a:spLocks noGrp="1"/>
          </p:cNvSpPr>
          <p:nvPr/>
        </p:nvSpPr>
        <p:spPr>
          <a:xfrm>
            <a:off x="541972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GCGB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C7D20B-D163-4224-A3D3-64CD453FCFC4}"/>
              </a:ext>
            </a:extLst>
          </p:cNvPr>
          <p:cNvSpPr>
            <a:spLocks noGrp="1"/>
          </p:cNvSpPr>
          <p:nvPr/>
        </p:nvSpPr>
        <p:spPr>
          <a:xfrm>
            <a:off x="7677150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08080"/>
                </a:solidFill>
                <a:latin typeface="Microsoft YaHei"/>
                <a:ea typeface="Microsoft YaHei"/>
                <a:cs typeface="Microsoft YaHei"/>
              </a:rPr>
              <a:t>两篇比较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4D0C00-F9B4-49A1-AF0A-49EA12AB0C50}"/>
              </a:ext>
            </a:extLst>
          </p:cNvPr>
          <p:cNvSpPr>
            <a:spLocks noGrp="1"/>
          </p:cNvSpPr>
          <p:nvPr/>
        </p:nvSpPr>
        <p:spPr>
          <a:xfrm>
            <a:off x="9934575" y="142875"/>
            <a:ext cx="22574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阅读小结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89B722-AFC0-491B-B68C-0D923343AC35}"/>
              </a:ext>
            </a:extLst>
          </p:cNvPr>
          <p:cNvSpPr>
            <a:spLocks noGrp="1"/>
          </p:cNvSpPr>
          <p:nvPr/>
        </p:nvSpPr>
        <p:spPr>
          <a:xfrm>
            <a:off x="333375" y="1057275"/>
            <a:ext cx="2333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阅读小结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0C899B-F8A9-4326-970D-3171842BF0F9}"/>
              </a:ext>
            </a:extLst>
          </p:cNvPr>
          <p:cNvSpPr>
            <a:spLocks noGrp="1"/>
          </p:cNvSpPr>
          <p:nvPr/>
        </p:nvSpPr>
        <p:spPr>
          <a:xfrm>
            <a:off x="609600" y="183832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当前理解：两篇各有侧重，具体方向还未确定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488F26-9BF2-4CAB-93BD-C929D8FD2FF9}"/>
              </a:ext>
            </a:extLst>
          </p:cNvPr>
          <p:cNvSpPr>
            <a:spLocks noGrp="1"/>
          </p:cNvSpPr>
          <p:nvPr/>
        </p:nvSpPr>
        <p:spPr>
          <a:xfrm>
            <a:off x="10668000" y="6581775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r">
              <a:buNone/>
              <a:def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889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CC0704-4EB8-41EE-B3BC-9D3596C62BE0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TxGNN：相似疾病知识的利用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EA8292-879B-4F53-9246-A3A57A620423}"/>
              </a:ext>
            </a:extLst>
          </p:cNvPr>
          <p:cNvSpPr>
            <a:spLocks noGrp="1"/>
          </p:cNvSpPr>
          <p:nvPr/>
        </p:nvSpPr>
        <p:spPr>
          <a:xfrm>
            <a:off x="609600" y="3305175"/>
            <a:ext cx="109728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利用医学知识图谱，并借用相似疾病的信息，</a:t>
            </a:r>
          </a:p>
          <a:p>
            <a:pPr algn="l">
              <a:buNone/>
              <a:def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帮助没有已知治疗药物的疾病预测候选药物。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A446AD-6FBD-4942-916D-92E17DB1B7F6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F6EB2"/>
                </a:solidFill>
                <a:latin typeface="Microsoft YaHei"/>
                <a:ea typeface="Microsoft YaHei"/>
                <a:cs typeface="Microsoft YaHei"/>
              </a:rPr>
              <a:t>GCGB：多视图表示与训练协调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3E8B6AA-76E6-4D4D-A410-3AFE4FAE0A70}"/>
              </a:ext>
            </a:extLst>
          </p:cNvPr>
          <p:cNvSpPr>
            <a:spLocks noGrp="1"/>
          </p:cNvSpPr>
          <p:nvPr/>
        </p:nvSpPr>
        <p:spPr>
          <a:xfrm>
            <a:off x="609600" y="5172075"/>
            <a:ext cx="109728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融合相似性与交互信息，利用对比学习补充监督，</a:t>
            </a:r>
          </a:p>
          <a:p>
            <a:pPr algn="l">
              <a:buNone/>
              <a:def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0A2C4A"/>
                </a:solidFill>
                <a:latin typeface="Microsoft YaHei"/>
                <a:ea typeface="Microsoft YaHei"/>
                <a:cs typeface="Microsoft YaHei"/>
              </a:rPr>
              <a:t>再用梯度平衡协调辅助任务与关联预测任务。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860249-83AA-4B77-9828-0BD9FEAA6235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l">
              <a:buNone/>
              <a:def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目前先把两篇理解清楚，如何迁移还没有形成具体思路。</a:t>
            </a:r>
          </a:p>
        </p:txBody>
      </p:sp>
    </p:spTree>
    <p:extLst>
      <p:ext uri="{BB962C8B-B14F-4D97-AF65-F5344CB8AC3E}">
        <p14:creationId xmlns:p14="http://schemas.microsoft.com/office/powerpoint/2010/main" val="1101227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110BD47-BBE2-42CE-925A-AD3136A11F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81C0146-E1B3-4C3D-BFA4-5AC4D3E23E4B}"/>
              </a:ext>
            </a:extLst>
          </p:cNvPr>
          <p:cNvSpPr>
            <a:spLocks noGrp="1"/>
          </p:cNvSpPr>
          <p:nvPr/>
        </p:nvSpPr>
        <p:spPr>
          <a:xfrm>
            <a:off x="1524000" y="1809750"/>
            <a:ext cx="9144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EDC342-21BD-4BC9-83A8-C447E0A73D19}"/>
              </a:ext>
            </a:extLst>
          </p:cNvPr>
          <p:cNvSpPr>
            <a:spLocks noGrp="1"/>
          </p:cNvSpPr>
          <p:nvPr/>
        </p:nvSpPr>
        <p:spPr>
          <a:xfrm>
            <a:off x="1524000" y="5172075"/>
            <a:ext cx="9144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 algn="ctr">
              <a:defRPr sz="2400" b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TxGNN</a:t>
            </a:r>
            <a:r>
              <a:rPr sz="2400" b="1" dirty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 与 GCGB </a:t>
            </a:r>
            <a:r>
              <a:rPr lang="zh-CN" altLang="en-US" sz="2400" b="1" dirty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参考</a:t>
            </a:r>
            <a:r>
              <a:rPr sz="2400" b="1" dirty="0" err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论文</a:t>
            </a:r>
            <a:r>
              <a:rPr lang="zh-CN" altLang="en-US" sz="2400" b="1" dirty="0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选择</a:t>
            </a:r>
            <a:r>
              <a:rPr sz="2400" b="1" dirty="0" err="1">
                <a:solidFill>
                  <a:srgbClr val="1A3A7A"/>
                </a:solidFill>
                <a:latin typeface="Microsoft YaHei"/>
                <a:ea typeface="Microsoft YaHei"/>
                <a:cs typeface="Microsoft YaHei"/>
              </a:rPr>
              <a:t>汇报</a:t>
            </a:r>
            <a:endParaRPr sz="2400" b="1" dirty="0">
              <a:solidFill>
                <a:srgbClr val="1A3A7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0736680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661</Words>
  <Application>Microsoft Office PowerPoint</Application>
  <DocSecurity>0</DocSecurity>
  <PresentationFormat>宽屏</PresentationFormat>
  <Paragraphs>228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Cambria Math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suda</cp:lastModifiedBy>
  <cp:revision>4</cp:revision>
  <dcterms:created xsi:type="dcterms:W3CDTF">2026-10-27T01:52:24Z</dcterms:created>
  <dcterms:modified xsi:type="dcterms:W3CDTF">2026-10-27T02:57:51Z</dcterms:modified>
</cp:coreProperties>
</file>