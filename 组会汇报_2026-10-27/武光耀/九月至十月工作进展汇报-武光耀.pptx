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11092984" r:id="rId3"/>
    <p:sldId id="11092999" r:id="rId4"/>
    <p:sldId id="11092990" r:id="rId5"/>
    <p:sldId id="4279" r:id="rId6"/>
    <p:sldId id="4897" r:id="rId7"/>
    <p:sldId id="11092995" r:id="rId8"/>
    <p:sldId id="424" r:id="rId9"/>
    <p:sldId id="4902" r:id="rId10"/>
    <p:sldId id="11093001" r:id="rId12"/>
    <p:sldId id="11092996" r:id="rId13"/>
    <p:sldId id="3611" r:id="rId14"/>
    <p:sldId id="4872" r:id="rId15"/>
    <p:sldId id="1206" r:id="rId16"/>
    <p:sldId id="11092997" r:id="rId17"/>
    <p:sldId id="435" r:id="rId18"/>
    <p:sldId id="11093003" r:id="rId19"/>
    <p:sldId id="11093002" r:id="rId20"/>
    <p:sldId id="11092998"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96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1" d="100"/>
          <a:sy n="51" d="100"/>
        </p:scale>
        <p:origin x="1256" y="396"/>
      </p:cViewPr>
      <p:guideLst/>
    </p:cSldViewPr>
  </p:slideViewPr>
  <p:notesTextViewPr>
    <p:cViewPr>
      <p:scale>
        <a:sx n="1" d="1"/>
        <a:sy n="1" d="1"/>
      </p:scale>
      <p:origin x="0" y="0"/>
    </p:cViewPr>
  </p:notesTextViewPr>
  <p:sorterViewPr>
    <p:cViewPr>
      <p:scale>
        <a:sx n="53" d="100"/>
        <a:sy n="53" d="100"/>
      </p:scale>
      <p:origin x="0" y="-64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8B3A231-2005-43E5-9669-CCC9CED955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CF7C257-8DBA-4CC0-864A-D4F31ABF136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8B3A231-2005-43E5-9669-CCC9CED955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CF7C257-8DBA-4CC0-864A-D4F31ABF136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8B3A231-2005-43E5-9669-CCC9CED955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CF7C257-8DBA-4CC0-864A-D4F31ABF136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B8B3A231-2005-43E5-9669-CCC9CED955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CF7C257-8DBA-4CC0-864A-D4F31ABF136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B8B3A231-2005-43E5-9669-CCC9CED955A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CF7C257-8DBA-4CC0-864A-D4F31ABF136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8B3A231-2005-43E5-9669-CCC9CED955A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CF7C257-8DBA-4CC0-864A-D4F31ABF136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8B3A231-2005-43E5-9669-CCC9CED955A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CF7C257-8DBA-4CC0-864A-D4F31ABF136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8B3A231-2005-43E5-9669-CCC9CED955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CF7C257-8DBA-4CC0-864A-D4F31ABF136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8B3A231-2005-43E5-9669-CCC9CED955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CF7C257-8DBA-4CC0-864A-D4F31ABF136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8B3A231-2005-43E5-9669-CCC9CED955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CF7C257-8DBA-4CC0-864A-D4F31ABF136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8B3A231-2005-43E5-9669-CCC9CED955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CF7C257-8DBA-4CC0-864A-D4F31ABF136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B3A231-2005-43E5-9669-CCC9CED955A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F7C257-8DBA-4CC0-864A-D4F31ABF136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3" Type="http://schemas.openxmlformats.org/officeDocument/2006/relationships/slideLayout" Target="../slideLayouts/slideLayout7.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5" Type="http://schemas.openxmlformats.org/officeDocument/2006/relationships/slideLayout" Target="../slideLayouts/slideLayout7.xml"/><Relationship Id="rId24" Type="http://schemas.openxmlformats.org/officeDocument/2006/relationships/image" Target="../media/image10.png"/><Relationship Id="rId23" Type="http://schemas.openxmlformats.org/officeDocument/2006/relationships/image" Target="../media/image9.png"/><Relationship Id="rId22" Type="http://schemas.openxmlformats.org/officeDocument/2006/relationships/image" Target="../media/image8.png"/><Relationship Id="rId21" Type="http://schemas.openxmlformats.org/officeDocument/2006/relationships/image" Target="../media/image7.png"/><Relationship Id="rId20" Type="http://schemas.openxmlformats.org/officeDocument/2006/relationships/image" Target="../media/image6.png"/><Relationship Id="rId2" Type="http://schemas.openxmlformats.org/officeDocument/2006/relationships/tags" Target="../tags/tag22.xml"/><Relationship Id="rId19" Type="http://schemas.openxmlformats.org/officeDocument/2006/relationships/image" Target="../media/image5.png"/><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1.xml"/></Relationships>
</file>

<file path=ppt/slides/_rels/slide8.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1" Type="http://schemas.openxmlformats.org/officeDocument/2006/relationships/notesSlide" Target="../notesSlides/notesSlide1.xml"/><Relationship Id="rId40" Type="http://schemas.openxmlformats.org/officeDocument/2006/relationships/slideLayout" Target="../slideLayouts/slideLayout7.xml"/><Relationship Id="rId4" Type="http://schemas.openxmlformats.org/officeDocument/2006/relationships/tags" Target="../tags/tag40.xml"/><Relationship Id="rId39" Type="http://schemas.openxmlformats.org/officeDocument/2006/relationships/image" Target="../media/image18.png"/><Relationship Id="rId38" Type="http://schemas.openxmlformats.org/officeDocument/2006/relationships/image" Target="../media/image17.png"/><Relationship Id="rId37" Type="http://schemas.openxmlformats.org/officeDocument/2006/relationships/image" Target="../media/image16.png"/><Relationship Id="rId36" Type="http://schemas.openxmlformats.org/officeDocument/2006/relationships/image" Target="../media/image15.png"/><Relationship Id="rId35" Type="http://schemas.openxmlformats.org/officeDocument/2006/relationships/image" Target="../media/image14.png"/><Relationship Id="rId34" Type="http://schemas.openxmlformats.org/officeDocument/2006/relationships/image" Target="../media/image13.png"/><Relationship Id="rId33" Type="http://schemas.openxmlformats.org/officeDocument/2006/relationships/image" Target="../media/image12.png"/><Relationship Id="rId32" Type="http://schemas.openxmlformats.org/officeDocument/2006/relationships/image" Target="../media/image11.png"/><Relationship Id="rId31" Type="http://schemas.openxmlformats.org/officeDocument/2006/relationships/tags" Target="../tags/tag67.xml"/><Relationship Id="rId30" Type="http://schemas.openxmlformats.org/officeDocument/2006/relationships/tags" Target="../tags/tag66.xml"/><Relationship Id="rId3" Type="http://schemas.openxmlformats.org/officeDocument/2006/relationships/tags" Target="../tags/tag39.xml"/><Relationship Id="rId29" Type="http://schemas.openxmlformats.org/officeDocument/2006/relationships/tags" Target="../tags/tag65.xml"/><Relationship Id="rId28" Type="http://schemas.openxmlformats.org/officeDocument/2006/relationships/tags" Target="../tags/tag64.xml"/><Relationship Id="rId27" Type="http://schemas.openxmlformats.org/officeDocument/2006/relationships/tags" Target="../tags/tag63.xml"/><Relationship Id="rId26" Type="http://schemas.openxmlformats.org/officeDocument/2006/relationships/tags" Target="../tags/tag62.xml"/><Relationship Id="rId25" Type="http://schemas.openxmlformats.org/officeDocument/2006/relationships/tags" Target="../tags/tag61.xml"/><Relationship Id="rId24" Type="http://schemas.openxmlformats.org/officeDocument/2006/relationships/tags" Target="../tags/tag60.xml"/><Relationship Id="rId23" Type="http://schemas.openxmlformats.org/officeDocument/2006/relationships/tags" Target="../tags/tag59.xml"/><Relationship Id="rId22" Type="http://schemas.openxmlformats.org/officeDocument/2006/relationships/tags" Target="../tags/tag58.xml"/><Relationship Id="rId21" Type="http://schemas.openxmlformats.org/officeDocument/2006/relationships/tags" Target="../tags/tag57.xml"/><Relationship Id="rId20" Type="http://schemas.openxmlformats.org/officeDocument/2006/relationships/tags" Target="../tags/tag56.xml"/><Relationship Id="rId2" Type="http://schemas.openxmlformats.org/officeDocument/2006/relationships/tags" Target="../tags/tag38.xml"/><Relationship Id="rId19" Type="http://schemas.openxmlformats.org/officeDocument/2006/relationships/tags" Target="../tags/tag55.xml"/><Relationship Id="rId18" Type="http://schemas.openxmlformats.org/officeDocument/2006/relationships/tags" Target="../tags/tag54.xml"/><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9.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5" Type="http://schemas.openxmlformats.org/officeDocument/2006/relationships/slideLayout" Target="../slideLayouts/slideLayout6.xml"/><Relationship Id="rId24" Type="http://schemas.openxmlformats.org/officeDocument/2006/relationships/tags" Target="../tags/tag91.xml"/><Relationship Id="rId23" Type="http://schemas.openxmlformats.org/officeDocument/2006/relationships/tags" Target="../tags/tag90.xml"/><Relationship Id="rId22" Type="http://schemas.openxmlformats.org/officeDocument/2006/relationships/tags" Target="../tags/tag89.xml"/><Relationship Id="rId21" Type="http://schemas.openxmlformats.org/officeDocument/2006/relationships/tags" Target="../tags/tag88.xml"/><Relationship Id="rId20" Type="http://schemas.openxmlformats.org/officeDocument/2006/relationships/tags" Target="../tags/tag87.xml"/><Relationship Id="rId2" Type="http://schemas.openxmlformats.org/officeDocument/2006/relationships/tags" Target="../tags/tag69.xml"/><Relationship Id="rId19" Type="http://schemas.openxmlformats.org/officeDocument/2006/relationships/tags" Target="../tags/tag86.xml"/><Relationship Id="rId18" Type="http://schemas.openxmlformats.org/officeDocument/2006/relationships/tags" Target="../tags/tag85.xml"/><Relationship Id="rId17" Type="http://schemas.openxmlformats.org/officeDocument/2006/relationships/tags" Target="../tags/tag84.xml"/><Relationship Id="rId16" Type="http://schemas.openxmlformats.org/officeDocument/2006/relationships/tags" Target="../tags/tag83.xml"/><Relationship Id="rId15" Type="http://schemas.openxmlformats.org/officeDocument/2006/relationships/tags" Target="../tags/tag82.xml"/><Relationship Id="rId14" Type="http://schemas.openxmlformats.org/officeDocument/2006/relationships/tags" Target="../tags/tag81.xml"/><Relationship Id="rId13" Type="http://schemas.openxmlformats.org/officeDocument/2006/relationships/tags" Target="../tags/tag80.xml"/><Relationship Id="rId12" Type="http://schemas.openxmlformats.org/officeDocument/2006/relationships/tags" Target="../tags/tag79.xml"/><Relationship Id="rId11" Type="http://schemas.openxmlformats.org/officeDocument/2006/relationships/tags" Target="../tags/tag78.xml"/><Relationship Id="rId10" Type="http://schemas.openxmlformats.org/officeDocument/2006/relationships/tags" Target="../tags/tag77.xml"/><Relationship Id="rId1" Type="http://schemas.openxmlformats.org/officeDocument/2006/relationships/tags" Target="../tags/tag6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7" Type="http://schemas.openxmlformats.org/officeDocument/2006/relationships/slideLayout" Target="../slideLayouts/slideLayout7.xml"/><Relationship Id="rId26" Type="http://schemas.openxmlformats.org/officeDocument/2006/relationships/tags" Target="../tags/tag117.xml"/><Relationship Id="rId25" Type="http://schemas.openxmlformats.org/officeDocument/2006/relationships/tags" Target="../tags/tag116.xml"/><Relationship Id="rId24" Type="http://schemas.openxmlformats.org/officeDocument/2006/relationships/tags" Target="../tags/tag115.xml"/><Relationship Id="rId23" Type="http://schemas.openxmlformats.org/officeDocument/2006/relationships/tags" Target="../tags/tag114.xml"/><Relationship Id="rId22" Type="http://schemas.openxmlformats.org/officeDocument/2006/relationships/tags" Target="../tags/tag113.xml"/><Relationship Id="rId21" Type="http://schemas.openxmlformats.org/officeDocument/2006/relationships/tags" Target="../tags/tag112.xml"/><Relationship Id="rId20" Type="http://schemas.openxmlformats.org/officeDocument/2006/relationships/tags" Target="../tags/tag111.xml"/><Relationship Id="rId2" Type="http://schemas.openxmlformats.org/officeDocument/2006/relationships/tags" Target="../tags/tag93.xml"/><Relationship Id="rId19" Type="http://schemas.openxmlformats.org/officeDocument/2006/relationships/tags" Target="../tags/tag110.xml"/><Relationship Id="rId18" Type="http://schemas.openxmlformats.org/officeDocument/2006/relationships/tags" Target="../tags/tag109.xml"/><Relationship Id="rId17" Type="http://schemas.openxmlformats.org/officeDocument/2006/relationships/tags" Target="../tags/tag108.xml"/><Relationship Id="rId16" Type="http://schemas.openxmlformats.org/officeDocument/2006/relationships/tags" Target="../tags/tag107.xml"/><Relationship Id="rId15" Type="http://schemas.openxmlformats.org/officeDocument/2006/relationships/tags" Target="../tags/tag106.xml"/><Relationship Id="rId14" Type="http://schemas.openxmlformats.org/officeDocument/2006/relationships/tags" Target="../tags/tag105.xml"/><Relationship Id="rId13" Type="http://schemas.openxmlformats.org/officeDocument/2006/relationships/tags" Target="../tags/tag104.xml"/><Relationship Id="rId12" Type="http://schemas.openxmlformats.org/officeDocument/2006/relationships/tags" Target="../tags/tag103.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tags" Target="../tags/tag92.xml"/></Relationships>
</file>

<file path=ppt/slides/_rels/slide12.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0" Type="http://schemas.openxmlformats.org/officeDocument/2006/relationships/slideLayout" Target="../slideLayouts/slideLayout7.xml"/><Relationship Id="rId1" Type="http://schemas.openxmlformats.org/officeDocument/2006/relationships/tags" Target="../tags/tag1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9" Type="http://schemas.openxmlformats.org/officeDocument/2006/relationships/tags" Target="../tags/tag135.xml"/><Relationship Id="rId8" Type="http://schemas.openxmlformats.org/officeDocument/2006/relationships/tags" Target="../tags/tag134.xml"/><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1" Type="http://schemas.openxmlformats.org/officeDocument/2006/relationships/slideLayout" Target="../slideLayouts/slideLayout7.xml"/><Relationship Id="rId10" Type="http://schemas.openxmlformats.org/officeDocument/2006/relationships/tags" Target="../tags/tag136.xml"/><Relationship Id="rId1" Type="http://schemas.openxmlformats.org/officeDocument/2006/relationships/tags" Target="../tags/tag127.xml"/></Relationships>
</file>

<file path=ppt/slides/_rels/slide16.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2" Type="http://schemas.openxmlformats.org/officeDocument/2006/relationships/slideLayout" Target="../slideLayouts/slideLayout6.xml"/><Relationship Id="rId11" Type="http://schemas.openxmlformats.org/officeDocument/2006/relationships/tags" Target="../tags/tag147.xml"/><Relationship Id="rId10" Type="http://schemas.openxmlformats.org/officeDocument/2006/relationships/tags" Target="../tags/tag146.xml"/><Relationship Id="rId1" Type="http://schemas.openxmlformats.org/officeDocument/2006/relationships/tags" Target="../tags/tag137.xml"/></Relationships>
</file>

<file path=ppt/slides/_rels/slide17.xml.rels><?xml version="1.0" encoding="UTF-8" standalone="yes"?>
<Relationships xmlns="http://schemas.openxmlformats.org/package/2006/relationships"><Relationship Id="rId9" Type="http://schemas.openxmlformats.org/officeDocument/2006/relationships/tags" Target="../tags/tag156.xml"/><Relationship Id="rId8" Type="http://schemas.openxmlformats.org/officeDocument/2006/relationships/tags" Target="../tags/tag155.xml"/><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0" Type="http://schemas.openxmlformats.org/officeDocument/2006/relationships/notesSlide" Target="../notesSlides/notesSlide2.xml"/><Relationship Id="rId2" Type="http://schemas.openxmlformats.org/officeDocument/2006/relationships/tags" Target="../tags/tag149.xml"/><Relationship Id="rId19" Type="http://schemas.openxmlformats.org/officeDocument/2006/relationships/slideLayout" Target="../slideLayouts/slideLayout6.xml"/><Relationship Id="rId18" Type="http://schemas.openxmlformats.org/officeDocument/2006/relationships/tags" Target="../tags/tag165.xml"/><Relationship Id="rId17" Type="http://schemas.openxmlformats.org/officeDocument/2006/relationships/tags" Target="../tags/tag164.xml"/><Relationship Id="rId16" Type="http://schemas.openxmlformats.org/officeDocument/2006/relationships/tags" Target="../tags/tag163.xml"/><Relationship Id="rId15" Type="http://schemas.openxmlformats.org/officeDocument/2006/relationships/tags" Target="../tags/tag162.xml"/><Relationship Id="rId14" Type="http://schemas.openxmlformats.org/officeDocument/2006/relationships/tags" Target="../tags/tag161.xml"/><Relationship Id="rId13" Type="http://schemas.openxmlformats.org/officeDocument/2006/relationships/tags" Target="../tags/tag160.xml"/><Relationship Id="rId12" Type="http://schemas.openxmlformats.org/officeDocument/2006/relationships/tags" Target="../tags/tag159.xml"/><Relationship Id="rId11" Type="http://schemas.openxmlformats.org/officeDocument/2006/relationships/tags" Target="../tags/tag158.xml"/><Relationship Id="rId10" Type="http://schemas.openxmlformats.org/officeDocument/2006/relationships/tags" Target="../tags/tag157.xml"/><Relationship Id="rId1" Type="http://schemas.openxmlformats.org/officeDocument/2006/relationships/tags" Target="../tags/tag14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组合 58"/>
          <p:cNvGrpSpPr/>
          <p:nvPr/>
        </p:nvGrpSpPr>
        <p:grpSpPr>
          <a:xfrm>
            <a:off x="0" y="-1"/>
            <a:ext cx="12198973" cy="6858002"/>
            <a:chOff x="0" y="-1"/>
            <a:chExt cx="12198973" cy="6858002"/>
          </a:xfrm>
        </p:grpSpPr>
        <p:sp>
          <p:nvSpPr>
            <p:cNvPr id="41" name="任意多边形: 形状 40"/>
            <p:cNvSpPr/>
            <p:nvPr/>
          </p:nvSpPr>
          <p:spPr>
            <a:xfrm>
              <a:off x="6738950" y="-1"/>
              <a:ext cx="5460023" cy="2981527"/>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5" name="任意多边形: 形状 34"/>
            <p:cNvSpPr/>
            <p:nvPr/>
          </p:nvSpPr>
          <p:spPr>
            <a:xfrm>
              <a:off x="6606578" y="0"/>
              <a:ext cx="5585422" cy="3098871"/>
            </a:xfrm>
            <a:custGeom>
              <a:avLst/>
              <a:gdLst>
                <a:gd name="connsiteX0" fmla="*/ 0 w 5585422"/>
                <a:gd name="connsiteY0" fmla="*/ 0 h 3098871"/>
                <a:gd name="connsiteX1" fmla="*/ 5585422 w 5585422"/>
                <a:gd name="connsiteY1" fmla="*/ 0 h 3098871"/>
                <a:gd name="connsiteX2" fmla="*/ 5585422 w 5585422"/>
                <a:gd name="connsiteY2" fmla="*/ 1079106 h 3098871"/>
                <a:gd name="connsiteX3" fmla="*/ 3710012 w 5585422"/>
                <a:gd name="connsiteY3" fmla="*/ 2931810 h 3098871"/>
                <a:gd name="connsiteX4" fmla="*/ 2891388 w 5585422"/>
                <a:gd name="connsiteY4" fmla="*/ 2926824 h 309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5422" h="3098871">
                  <a:moveTo>
                    <a:pt x="0" y="0"/>
                  </a:moveTo>
                  <a:lnTo>
                    <a:pt x="5585422" y="0"/>
                  </a:lnTo>
                  <a:lnTo>
                    <a:pt x="5585422" y="1079106"/>
                  </a:lnTo>
                  <a:lnTo>
                    <a:pt x="3710012" y="2931810"/>
                  </a:lnTo>
                  <a:cubicBezTo>
                    <a:pt x="3482580" y="3156491"/>
                    <a:pt x="3116069" y="3154260"/>
                    <a:pt x="2891388" y="2926824"/>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58" name="任意多边形: 形状 57"/>
            <p:cNvSpPr/>
            <p:nvPr/>
          </p:nvSpPr>
          <p:spPr>
            <a:xfrm>
              <a:off x="10936616" y="1861686"/>
              <a:ext cx="1262356" cy="2716515"/>
            </a:xfrm>
            <a:custGeom>
              <a:avLst/>
              <a:gdLst>
                <a:gd name="connsiteX0" fmla="*/ 1262356 w 1262356"/>
                <a:gd name="connsiteY0" fmla="*/ 0 h 2716515"/>
                <a:gd name="connsiteX1" fmla="*/ 1262356 w 1262356"/>
                <a:gd name="connsiteY1" fmla="*/ 2716515 h 2716515"/>
                <a:gd name="connsiteX2" fmla="*/ 66754 w 1262356"/>
                <a:gd name="connsiteY2" fmla="*/ 1506259 h 2716515"/>
                <a:gd name="connsiteX3" fmla="*/ 68747 w 1262356"/>
                <a:gd name="connsiteY3" fmla="*/ 1179158 h 2716515"/>
              </a:gdLst>
              <a:ahLst/>
              <a:cxnLst>
                <a:cxn ang="0">
                  <a:pos x="connsiteX0" y="connsiteY0"/>
                </a:cxn>
                <a:cxn ang="0">
                  <a:pos x="connsiteX1" y="connsiteY1"/>
                </a:cxn>
                <a:cxn ang="0">
                  <a:pos x="connsiteX2" y="connsiteY2"/>
                </a:cxn>
                <a:cxn ang="0">
                  <a:pos x="connsiteX3" y="connsiteY3"/>
                </a:cxn>
              </a:cxnLst>
              <a:rect l="l" t="t" r="r" b="b"/>
              <a:pathLst>
                <a:path w="1262356" h="2716515">
                  <a:moveTo>
                    <a:pt x="1262356" y="0"/>
                  </a:moveTo>
                  <a:lnTo>
                    <a:pt x="1262356" y="2716515"/>
                  </a:lnTo>
                  <a:lnTo>
                    <a:pt x="66754" y="1506259"/>
                  </a:lnTo>
                  <a:cubicBezTo>
                    <a:pt x="-23023" y="1415383"/>
                    <a:pt x="-22130" y="1268934"/>
                    <a:pt x="68747" y="1179158"/>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8" name="任意多边形: 形状 37"/>
            <p:cNvSpPr/>
            <p:nvPr/>
          </p:nvSpPr>
          <p:spPr>
            <a:xfrm>
              <a:off x="10827744" y="1774613"/>
              <a:ext cx="1344334" cy="2863980"/>
            </a:xfrm>
            <a:custGeom>
              <a:avLst/>
              <a:gdLst>
                <a:gd name="connsiteX0" fmla="*/ 1344334 w 1344334"/>
                <a:gd name="connsiteY0" fmla="*/ 0 h 2863980"/>
                <a:gd name="connsiteX1" fmla="*/ 1344334 w 1344334"/>
                <a:gd name="connsiteY1" fmla="*/ 2863980 h 2863980"/>
                <a:gd name="connsiteX2" fmla="*/ 61005 w 1344334"/>
                <a:gd name="connsiteY2" fmla="*/ 1564923 h 2863980"/>
                <a:gd name="connsiteX3" fmla="*/ 62826 w 1344334"/>
                <a:gd name="connsiteY3" fmla="*/ 1265993 h 2863980"/>
              </a:gdLst>
              <a:ahLst/>
              <a:cxnLst>
                <a:cxn ang="0">
                  <a:pos x="connsiteX0" y="connsiteY0"/>
                </a:cxn>
                <a:cxn ang="0">
                  <a:pos x="connsiteX1" y="connsiteY1"/>
                </a:cxn>
                <a:cxn ang="0">
                  <a:pos x="connsiteX2" y="connsiteY2"/>
                </a:cxn>
                <a:cxn ang="0">
                  <a:pos x="connsiteX3" y="connsiteY3"/>
                </a:cxn>
              </a:cxnLst>
              <a:rect l="l" t="t" r="r" b="b"/>
              <a:pathLst>
                <a:path w="1344334" h="2863980">
                  <a:moveTo>
                    <a:pt x="1344334" y="0"/>
                  </a:moveTo>
                  <a:lnTo>
                    <a:pt x="1344334" y="2863980"/>
                  </a:lnTo>
                  <a:lnTo>
                    <a:pt x="61005" y="1564923"/>
                  </a:lnTo>
                  <a:cubicBezTo>
                    <a:pt x="-21040" y="1481873"/>
                    <a:pt x="-20224" y="1348038"/>
                    <a:pt x="62826" y="1265993"/>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1" name="任意多边形: 形状 20"/>
            <p:cNvSpPr/>
            <p:nvPr/>
          </p:nvSpPr>
          <p:spPr>
            <a:xfrm>
              <a:off x="0" y="0"/>
              <a:ext cx="9367156" cy="6858000"/>
            </a:xfrm>
            <a:custGeom>
              <a:avLst/>
              <a:gdLst>
                <a:gd name="connsiteX0" fmla="*/ 0 w 9367156"/>
                <a:gd name="connsiteY0" fmla="*/ 0 h 6858000"/>
                <a:gd name="connsiteX1" fmla="*/ 6021503 w 9367156"/>
                <a:gd name="connsiteY1" fmla="*/ 0 h 6858000"/>
                <a:gd name="connsiteX2" fmla="*/ 9119403 w 9367156"/>
                <a:gd name="connsiteY2" fmla="*/ 3135866 h 6858000"/>
                <a:gd name="connsiteX3" fmla="*/ 9112008 w 9367156"/>
                <a:gd name="connsiteY3" fmla="*/ 4349902 h 6858000"/>
                <a:gd name="connsiteX4" fmla="*/ 6573172 w 9367156"/>
                <a:gd name="connsiteY4" fmla="*/ 6858000 h 6858000"/>
                <a:gd name="connsiteX5" fmla="*/ 0 w 9367156"/>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7156" h="6858000">
                  <a:moveTo>
                    <a:pt x="0" y="0"/>
                  </a:moveTo>
                  <a:lnTo>
                    <a:pt x="6021503" y="0"/>
                  </a:lnTo>
                  <a:lnTo>
                    <a:pt x="9119403" y="3135866"/>
                  </a:lnTo>
                  <a:cubicBezTo>
                    <a:pt x="9452609" y="3473154"/>
                    <a:pt x="9449296" y="4016696"/>
                    <a:pt x="9112008" y="4349902"/>
                  </a:cubicBezTo>
                  <a:lnTo>
                    <a:pt x="6573172" y="6858000"/>
                  </a:lnTo>
                  <a:lnTo>
                    <a:pt x="0" y="6858000"/>
                  </a:lnTo>
                  <a:close/>
                </a:path>
              </a:pathLst>
            </a:custGeom>
            <a:solidFill>
              <a:srgbClr val="6696B6">
                <a:alpha val="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9" name="任意多边形: 形状 28"/>
            <p:cNvSpPr/>
            <p:nvPr/>
          </p:nvSpPr>
          <p:spPr>
            <a:xfrm>
              <a:off x="6962877" y="3548582"/>
              <a:ext cx="5236095" cy="3309419"/>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43" name="文本框 42"/>
          <p:cNvSpPr txBox="1"/>
          <p:nvPr/>
        </p:nvSpPr>
        <p:spPr>
          <a:xfrm>
            <a:off x="620395" y="2626995"/>
            <a:ext cx="7940040" cy="922020"/>
          </a:xfrm>
          <a:prstGeom prst="rect">
            <a:avLst/>
          </a:prstGeom>
          <a:noFill/>
        </p:spPr>
        <p:txBody>
          <a:bodyPr wrap="square" rtlCol="0">
            <a:spAutoFit/>
          </a:bodyPr>
          <a:lstStyle/>
          <a:p>
            <a:pPr algn="dist"/>
            <a:r>
              <a:rPr lang="zh-CN" altLang="en-US" sz="5400" dirty="0">
                <a:solidFill>
                  <a:srgbClr val="6696B6"/>
                </a:solidFill>
                <a:latin typeface="汉仪君黑-45简" panose="020B0604020202020204" charset="-122"/>
                <a:ea typeface="汉仪君黑-45简" panose="020B0604020202020204" charset="-122"/>
              </a:rPr>
              <a:t>九月至十月工作进展汇报</a:t>
            </a:r>
            <a:endParaRPr lang="zh-CN" altLang="en-US" sz="5400" dirty="0">
              <a:solidFill>
                <a:srgbClr val="6696B6"/>
              </a:solidFill>
              <a:latin typeface="汉仪君黑-45简" panose="020B0604020202020204" charset="-122"/>
              <a:ea typeface="汉仪君黑-45简" panose="020B0604020202020204" charset="-122"/>
            </a:endParaRPr>
          </a:p>
        </p:txBody>
      </p:sp>
      <p:sp>
        <p:nvSpPr>
          <p:cNvPr id="54" name="矩形: 圆角 53"/>
          <p:cNvSpPr/>
          <p:nvPr/>
        </p:nvSpPr>
        <p:spPr>
          <a:xfrm>
            <a:off x="661035" y="4742180"/>
            <a:ext cx="2218055" cy="430530"/>
          </a:xfrm>
          <a:prstGeom prst="roundRect">
            <a:avLst/>
          </a:prstGeom>
          <a:solidFill>
            <a:srgbClr val="669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汉仪君黑-45简" panose="020B0604020202020204" charset="-122"/>
                <a:ea typeface="汉仪君黑-45简" panose="020B0604020202020204" charset="-122"/>
                <a:cs typeface="+mn-ea"/>
                <a:sym typeface="+mn-lt"/>
              </a:rPr>
              <a:t>汇报人：武光耀</a:t>
            </a:r>
            <a:endParaRPr lang="zh-CN" altLang="en-US" sz="2000" dirty="0">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任意多边形: 形状 17"/>
          <p:cNvSpPr/>
          <p:nvPr/>
        </p:nvSpPr>
        <p:spPr>
          <a:xfrm>
            <a:off x="9457898" y="5125533"/>
            <a:ext cx="2741073" cy="1732467"/>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9" name="任意多边形: 形状 18"/>
          <p:cNvSpPr/>
          <p:nvPr/>
        </p:nvSpPr>
        <p:spPr>
          <a:xfrm flipH="1">
            <a:off x="0" y="-1"/>
            <a:ext cx="3640081" cy="1987722"/>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0" name="任意多边形: 形状 19"/>
          <p:cNvSpPr/>
          <p:nvPr/>
        </p:nvSpPr>
        <p:spPr>
          <a:xfrm flipH="1">
            <a:off x="4648" y="-1"/>
            <a:ext cx="3723684" cy="2065953"/>
          </a:xfrm>
          <a:custGeom>
            <a:avLst/>
            <a:gdLst>
              <a:gd name="connsiteX0" fmla="*/ 0 w 5585422"/>
              <a:gd name="connsiteY0" fmla="*/ 0 h 3098871"/>
              <a:gd name="connsiteX1" fmla="*/ 5585422 w 5585422"/>
              <a:gd name="connsiteY1" fmla="*/ 0 h 3098871"/>
              <a:gd name="connsiteX2" fmla="*/ 5585422 w 5585422"/>
              <a:gd name="connsiteY2" fmla="*/ 1079106 h 3098871"/>
              <a:gd name="connsiteX3" fmla="*/ 3710012 w 5585422"/>
              <a:gd name="connsiteY3" fmla="*/ 2931810 h 3098871"/>
              <a:gd name="connsiteX4" fmla="*/ 2891388 w 5585422"/>
              <a:gd name="connsiteY4" fmla="*/ 2926824 h 309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5422" h="3098871">
                <a:moveTo>
                  <a:pt x="0" y="0"/>
                </a:moveTo>
                <a:lnTo>
                  <a:pt x="5585422" y="0"/>
                </a:lnTo>
                <a:lnTo>
                  <a:pt x="5585422" y="1079106"/>
                </a:lnTo>
                <a:lnTo>
                  <a:pt x="3710012" y="2931810"/>
                </a:lnTo>
                <a:cubicBezTo>
                  <a:pt x="3482580" y="3156491"/>
                  <a:pt x="3116069" y="3154260"/>
                  <a:pt x="2891388" y="2926824"/>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3" name="菱形"/>
          <p:cNvSpPr/>
          <p:nvPr>
            <p:custDataLst>
              <p:tags r:id="rId1"/>
            </p:custDataLst>
          </p:nvPr>
        </p:nvSpPr>
        <p:spPr bwMode="auto">
          <a:xfrm>
            <a:off x="5503971" y="1177546"/>
            <a:ext cx="888407" cy="888407"/>
          </a:xfrm>
          <a:custGeom>
            <a:avLst/>
            <a:gdLst>
              <a:gd name="T0" fmla="*/ 7569 w 16599"/>
              <a:gd name="T1" fmla="*/ 403 h 16599"/>
              <a:gd name="T2" fmla="*/ 9030 w 16599"/>
              <a:gd name="T3" fmla="*/ 403 h 16599"/>
              <a:gd name="T4" fmla="*/ 16195 w 16599"/>
              <a:gd name="T5" fmla="*/ 7569 h 16599"/>
              <a:gd name="T6" fmla="*/ 16195 w 16599"/>
              <a:gd name="T7" fmla="*/ 9030 h 16599"/>
              <a:gd name="T8" fmla="*/ 9030 w 16599"/>
              <a:gd name="T9" fmla="*/ 16195 h 16599"/>
              <a:gd name="T10" fmla="*/ 7569 w 16599"/>
              <a:gd name="T11" fmla="*/ 16195 h 16599"/>
              <a:gd name="T12" fmla="*/ 403 w 16599"/>
              <a:gd name="T13" fmla="*/ 9030 h 16599"/>
              <a:gd name="T14" fmla="*/ 403 w 16599"/>
              <a:gd name="T15" fmla="*/ 7569 h 16599"/>
              <a:gd name="T16" fmla="*/ 7569 w 16599"/>
              <a:gd name="T17" fmla="*/ 403 h 16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99" h="16599">
                <a:moveTo>
                  <a:pt x="7569" y="403"/>
                </a:moveTo>
                <a:cubicBezTo>
                  <a:pt x="7972" y="0"/>
                  <a:pt x="8627" y="0"/>
                  <a:pt x="9030" y="403"/>
                </a:cubicBezTo>
                <a:lnTo>
                  <a:pt x="16195" y="7569"/>
                </a:lnTo>
                <a:cubicBezTo>
                  <a:pt x="16599" y="7972"/>
                  <a:pt x="16599" y="8627"/>
                  <a:pt x="16195" y="9030"/>
                </a:cubicBezTo>
                <a:lnTo>
                  <a:pt x="9030" y="16195"/>
                </a:lnTo>
                <a:cubicBezTo>
                  <a:pt x="8627" y="16599"/>
                  <a:pt x="7972" y="16599"/>
                  <a:pt x="7569" y="16195"/>
                </a:cubicBezTo>
                <a:lnTo>
                  <a:pt x="403" y="9030"/>
                </a:lnTo>
                <a:cubicBezTo>
                  <a:pt x="0" y="8627"/>
                  <a:pt x="0" y="7972"/>
                  <a:pt x="403" y="7569"/>
                </a:cubicBezTo>
                <a:lnTo>
                  <a:pt x="7569" y="403"/>
                </a:lnTo>
                <a:close/>
              </a:path>
            </a:pathLst>
          </a:custGeom>
          <a:solidFill>
            <a:srgbClr val="6696B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3600" dirty="0">
                <a:solidFill>
                  <a:prstClr val="white"/>
                </a:solidFill>
                <a:latin typeface="汉仪君黑-45简" panose="020B0604020202020204" charset="-122"/>
                <a:ea typeface="汉仪君黑-45简" panose="020B0604020202020204" charset="-122"/>
                <a:cs typeface="+mn-ea"/>
                <a:sym typeface="+mn-lt"/>
              </a:rPr>
              <a:t>01</a:t>
            </a:r>
            <a:endParaRPr lang="en-US" altLang="zh-CN" sz="3600" dirty="0">
              <a:solidFill>
                <a:prstClr val="white"/>
              </a:solidFill>
              <a:latin typeface="汉仪君黑-45简" panose="020B0604020202020204" charset="-122"/>
              <a:ea typeface="汉仪君黑-45简" panose="020B0604020202020204" charset="-122"/>
              <a:cs typeface="+mn-ea"/>
              <a:sym typeface="+mn-lt"/>
            </a:endParaRPr>
          </a:p>
        </p:txBody>
      </p:sp>
      <p:sp>
        <p:nvSpPr>
          <p:cNvPr id="24" name="菱形"/>
          <p:cNvSpPr/>
          <p:nvPr>
            <p:custDataLst>
              <p:tags r:id="rId2"/>
            </p:custDataLst>
          </p:nvPr>
        </p:nvSpPr>
        <p:spPr bwMode="auto">
          <a:xfrm>
            <a:off x="5503971" y="2382379"/>
            <a:ext cx="888407" cy="888407"/>
          </a:xfrm>
          <a:custGeom>
            <a:avLst/>
            <a:gdLst>
              <a:gd name="T0" fmla="*/ 7569 w 16599"/>
              <a:gd name="T1" fmla="*/ 403 h 16599"/>
              <a:gd name="T2" fmla="*/ 9030 w 16599"/>
              <a:gd name="T3" fmla="*/ 403 h 16599"/>
              <a:gd name="T4" fmla="*/ 16195 w 16599"/>
              <a:gd name="T5" fmla="*/ 7569 h 16599"/>
              <a:gd name="T6" fmla="*/ 16195 w 16599"/>
              <a:gd name="T7" fmla="*/ 9030 h 16599"/>
              <a:gd name="T8" fmla="*/ 9030 w 16599"/>
              <a:gd name="T9" fmla="*/ 16195 h 16599"/>
              <a:gd name="T10" fmla="*/ 7569 w 16599"/>
              <a:gd name="T11" fmla="*/ 16195 h 16599"/>
              <a:gd name="T12" fmla="*/ 403 w 16599"/>
              <a:gd name="T13" fmla="*/ 9030 h 16599"/>
              <a:gd name="T14" fmla="*/ 403 w 16599"/>
              <a:gd name="T15" fmla="*/ 7569 h 16599"/>
              <a:gd name="T16" fmla="*/ 7569 w 16599"/>
              <a:gd name="T17" fmla="*/ 403 h 16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99" h="16599">
                <a:moveTo>
                  <a:pt x="7569" y="403"/>
                </a:moveTo>
                <a:cubicBezTo>
                  <a:pt x="7972" y="0"/>
                  <a:pt x="8627" y="0"/>
                  <a:pt x="9030" y="403"/>
                </a:cubicBezTo>
                <a:lnTo>
                  <a:pt x="16195" y="7569"/>
                </a:lnTo>
                <a:cubicBezTo>
                  <a:pt x="16599" y="7972"/>
                  <a:pt x="16599" y="8627"/>
                  <a:pt x="16195" y="9030"/>
                </a:cubicBezTo>
                <a:lnTo>
                  <a:pt x="9030" y="16195"/>
                </a:lnTo>
                <a:cubicBezTo>
                  <a:pt x="8627" y="16599"/>
                  <a:pt x="7972" y="16599"/>
                  <a:pt x="7569" y="16195"/>
                </a:cubicBezTo>
                <a:lnTo>
                  <a:pt x="403" y="9030"/>
                </a:lnTo>
                <a:cubicBezTo>
                  <a:pt x="0" y="8627"/>
                  <a:pt x="0" y="7972"/>
                  <a:pt x="403" y="7569"/>
                </a:cubicBezTo>
                <a:lnTo>
                  <a:pt x="7569" y="403"/>
                </a:lnTo>
                <a:close/>
              </a:path>
            </a:pathLst>
          </a:custGeom>
          <a:solidFill>
            <a:srgbClr val="6696B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3600" dirty="0">
                <a:solidFill>
                  <a:prstClr val="white"/>
                </a:solidFill>
                <a:latin typeface="汉仪君黑-45简" panose="020B0604020202020204" charset="-122"/>
                <a:ea typeface="汉仪君黑-45简" panose="020B0604020202020204" charset="-122"/>
                <a:cs typeface="+mn-ea"/>
                <a:sym typeface="+mn-lt"/>
              </a:rPr>
              <a:t>02</a:t>
            </a:r>
            <a:endParaRPr lang="en-US" altLang="zh-CN" sz="3600" dirty="0">
              <a:solidFill>
                <a:prstClr val="white"/>
              </a:solidFill>
              <a:latin typeface="汉仪君黑-45简" panose="020B0604020202020204" charset="-122"/>
              <a:ea typeface="汉仪君黑-45简" panose="020B0604020202020204" charset="-122"/>
              <a:cs typeface="+mn-ea"/>
              <a:sym typeface="+mn-lt"/>
            </a:endParaRPr>
          </a:p>
        </p:txBody>
      </p:sp>
      <p:sp>
        <p:nvSpPr>
          <p:cNvPr id="25" name="菱形"/>
          <p:cNvSpPr/>
          <p:nvPr>
            <p:custDataLst>
              <p:tags r:id="rId3"/>
            </p:custDataLst>
          </p:nvPr>
        </p:nvSpPr>
        <p:spPr bwMode="auto">
          <a:xfrm>
            <a:off x="5503971" y="3587212"/>
            <a:ext cx="888407" cy="888407"/>
          </a:xfrm>
          <a:custGeom>
            <a:avLst/>
            <a:gdLst>
              <a:gd name="T0" fmla="*/ 7569 w 16599"/>
              <a:gd name="T1" fmla="*/ 403 h 16599"/>
              <a:gd name="T2" fmla="*/ 9030 w 16599"/>
              <a:gd name="T3" fmla="*/ 403 h 16599"/>
              <a:gd name="T4" fmla="*/ 16195 w 16599"/>
              <a:gd name="T5" fmla="*/ 7569 h 16599"/>
              <a:gd name="T6" fmla="*/ 16195 w 16599"/>
              <a:gd name="T7" fmla="*/ 9030 h 16599"/>
              <a:gd name="T8" fmla="*/ 9030 w 16599"/>
              <a:gd name="T9" fmla="*/ 16195 h 16599"/>
              <a:gd name="T10" fmla="*/ 7569 w 16599"/>
              <a:gd name="T11" fmla="*/ 16195 h 16599"/>
              <a:gd name="T12" fmla="*/ 403 w 16599"/>
              <a:gd name="T13" fmla="*/ 9030 h 16599"/>
              <a:gd name="T14" fmla="*/ 403 w 16599"/>
              <a:gd name="T15" fmla="*/ 7569 h 16599"/>
              <a:gd name="T16" fmla="*/ 7569 w 16599"/>
              <a:gd name="T17" fmla="*/ 403 h 16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99" h="16599">
                <a:moveTo>
                  <a:pt x="7569" y="403"/>
                </a:moveTo>
                <a:cubicBezTo>
                  <a:pt x="7972" y="0"/>
                  <a:pt x="8627" y="0"/>
                  <a:pt x="9030" y="403"/>
                </a:cubicBezTo>
                <a:lnTo>
                  <a:pt x="16195" y="7569"/>
                </a:lnTo>
                <a:cubicBezTo>
                  <a:pt x="16599" y="7972"/>
                  <a:pt x="16599" y="8627"/>
                  <a:pt x="16195" y="9030"/>
                </a:cubicBezTo>
                <a:lnTo>
                  <a:pt x="9030" y="16195"/>
                </a:lnTo>
                <a:cubicBezTo>
                  <a:pt x="8627" y="16599"/>
                  <a:pt x="7972" y="16599"/>
                  <a:pt x="7569" y="16195"/>
                </a:cubicBezTo>
                <a:lnTo>
                  <a:pt x="403" y="9030"/>
                </a:lnTo>
                <a:cubicBezTo>
                  <a:pt x="0" y="8627"/>
                  <a:pt x="0" y="7972"/>
                  <a:pt x="403" y="7569"/>
                </a:cubicBezTo>
                <a:lnTo>
                  <a:pt x="7569" y="403"/>
                </a:lnTo>
                <a:close/>
              </a:path>
            </a:pathLst>
          </a:custGeom>
          <a:solidFill>
            <a:srgbClr val="6696B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3600" dirty="0">
                <a:solidFill>
                  <a:prstClr val="white"/>
                </a:solidFill>
                <a:latin typeface="汉仪君黑-45简" panose="020B0604020202020204" charset="-122"/>
                <a:ea typeface="汉仪君黑-45简" panose="020B0604020202020204" charset="-122"/>
                <a:cs typeface="+mn-ea"/>
                <a:sym typeface="+mn-lt"/>
              </a:rPr>
              <a:t>03</a:t>
            </a:r>
            <a:endParaRPr lang="en-US" altLang="zh-CN" sz="3600" dirty="0">
              <a:solidFill>
                <a:prstClr val="white"/>
              </a:solidFill>
              <a:latin typeface="汉仪君黑-45简" panose="020B0604020202020204" charset="-122"/>
              <a:ea typeface="汉仪君黑-45简" panose="020B0604020202020204" charset="-122"/>
              <a:cs typeface="+mn-ea"/>
              <a:sym typeface="+mn-lt"/>
            </a:endParaRPr>
          </a:p>
        </p:txBody>
      </p:sp>
      <p:sp>
        <p:nvSpPr>
          <p:cNvPr id="26" name="菱形"/>
          <p:cNvSpPr/>
          <p:nvPr>
            <p:custDataLst>
              <p:tags r:id="rId4"/>
            </p:custDataLst>
          </p:nvPr>
        </p:nvSpPr>
        <p:spPr bwMode="auto">
          <a:xfrm>
            <a:off x="5503971" y="4792046"/>
            <a:ext cx="888407" cy="888407"/>
          </a:xfrm>
          <a:custGeom>
            <a:avLst/>
            <a:gdLst>
              <a:gd name="T0" fmla="*/ 7569 w 16599"/>
              <a:gd name="T1" fmla="*/ 403 h 16599"/>
              <a:gd name="T2" fmla="*/ 9030 w 16599"/>
              <a:gd name="T3" fmla="*/ 403 h 16599"/>
              <a:gd name="T4" fmla="*/ 16195 w 16599"/>
              <a:gd name="T5" fmla="*/ 7569 h 16599"/>
              <a:gd name="T6" fmla="*/ 16195 w 16599"/>
              <a:gd name="T7" fmla="*/ 9030 h 16599"/>
              <a:gd name="T8" fmla="*/ 9030 w 16599"/>
              <a:gd name="T9" fmla="*/ 16195 h 16599"/>
              <a:gd name="T10" fmla="*/ 7569 w 16599"/>
              <a:gd name="T11" fmla="*/ 16195 h 16599"/>
              <a:gd name="T12" fmla="*/ 403 w 16599"/>
              <a:gd name="T13" fmla="*/ 9030 h 16599"/>
              <a:gd name="T14" fmla="*/ 403 w 16599"/>
              <a:gd name="T15" fmla="*/ 7569 h 16599"/>
              <a:gd name="T16" fmla="*/ 7569 w 16599"/>
              <a:gd name="T17" fmla="*/ 403 h 16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99" h="16599">
                <a:moveTo>
                  <a:pt x="7569" y="403"/>
                </a:moveTo>
                <a:cubicBezTo>
                  <a:pt x="7972" y="0"/>
                  <a:pt x="8627" y="0"/>
                  <a:pt x="9030" y="403"/>
                </a:cubicBezTo>
                <a:lnTo>
                  <a:pt x="16195" y="7569"/>
                </a:lnTo>
                <a:cubicBezTo>
                  <a:pt x="16599" y="7972"/>
                  <a:pt x="16599" y="8627"/>
                  <a:pt x="16195" y="9030"/>
                </a:cubicBezTo>
                <a:lnTo>
                  <a:pt x="9030" y="16195"/>
                </a:lnTo>
                <a:cubicBezTo>
                  <a:pt x="8627" y="16599"/>
                  <a:pt x="7972" y="16599"/>
                  <a:pt x="7569" y="16195"/>
                </a:cubicBezTo>
                <a:lnTo>
                  <a:pt x="403" y="9030"/>
                </a:lnTo>
                <a:cubicBezTo>
                  <a:pt x="0" y="8627"/>
                  <a:pt x="0" y="7972"/>
                  <a:pt x="403" y="7569"/>
                </a:cubicBezTo>
                <a:lnTo>
                  <a:pt x="7569" y="403"/>
                </a:lnTo>
                <a:close/>
              </a:path>
            </a:pathLst>
          </a:custGeom>
          <a:solidFill>
            <a:srgbClr val="6696B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3600" dirty="0">
                <a:solidFill>
                  <a:prstClr val="white"/>
                </a:solidFill>
                <a:latin typeface="汉仪君黑-45简" panose="020B0604020202020204" charset="-122"/>
                <a:ea typeface="汉仪君黑-45简" panose="020B0604020202020204" charset="-122"/>
                <a:cs typeface="+mn-ea"/>
                <a:sym typeface="+mn-lt"/>
              </a:rPr>
              <a:t>04</a:t>
            </a:r>
            <a:endParaRPr lang="en-US" altLang="zh-CN" sz="3600" dirty="0">
              <a:solidFill>
                <a:prstClr val="white"/>
              </a:solidFill>
              <a:latin typeface="汉仪君黑-45简" panose="020B0604020202020204" charset="-122"/>
              <a:ea typeface="汉仪君黑-45简" panose="020B0604020202020204" charset="-122"/>
              <a:cs typeface="+mn-ea"/>
              <a:sym typeface="+mn-lt"/>
            </a:endParaRPr>
          </a:p>
        </p:txBody>
      </p:sp>
      <p:sp>
        <p:nvSpPr>
          <p:cNvPr id="27" name="文本框 24"/>
          <p:cNvSpPr txBox="1"/>
          <p:nvPr>
            <p:custDataLst>
              <p:tags r:id="rId5"/>
            </p:custDataLst>
          </p:nvPr>
        </p:nvSpPr>
        <p:spPr>
          <a:xfrm>
            <a:off x="6773469" y="1329362"/>
            <a:ext cx="4161973"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3600" dirty="0">
                <a:solidFill>
                  <a:schemeClr val="tx1">
                    <a:lumMod val="75000"/>
                    <a:lumOff val="25000"/>
                  </a:schemeClr>
                </a:solidFill>
                <a:latin typeface="汉仪君黑-45简" panose="020B0604020202020204" charset="-122"/>
                <a:ea typeface="汉仪君黑-45简" panose="020B0604020202020204" charset="-122"/>
                <a:cs typeface="+mn-ea"/>
                <a:sym typeface="+mn-lt"/>
              </a:rPr>
              <a:t>创新点详细解析</a:t>
            </a:r>
            <a:endParaRPr lang="zh-CN" altLang="en-US" sz="36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28" name="文本框 25"/>
          <p:cNvSpPr txBox="1"/>
          <p:nvPr>
            <p:custDataLst>
              <p:tags r:id="rId6"/>
            </p:custDataLst>
          </p:nvPr>
        </p:nvSpPr>
        <p:spPr>
          <a:xfrm>
            <a:off x="6773469" y="2534195"/>
            <a:ext cx="4161973"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3600" dirty="0">
                <a:solidFill>
                  <a:schemeClr val="tx1">
                    <a:lumMod val="75000"/>
                    <a:lumOff val="25000"/>
                  </a:schemeClr>
                </a:solidFill>
                <a:latin typeface="汉仪君黑-45简" panose="020B0604020202020204" charset="-122"/>
                <a:ea typeface="汉仪君黑-45简" panose="020B0604020202020204" charset="-122"/>
                <a:cs typeface="+mn-ea"/>
                <a:sym typeface="+mn-lt"/>
              </a:rPr>
              <a:t>模块与代码的映射</a:t>
            </a:r>
            <a:endParaRPr lang="zh-CN" altLang="en-US" sz="36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29" name="文本框 26"/>
          <p:cNvSpPr txBox="1"/>
          <p:nvPr>
            <p:custDataLst>
              <p:tags r:id="rId7"/>
            </p:custDataLst>
          </p:nvPr>
        </p:nvSpPr>
        <p:spPr>
          <a:xfrm>
            <a:off x="6773469" y="3739028"/>
            <a:ext cx="4161973"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3600" dirty="0">
                <a:solidFill>
                  <a:schemeClr val="tx1">
                    <a:lumMod val="75000"/>
                    <a:lumOff val="25000"/>
                  </a:schemeClr>
                </a:solidFill>
                <a:latin typeface="汉仪君黑-45简" panose="020B0604020202020204" charset="-122"/>
                <a:ea typeface="汉仪君黑-45简" panose="020B0604020202020204" charset="-122"/>
                <a:cs typeface="+mn-ea"/>
                <a:sym typeface="+mn-lt"/>
              </a:rPr>
              <a:t>该领域</a:t>
            </a:r>
            <a:r>
              <a:rPr lang="en-US" altLang="zh-CN" sz="3600" dirty="0">
                <a:solidFill>
                  <a:schemeClr val="tx1">
                    <a:lumMod val="75000"/>
                    <a:lumOff val="25000"/>
                  </a:schemeClr>
                </a:solidFill>
                <a:latin typeface="汉仪君黑-45简" panose="020B0604020202020204" charset="-122"/>
                <a:ea typeface="汉仪君黑-45简" panose="020B0604020202020204" charset="-122"/>
                <a:cs typeface="+mn-ea"/>
                <a:sym typeface="+mn-lt"/>
              </a:rPr>
              <a:t>SOTA</a:t>
            </a:r>
            <a:r>
              <a:rPr lang="zh-CN" altLang="en-US" sz="3600" dirty="0">
                <a:solidFill>
                  <a:schemeClr val="tx1">
                    <a:lumMod val="75000"/>
                    <a:lumOff val="25000"/>
                  </a:schemeClr>
                </a:solidFill>
                <a:latin typeface="汉仪君黑-45简" panose="020B0604020202020204" charset="-122"/>
                <a:ea typeface="汉仪君黑-45简" panose="020B0604020202020204" charset="-122"/>
                <a:cs typeface="+mn-ea"/>
                <a:sym typeface="+mn-lt"/>
              </a:rPr>
              <a:t>选择</a:t>
            </a:r>
            <a:endParaRPr lang="zh-CN" altLang="en-US" sz="36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30" name="文本框 27"/>
          <p:cNvSpPr txBox="1"/>
          <p:nvPr>
            <p:custDataLst>
              <p:tags r:id="rId8"/>
            </p:custDataLst>
          </p:nvPr>
        </p:nvSpPr>
        <p:spPr>
          <a:xfrm>
            <a:off x="6773469" y="4943862"/>
            <a:ext cx="4161973"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3600" dirty="0">
                <a:solidFill>
                  <a:schemeClr val="tx1">
                    <a:lumMod val="75000"/>
                    <a:lumOff val="25000"/>
                  </a:schemeClr>
                </a:solidFill>
                <a:latin typeface="汉仪君黑-45简" panose="020B0604020202020204" charset="-122"/>
                <a:ea typeface="汉仪君黑-45简" panose="020B0604020202020204" charset="-122"/>
                <a:cs typeface="+mn-ea"/>
                <a:sym typeface="+mn-lt"/>
              </a:rPr>
              <a:t>后期工作计划</a:t>
            </a:r>
            <a:endParaRPr lang="zh-CN" altLang="en-US" sz="36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31" name="文本框 5"/>
          <p:cNvSpPr txBox="1"/>
          <p:nvPr/>
        </p:nvSpPr>
        <p:spPr>
          <a:xfrm>
            <a:off x="1256558" y="2855372"/>
            <a:ext cx="2138315"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800" dirty="0">
                <a:solidFill>
                  <a:srgbClr val="6696B6"/>
                </a:solidFill>
                <a:latin typeface="汉仪君黑-45简" panose="020B0604020202020204" charset="-122"/>
                <a:ea typeface="汉仪君黑-45简" panose="020B0604020202020204" charset="-122"/>
                <a:cs typeface="+mn-ea"/>
                <a:sym typeface="+mn-lt"/>
              </a:rPr>
              <a:t>目录</a:t>
            </a:r>
            <a:endParaRPr lang="zh-CN" altLang="en-US" sz="4800" dirty="0">
              <a:solidFill>
                <a:srgbClr val="6696B6"/>
              </a:solidFill>
              <a:latin typeface="汉仪君黑-45简" panose="020B0604020202020204" charset="-122"/>
              <a:ea typeface="汉仪君黑-45简" panose="020B0604020202020204" charset="-122"/>
              <a:cs typeface="+mn-ea"/>
              <a:sym typeface="+mn-lt"/>
            </a:endParaRPr>
          </a:p>
        </p:txBody>
      </p:sp>
      <p:sp>
        <p:nvSpPr>
          <p:cNvPr id="32" name="文本框 9"/>
          <p:cNvSpPr txBox="1"/>
          <p:nvPr/>
        </p:nvSpPr>
        <p:spPr>
          <a:xfrm>
            <a:off x="1256558" y="3657108"/>
            <a:ext cx="2385999" cy="400110"/>
          </a:xfrm>
          <a:prstGeom prst="rect">
            <a:avLst/>
          </a:prstGeom>
          <a:solidFill>
            <a:srgbClr val="6696B6"/>
          </a:solidFill>
        </p:spPr>
        <p:txBody>
          <a:bodyPr vert="horz"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2000" dirty="0">
                <a:solidFill>
                  <a:schemeClr val="bg1"/>
                </a:solidFill>
                <a:latin typeface="汉仪君黑-45简" panose="020B0604020202020204" charset="-122"/>
                <a:ea typeface="汉仪君黑-45简" panose="020B0604020202020204" charset="-122"/>
                <a:cs typeface="+mn-ea"/>
                <a:sym typeface="+mn-lt"/>
              </a:rPr>
              <a:t>CONTENTS</a:t>
            </a:r>
            <a:endParaRPr lang="en-US" altLang="zh-CN" sz="2000" dirty="0">
              <a:solidFill>
                <a:schemeClr val="bg1"/>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7403" y="-2"/>
            <a:ext cx="12221827" cy="6861177"/>
            <a:chOff x="-7403" y="-2"/>
            <a:chExt cx="12221827" cy="6861177"/>
          </a:xfrm>
        </p:grpSpPr>
        <p:sp>
          <p:nvSpPr>
            <p:cNvPr id="17" name="任意多边形: 形状 16"/>
            <p:cNvSpPr/>
            <p:nvPr/>
          </p:nvSpPr>
          <p:spPr>
            <a:xfrm>
              <a:off x="-7403" y="2508015"/>
              <a:ext cx="4391298" cy="4353160"/>
            </a:xfrm>
            <a:custGeom>
              <a:avLst/>
              <a:gdLst>
                <a:gd name="connsiteX0" fmla="*/ 0 w 3918711"/>
                <a:gd name="connsiteY0" fmla="*/ 0 h 3884677"/>
                <a:gd name="connsiteX1" fmla="*/ 127100 w 3918711"/>
                <a:gd name="connsiteY1" fmla="*/ 67876 h 3884677"/>
                <a:gd name="connsiteX2" fmla="*/ 241996 w 3918711"/>
                <a:gd name="connsiteY2" fmla="*/ 162901 h 3884677"/>
                <a:gd name="connsiteX3" fmla="*/ 3918711 w 3918711"/>
                <a:gd name="connsiteY3" fmla="*/ 3884677 h 3884677"/>
                <a:gd name="connsiteX4" fmla="*/ 0 w 3918711"/>
                <a:gd name="connsiteY4" fmla="*/ 3884677 h 3884677"/>
                <a:gd name="connsiteX5" fmla="*/ 0 w 3918711"/>
                <a:gd name="connsiteY5" fmla="*/ 0 h 38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8711" h="3884677">
                  <a:moveTo>
                    <a:pt x="0" y="0"/>
                  </a:moveTo>
                  <a:lnTo>
                    <a:pt x="127100" y="67876"/>
                  </a:lnTo>
                  <a:cubicBezTo>
                    <a:pt x="167752" y="95074"/>
                    <a:pt x="206283" y="126750"/>
                    <a:pt x="241996" y="162901"/>
                  </a:cubicBezTo>
                  <a:lnTo>
                    <a:pt x="3918711" y="3884677"/>
                  </a:lnTo>
                  <a:lnTo>
                    <a:pt x="0" y="3884677"/>
                  </a:lnTo>
                  <a:lnTo>
                    <a:pt x="0" y="0"/>
                  </a:lnTo>
                  <a:close/>
                </a:path>
              </a:pathLst>
            </a:custGeom>
            <a:noFill/>
            <a:ln>
              <a:solidFill>
                <a:srgbClr val="6696B6">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0" name="任意多边形: 形状 19"/>
            <p:cNvSpPr/>
            <p:nvPr/>
          </p:nvSpPr>
          <p:spPr>
            <a:xfrm>
              <a:off x="1703876" y="-2"/>
              <a:ext cx="8784250" cy="6858002"/>
            </a:xfrm>
            <a:custGeom>
              <a:avLst/>
              <a:gdLst>
                <a:gd name="connsiteX0" fmla="*/ 3325627 w 8784250"/>
                <a:gd name="connsiteY0" fmla="*/ 0 h 6858002"/>
                <a:gd name="connsiteX1" fmla="*/ 5488675 w 8784250"/>
                <a:gd name="connsiteY1" fmla="*/ 0 h 6858002"/>
                <a:gd name="connsiteX2" fmla="*/ 8618482 w 8784250"/>
                <a:gd name="connsiteY2" fmla="*/ 3168164 h 6858002"/>
                <a:gd name="connsiteX3" fmla="*/ 8613534 w 8784250"/>
                <a:gd name="connsiteY3" fmla="*/ 3980458 h 6858002"/>
                <a:gd name="connsiteX4" fmla="*/ 5700725 w 8784250"/>
                <a:gd name="connsiteY4" fmla="*/ 6858002 h 6858002"/>
                <a:gd name="connsiteX5" fmla="*/ 3059304 w 8784250"/>
                <a:gd name="connsiteY5" fmla="*/ 6858002 h 6858002"/>
                <a:gd name="connsiteX6" fmla="*/ 165769 w 8784250"/>
                <a:gd name="connsiteY6" fmla="*/ 3929008 h 6858002"/>
                <a:gd name="connsiteX7" fmla="*/ 170717 w 8784250"/>
                <a:gd name="connsiteY7" fmla="*/ 3116714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84250" h="6858002">
                  <a:moveTo>
                    <a:pt x="3325627" y="0"/>
                  </a:moveTo>
                  <a:lnTo>
                    <a:pt x="5488675" y="0"/>
                  </a:lnTo>
                  <a:lnTo>
                    <a:pt x="8618482" y="3168164"/>
                  </a:lnTo>
                  <a:cubicBezTo>
                    <a:pt x="8841425" y="3393839"/>
                    <a:pt x="8839209" y="3757515"/>
                    <a:pt x="8613534" y="3980458"/>
                  </a:cubicBezTo>
                  <a:lnTo>
                    <a:pt x="5700725" y="6858002"/>
                  </a:lnTo>
                  <a:lnTo>
                    <a:pt x="3059304" y="6858002"/>
                  </a:lnTo>
                  <a:lnTo>
                    <a:pt x="165769" y="3929008"/>
                  </a:lnTo>
                  <a:cubicBezTo>
                    <a:pt x="-57174" y="3703333"/>
                    <a:pt x="-54957" y="3339657"/>
                    <a:pt x="170717" y="3116714"/>
                  </a:cubicBezTo>
                  <a:close/>
                </a:path>
              </a:pathLst>
            </a:custGeom>
            <a:solidFill>
              <a:srgbClr val="6696B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7" name="任意多边形: 形状 6"/>
            <p:cNvSpPr/>
            <p:nvPr/>
          </p:nvSpPr>
          <p:spPr>
            <a:xfrm>
              <a:off x="7888406" y="4142179"/>
              <a:ext cx="4296918" cy="2715822"/>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9" name="任意多边形: 形状 8"/>
            <p:cNvSpPr/>
            <p:nvPr/>
          </p:nvSpPr>
          <p:spPr>
            <a:xfrm flipH="1">
              <a:off x="0" y="-1"/>
              <a:ext cx="4592885" cy="2508015"/>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2" name="任意多边形: 形状 21"/>
            <p:cNvSpPr/>
            <p:nvPr/>
          </p:nvSpPr>
          <p:spPr>
            <a:xfrm>
              <a:off x="7671541" y="1"/>
              <a:ext cx="4542883" cy="3754877"/>
            </a:xfrm>
            <a:custGeom>
              <a:avLst/>
              <a:gdLst>
                <a:gd name="connsiteX0" fmla="*/ 0 w 4542883"/>
                <a:gd name="connsiteY0" fmla="*/ 0 h 3754877"/>
                <a:gd name="connsiteX1" fmla="*/ 4542883 w 4542883"/>
                <a:gd name="connsiteY1" fmla="*/ 0 h 3754877"/>
                <a:gd name="connsiteX2" fmla="*/ 4542883 w 4542883"/>
                <a:gd name="connsiteY2" fmla="*/ 3505533 h 3754877"/>
                <a:gd name="connsiteX3" fmla="*/ 4495391 w 4542883"/>
                <a:gd name="connsiteY3" fmla="*/ 3552450 h 3754877"/>
                <a:gd name="connsiteX4" fmla="*/ 3503471 w 4542883"/>
                <a:gd name="connsiteY4" fmla="*/ 3546408 h 3754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883" h="3754877">
                  <a:moveTo>
                    <a:pt x="0" y="0"/>
                  </a:moveTo>
                  <a:lnTo>
                    <a:pt x="4542883" y="0"/>
                  </a:lnTo>
                  <a:lnTo>
                    <a:pt x="4542883" y="3505533"/>
                  </a:lnTo>
                  <a:lnTo>
                    <a:pt x="4495391" y="3552450"/>
                  </a:lnTo>
                  <a:cubicBezTo>
                    <a:pt x="4219813" y="3824694"/>
                    <a:pt x="3775715" y="3821991"/>
                    <a:pt x="3503471" y="3546408"/>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4" name="菱形"/>
          <p:cNvSpPr/>
          <p:nvPr/>
        </p:nvSpPr>
        <p:spPr bwMode="auto">
          <a:xfrm>
            <a:off x="5300759" y="1727190"/>
            <a:ext cx="1590482" cy="1590482"/>
          </a:xfrm>
          <a:custGeom>
            <a:avLst/>
            <a:gdLst>
              <a:gd name="T0" fmla="*/ 7569 w 16599"/>
              <a:gd name="T1" fmla="*/ 403 h 16599"/>
              <a:gd name="T2" fmla="*/ 9030 w 16599"/>
              <a:gd name="T3" fmla="*/ 403 h 16599"/>
              <a:gd name="T4" fmla="*/ 16195 w 16599"/>
              <a:gd name="T5" fmla="*/ 7569 h 16599"/>
              <a:gd name="T6" fmla="*/ 16195 w 16599"/>
              <a:gd name="T7" fmla="*/ 9030 h 16599"/>
              <a:gd name="T8" fmla="*/ 9030 w 16599"/>
              <a:gd name="T9" fmla="*/ 16195 h 16599"/>
              <a:gd name="T10" fmla="*/ 7569 w 16599"/>
              <a:gd name="T11" fmla="*/ 16195 h 16599"/>
              <a:gd name="T12" fmla="*/ 403 w 16599"/>
              <a:gd name="T13" fmla="*/ 9030 h 16599"/>
              <a:gd name="T14" fmla="*/ 403 w 16599"/>
              <a:gd name="T15" fmla="*/ 7569 h 16599"/>
              <a:gd name="T16" fmla="*/ 7569 w 16599"/>
              <a:gd name="T17" fmla="*/ 403 h 16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99" h="16599">
                <a:moveTo>
                  <a:pt x="7569" y="403"/>
                </a:moveTo>
                <a:cubicBezTo>
                  <a:pt x="7972" y="0"/>
                  <a:pt x="8627" y="0"/>
                  <a:pt x="9030" y="403"/>
                </a:cubicBezTo>
                <a:lnTo>
                  <a:pt x="16195" y="7569"/>
                </a:lnTo>
                <a:cubicBezTo>
                  <a:pt x="16599" y="7972"/>
                  <a:pt x="16599" y="8627"/>
                  <a:pt x="16195" y="9030"/>
                </a:cubicBezTo>
                <a:lnTo>
                  <a:pt x="9030" y="16195"/>
                </a:lnTo>
                <a:cubicBezTo>
                  <a:pt x="8627" y="16599"/>
                  <a:pt x="7972" y="16599"/>
                  <a:pt x="7569" y="16195"/>
                </a:cubicBezTo>
                <a:lnTo>
                  <a:pt x="403" y="9030"/>
                </a:lnTo>
                <a:cubicBezTo>
                  <a:pt x="0" y="8627"/>
                  <a:pt x="0" y="7972"/>
                  <a:pt x="403" y="7569"/>
                </a:cubicBezTo>
                <a:lnTo>
                  <a:pt x="7569" y="403"/>
                </a:lnTo>
                <a:close/>
              </a:path>
            </a:pathLst>
          </a:custGeom>
          <a:solidFill>
            <a:srgbClr val="6696B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5400" dirty="0">
                <a:solidFill>
                  <a:prstClr val="white"/>
                </a:solidFill>
                <a:latin typeface="汉仪君黑-45简" panose="020B0604020202020204" charset="-122"/>
                <a:ea typeface="汉仪君黑-45简" panose="020B0604020202020204" charset="-122"/>
                <a:cs typeface="+mn-ea"/>
                <a:sym typeface="+mn-lt"/>
              </a:rPr>
              <a:t>01</a:t>
            </a:r>
            <a:endParaRPr lang="en-US" altLang="zh-CN" sz="5400" dirty="0">
              <a:solidFill>
                <a:prstClr val="white"/>
              </a:solidFill>
              <a:latin typeface="汉仪君黑-45简" panose="020B0604020202020204" charset="-122"/>
              <a:ea typeface="汉仪君黑-45简" panose="020B0604020202020204" charset="-122"/>
              <a:cs typeface="+mn-ea"/>
              <a:sym typeface="+mn-lt"/>
            </a:endParaRPr>
          </a:p>
        </p:txBody>
      </p:sp>
      <p:sp>
        <p:nvSpPr>
          <p:cNvPr id="35" name="文本框 24"/>
          <p:cNvSpPr txBox="1"/>
          <p:nvPr/>
        </p:nvSpPr>
        <p:spPr>
          <a:xfrm>
            <a:off x="3419116" y="3537092"/>
            <a:ext cx="5353769" cy="829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800" dirty="0">
                <a:solidFill>
                  <a:schemeClr val="tx1">
                    <a:lumMod val="75000"/>
                    <a:lumOff val="25000"/>
                  </a:schemeClr>
                </a:solidFill>
                <a:latin typeface="汉仪君黑-45简" panose="020B0604020202020204" charset="-122"/>
                <a:ea typeface="汉仪君黑-45简" panose="020B0604020202020204" charset="-122"/>
                <a:cs typeface="+mn-ea"/>
                <a:sym typeface="+mn-lt"/>
              </a:rPr>
              <a:t>创新点详细解析</a:t>
            </a:r>
            <a:endParaRPr lang="zh-CN" altLang="en-US" sz="4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36" name="矩形 35"/>
          <p:cNvSpPr/>
          <p:nvPr/>
        </p:nvSpPr>
        <p:spPr>
          <a:xfrm>
            <a:off x="2977324" y="4341684"/>
            <a:ext cx="6237352" cy="4603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endParaRPr lang="en-US" altLang="zh-CN" sz="16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14045" y="1664970"/>
            <a:ext cx="3541395" cy="2429510"/>
          </a:xfrm>
          <a:prstGeom prst="rect">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5" name="矩形 4"/>
          <p:cNvSpPr/>
          <p:nvPr/>
        </p:nvSpPr>
        <p:spPr>
          <a:xfrm>
            <a:off x="7689850" y="1664335"/>
            <a:ext cx="3309620" cy="242951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8" name="文本框 7"/>
          <p:cNvSpPr txBox="1">
            <a:spLocks noChangeArrowheads="1"/>
          </p:cNvSpPr>
          <p:nvPr/>
        </p:nvSpPr>
        <p:spPr bwMode="auto">
          <a:xfrm>
            <a:off x="4479290" y="2303145"/>
            <a:ext cx="30568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dirty="0">
                <a:solidFill>
                  <a:schemeClr val="bg1"/>
                </a:solidFill>
                <a:highlight>
                  <a:srgbClr val="000080"/>
                </a:highlight>
                <a:latin typeface="汉仪君黑-45简" panose="020B0604020202020204" charset="-122"/>
                <a:ea typeface="汉仪君黑-45简" panose="020B0604020202020204" charset="-122"/>
                <a:cs typeface="+mn-ea"/>
                <a:sym typeface="+mn-lt"/>
              </a:rPr>
              <a:t>创新点与文献内容的联系</a:t>
            </a:r>
            <a:endParaRPr lang="zh-CN" altLang="en-US" sz="2000" dirty="0">
              <a:solidFill>
                <a:schemeClr val="bg1"/>
              </a:solidFill>
              <a:highlight>
                <a:srgbClr val="000080"/>
              </a:highlight>
              <a:latin typeface="汉仪君黑-45简" panose="020B0604020202020204" charset="-122"/>
              <a:ea typeface="汉仪君黑-45简" panose="020B0604020202020204" charset="-122"/>
              <a:cs typeface="+mn-ea"/>
              <a:sym typeface="+mn-lt"/>
            </a:endParaRPr>
          </a:p>
        </p:txBody>
      </p:sp>
      <p:sp>
        <p:nvSpPr>
          <p:cNvPr id="12" name="文本框 11"/>
          <p:cNvSpPr txBox="1">
            <a:spLocks noChangeArrowheads="1"/>
          </p:cNvSpPr>
          <p:nvPr/>
        </p:nvSpPr>
        <p:spPr bwMode="auto">
          <a:xfrm>
            <a:off x="614149" y="4386691"/>
            <a:ext cx="277663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与</a:t>
            </a:r>
            <a:r>
              <a:rPr lang="en-US" altLang="zh-CN" sz="2000" dirty="0">
                <a:solidFill>
                  <a:srgbClr val="6696B6"/>
                </a:solidFill>
                <a:latin typeface="汉仪君黑-45简" panose="020B0604020202020204" charset="-122"/>
                <a:ea typeface="汉仪君黑-45简" panose="020B0604020202020204" charset="-122"/>
                <a:cs typeface="+mn-ea"/>
                <a:sym typeface="+mn-lt"/>
              </a:rPr>
              <a:t>GLEM</a:t>
            </a:r>
            <a:r>
              <a:rPr lang="zh-CN" altLang="en-US" sz="2000" dirty="0">
                <a:solidFill>
                  <a:srgbClr val="6696B6"/>
                </a:solidFill>
                <a:latin typeface="汉仪君黑-45简" panose="020B0604020202020204" charset="-122"/>
                <a:ea typeface="汉仪君黑-45简" panose="020B0604020202020204" charset="-122"/>
                <a:cs typeface="+mn-ea"/>
                <a:sym typeface="+mn-lt"/>
              </a:rPr>
              <a:t>的联系</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14" name="文本框 13"/>
          <p:cNvSpPr txBox="1">
            <a:spLocks noChangeArrowheads="1"/>
          </p:cNvSpPr>
          <p:nvPr/>
        </p:nvSpPr>
        <p:spPr bwMode="auto">
          <a:xfrm>
            <a:off x="614150" y="4785383"/>
            <a:ext cx="4967783" cy="170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dirty="0">
                <a:solidFill>
                  <a:srgbClr val="0D0D0D"/>
                </a:solidFill>
                <a:latin typeface="汉仪君黑-45简" panose="020B0604020202020204" charset="-122"/>
                <a:ea typeface="汉仪君黑-45简" panose="020B0604020202020204" charset="-122"/>
                <a:cs typeface="+mn-ea"/>
                <a:sym typeface="+mn-lt"/>
              </a:rPr>
              <a:t>该创新点是基于</a:t>
            </a:r>
            <a:r>
              <a:rPr lang="en-US" altLang="zh-CN" sz="1400" dirty="0">
                <a:solidFill>
                  <a:srgbClr val="0D0D0D"/>
                </a:solidFill>
                <a:latin typeface="汉仪君黑-45简" panose="020B0604020202020204" charset="-122"/>
                <a:ea typeface="汉仪君黑-45简" panose="020B0604020202020204" charset="-122"/>
                <a:cs typeface="+mn-ea"/>
                <a:sym typeface="+mn-lt"/>
              </a:rPr>
              <a:t>GLEM</a:t>
            </a:r>
            <a:r>
              <a:rPr lang="zh-CN" altLang="en-US" sz="1400" dirty="0">
                <a:solidFill>
                  <a:srgbClr val="0D0D0D"/>
                </a:solidFill>
                <a:latin typeface="汉仪君黑-45简" panose="020B0604020202020204" charset="-122"/>
                <a:ea typeface="汉仪君黑-45简" panose="020B0604020202020204" charset="-122"/>
                <a:cs typeface="+mn-ea"/>
                <a:sym typeface="+mn-lt"/>
              </a:rPr>
              <a:t>方法进行的优化，</a:t>
            </a:r>
            <a:r>
              <a:rPr lang="en-US" altLang="zh-CN" sz="1400" dirty="0">
                <a:solidFill>
                  <a:srgbClr val="0D0D0D"/>
                </a:solidFill>
                <a:latin typeface="汉仪君黑-45简" panose="020B0604020202020204" charset="-122"/>
                <a:ea typeface="汉仪君黑-45简" panose="020B0604020202020204" charset="-122"/>
                <a:cs typeface="+mn-ea"/>
                <a:sym typeface="+mn-lt"/>
              </a:rPr>
              <a:t>GLEM</a:t>
            </a:r>
            <a:r>
              <a:rPr lang="zh-CN" altLang="en-US" sz="1400" dirty="0">
                <a:solidFill>
                  <a:srgbClr val="0D0D0D"/>
                </a:solidFill>
                <a:latin typeface="汉仪君黑-45简" panose="020B0604020202020204" charset="-122"/>
                <a:ea typeface="汉仪君黑-45简" panose="020B0604020202020204" charset="-122"/>
                <a:cs typeface="+mn-ea"/>
                <a:sym typeface="+mn-lt"/>
              </a:rPr>
              <a:t>是双方交替执行，默认对方具有参考价值，该方法则是先算可靠度，再决定是否进行教学；</a:t>
            </a:r>
            <a:r>
              <a:rPr lang="en-US" altLang="zh-CN" sz="1400" dirty="0">
                <a:solidFill>
                  <a:srgbClr val="0D0D0D"/>
                </a:solidFill>
                <a:latin typeface="汉仪君黑-45简" panose="020B0604020202020204" charset="-122"/>
                <a:ea typeface="汉仪君黑-45简" panose="020B0604020202020204" charset="-122"/>
                <a:cs typeface="+mn-ea"/>
                <a:sym typeface="+mn-lt"/>
              </a:rPr>
              <a:t>GLEM</a:t>
            </a:r>
            <a:r>
              <a:rPr lang="zh-CN" altLang="en-US" sz="1400" dirty="0">
                <a:solidFill>
                  <a:srgbClr val="0D0D0D"/>
                </a:solidFill>
                <a:latin typeface="汉仪君黑-45简" panose="020B0604020202020204" charset="-122"/>
                <a:ea typeface="汉仪君黑-45简" panose="020B0604020202020204" charset="-122"/>
                <a:cs typeface="+mn-ea"/>
                <a:sym typeface="+mn-lt"/>
              </a:rPr>
              <a:t>在两个视图出现矛盾时依然会互相投喂伪标签，而该方法具有冲突抑制功能，能够及时的进行刹车，降低错误影响。</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16" name="文本框 15"/>
          <p:cNvSpPr txBox="1">
            <a:spLocks noChangeArrowheads="1"/>
          </p:cNvSpPr>
          <p:nvPr/>
        </p:nvSpPr>
        <p:spPr bwMode="auto">
          <a:xfrm>
            <a:off x="5982263" y="4386691"/>
            <a:ext cx="277663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与</a:t>
            </a:r>
            <a:r>
              <a:rPr lang="en-US" altLang="zh-CN" sz="2000" dirty="0">
                <a:solidFill>
                  <a:srgbClr val="6696B6"/>
                </a:solidFill>
                <a:latin typeface="汉仪君黑-45简" panose="020B0604020202020204" charset="-122"/>
                <a:ea typeface="汉仪君黑-45简" panose="020B0604020202020204" charset="-122"/>
                <a:cs typeface="+mn-ea"/>
                <a:sym typeface="+mn-lt"/>
              </a:rPr>
              <a:t>STAD</a:t>
            </a:r>
            <a:r>
              <a:rPr lang="zh-CN" altLang="en-US" sz="2000" dirty="0">
                <a:solidFill>
                  <a:srgbClr val="6696B6"/>
                </a:solidFill>
                <a:latin typeface="汉仪君黑-45简" panose="020B0604020202020204" charset="-122"/>
                <a:ea typeface="汉仪君黑-45简" panose="020B0604020202020204" charset="-122"/>
                <a:cs typeface="+mn-ea"/>
                <a:sym typeface="+mn-lt"/>
              </a:rPr>
              <a:t>的联系</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18" name="文本框 17"/>
          <p:cNvSpPr txBox="1">
            <a:spLocks noChangeArrowheads="1"/>
          </p:cNvSpPr>
          <p:nvPr/>
        </p:nvSpPr>
        <p:spPr bwMode="auto">
          <a:xfrm>
            <a:off x="5982265" y="4820943"/>
            <a:ext cx="5595585"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400" dirty="0">
                <a:solidFill>
                  <a:srgbClr val="0D0D0D"/>
                </a:solidFill>
                <a:latin typeface="汉仪君黑-45简" panose="020B0604020202020204" charset="-122"/>
                <a:ea typeface="汉仪君黑-45简" panose="020B0604020202020204" charset="-122"/>
                <a:cs typeface="+mn-ea"/>
                <a:sym typeface="+mn-lt"/>
              </a:rPr>
              <a:t>STAD</a:t>
            </a:r>
            <a:r>
              <a:rPr lang="zh-CN" altLang="en-US" sz="1400" dirty="0">
                <a:solidFill>
                  <a:srgbClr val="0D0D0D"/>
                </a:solidFill>
                <a:latin typeface="汉仪君黑-45简" panose="020B0604020202020204" charset="-122"/>
                <a:ea typeface="汉仪君黑-45简" panose="020B0604020202020204" charset="-122"/>
                <a:cs typeface="+mn-ea"/>
                <a:sym typeface="+mn-lt"/>
              </a:rPr>
              <a:t>的方法技术被充分的利用进了原型库的搭建技术中，先拿双视图预测做联合表示，然后聚类，再提取语义摘要，最后用聚类的结果进行可靠性实验校准。</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11" name="任意多边形: 形状 10"/>
          <p:cNvSpPr/>
          <p:nvPr/>
        </p:nvSpPr>
        <p:spPr>
          <a:xfrm>
            <a:off x="11206264" y="6230570"/>
            <a:ext cx="992707" cy="627430"/>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3" name="任意多边形: 形状 12"/>
          <p:cNvSpPr/>
          <p:nvPr/>
        </p:nvSpPr>
        <p:spPr>
          <a:xfrm flipH="1">
            <a:off x="0" y="-1"/>
            <a:ext cx="1424610" cy="777930"/>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5" name="任意多边形: 形状 14"/>
          <p:cNvSpPr/>
          <p:nvPr/>
        </p:nvSpPr>
        <p:spPr>
          <a:xfrm flipH="1">
            <a:off x="1819" y="-1"/>
            <a:ext cx="1457330" cy="808547"/>
          </a:xfrm>
          <a:custGeom>
            <a:avLst/>
            <a:gdLst>
              <a:gd name="connsiteX0" fmla="*/ 0 w 5585422"/>
              <a:gd name="connsiteY0" fmla="*/ 0 h 3098871"/>
              <a:gd name="connsiteX1" fmla="*/ 5585422 w 5585422"/>
              <a:gd name="connsiteY1" fmla="*/ 0 h 3098871"/>
              <a:gd name="connsiteX2" fmla="*/ 5585422 w 5585422"/>
              <a:gd name="connsiteY2" fmla="*/ 1079106 h 3098871"/>
              <a:gd name="connsiteX3" fmla="*/ 3710012 w 5585422"/>
              <a:gd name="connsiteY3" fmla="*/ 2931810 h 3098871"/>
              <a:gd name="connsiteX4" fmla="*/ 2891388 w 5585422"/>
              <a:gd name="connsiteY4" fmla="*/ 2926824 h 309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5422" h="3098871">
                <a:moveTo>
                  <a:pt x="0" y="0"/>
                </a:moveTo>
                <a:lnTo>
                  <a:pt x="5585422" y="0"/>
                </a:lnTo>
                <a:lnTo>
                  <a:pt x="5585422" y="1079106"/>
                </a:lnTo>
                <a:lnTo>
                  <a:pt x="3710012" y="2931810"/>
                </a:lnTo>
                <a:cubicBezTo>
                  <a:pt x="3482580" y="3156491"/>
                  <a:pt x="3116069" y="3154260"/>
                  <a:pt x="2891388" y="2926824"/>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7" name="文本框 24"/>
          <p:cNvSpPr txBox="1"/>
          <p:nvPr/>
        </p:nvSpPr>
        <p:spPr>
          <a:xfrm>
            <a:off x="4274417" y="354567"/>
            <a:ext cx="3643166"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创新点详细解析</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custDataLst>
              <p:tags r:id="rId1"/>
            </p:custDataLst>
          </p:nvPr>
        </p:nvSpPr>
        <p:spPr>
          <a:xfrm>
            <a:off x="674806" y="1425680"/>
            <a:ext cx="647700" cy="647700"/>
          </a:xfrm>
          <a:prstGeom prst="ellipse">
            <a:avLst/>
          </a:prstGeom>
          <a:solidFill>
            <a:srgbClr val="6696B6"/>
          </a:solidFill>
          <a:ln>
            <a:solidFill>
              <a:srgbClr val="47AE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dirty="0">
                <a:solidFill>
                  <a:schemeClr val="bg1"/>
                </a:solidFill>
                <a:latin typeface="汉仪君黑-45简" panose="020B0604020202020204" charset="-122"/>
                <a:ea typeface="汉仪君黑-45简" panose="020B0604020202020204" charset="-122"/>
                <a:cs typeface="+mn-ea"/>
                <a:sym typeface="+mn-lt"/>
              </a:rPr>
              <a:t>1</a:t>
            </a:r>
            <a:endParaRPr lang="en-US" altLang="zh-CN" sz="2000" dirty="0">
              <a:solidFill>
                <a:schemeClr val="bg1"/>
              </a:solidFill>
              <a:latin typeface="汉仪君黑-45简" panose="020B0604020202020204" charset="-122"/>
              <a:ea typeface="汉仪君黑-45简" panose="020B0604020202020204" charset="-122"/>
              <a:cs typeface="+mn-ea"/>
              <a:sym typeface="+mn-lt"/>
            </a:endParaRPr>
          </a:p>
        </p:txBody>
      </p:sp>
      <p:sp>
        <p:nvSpPr>
          <p:cNvPr id="6" name="文本框 5"/>
          <p:cNvSpPr txBox="1">
            <a:spLocks noChangeArrowheads="1"/>
          </p:cNvSpPr>
          <p:nvPr>
            <p:custDataLst>
              <p:tags r:id="rId2"/>
            </p:custDataLst>
          </p:nvPr>
        </p:nvSpPr>
        <p:spPr bwMode="auto">
          <a:xfrm>
            <a:off x="1417955" y="1425575"/>
            <a:ext cx="43434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模块一：文本视图 + 图结构视图</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7" name="文本框 6"/>
          <p:cNvSpPr txBox="1">
            <a:spLocks noChangeArrowheads="1"/>
          </p:cNvSpPr>
          <p:nvPr>
            <p:custDataLst>
              <p:tags r:id="rId3"/>
            </p:custDataLst>
          </p:nvPr>
        </p:nvSpPr>
        <p:spPr bwMode="auto">
          <a:xfrm>
            <a:off x="1417756" y="1890412"/>
            <a:ext cx="4343400"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hangingPunct="0">
              <a:lnSpc>
                <a:spcPct val="150000"/>
              </a:lnSpc>
            </a:pPr>
            <a:r>
              <a:rPr lang="zh-CN" altLang="en-US" sz="1400" dirty="0">
                <a:solidFill>
                  <a:srgbClr val="0D0D0D"/>
                </a:solidFill>
                <a:latin typeface="汉仪君黑-45简" panose="020B0604020202020204" charset="-122"/>
                <a:ea typeface="汉仪君黑-45简" panose="020B0604020202020204" charset="-122"/>
                <a:cs typeface="+mn-ea"/>
                <a:sym typeface="+mn-lt"/>
              </a:rPr>
              <a:t>先用有标注的节点给两个视图进行预热，然后再对每个数据进行预测得到</a:t>
            </a:r>
            <a:r>
              <a:rPr lang="en-US" altLang="zh-CN" sz="1400" dirty="0">
                <a:solidFill>
                  <a:srgbClr val="0D0D0D"/>
                </a:solidFill>
                <a:latin typeface="汉仪君黑-45简" panose="020B0604020202020204" charset="-122"/>
                <a:ea typeface="汉仪君黑-45简" panose="020B0604020202020204" charset="-122"/>
                <a:cs typeface="+mn-ea"/>
                <a:sym typeface="+mn-lt"/>
              </a:rPr>
              <a:t>h</a:t>
            </a:r>
            <a:r>
              <a:rPr lang="zh-CN" altLang="en-US" sz="1400" dirty="0">
                <a:solidFill>
                  <a:srgbClr val="0D0D0D"/>
                </a:solidFill>
                <a:latin typeface="汉仪君黑-45简" panose="020B0604020202020204" charset="-122"/>
                <a:ea typeface="汉仪君黑-45简" panose="020B0604020202020204" charset="-122"/>
                <a:cs typeface="+mn-ea"/>
                <a:sym typeface="+mn-lt"/>
              </a:rPr>
              <a:t>和</a:t>
            </a:r>
            <a:r>
              <a:rPr lang="en-US" altLang="zh-CN" sz="1400" dirty="0">
                <a:solidFill>
                  <a:srgbClr val="0D0D0D"/>
                </a:solidFill>
                <a:latin typeface="汉仪君黑-45简" panose="020B0604020202020204" charset="-122"/>
                <a:ea typeface="汉仪君黑-45简" panose="020B0604020202020204" charset="-122"/>
                <a:cs typeface="+mn-ea"/>
                <a:sym typeface="+mn-lt"/>
              </a:rPr>
              <a:t>p</a:t>
            </a:r>
            <a:r>
              <a:rPr lang="zh-CN" altLang="en-US" sz="1400" dirty="0">
                <a:solidFill>
                  <a:srgbClr val="0D0D0D"/>
                </a:solidFill>
                <a:latin typeface="汉仪君黑-45简" panose="020B0604020202020204" charset="-122"/>
                <a:ea typeface="汉仪君黑-45简" panose="020B0604020202020204" charset="-122"/>
                <a:cs typeface="+mn-ea"/>
                <a:sym typeface="+mn-lt"/>
              </a:rPr>
              <a:t>。</a:t>
            </a:r>
            <a:r>
              <a:rPr lang="en-US" altLang="zh-CN" sz="1400" dirty="0">
                <a:solidFill>
                  <a:srgbClr val="0D0D0D"/>
                </a:solidFill>
                <a:latin typeface="汉仪君黑-45简" panose="020B0604020202020204" charset="-122"/>
                <a:ea typeface="汉仪君黑-45简" panose="020B0604020202020204" charset="-122"/>
                <a:cs typeface="+mn-ea"/>
                <a:sym typeface="+mn-lt"/>
              </a:rPr>
              <a:t>h_i^T、h_i^G </a:t>
            </a:r>
            <a:r>
              <a:rPr lang="zh-CN" altLang="en-US" sz="1400" dirty="0">
                <a:solidFill>
                  <a:srgbClr val="0D0D0D"/>
                </a:solidFill>
                <a:latin typeface="汉仪君黑-45简" panose="020B0604020202020204" charset="-122"/>
                <a:ea typeface="汉仪君黑-45简" panose="020B0604020202020204" charset="-122"/>
                <a:cs typeface="+mn-ea"/>
                <a:sym typeface="+mn-lt"/>
              </a:rPr>
              <a:t>是文本和图结构</a:t>
            </a:r>
            <a:r>
              <a:rPr lang="en-US" altLang="zh-CN" sz="1400" dirty="0">
                <a:solidFill>
                  <a:srgbClr val="0D0D0D"/>
                </a:solidFill>
                <a:latin typeface="汉仪君黑-45简" panose="020B0604020202020204" charset="-122"/>
                <a:ea typeface="汉仪君黑-45简" panose="020B0604020202020204" charset="-122"/>
                <a:cs typeface="+mn-ea"/>
                <a:sym typeface="+mn-lt"/>
              </a:rPr>
              <a:t>embedding；p_i^T、p_i^G </a:t>
            </a:r>
            <a:r>
              <a:rPr lang="zh-CN" altLang="en-US" sz="1400" dirty="0">
                <a:solidFill>
                  <a:srgbClr val="0D0D0D"/>
                </a:solidFill>
                <a:latin typeface="汉仪君黑-45简" panose="020B0604020202020204" charset="-122"/>
                <a:ea typeface="汉仪君黑-45简" panose="020B0604020202020204" charset="-122"/>
                <a:cs typeface="+mn-ea"/>
                <a:sym typeface="+mn-lt"/>
              </a:rPr>
              <a:t>是两个视图对节点类别的预测。</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11" name="椭圆 10"/>
          <p:cNvSpPr/>
          <p:nvPr>
            <p:custDataLst>
              <p:tags r:id="rId4"/>
            </p:custDataLst>
          </p:nvPr>
        </p:nvSpPr>
        <p:spPr>
          <a:xfrm>
            <a:off x="6118425" y="1425680"/>
            <a:ext cx="647700" cy="647700"/>
          </a:xfrm>
          <a:prstGeom prst="ellipse">
            <a:avLst/>
          </a:prstGeom>
          <a:noFill/>
          <a:ln>
            <a:solidFill>
              <a:srgbClr val="6696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dirty="0">
                <a:solidFill>
                  <a:srgbClr val="6696B6"/>
                </a:solidFill>
                <a:latin typeface="汉仪君黑-45简" panose="020B0604020202020204" charset="-122"/>
                <a:ea typeface="汉仪君黑-45简" panose="020B0604020202020204" charset="-122"/>
                <a:cs typeface="+mn-ea"/>
                <a:sym typeface="+mn-lt"/>
              </a:rPr>
              <a:t>2</a:t>
            </a:r>
            <a:endParaRPr lang="en-US" altLang="zh-CN" sz="2000" dirty="0">
              <a:solidFill>
                <a:srgbClr val="6696B6"/>
              </a:solidFill>
              <a:latin typeface="汉仪君黑-45简" panose="020B0604020202020204" charset="-122"/>
              <a:ea typeface="汉仪君黑-45简" panose="020B0604020202020204" charset="-122"/>
              <a:cs typeface="+mn-ea"/>
              <a:sym typeface="+mn-lt"/>
            </a:endParaRPr>
          </a:p>
        </p:txBody>
      </p:sp>
      <p:sp>
        <p:nvSpPr>
          <p:cNvPr id="12" name="文本框 11"/>
          <p:cNvSpPr txBox="1">
            <a:spLocks noChangeArrowheads="1"/>
          </p:cNvSpPr>
          <p:nvPr>
            <p:custDataLst>
              <p:tags r:id="rId5"/>
            </p:custDataLst>
          </p:nvPr>
        </p:nvSpPr>
        <p:spPr bwMode="auto">
          <a:xfrm>
            <a:off x="6861175" y="1425575"/>
            <a:ext cx="418973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模块二：联合预测 + 原型构建</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19" name="文本框 18"/>
          <p:cNvSpPr txBox="1">
            <a:spLocks noChangeArrowheads="1"/>
          </p:cNvSpPr>
          <p:nvPr>
            <p:custDataLst>
              <p:tags r:id="rId6"/>
            </p:custDataLst>
          </p:nvPr>
        </p:nvSpPr>
        <p:spPr bwMode="auto">
          <a:xfrm>
            <a:off x="6861375" y="1890412"/>
            <a:ext cx="4343400"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hangingPunct="0">
              <a:lnSpc>
                <a:spcPct val="150000"/>
              </a:lnSpc>
            </a:pPr>
            <a:r>
              <a:rPr lang="zh-CN" altLang="en-US" sz="1400" dirty="0">
                <a:solidFill>
                  <a:srgbClr val="0D0D0D"/>
                </a:solidFill>
                <a:latin typeface="汉仪君黑-45简" panose="020B0604020202020204" charset="-122"/>
                <a:ea typeface="汉仪君黑-45简" panose="020B0604020202020204" charset="-122"/>
                <a:cs typeface="+mn-ea"/>
                <a:sym typeface="+mn-lt"/>
              </a:rPr>
              <a:t>先把两个视图的预测拼接起来，然后对所有节点进行聚类，根据节点在两个视图的总体表现得到若干个原型簇。原型的标签由簇内节点预测聚合得到。</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21" name="椭圆 20"/>
          <p:cNvSpPr/>
          <p:nvPr>
            <p:custDataLst>
              <p:tags r:id="rId7"/>
            </p:custDataLst>
          </p:nvPr>
        </p:nvSpPr>
        <p:spPr>
          <a:xfrm>
            <a:off x="674806" y="3422566"/>
            <a:ext cx="647700" cy="647700"/>
          </a:xfrm>
          <a:prstGeom prst="ellipse">
            <a:avLst/>
          </a:prstGeom>
          <a:noFill/>
          <a:ln>
            <a:solidFill>
              <a:srgbClr val="6696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dirty="0">
                <a:solidFill>
                  <a:srgbClr val="6696B6"/>
                </a:solidFill>
                <a:latin typeface="汉仪君黑-45简" panose="020B0604020202020204" charset="-122"/>
                <a:ea typeface="汉仪君黑-45简" panose="020B0604020202020204" charset="-122"/>
                <a:cs typeface="+mn-ea"/>
                <a:sym typeface="+mn-lt"/>
              </a:rPr>
              <a:t>3</a:t>
            </a:r>
            <a:endParaRPr lang="en-US" altLang="zh-CN" sz="2000" dirty="0">
              <a:solidFill>
                <a:srgbClr val="6696B6"/>
              </a:solidFill>
              <a:latin typeface="汉仪君黑-45简" panose="020B0604020202020204" charset="-122"/>
              <a:ea typeface="汉仪君黑-45简" panose="020B0604020202020204" charset="-122"/>
              <a:cs typeface="+mn-ea"/>
              <a:sym typeface="+mn-lt"/>
            </a:endParaRPr>
          </a:p>
        </p:txBody>
      </p:sp>
      <p:sp>
        <p:nvSpPr>
          <p:cNvPr id="22" name="文本框 21"/>
          <p:cNvSpPr txBox="1">
            <a:spLocks noChangeArrowheads="1"/>
          </p:cNvSpPr>
          <p:nvPr>
            <p:custDataLst>
              <p:tags r:id="rId8"/>
            </p:custDataLst>
          </p:nvPr>
        </p:nvSpPr>
        <p:spPr bwMode="auto">
          <a:xfrm>
            <a:off x="1417955" y="3422650"/>
            <a:ext cx="45364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模块三：原型匹配与双视图可靠性评估</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23" name="文本框 22"/>
          <p:cNvSpPr txBox="1">
            <a:spLocks noChangeArrowheads="1"/>
          </p:cNvSpPr>
          <p:nvPr>
            <p:custDataLst>
              <p:tags r:id="rId9"/>
            </p:custDataLst>
          </p:nvPr>
        </p:nvSpPr>
        <p:spPr bwMode="auto">
          <a:xfrm>
            <a:off x="1417756" y="3887298"/>
            <a:ext cx="4343400" cy="170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hangingPunct="0">
              <a:lnSpc>
                <a:spcPct val="150000"/>
              </a:lnSpc>
            </a:pPr>
            <a:r>
              <a:rPr lang="zh-CN" altLang="en-US" sz="1400" dirty="0">
                <a:solidFill>
                  <a:srgbClr val="0D0D0D"/>
                </a:solidFill>
                <a:latin typeface="汉仪君黑-45简" panose="020B0604020202020204" charset="-122"/>
                <a:ea typeface="汉仪君黑-45简" panose="020B0604020202020204" charset="-122"/>
                <a:cs typeface="+mn-ea"/>
                <a:sym typeface="+mn-lt"/>
              </a:rPr>
              <a:t>节点用自己的向量跟各个原型进行对比，得到自己更接近哪个原型，然后原型再进行诱导预测，来告诉你你像什么类别，如果你自己开始的预测和原型的预测大差不差然后你还很自信（分布比较集中）的话那你就是可靠的。</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24" name="椭圆 23"/>
          <p:cNvSpPr/>
          <p:nvPr>
            <p:custDataLst>
              <p:tags r:id="rId10"/>
            </p:custDataLst>
          </p:nvPr>
        </p:nvSpPr>
        <p:spPr>
          <a:xfrm>
            <a:off x="6118425" y="3422566"/>
            <a:ext cx="647700" cy="647700"/>
          </a:xfrm>
          <a:prstGeom prst="ellipse">
            <a:avLst/>
          </a:prstGeom>
          <a:solidFill>
            <a:srgbClr val="6696B6"/>
          </a:solidFill>
          <a:ln>
            <a:solidFill>
              <a:srgbClr val="AEC6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dirty="0">
                <a:solidFill>
                  <a:schemeClr val="bg1"/>
                </a:solidFill>
                <a:latin typeface="汉仪君黑-45简" panose="020B0604020202020204" charset="-122"/>
                <a:ea typeface="汉仪君黑-45简" panose="020B0604020202020204" charset="-122"/>
                <a:cs typeface="+mn-ea"/>
                <a:sym typeface="+mn-lt"/>
              </a:rPr>
              <a:t>4</a:t>
            </a:r>
            <a:endParaRPr lang="en-US" altLang="zh-CN" sz="2000" dirty="0">
              <a:solidFill>
                <a:schemeClr val="bg1"/>
              </a:solidFill>
              <a:latin typeface="汉仪君黑-45简" panose="020B0604020202020204" charset="-122"/>
              <a:ea typeface="汉仪君黑-45简" panose="020B0604020202020204" charset="-122"/>
              <a:cs typeface="+mn-ea"/>
              <a:sym typeface="+mn-lt"/>
            </a:endParaRPr>
          </a:p>
        </p:txBody>
      </p:sp>
      <p:sp>
        <p:nvSpPr>
          <p:cNvPr id="25" name="文本框 24"/>
          <p:cNvSpPr txBox="1">
            <a:spLocks noChangeArrowheads="1"/>
          </p:cNvSpPr>
          <p:nvPr>
            <p:custDataLst>
              <p:tags r:id="rId11"/>
            </p:custDataLst>
          </p:nvPr>
        </p:nvSpPr>
        <p:spPr bwMode="auto">
          <a:xfrm>
            <a:off x="6873240" y="3421380"/>
            <a:ext cx="453199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模块四：原型校准，非对称双向校准</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26" name="文本框 25"/>
          <p:cNvSpPr txBox="1">
            <a:spLocks noChangeArrowheads="1"/>
          </p:cNvSpPr>
          <p:nvPr>
            <p:custDataLst>
              <p:tags r:id="rId12"/>
            </p:custDataLst>
          </p:nvPr>
        </p:nvSpPr>
        <p:spPr bwMode="auto">
          <a:xfrm>
            <a:off x="6861375" y="3887298"/>
            <a:ext cx="4343400"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hangingPunct="0">
              <a:lnSpc>
                <a:spcPct val="150000"/>
              </a:lnSpc>
            </a:pPr>
            <a:r>
              <a:rPr lang="zh-CN" altLang="en-US" sz="1400" dirty="0">
                <a:solidFill>
                  <a:srgbClr val="0D0D0D"/>
                </a:solidFill>
                <a:latin typeface="汉仪君黑-45简" panose="020B0604020202020204" charset="-122"/>
                <a:ea typeface="汉仪君黑-45简" panose="020B0604020202020204" charset="-122"/>
                <a:cs typeface="+mn-ea"/>
                <a:sym typeface="+mn-lt"/>
              </a:rPr>
              <a:t>先根据节点开始预测的冲突还有原型预测之后的冲突计算节点的冲突度，节点跟原型差的更大那原型就要更狠的校准；两个视图谁更可靠，谁负责指导；两个视图冲突越大，指导力度越小。</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15" name="任意多边形: 形状 14"/>
          <p:cNvSpPr/>
          <p:nvPr/>
        </p:nvSpPr>
        <p:spPr>
          <a:xfrm>
            <a:off x="11206264" y="6230570"/>
            <a:ext cx="992707" cy="627430"/>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6" name="任意多边形: 形状 15"/>
          <p:cNvSpPr/>
          <p:nvPr/>
        </p:nvSpPr>
        <p:spPr>
          <a:xfrm flipH="1">
            <a:off x="0" y="-1"/>
            <a:ext cx="1424610" cy="777930"/>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7" name="任意多边形: 形状 16"/>
          <p:cNvSpPr/>
          <p:nvPr/>
        </p:nvSpPr>
        <p:spPr>
          <a:xfrm flipH="1">
            <a:off x="1819" y="-1"/>
            <a:ext cx="1457330" cy="808547"/>
          </a:xfrm>
          <a:custGeom>
            <a:avLst/>
            <a:gdLst>
              <a:gd name="connsiteX0" fmla="*/ 0 w 5585422"/>
              <a:gd name="connsiteY0" fmla="*/ 0 h 3098871"/>
              <a:gd name="connsiteX1" fmla="*/ 5585422 w 5585422"/>
              <a:gd name="connsiteY1" fmla="*/ 0 h 3098871"/>
              <a:gd name="connsiteX2" fmla="*/ 5585422 w 5585422"/>
              <a:gd name="connsiteY2" fmla="*/ 1079106 h 3098871"/>
              <a:gd name="connsiteX3" fmla="*/ 3710012 w 5585422"/>
              <a:gd name="connsiteY3" fmla="*/ 2931810 h 3098871"/>
              <a:gd name="connsiteX4" fmla="*/ 2891388 w 5585422"/>
              <a:gd name="connsiteY4" fmla="*/ 2926824 h 309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5422" h="3098871">
                <a:moveTo>
                  <a:pt x="0" y="0"/>
                </a:moveTo>
                <a:lnTo>
                  <a:pt x="5585422" y="0"/>
                </a:lnTo>
                <a:lnTo>
                  <a:pt x="5585422" y="1079106"/>
                </a:lnTo>
                <a:lnTo>
                  <a:pt x="3710012" y="2931810"/>
                </a:lnTo>
                <a:cubicBezTo>
                  <a:pt x="3482580" y="3156491"/>
                  <a:pt x="3116069" y="3154260"/>
                  <a:pt x="2891388" y="2926824"/>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8" name="文本框 24"/>
          <p:cNvSpPr txBox="1"/>
          <p:nvPr/>
        </p:nvSpPr>
        <p:spPr>
          <a:xfrm>
            <a:off x="4274417" y="354567"/>
            <a:ext cx="3643166"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创新点详细解析</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7403" y="-2"/>
            <a:ext cx="12221827" cy="6861177"/>
            <a:chOff x="-7403" y="-2"/>
            <a:chExt cx="12221827" cy="6861177"/>
          </a:xfrm>
        </p:grpSpPr>
        <p:sp>
          <p:nvSpPr>
            <p:cNvPr id="17" name="任意多边形: 形状 16"/>
            <p:cNvSpPr/>
            <p:nvPr/>
          </p:nvSpPr>
          <p:spPr>
            <a:xfrm>
              <a:off x="-7403" y="2508015"/>
              <a:ext cx="4391298" cy="4353160"/>
            </a:xfrm>
            <a:custGeom>
              <a:avLst/>
              <a:gdLst>
                <a:gd name="connsiteX0" fmla="*/ 0 w 3918711"/>
                <a:gd name="connsiteY0" fmla="*/ 0 h 3884677"/>
                <a:gd name="connsiteX1" fmla="*/ 127100 w 3918711"/>
                <a:gd name="connsiteY1" fmla="*/ 67876 h 3884677"/>
                <a:gd name="connsiteX2" fmla="*/ 241996 w 3918711"/>
                <a:gd name="connsiteY2" fmla="*/ 162901 h 3884677"/>
                <a:gd name="connsiteX3" fmla="*/ 3918711 w 3918711"/>
                <a:gd name="connsiteY3" fmla="*/ 3884677 h 3884677"/>
                <a:gd name="connsiteX4" fmla="*/ 0 w 3918711"/>
                <a:gd name="connsiteY4" fmla="*/ 3884677 h 3884677"/>
                <a:gd name="connsiteX5" fmla="*/ 0 w 3918711"/>
                <a:gd name="connsiteY5" fmla="*/ 0 h 38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8711" h="3884677">
                  <a:moveTo>
                    <a:pt x="0" y="0"/>
                  </a:moveTo>
                  <a:lnTo>
                    <a:pt x="127100" y="67876"/>
                  </a:lnTo>
                  <a:cubicBezTo>
                    <a:pt x="167752" y="95074"/>
                    <a:pt x="206283" y="126750"/>
                    <a:pt x="241996" y="162901"/>
                  </a:cubicBezTo>
                  <a:lnTo>
                    <a:pt x="3918711" y="3884677"/>
                  </a:lnTo>
                  <a:lnTo>
                    <a:pt x="0" y="3884677"/>
                  </a:lnTo>
                  <a:lnTo>
                    <a:pt x="0" y="0"/>
                  </a:lnTo>
                  <a:close/>
                </a:path>
              </a:pathLst>
            </a:custGeom>
            <a:noFill/>
            <a:ln>
              <a:solidFill>
                <a:srgbClr val="6696B6">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0" name="任意多边形: 形状 19"/>
            <p:cNvSpPr/>
            <p:nvPr/>
          </p:nvSpPr>
          <p:spPr>
            <a:xfrm>
              <a:off x="1703876" y="-2"/>
              <a:ext cx="8784250" cy="6858002"/>
            </a:xfrm>
            <a:custGeom>
              <a:avLst/>
              <a:gdLst>
                <a:gd name="connsiteX0" fmla="*/ 3325627 w 8784250"/>
                <a:gd name="connsiteY0" fmla="*/ 0 h 6858002"/>
                <a:gd name="connsiteX1" fmla="*/ 5488675 w 8784250"/>
                <a:gd name="connsiteY1" fmla="*/ 0 h 6858002"/>
                <a:gd name="connsiteX2" fmla="*/ 8618482 w 8784250"/>
                <a:gd name="connsiteY2" fmla="*/ 3168164 h 6858002"/>
                <a:gd name="connsiteX3" fmla="*/ 8613534 w 8784250"/>
                <a:gd name="connsiteY3" fmla="*/ 3980458 h 6858002"/>
                <a:gd name="connsiteX4" fmla="*/ 5700725 w 8784250"/>
                <a:gd name="connsiteY4" fmla="*/ 6858002 h 6858002"/>
                <a:gd name="connsiteX5" fmla="*/ 3059304 w 8784250"/>
                <a:gd name="connsiteY5" fmla="*/ 6858002 h 6858002"/>
                <a:gd name="connsiteX6" fmla="*/ 165769 w 8784250"/>
                <a:gd name="connsiteY6" fmla="*/ 3929008 h 6858002"/>
                <a:gd name="connsiteX7" fmla="*/ 170717 w 8784250"/>
                <a:gd name="connsiteY7" fmla="*/ 3116714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84250" h="6858002">
                  <a:moveTo>
                    <a:pt x="3325627" y="0"/>
                  </a:moveTo>
                  <a:lnTo>
                    <a:pt x="5488675" y="0"/>
                  </a:lnTo>
                  <a:lnTo>
                    <a:pt x="8618482" y="3168164"/>
                  </a:lnTo>
                  <a:cubicBezTo>
                    <a:pt x="8841425" y="3393839"/>
                    <a:pt x="8839209" y="3757515"/>
                    <a:pt x="8613534" y="3980458"/>
                  </a:cubicBezTo>
                  <a:lnTo>
                    <a:pt x="5700725" y="6858002"/>
                  </a:lnTo>
                  <a:lnTo>
                    <a:pt x="3059304" y="6858002"/>
                  </a:lnTo>
                  <a:lnTo>
                    <a:pt x="165769" y="3929008"/>
                  </a:lnTo>
                  <a:cubicBezTo>
                    <a:pt x="-57174" y="3703333"/>
                    <a:pt x="-54957" y="3339657"/>
                    <a:pt x="170717" y="3116714"/>
                  </a:cubicBezTo>
                  <a:close/>
                </a:path>
              </a:pathLst>
            </a:custGeom>
            <a:solidFill>
              <a:srgbClr val="6696B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7" name="任意多边形: 形状 6"/>
            <p:cNvSpPr/>
            <p:nvPr/>
          </p:nvSpPr>
          <p:spPr>
            <a:xfrm>
              <a:off x="7888406" y="4142179"/>
              <a:ext cx="4296918" cy="2715822"/>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9" name="任意多边形: 形状 8"/>
            <p:cNvSpPr/>
            <p:nvPr/>
          </p:nvSpPr>
          <p:spPr>
            <a:xfrm flipH="1">
              <a:off x="0" y="-1"/>
              <a:ext cx="4592885" cy="2508015"/>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2" name="任意多边形: 形状 21"/>
            <p:cNvSpPr/>
            <p:nvPr/>
          </p:nvSpPr>
          <p:spPr>
            <a:xfrm>
              <a:off x="7671541" y="1"/>
              <a:ext cx="4542883" cy="3754877"/>
            </a:xfrm>
            <a:custGeom>
              <a:avLst/>
              <a:gdLst>
                <a:gd name="connsiteX0" fmla="*/ 0 w 4542883"/>
                <a:gd name="connsiteY0" fmla="*/ 0 h 3754877"/>
                <a:gd name="connsiteX1" fmla="*/ 4542883 w 4542883"/>
                <a:gd name="connsiteY1" fmla="*/ 0 h 3754877"/>
                <a:gd name="connsiteX2" fmla="*/ 4542883 w 4542883"/>
                <a:gd name="connsiteY2" fmla="*/ 3505533 h 3754877"/>
                <a:gd name="connsiteX3" fmla="*/ 4495391 w 4542883"/>
                <a:gd name="connsiteY3" fmla="*/ 3552450 h 3754877"/>
                <a:gd name="connsiteX4" fmla="*/ 3503471 w 4542883"/>
                <a:gd name="connsiteY4" fmla="*/ 3546408 h 3754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883" h="3754877">
                  <a:moveTo>
                    <a:pt x="0" y="0"/>
                  </a:moveTo>
                  <a:lnTo>
                    <a:pt x="4542883" y="0"/>
                  </a:lnTo>
                  <a:lnTo>
                    <a:pt x="4542883" y="3505533"/>
                  </a:lnTo>
                  <a:lnTo>
                    <a:pt x="4495391" y="3552450"/>
                  </a:lnTo>
                  <a:cubicBezTo>
                    <a:pt x="4219813" y="3824694"/>
                    <a:pt x="3775715" y="3821991"/>
                    <a:pt x="3503471" y="3546408"/>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4" name="菱形"/>
          <p:cNvSpPr/>
          <p:nvPr/>
        </p:nvSpPr>
        <p:spPr bwMode="auto">
          <a:xfrm>
            <a:off x="5300759" y="1727190"/>
            <a:ext cx="1590482" cy="1590482"/>
          </a:xfrm>
          <a:custGeom>
            <a:avLst/>
            <a:gdLst>
              <a:gd name="T0" fmla="*/ 7569 w 16599"/>
              <a:gd name="T1" fmla="*/ 403 h 16599"/>
              <a:gd name="T2" fmla="*/ 9030 w 16599"/>
              <a:gd name="T3" fmla="*/ 403 h 16599"/>
              <a:gd name="T4" fmla="*/ 16195 w 16599"/>
              <a:gd name="T5" fmla="*/ 7569 h 16599"/>
              <a:gd name="T6" fmla="*/ 16195 w 16599"/>
              <a:gd name="T7" fmla="*/ 9030 h 16599"/>
              <a:gd name="T8" fmla="*/ 9030 w 16599"/>
              <a:gd name="T9" fmla="*/ 16195 h 16599"/>
              <a:gd name="T10" fmla="*/ 7569 w 16599"/>
              <a:gd name="T11" fmla="*/ 16195 h 16599"/>
              <a:gd name="T12" fmla="*/ 403 w 16599"/>
              <a:gd name="T13" fmla="*/ 9030 h 16599"/>
              <a:gd name="T14" fmla="*/ 403 w 16599"/>
              <a:gd name="T15" fmla="*/ 7569 h 16599"/>
              <a:gd name="T16" fmla="*/ 7569 w 16599"/>
              <a:gd name="T17" fmla="*/ 403 h 16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99" h="16599">
                <a:moveTo>
                  <a:pt x="7569" y="403"/>
                </a:moveTo>
                <a:cubicBezTo>
                  <a:pt x="7972" y="0"/>
                  <a:pt x="8627" y="0"/>
                  <a:pt x="9030" y="403"/>
                </a:cubicBezTo>
                <a:lnTo>
                  <a:pt x="16195" y="7569"/>
                </a:lnTo>
                <a:cubicBezTo>
                  <a:pt x="16599" y="7972"/>
                  <a:pt x="16599" y="8627"/>
                  <a:pt x="16195" y="9030"/>
                </a:cubicBezTo>
                <a:lnTo>
                  <a:pt x="9030" y="16195"/>
                </a:lnTo>
                <a:cubicBezTo>
                  <a:pt x="8627" y="16599"/>
                  <a:pt x="7972" y="16599"/>
                  <a:pt x="7569" y="16195"/>
                </a:cubicBezTo>
                <a:lnTo>
                  <a:pt x="403" y="9030"/>
                </a:lnTo>
                <a:cubicBezTo>
                  <a:pt x="0" y="8627"/>
                  <a:pt x="0" y="7972"/>
                  <a:pt x="403" y="7569"/>
                </a:cubicBezTo>
                <a:lnTo>
                  <a:pt x="7569" y="403"/>
                </a:lnTo>
                <a:close/>
              </a:path>
            </a:pathLst>
          </a:custGeom>
          <a:solidFill>
            <a:srgbClr val="6696B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5400" dirty="0">
                <a:solidFill>
                  <a:prstClr val="white"/>
                </a:solidFill>
                <a:latin typeface="汉仪君黑-45简" panose="020B0604020202020204" charset="-122"/>
                <a:ea typeface="汉仪君黑-45简" panose="020B0604020202020204" charset="-122"/>
                <a:cs typeface="+mn-ea"/>
                <a:sym typeface="+mn-lt"/>
              </a:rPr>
              <a:t>02</a:t>
            </a:r>
            <a:endParaRPr lang="en-US" altLang="zh-CN" sz="5400" dirty="0">
              <a:solidFill>
                <a:prstClr val="white"/>
              </a:solidFill>
              <a:latin typeface="汉仪君黑-45简" panose="020B0604020202020204" charset="-122"/>
              <a:ea typeface="汉仪君黑-45简" panose="020B0604020202020204" charset="-122"/>
              <a:cs typeface="+mn-ea"/>
              <a:sym typeface="+mn-lt"/>
            </a:endParaRPr>
          </a:p>
        </p:txBody>
      </p:sp>
      <p:sp>
        <p:nvSpPr>
          <p:cNvPr id="35" name="文本框 24"/>
          <p:cNvSpPr txBox="1"/>
          <p:nvPr/>
        </p:nvSpPr>
        <p:spPr>
          <a:xfrm>
            <a:off x="3419116" y="3537092"/>
            <a:ext cx="5353769" cy="829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800" dirty="0">
                <a:solidFill>
                  <a:schemeClr val="tx1">
                    <a:lumMod val="75000"/>
                    <a:lumOff val="25000"/>
                  </a:schemeClr>
                </a:solidFill>
                <a:latin typeface="汉仪君黑-45简" panose="020B0604020202020204" charset="-122"/>
                <a:ea typeface="汉仪君黑-45简" panose="020B0604020202020204" charset="-122"/>
                <a:cs typeface="+mn-ea"/>
                <a:sym typeface="+mn-lt"/>
              </a:rPr>
              <a:t>模块与代码的映射</a:t>
            </a:r>
            <a:endParaRPr lang="zh-CN" altLang="en-US" sz="4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36" name="矩形 35"/>
          <p:cNvSpPr/>
          <p:nvPr/>
        </p:nvSpPr>
        <p:spPr>
          <a:xfrm>
            <a:off x="2977324" y="4341684"/>
            <a:ext cx="6237352" cy="4603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endParaRPr lang="en-US" altLang="zh-CN" sz="16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
          <p:cNvSpPr/>
          <p:nvPr>
            <p:custDataLst>
              <p:tags r:id="rId1"/>
            </p:custDataLst>
          </p:nvPr>
        </p:nvSpPr>
        <p:spPr>
          <a:xfrm>
            <a:off x="362912" y="2088984"/>
            <a:ext cx="2706035" cy="3137508"/>
          </a:xfrm>
          <a:custGeom>
            <a:avLst/>
            <a:gdLst>
              <a:gd name="connsiteX0" fmla="*/ 115088 w 1927180"/>
              <a:gd name="connsiteY0" fmla="*/ 0 h 1438599"/>
              <a:gd name="connsiteX1" fmla="*/ 1812092 w 1927180"/>
              <a:gd name="connsiteY1" fmla="*/ 0 h 1438599"/>
              <a:gd name="connsiteX2" fmla="*/ 1927180 w 1927180"/>
              <a:gd name="connsiteY2" fmla="*/ 115088 h 1438599"/>
              <a:gd name="connsiteX3" fmla="*/ 1927180 w 1927180"/>
              <a:gd name="connsiteY3" fmla="*/ 1438599 h 1438599"/>
              <a:gd name="connsiteX4" fmla="*/ 1927180 w 1927180"/>
              <a:gd name="connsiteY4" fmla="*/ 1438599 h 1438599"/>
              <a:gd name="connsiteX5" fmla="*/ 0 w 1927180"/>
              <a:gd name="connsiteY5" fmla="*/ 1438599 h 1438599"/>
              <a:gd name="connsiteX6" fmla="*/ 0 w 1927180"/>
              <a:gd name="connsiteY6" fmla="*/ 1438599 h 1438599"/>
              <a:gd name="connsiteX7" fmla="*/ 0 w 1927180"/>
              <a:gd name="connsiteY7" fmla="*/ 115088 h 1438599"/>
              <a:gd name="connsiteX8" fmla="*/ 115088 w 1927180"/>
              <a:gd name="connsiteY8" fmla="*/ 0 h 1438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27180" h="1438599">
                <a:moveTo>
                  <a:pt x="115088" y="0"/>
                </a:moveTo>
                <a:lnTo>
                  <a:pt x="1812092" y="0"/>
                </a:lnTo>
                <a:cubicBezTo>
                  <a:pt x="1875653" y="0"/>
                  <a:pt x="1927180" y="51527"/>
                  <a:pt x="1927180" y="115088"/>
                </a:cubicBezTo>
                <a:lnTo>
                  <a:pt x="1927180" y="1438599"/>
                </a:lnTo>
                <a:lnTo>
                  <a:pt x="1927180" y="1438599"/>
                </a:lnTo>
                <a:lnTo>
                  <a:pt x="0" y="1438599"/>
                </a:lnTo>
                <a:lnTo>
                  <a:pt x="0" y="1438599"/>
                </a:lnTo>
                <a:lnTo>
                  <a:pt x="0" y="115088"/>
                </a:lnTo>
                <a:cubicBezTo>
                  <a:pt x="0" y="51527"/>
                  <a:pt x="51527" y="0"/>
                  <a:pt x="115088" y="0"/>
                </a:cubicBezTo>
                <a:close/>
              </a:path>
            </a:pathLst>
          </a:custGeom>
          <a:noFill/>
          <a:ln w="19050">
            <a:solidFill>
              <a:srgbClr val="6696B6"/>
            </a:solidFill>
          </a:ln>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72000" tIns="0" rIns="72000" bIns="0" spcCol="1270" anchor="ctr"/>
          <a:lstStyle>
            <a:defPPr>
              <a:defRPr lang="zh-CN"/>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1" indent="0" algn="ctr" defTabSz="488950" rtl="0" eaLnBrk="1" fontAlgn="auto" latinLnBrk="0" hangingPunct="1">
              <a:lnSpc>
                <a:spcPct val="130000"/>
              </a:lnSpc>
              <a:spcAft>
                <a:spcPct val="0"/>
              </a:spcAft>
              <a:buClrTx/>
              <a:buSzTx/>
              <a:buFontTx/>
              <a:buNone/>
              <a:defRPr/>
            </a:pPr>
            <a:endParaRPr kumimoji="0" lang="zh-CN" altLang="en-US" sz="1100" b="0" i="0" u="none" strike="noStrike" kern="1200" cap="none" spc="0" normalizeH="0" baseline="0" noProof="0" dirty="0">
              <a:solidFill>
                <a:srgbClr val="47494B">
                  <a:lumMod val="50000"/>
                  <a:lumOff val="50000"/>
                </a:srgbClr>
              </a:solidFill>
              <a:effectLst/>
              <a:uLnTx/>
              <a:uFillTx/>
              <a:latin typeface="汉仪君黑-45简" panose="020B0604020202020204" charset="-122"/>
              <a:ea typeface="汉仪君黑-45简" panose="020B0604020202020204" charset="-122"/>
              <a:cs typeface="+mn-ea"/>
              <a:sym typeface="+mn-lt"/>
            </a:endParaRPr>
          </a:p>
        </p:txBody>
      </p:sp>
      <p:sp>
        <p:nvSpPr>
          <p:cNvPr id="3" name="任意多边形 2"/>
          <p:cNvSpPr/>
          <p:nvPr>
            <p:custDataLst>
              <p:tags r:id="rId2"/>
            </p:custDataLst>
          </p:nvPr>
        </p:nvSpPr>
        <p:spPr>
          <a:xfrm>
            <a:off x="362912" y="5226492"/>
            <a:ext cx="2706035" cy="742278"/>
          </a:xfrm>
          <a:custGeom>
            <a:avLst/>
            <a:gdLst>
              <a:gd name="connsiteX0" fmla="*/ 0 w 1710000"/>
              <a:gd name="connsiteY0" fmla="*/ 0 h 618597"/>
              <a:gd name="connsiteX1" fmla="*/ 1710000 w 1710000"/>
              <a:gd name="connsiteY1" fmla="*/ 0 h 618597"/>
              <a:gd name="connsiteX2" fmla="*/ 1710000 w 1710000"/>
              <a:gd name="connsiteY2" fmla="*/ 515495 h 618597"/>
              <a:gd name="connsiteX3" fmla="*/ 1606898 w 1710000"/>
              <a:gd name="connsiteY3" fmla="*/ 618597 h 618597"/>
              <a:gd name="connsiteX4" fmla="*/ 103102 w 1710000"/>
              <a:gd name="connsiteY4" fmla="*/ 618597 h 618597"/>
              <a:gd name="connsiteX5" fmla="*/ 0 w 1710000"/>
              <a:gd name="connsiteY5" fmla="*/ 515495 h 61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000" h="618597">
                <a:moveTo>
                  <a:pt x="0" y="0"/>
                </a:moveTo>
                <a:lnTo>
                  <a:pt x="1710000" y="0"/>
                </a:lnTo>
                <a:lnTo>
                  <a:pt x="1710000" y="515495"/>
                </a:lnTo>
                <a:cubicBezTo>
                  <a:pt x="1710000" y="572437"/>
                  <a:pt x="1663840" y="618597"/>
                  <a:pt x="1606898" y="618597"/>
                </a:cubicBezTo>
                <a:lnTo>
                  <a:pt x="103102" y="618597"/>
                </a:lnTo>
                <a:cubicBezTo>
                  <a:pt x="46160" y="618597"/>
                  <a:pt x="0" y="572437"/>
                  <a:pt x="0" y="515495"/>
                </a:cubicBezTo>
                <a:close/>
              </a:path>
            </a:pathLst>
          </a:custGeom>
          <a:solidFill>
            <a:srgbClr val="6696B6"/>
          </a:solidFill>
          <a:ln w="19050">
            <a:solidFill>
              <a:srgbClr val="6696B6"/>
            </a:solidFill>
          </a:ln>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0" tIns="0" rIns="0" bIns="0" spcCol="127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066800" rtl="0" eaLnBrk="1" fontAlgn="auto" latinLnBrk="0" hangingPunct="1">
              <a:lnSpc>
                <a:spcPct val="130000"/>
              </a:lnSpc>
              <a:spcAft>
                <a:spcPct val="0"/>
              </a:spcAft>
              <a:buClrTx/>
              <a:buSzTx/>
              <a:buFontTx/>
              <a:buNone/>
              <a:defRPr/>
            </a:pPr>
            <a:endParaRPr kumimoji="0" lang="zh-CN" altLang="en-US" sz="1600" b="0" i="0" u="none" strike="noStrike" kern="1200" cap="none" spc="0" normalizeH="0" baseline="0" noProof="0" dirty="0">
              <a:solidFill>
                <a:srgbClr val="FFFFFF"/>
              </a:solidFill>
              <a:effectLst/>
              <a:uLnTx/>
              <a:uFillTx/>
              <a:latin typeface="汉仪君黑-45简" panose="020B0604020202020204" charset="-122"/>
              <a:ea typeface="汉仪君黑-45简" panose="020B0604020202020204" charset="-122"/>
              <a:cs typeface="+mn-ea"/>
              <a:sym typeface="+mn-lt"/>
            </a:endParaRPr>
          </a:p>
        </p:txBody>
      </p:sp>
      <p:sp>
        <p:nvSpPr>
          <p:cNvPr id="6" name="椭圆 5"/>
          <p:cNvSpPr/>
          <p:nvPr>
            <p:custDataLst>
              <p:tags r:id="rId3"/>
            </p:custDataLst>
          </p:nvPr>
        </p:nvSpPr>
        <p:spPr>
          <a:xfrm>
            <a:off x="1284081" y="1536930"/>
            <a:ext cx="980260" cy="955167"/>
          </a:xfrm>
          <a:prstGeom prst="ellipse">
            <a:avLst/>
          </a:prstGeom>
          <a:solidFill>
            <a:srgbClr val="6696B6"/>
          </a:solidFill>
          <a:ln>
            <a:solidFill>
              <a:srgbClr val="6696B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30000"/>
              </a:lnSpc>
              <a:buClrTx/>
              <a:buSzTx/>
              <a:buFontTx/>
              <a:buNone/>
              <a:defRPr/>
            </a:pPr>
            <a:r>
              <a:rPr kumimoji="0" lang="en-US" altLang="zh-CN" sz="2800" i="0" u="none" strike="noStrike" kern="1200" cap="none" spc="0" normalizeH="0" baseline="0" noProof="0" dirty="0">
                <a:ln>
                  <a:noFill/>
                </a:ln>
                <a:solidFill>
                  <a:srgbClr val="FFFFFF"/>
                </a:solidFill>
                <a:effectLst/>
                <a:uLnTx/>
                <a:uFillTx/>
                <a:latin typeface="汉仪君黑-45简" panose="020B0604020202020204" charset="-122"/>
                <a:ea typeface="汉仪君黑-45简" panose="020B0604020202020204" charset="-122"/>
                <a:cs typeface="+mn-ea"/>
                <a:sym typeface="+mn-lt"/>
              </a:rPr>
              <a:t>1</a:t>
            </a:r>
            <a:endParaRPr kumimoji="0" lang="en-US" altLang="zh-CN" sz="2800" i="0" u="none" strike="noStrike" kern="1200" cap="none" spc="0" normalizeH="0" baseline="0" noProof="0" dirty="0">
              <a:ln>
                <a:noFill/>
              </a:ln>
              <a:solidFill>
                <a:srgbClr val="FFFFFF"/>
              </a:solidFill>
              <a:effectLst/>
              <a:uLnTx/>
              <a:uFillTx/>
              <a:latin typeface="汉仪君黑-45简" panose="020B0604020202020204" charset="-122"/>
              <a:ea typeface="汉仪君黑-45简" panose="020B0604020202020204" charset="-122"/>
              <a:cs typeface="+mn-ea"/>
              <a:sym typeface="+mn-lt"/>
            </a:endParaRPr>
          </a:p>
        </p:txBody>
      </p:sp>
      <p:sp>
        <p:nvSpPr>
          <p:cNvPr id="13" name="任意多边形 12"/>
          <p:cNvSpPr/>
          <p:nvPr>
            <p:custDataLst>
              <p:tags r:id="rId4"/>
            </p:custDataLst>
          </p:nvPr>
        </p:nvSpPr>
        <p:spPr>
          <a:xfrm>
            <a:off x="3274775" y="2088984"/>
            <a:ext cx="2706035" cy="3137508"/>
          </a:xfrm>
          <a:custGeom>
            <a:avLst/>
            <a:gdLst>
              <a:gd name="connsiteX0" fmla="*/ 115088 w 1927180"/>
              <a:gd name="connsiteY0" fmla="*/ 0 h 1438599"/>
              <a:gd name="connsiteX1" fmla="*/ 1812092 w 1927180"/>
              <a:gd name="connsiteY1" fmla="*/ 0 h 1438599"/>
              <a:gd name="connsiteX2" fmla="*/ 1927180 w 1927180"/>
              <a:gd name="connsiteY2" fmla="*/ 115088 h 1438599"/>
              <a:gd name="connsiteX3" fmla="*/ 1927180 w 1927180"/>
              <a:gd name="connsiteY3" fmla="*/ 1438599 h 1438599"/>
              <a:gd name="connsiteX4" fmla="*/ 1927180 w 1927180"/>
              <a:gd name="connsiteY4" fmla="*/ 1438599 h 1438599"/>
              <a:gd name="connsiteX5" fmla="*/ 0 w 1927180"/>
              <a:gd name="connsiteY5" fmla="*/ 1438599 h 1438599"/>
              <a:gd name="connsiteX6" fmla="*/ 0 w 1927180"/>
              <a:gd name="connsiteY6" fmla="*/ 1438599 h 1438599"/>
              <a:gd name="connsiteX7" fmla="*/ 0 w 1927180"/>
              <a:gd name="connsiteY7" fmla="*/ 115088 h 1438599"/>
              <a:gd name="connsiteX8" fmla="*/ 115088 w 1927180"/>
              <a:gd name="connsiteY8" fmla="*/ 0 h 1438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27180" h="1438599">
                <a:moveTo>
                  <a:pt x="115088" y="0"/>
                </a:moveTo>
                <a:lnTo>
                  <a:pt x="1812092" y="0"/>
                </a:lnTo>
                <a:cubicBezTo>
                  <a:pt x="1875653" y="0"/>
                  <a:pt x="1927180" y="51527"/>
                  <a:pt x="1927180" y="115088"/>
                </a:cubicBezTo>
                <a:lnTo>
                  <a:pt x="1927180" y="1438599"/>
                </a:lnTo>
                <a:lnTo>
                  <a:pt x="1927180" y="1438599"/>
                </a:lnTo>
                <a:lnTo>
                  <a:pt x="0" y="1438599"/>
                </a:lnTo>
                <a:lnTo>
                  <a:pt x="0" y="1438599"/>
                </a:lnTo>
                <a:lnTo>
                  <a:pt x="0" y="115088"/>
                </a:lnTo>
                <a:cubicBezTo>
                  <a:pt x="0" y="51527"/>
                  <a:pt x="51527" y="0"/>
                  <a:pt x="115088" y="0"/>
                </a:cubicBezTo>
                <a:close/>
              </a:path>
            </a:pathLst>
          </a:custGeom>
          <a:noFill/>
          <a:ln w="19050">
            <a:solidFill>
              <a:srgbClr val="6696B6"/>
            </a:solidFill>
          </a:ln>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72000" tIns="0" rIns="72000" bIns="0" spcCol="1270" anchor="ctr"/>
          <a:lstStyle>
            <a:defPPr>
              <a:defRPr lang="zh-CN"/>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1" indent="0" algn="ctr" defTabSz="488950" rtl="0" eaLnBrk="1" fontAlgn="auto" latinLnBrk="0" hangingPunct="1">
              <a:lnSpc>
                <a:spcPct val="130000"/>
              </a:lnSpc>
              <a:spcAft>
                <a:spcPct val="0"/>
              </a:spcAft>
              <a:buClrTx/>
              <a:buSzTx/>
              <a:buFontTx/>
              <a:buNone/>
              <a:defRPr/>
            </a:pPr>
            <a:endParaRPr kumimoji="0" lang="zh-CN" altLang="en-US" sz="1100" b="0" i="0" u="none" strike="noStrike" kern="1200" cap="none" spc="0" normalizeH="0" baseline="0" noProof="0" dirty="0">
              <a:solidFill>
                <a:srgbClr val="47494B">
                  <a:lumMod val="50000"/>
                  <a:lumOff val="50000"/>
                </a:srgbClr>
              </a:solidFill>
              <a:effectLst/>
              <a:uLnTx/>
              <a:uFillTx/>
              <a:latin typeface="汉仪君黑-45简" panose="020B0604020202020204" charset="-122"/>
              <a:ea typeface="汉仪君黑-45简" panose="020B0604020202020204" charset="-122"/>
              <a:cs typeface="+mn-ea"/>
              <a:sym typeface="+mn-lt"/>
            </a:endParaRPr>
          </a:p>
        </p:txBody>
      </p:sp>
      <p:sp>
        <p:nvSpPr>
          <p:cNvPr id="20" name="任意多边形 19"/>
          <p:cNvSpPr/>
          <p:nvPr>
            <p:custDataLst>
              <p:tags r:id="rId5"/>
            </p:custDataLst>
          </p:nvPr>
        </p:nvSpPr>
        <p:spPr>
          <a:xfrm>
            <a:off x="3274775" y="5226492"/>
            <a:ext cx="2706035" cy="742278"/>
          </a:xfrm>
          <a:custGeom>
            <a:avLst/>
            <a:gdLst>
              <a:gd name="connsiteX0" fmla="*/ 0 w 1710000"/>
              <a:gd name="connsiteY0" fmla="*/ 0 h 618597"/>
              <a:gd name="connsiteX1" fmla="*/ 1710000 w 1710000"/>
              <a:gd name="connsiteY1" fmla="*/ 0 h 618597"/>
              <a:gd name="connsiteX2" fmla="*/ 1710000 w 1710000"/>
              <a:gd name="connsiteY2" fmla="*/ 515495 h 618597"/>
              <a:gd name="connsiteX3" fmla="*/ 1606898 w 1710000"/>
              <a:gd name="connsiteY3" fmla="*/ 618597 h 618597"/>
              <a:gd name="connsiteX4" fmla="*/ 103102 w 1710000"/>
              <a:gd name="connsiteY4" fmla="*/ 618597 h 618597"/>
              <a:gd name="connsiteX5" fmla="*/ 0 w 1710000"/>
              <a:gd name="connsiteY5" fmla="*/ 515495 h 61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000" h="618597">
                <a:moveTo>
                  <a:pt x="0" y="0"/>
                </a:moveTo>
                <a:lnTo>
                  <a:pt x="1710000" y="0"/>
                </a:lnTo>
                <a:lnTo>
                  <a:pt x="1710000" y="515495"/>
                </a:lnTo>
                <a:cubicBezTo>
                  <a:pt x="1710000" y="572437"/>
                  <a:pt x="1663840" y="618597"/>
                  <a:pt x="1606898" y="618597"/>
                </a:cubicBezTo>
                <a:lnTo>
                  <a:pt x="103102" y="618597"/>
                </a:lnTo>
                <a:cubicBezTo>
                  <a:pt x="46160" y="618597"/>
                  <a:pt x="0" y="572437"/>
                  <a:pt x="0" y="515495"/>
                </a:cubicBezTo>
                <a:close/>
              </a:path>
            </a:pathLst>
          </a:custGeom>
          <a:solidFill>
            <a:srgbClr val="6696B6"/>
          </a:solidFill>
          <a:ln w="19050">
            <a:solidFill>
              <a:srgbClr val="6696B6"/>
            </a:solidFill>
          </a:ln>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0" tIns="0" rIns="0" bIns="0" spcCol="127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066800" rtl="0" eaLnBrk="1" fontAlgn="auto" latinLnBrk="0" hangingPunct="1">
              <a:lnSpc>
                <a:spcPct val="130000"/>
              </a:lnSpc>
              <a:spcAft>
                <a:spcPct val="0"/>
              </a:spcAft>
              <a:buClrTx/>
              <a:buSzTx/>
              <a:buFontTx/>
              <a:buNone/>
              <a:defRPr/>
            </a:pPr>
            <a:endParaRPr kumimoji="0" lang="zh-CN" altLang="en-US" sz="1600" b="0" i="0" u="none" strike="noStrike" kern="1200" cap="none" spc="0" normalizeH="0" baseline="0" noProof="0" dirty="0">
              <a:solidFill>
                <a:srgbClr val="FFFFFF"/>
              </a:solidFill>
              <a:effectLst/>
              <a:uLnTx/>
              <a:uFillTx/>
              <a:latin typeface="汉仪君黑-45简" panose="020B0604020202020204" charset="-122"/>
              <a:ea typeface="汉仪君黑-45简" panose="020B0604020202020204" charset="-122"/>
              <a:cs typeface="+mn-ea"/>
              <a:sym typeface="+mn-lt"/>
            </a:endParaRPr>
          </a:p>
        </p:txBody>
      </p:sp>
      <p:sp>
        <p:nvSpPr>
          <p:cNvPr id="22" name="椭圆 21"/>
          <p:cNvSpPr/>
          <p:nvPr>
            <p:custDataLst>
              <p:tags r:id="rId6"/>
            </p:custDataLst>
          </p:nvPr>
        </p:nvSpPr>
        <p:spPr>
          <a:xfrm>
            <a:off x="4195944" y="1536930"/>
            <a:ext cx="980260" cy="955167"/>
          </a:xfrm>
          <a:prstGeom prst="ellipse">
            <a:avLst/>
          </a:prstGeom>
          <a:solidFill>
            <a:srgbClr val="6696B6"/>
          </a:solidFill>
          <a:ln>
            <a:solidFill>
              <a:srgbClr val="6696B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30000"/>
              </a:lnSpc>
              <a:buClrTx/>
              <a:buSzTx/>
              <a:buFontTx/>
              <a:buNone/>
              <a:defRPr/>
            </a:pPr>
            <a:r>
              <a:rPr kumimoji="0" lang="en-US" altLang="zh-CN" sz="2800" i="0" u="none" strike="noStrike" kern="1200" cap="none" spc="0" normalizeH="0" baseline="0" noProof="0" dirty="0">
                <a:ln>
                  <a:noFill/>
                </a:ln>
                <a:solidFill>
                  <a:srgbClr val="FFFFFF"/>
                </a:solidFill>
                <a:effectLst/>
                <a:uLnTx/>
                <a:uFillTx/>
                <a:latin typeface="汉仪君黑-45简" panose="020B0604020202020204" charset="-122"/>
                <a:ea typeface="汉仪君黑-45简" panose="020B0604020202020204" charset="-122"/>
                <a:cs typeface="+mn-ea"/>
                <a:sym typeface="+mn-lt"/>
              </a:rPr>
              <a:t>2</a:t>
            </a:r>
            <a:endParaRPr kumimoji="0" lang="en-US" altLang="zh-CN" sz="2800" i="0" u="none" strike="noStrike" kern="1200" cap="none" spc="0" normalizeH="0" baseline="0" noProof="0" dirty="0">
              <a:ln>
                <a:noFill/>
              </a:ln>
              <a:solidFill>
                <a:srgbClr val="FFFFFF"/>
              </a:solidFill>
              <a:effectLst/>
              <a:uLnTx/>
              <a:uFillTx/>
              <a:latin typeface="汉仪君黑-45简" panose="020B0604020202020204" charset="-122"/>
              <a:ea typeface="汉仪君黑-45简" panose="020B0604020202020204" charset="-122"/>
              <a:cs typeface="+mn-ea"/>
              <a:sym typeface="+mn-lt"/>
            </a:endParaRPr>
          </a:p>
        </p:txBody>
      </p:sp>
      <p:sp>
        <p:nvSpPr>
          <p:cNvPr id="24" name="任意多边形 23"/>
          <p:cNvSpPr/>
          <p:nvPr>
            <p:custDataLst>
              <p:tags r:id="rId7"/>
            </p:custDataLst>
          </p:nvPr>
        </p:nvSpPr>
        <p:spPr>
          <a:xfrm>
            <a:off x="6186638" y="2088984"/>
            <a:ext cx="2706035" cy="3137508"/>
          </a:xfrm>
          <a:custGeom>
            <a:avLst/>
            <a:gdLst>
              <a:gd name="connsiteX0" fmla="*/ 115088 w 1927180"/>
              <a:gd name="connsiteY0" fmla="*/ 0 h 1438599"/>
              <a:gd name="connsiteX1" fmla="*/ 1812092 w 1927180"/>
              <a:gd name="connsiteY1" fmla="*/ 0 h 1438599"/>
              <a:gd name="connsiteX2" fmla="*/ 1927180 w 1927180"/>
              <a:gd name="connsiteY2" fmla="*/ 115088 h 1438599"/>
              <a:gd name="connsiteX3" fmla="*/ 1927180 w 1927180"/>
              <a:gd name="connsiteY3" fmla="*/ 1438599 h 1438599"/>
              <a:gd name="connsiteX4" fmla="*/ 1927180 w 1927180"/>
              <a:gd name="connsiteY4" fmla="*/ 1438599 h 1438599"/>
              <a:gd name="connsiteX5" fmla="*/ 0 w 1927180"/>
              <a:gd name="connsiteY5" fmla="*/ 1438599 h 1438599"/>
              <a:gd name="connsiteX6" fmla="*/ 0 w 1927180"/>
              <a:gd name="connsiteY6" fmla="*/ 1438599 h 1438599"/>
              <a:gd name="connsiteX7" fmla="*/ 0 w 1927180"/>
              <a:gd name="connsiteY7" fmla="*/ 115088 h 1438599"/>
              <a:gd name="connsiteX8" fmla="*/ 115088 w 1927180"/>
              <a:gd name="connsiteY8" fmla="*/ 0 h 1438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27180" h="1438599">
                <a:moveTo>
                  <a:pt x="115088" y="0"/>
                </a:moveTo>
                <a:lnTo>
                  <a:pt x="1812092" y="0"/>
                </a:lnTo>
                <a:cubicBezTo>
                  <a:pt x="1875653" y="0"/>
                  <a:pt x="1927180" y="51527"/>
                  <a:pt x="1927180" y="115088"/>
                </a:cubicBezTo>
                <a:lnTo>
                  <a:pt x="1927180" y="1438599"/>
                </a:lnTo>
                <a:lnTo>
                  <a:pt x="1927180" y="1438599"/>
                </a:lnTo>
                <a:lnTo>
                  <a:pt x="0" y="1438599"/>
                </a:lnTo>
                <a:lnTo>
                  <a:pt x="0" y="1438599"/>
                </a:lnTo>
                <a:lnTo>
                  <a:pt x="0" y="115088"/>
                </a:lnTo>
                <a:cubicBezTo>
                  <a:pt x="0" y="51527"/>
                  <a:pt x="51527" y="0"/>
                  <a:pt x="115088" y="0"/>
                </a:cubicBezTo>
                <a:close/>
              </a:path>
            </a:pathLst>
          </a:custGeom>
          <a:noFill/>
          <a:ln w="19050">
            <a:solidFill>
              <a:srgbClr val="6696B6"/>
            </a:solidFill>
          </a:ln>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72000" tIns="0" rIns="72000" bIns="0" spcCol="1270" anchor="ctr"/>
          <a:lstStyle>
            <a:defPPr>
              <a:defRPr lang="zh-CN"/>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1" indent="0" algn="ctr" defTabSz="488950" rtl="0" eaLnBrk="1" fontAlgn="auto" latinLnBrk="0" hangingPunct="1">
              <a:lnSpc>
                <a:spcPct val="130000"/>
              </a:lnSpc>
              <a:spcAft>
                <a:spcPct val="0"/>
              </a:spcAft>
              <a:buClrTx/>
              <a:buSzTx/>
              <a:buFontTx/>
              <a:buNone/>
              <a:defRPr/>
            </a:pPr>
            <a:endParaRPr kumimoji="0" lang="zh-CN" altLang="en-US" sz="1100" b="0" i="0" u="none" strike="noStrike" kern="1200" cap="none" spc="0" normalizeH="0" baseline="0" noProof="0" dirty="0">
              <a:solidFill>
                <a:srgbClr val="47494B">
                  <a:lumMod val="50000"/>
                  <a:lumOff val="50000"/>
                </a:srgbClr>
              </a:solidFill>
              <a:effectLst/>
              <a:uLnTx/>
              <a:uFillTx/>
              <a:latin typeface="汉仪君黑-45简" panose="020B0604020202020204" charset="-122"/>
              <a:ea typeface="汉仪君黑-45简" panose="020B0604020202020204" charset="-122"/>
              <a:cs typeface="+mn-ea"/>
              <a:sym typeface="+mn-lt"/>
            </a:endParaRPr>
          </a:p>
        </p:txBody>
      </p:sp>
      <p:sp>
        <p:nvSpPr>
          <p:cNvPr id="28" name="任意多边形 27"/>
          <p:cNvSpPr/>
          <p:nvPr>
            <p:custDataLst>
              <p:tags r:id="rId8"/>
            </p:custDataLst>
          </p:nvPr>
        </p:nvSpPr>
        <p:spPr>
          <a:xfrm>
            <a:off x="6186638" y="5226492"/>
            <a:ext cx="2706035" cy="742278"/>
          </a:xfrm>
          <a:custGeom>
            <a:avLst/>
            <a:gdLst>
              <a:gd name="connsiteX0" fmla="*/ 0 w 1710000"/>
              <a:gd name="connsiteY0" fmla="*/ 0 h 618597"/>
              <a:gd name="connsiteX1" fmla="*/ 1710000 w 1710000"/>
              <a:gd name="connsiteY1" fmla="*/ 0 h 618597"/>
              <a:gd name="connsiteX2" fmla="*/ 1710000 w 1710000"/>
              <a:gd name="connsiteY2" fmla="*/ 515495 h 618597"/>
              <a:gd name="connsiteX3" fmla="*/ 1606898 w 1710000"/>
              <a:gd name="connsiteY3" fmla="*/ 618597 h 618597"/>
              <a:gd name="connsiteX4" fmla="*/ 103102 w 1710000"/>
              <a:gd name="connsiteY4" fmla="*/ 618597 h 618597"/>
              <a:gd name="connsiteX5" fmla="*/ 0 w 1710000"/>
              <a:gd name="connsiteY5" fmla="*/ 515495 h 61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000" h="618597">
                <a:moveTo>
                  <a:pt x="0" y="0"/>
                </a:moveTo>
                <a:lnTo>
                  <a:pt x="1710000" y="0"/>
                </a:lnTo>
                <a:lnTo>
                  <a:pt x="1710000" y="515495"/>
                </a:lnTo>
                <a:cubicBezTo>
                  <a:pt x="1710000" y="572437"/>
                  <a:pt x="1663840" y="618597"/>
                  <a:pt x="1606898" y="618597"/>
                </a:cubicBezTo>
                <a:lnTo>
                  <a:pt x="103102" y="618597"/>
                </a:lnTo>
                <a:cubicBezTo>
                  <a:pt x="46160" y="618597"/>
                  <a:pt x="0" y="572437"/>
                  <a:pt x="0" y="515495"/>
                </a:cubicBezTo>
                <a:close/>
              </a:path>
            </a:pathLst>
          </a:custGeom>
          <a:solidFill>
            <a:srgbClr val="6696B6"/>
          </a:solidFill>
          <a:ln w="19050">
            <a:solidFill>
              <a:srgbClr val="6696B6"/>
            </a:solidFill>
          </a:ln>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0" tIns="0" rIns="0" bIns="0" spcCol="127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066800" rtl="0" eaLnBrk="1" fontAlgn="auto" latinLnBrk="0" hangingPunct="1">
              <a:lnSpc>
                <a:spcPct val="130000"/>
              </a:lnSpc>
              <a:spcAft>
                <a:spcPct val="0"/>
              </a:spcAft>
              <a:buClrTx/>
              <a:buSzTx/>
              <a:buFontTx/>
              <a:buNone/>
              <a:defRPr/>
            </a:pPr>
            <a:endParaRPr kumimoji="0" lang="zh-CN" altLang="en-US" sz="1600" b="0" i="0" u="none" strike="noStrike" kern="1200" cap="none" spc="0" normalizeH="0" baseline="0" noProof="0" dirty="0">
              <a:solidFill>
                <a:srgbClr val="FFFFFF"/>
              </a:solidFill>
              <a:effectLst/>
              <a:uLnTx/>
              <a:uFillTx/>
              <a:latin typeface="汉仪君黑-45简" panose="020B0604020202020204" charset="-122"/>
              <a:ea typeface="汉仪君黑-45简" panose="020B0604020202020204" charset="-122"/>
              <a:cs typeface="+mn-ea"/>
              <a:sym typeface="+mn-lt"/>
            </a:endParaRPr>
          </a:p>
        </p:txBody>
      </p:sp>
      <p:sp>
        <p:nvSpPr>
          <p:cNvPr id="29" name="椭圆 28"/>
          <p:cNvSpPr/>
          <p:nvPr>
            <p:custDataLst>
              <p:tags r:id="rId9"/>
            </p:custDataLst>
          </p:nvPr>
        </p:nvSpPr>
        <p:spPr>
          <a:xfrm>
            <a:off x="7107807" y="1536930"/>
            <a:ext cx="980260" cy="955167"/>
          </a:xfrm>
          <a:prstGeom prst="ellipse">
            <a:avLst/>
          </a:prstGeom>
          <a:solidFill>
            <a:srgbClr val="6696B6"/>
          </a:solidFill>
          <a:ln>
            <a:solidFill>
              <a:srgbClr val="6696B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30000"/>
              </a:lnSpc>
              <a:buClrTx/>
              <a:buSzTx/>
              <a:buFontTx/>
              <a:buNone/>
              <a:defRPr/>
            </a:pPr>
            <a:r>
              <a:rPr kumimoji="0" lang="en-US" altLang="zh-CN" sz="2800" i="0" u="none" strike="noStrike" kern="1200" cap="none" spc="0" normalizeH="0" baseline="0" noProof="0" dirty="0">
                <a:ln>
                  <a:noFill/>
                </a:ln>
                <a:solidFill>
                  <a:srgbClr val="FFFFFF"/>
                </a:solidFill>
                <a:effectLst/>
                <a:uLnTx/>
                <a:uFillTx/>
                <a:latin typeface="汉仪君黑-45简" panose="020B0604020202020204" charset="-122"/>
                <a:ea typeface="汉仪君黑-45简" panose="020B0604020202020204" charset="-122"/>
                <a:cs typeface="+mn-ea"/>
                <a:sym typeface="+mn-lt"/>
              </a:rPr>
              <a:t>3</a:t>
            </a:r>
            <a:endParaRPr kumimoji="0" lang="en-US" altLang="zh-CN" sz="2800" i="0" u="none" strike="noStrike" kern="1200" cap="none" spc="0" normalizeH="0" baseline="0" noProof="0" dirty="0">
              <a:ln>
                <a:noFill/>
              </a:ln>
              <a:solidFill>
                <a:srgbClr val="FFFFFF"/>
              </a:solidFill>
              <a:effectLst/>
              <a:uLnTx/>
              <a:uFillTx/>
              <a:latin typeface="汉仪君黑-45简" panose="020B0604020202020204" charset="-122"/>
              <a:ea typeface="汉仪君黑-45简" panose="020B0604020202020204" charset="-122"/>
              <a:cs typeface="+mn-ea"/>
              <a:sym typeface="+mn-lt"/>
            </a:endParaRPr>
          </a:p>
        </p:txBody>
      </p:sp>
      <p:sp>
        <p:nvSpPr>
          <p:cNvPr id="33" name="任意多边形 32"/>
          <p:cNvSpPr/>
          <p:nvPr>
            <p:custDataLst>
              <p:tags r:id="rId10"/>
            </p:custDataLst>
          </p:nvPr>
        </p:nvSpPr>
        <p:spPr>
          <a:xfrm>
            <a:off x="9098502" y="2088984"/>
            <a:ext cx="2706035" cy="3137508"/>
          </a:xfrm>
          <a:custGeom>
            <a:avLst/>
            <a:gdLst>
              <a:gd name="connsiteX0" fmla="*/ 115088 w 1927180"/>
              <a:gd name="connsiteY0" fmla="*/ 0 h 1438599"/>
              <a:gd name="connsiteX1" fmla="*/ 1812092 w 1927180"/>
              <a:gd name="connsiteY1" fmla="*/ 0 h 1438599"/>
              <a:gd name="connsiteX2" fmla="*/ 1927180 w 1927180"/>
              <a:gd name="connsiteY2" fmla="*/ 115088 h 1438599"/>
              <a:gd name="connsiteX3" fmla="*/ 1927180 w 1927180"/>
              <a:gd name="connsiteY3" fmla="*/ 1438599 h 1438599"/>
              <a:gd name="connsiteX4" fmla="*/ 1927180 w 1927180"/>
              <a:gd name="connsiteY4" fmla="*/ 1438599 h 1438599"/>
              <a:gd name="connsiteX5" fmla="*/ 0 w 1927180"/>
              <a:gd name="connsiteY5" fmla="*/ 1438599 h 1438599"/>
              <a:gd name="connsiteX6" fmla="*/ 0 w 1927180"/>
              <a:gd name="connsiteY6" fmla="*/ 1438599 h 1438599"/>
              <a:gd name="connsiteX7" fmla="*/ 0 w 1927180"/>
              <a:gd name="connsiteY7" fmla="*/ 115088 h 1438599"/>
              <a:gd name="connsiteX8" fmla="*/ 115088 w 1927180"/>
              <a:gd name="connsiteY8" fmla="*/ 0 h 1438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27180" h="1438599">
                <a:moveTo>
                  <a:pt x="115088" y="0"/>
                </a:moveTo>
                <a:lnTo>
                  <a:pt x="1812092" y="0"/>
                </a:lnTo>
                <a:cubicBezTo>
                  <a:pt x="1875653" y="0"/>
                  <a:pt x="1927180" y="51527"/>
                  <a:pt x="1927180" y="115088"/>
                </a:cubicBezTo>
                <a:lnTo>
                  <a:pt x="1927180" y="1438599"/>
                </a:lnTo>
                <a:lnTo>
                  <a:pt x="1927180" y="1438599"/>
                </a:lnTo>
                <a:lnTo>
                  <a:pt x="0" y="1438599"/>
                </a:lnTo>
                <a:lnTo>
                  <a:pt x="0" y="1438599"/>
                </a:lnTo>
                <a:lnTo>
                  <a:pt x="0" y="115088"/>
                </a:lnTo>
                <a:cubicBezTo>
                  <a:pt x="0" y="51527"/>
                  <a:pt x="51527" y="0"/>
                  <a:pt x="115088" y="0"/>
                </a:cubicBezTo>
                <a:close/>
              </a:path>
            </a:pathLst>
          </a:custGeom>
          <a:noFill/>
          <a:ln w="19050">
            <a:solidFill>
              <a:srgbClr val="6696B6"/>
            </a:solidFill>
          </a:ln>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72000" tIns="0" rIns="72000" bIns="0" spcCol="1270" anchor="ctr"/>
          <a:lstStyle>
            <a:defPPr>
              <a:defRPr lang="zh-CN"/>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1" indent="0" algn="ctr" defTabSz="488950" rtl="0" eaLnBrk="1" fontAlgn="auto" latinLnBrk="0" hangingPunct="1">
              <a:lnSpc>
                <a:spcPct val="130000"/>
              </a:lnSpc>
              <a:spcAft>
                <a:spcPct val="0"/>
              </a:spcAft>
              <a:buClrTx/>
              <a:buSzTx/>
              <a:buFontTx/>
              <a:buNone/>
              <a:defRPr/>
            </a:pPr>
            <a:endParaRPr kumimoji="0" lang="zh-CN" altLang="en-US" sz="1100" b="0" i="0" u="none" strike="noStrike" kern="1200" cap="none" spc="0" normalizeH="0" baseline="0" noProof="0" dirty="0">
              <a:solidFill>
                <a:srgbClr val="47494B">
                  <a:lumMod val="50000"/>
                  <a:lumOff val="50000"/>
                </a:srgbClr>
              </a:solidFill>
              <a:effectLst/>
              <a:uLnTx/>
              <a:uFillTx/>
              <a:latin typeface="汉仪君黑-45简" panose="020B0604020202020204" charset="-122"/>
              <a:ea typeface="汉仪君黑-45简" panose="020B0604020202020204" charset="-122"/>
              <a:cs typeface="+mn-ea"/>
              <a:sym typeface="+mn-lt"/>
            </a:endParaRPr>
          </a:p>
        </p:txBody>
      </p:sp>
      <p:sp>
        <p:nvSpPr>
          <p:cNvPr id="34" name="任意多边形 33"/>
          <p:cNvSpPr/>
          <p:nvPr>
            <p:custDataLst>
              <p:tags r:id="rId11"/>
            </p:custDataLst>
          </p:nvPr>
        </p:nvSpPr>
        <p:spPr>
          <a:xfrm>
            <a:off x="9098502" y="5226492"/>
            <a:ext cx="2706035" cy="742278"/>
          </a:xfrm>
          <a:custGeom>
            <a:avLst/>
            <a:gdLst>
              <a:gd name="connsiteX0" fmla="*/ 0 w 1710000"/>
              <a:gd name="connsiteY0" fmla="*/ 0 h 618597"/>
              <a:gd name="connsiteX1" fmla="*/ 1710000 w 1710000"/>
              <a:gd name="connsiteY1" fmla="*/ 0 h 618597"/>
              <a:gd name="connsiteX2" fmla="*/ 1710000 w 1710000"/>
              <a:gd name="connsiteY2" fmla="*/ 515495 h 618597"/>
              <a:gd name="connsiteX3" fmla="*/ 1606898 w 1710000"/>
              <a:gd name="connsiteY3" fmla="*/ 618597 h 618597"/>
              <a:gd name="connsiteX4" fmla="*/ 103102 w 1710000"/>
              <a:gd name="connsiteY4" fmla="*/ 618597 h 618597"/>
              <a:gd name="connsiteX5" fmla="*/ 0 w 1710000"/>
              <a:gd name="connsiteY5" fmla="*/ 515495 h 61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000" h="618597">
                <a:moveTo>
                  <a:pt x="0" y="0"/>
                </a:moveTo>
                <a:lnTo>
                  <a:pt x="1710000" y="0"/>
                </a:lnTo>
                <a:lnTo>
                  <a:pt x="1710000" y="515495"/>
                </a:lnTo>
                <a:cubicBezTo>
                  <a:pt x="1710000" y="572437"/>
                  <a:pt x="1663840" y="618597"/>
                  <a:pt x="1606898" y="618597"/>
                </a:cubicBezTo>
                <a:lnTo>
                  <a:pt x="103102" y="618597"/>
                </a:lnTo>
                <a:cubicBezTo>
                  <a:pt x="46160" y="618597"/>
                  <a:pt x="0" y="572437"/>
                  <a:pt x="0" y="515495"/>
                </a:cubicBezTo>
                <a:close/>
              </a:path>
            </a:pathLst>
          </a:custGeom>
          <a:solidFill>
            <a:srgbClr val="6696B6"/>
          </a:solidFill>
          <a:ln w="19050">
            <a:solidFill>
              <a:srgbClr val="6696B6"/>
            </a:solidFill>
          </a:ln>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0" tIns="0" rIns="0" bIns="0" spcCol="127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066800" rtl="0" eaLnBrk="1" fontAlgn="auto" latinLnBrk="0" hangingPunct="1">
              <a:lnSpc>
                <a:spcPct val="130000"/>
              </a:lnSpc>
              <a:spcAft>
                <a:spcPct val="0"/>
              </a:spcAft>
              <a:buClrTx/>
              <a:buSzTx/>
              <a:buFontTx/>
              <a:buNone/>
              <a:defRPr/>
            </a:pPr>
            <a:endParaRPr kumimoji="0" lang="zh-CN" altLang="en-US" sz="1600" b="0" i="0" u="none" strike="noStrike" kern="1200" cap="none" spc="0" normalizeH="0" baseline="0" noProof="0" dirty="0">
              <a:solidFill>
                <a:srgbClr val="FFFFFF"/>
              </a:solidFill>
              <a:effectLst/>
              <a:uLnTx/>
              <a:uFillTx/>
              <a:latin typeface="汉仪君黑-45简" panose="020B0604020202020204" charset="-122"/>
              <a:ea typeface="汉仪君黑-45简" panose="020B0604020202020204" charset="-122"/>
              <a:cs typeface="+mn-ea"/>
              <a:sym typeface="+mn-lt"/>
            </a:endParaRPr>
          </a:p>
        </p:txBody>
      </p:sp>
      <p:sp>
        <p:nvSpPr>
          <p:cNvPr id="35" name="椭圆 34"/>
          <p:cNvSpPr/>
          <p:nvPr>
            <p:custDataLst>
              <p:tags r:id="rId12"/>
            </p:custDataLst>
          </p:nvPr>
        </p:nvSpPr>
        <p:spPr>
          <a:xfrm>
            <a:off x="10019671" y="1536930"/>
            <a:ext cx="980260" cy="955167"/>
          </a:xfrm>
          <a:prstGeom prst="ellipse">
            <a:avLst/>
          </a:prstGeom>
          <a:solidFill>
            <a:srgbClr val="6696B6"/>
          </a:solidFill>
          <a:ln>
            <a:solidFill>
              <a:srgbClr val="6696B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30000"/>
              </a:lnSpc>
              <a:buClrTx/>
              <a:buSzTx/>
              <a:buFontTx/>
              <a:buNone/>
              <a:defRPr/>
            </a:pPr>
            <a:r>
              <a:rPr kumimoji="0" lang="en-US" altLang="zh-CN" sz="2800" i="0" u="none" strike="noStrike" kern="1200" cap="none" spc="0" normalizeH="0" baseline="0" noProof="0" dirty="0">
                <a:ln>
                  <a:noFill/>
                </a:ln>
                <a:solidFill>
                  <a:srgbClr val="FFFFFF"/>
                </a:solidFill>
                <a:effectLst/>
                <a:uLnTx/>
                <a:uFillTx/>
                <a:latin typeface="汉仪君黑-45简" panose="020B0604020202020204" charset="-122"/>
                <a:ea typeface="汉仪君黑-45简" panose="020B0604020202020204" charset="-122"/>
                <a:cs typeface="+mn-ea"/>
                <a:sym typeface="+mn-lt"/>
              </a:rPr>
              <a:t>4</a:t>
            </a:r>
            <a:endParaRPr kumimoji="0" lang="en-US" altLang="zh-CN" sz="2800" i="0" u="none" strike="noStrike" kern="1200" cap="none" spc="0" normalizeH="0" baseline="0" noProof="0" dirty="0">
              <a:ln>
                <a:noFill/>
              </a:ln>
              <a:solidFill>
                <a:srgbClr val="FFFFFF"/>
              </a:solidFill>
              <a:effectLst/>
              <a:uLnTx/>
              <a:uFillTx/>
              <a:latin typeface="汉仪君黑-45简" panose="020B0604020202020204" charset="-122"/>
              <a:ea typeface="汉仪君黑-45简" panose="020B0604020202020204" charset="-122"/>
              <a:cs typeface="+mn-ea"/>
              <a:sym typeface="+mn-lt"/>
            </a:endParaRPr>
          </a:p>
        </p:txBody>
      </p:sp>
      <p:sp>
        <p:nvSpPr>
          <p:cNvPr id="36" name="文本框 36"/>
          <p:cNvSpPr txBox="1">
            <a:spLocks noChangeArrowheads="1"/>
          </p:cNvSpPr>
          <p:nvPr>
            <p:custDataLst>
              <p:tags r:id="rId13"/>
            </p:custDataLst>
          </p:nvPr>
        </p:nvSpPr>
        <p:spPr bwMode="auto">
          <a:xfrm>
            <a:off x="448011" y="2492471"/>
            <a:ext cx="262029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400" dirty="0">
                <a:solidFill>
                  <a:srgbClr val="6696B6"/>
                </a:solidFill>
                <a:latin typeface="汉仪君黑-45简" panose="020B0604020202020204" charset="-122"/>
                <a:ea typeface="汉仪君黑-45简" panose="020B0604020202020204" charset="-122"/>
                <a:cs typeface="+mn-ea"/>
                <a:sym typeface="+mn-lt"/>
              </a:rPr>
              <a:t>双视图编码</a:t>
            </a:r>
            <a:endParaRPr lang="zh-CN" altLang="en-US" sz="2400" dirty="0">
              <a:solidFill>
                <a:srgbClr val="6696B6"/>
              </a:solidFill>
              <a:latin typeface="汉仪君黑-45简" panose="020B0604020202020204" charset="-122"/>
              <a:ea typeface="汉仪君黑-45简" panose="020B0604020202020204" charset="-122"/>
              <a:cs typeface="+mn-ea"/>
              <a:sym typeface="+mn-lt"/>
            </a:endParaRPr>
          </a:p>
        </p:txBody>
      </p:sp>
      <p:sp>
        <p:nvSpPr>
          <p:cNvPr id="40" name="文本框 36"/>
          <p:cNvSpPr txBox="1">
            <a:spLocks noChangeArrowheads="1"/>
          </p:cNvSpPr>
          <p:nvPr>
            <p:custDataLst>
              <p:tags r:id="rId14"/>
            </p:custDataLst>
          </p:nvPr>
        </p:nvSpPr>
        <p:spPr bwMode="auto">
          <a:xfrm>
            <a:off x="3313430" y="2492375"/>
            <a:ext cx="27311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400" dirty="0">
                <a:solidFill>
                  <a:srgbClr val="6696B6"/>
                </a:solidFill>
                <a:latin typeface="汉仪君黑-45简" panose="020B0604020202020204" charset="-122"/>
                <a:ea typeface="汉仪君黑-45简" panose="020B0604020202020204" charset="-122"/>
                <a:cs typeface="+mn-ea"/>
                <a:sym typeface="+mn-lt"/>
              </a:rPr>
              <a:t>少量标注监督预热</a:t>
            </a:r>
            <a:endParaRPr lang="zh-CN" altLang="en-US" sz="2400" dirty="0">
              <a:solidFill>
                <a:srgbClr val="6696B6"/>
              </a:solidFill>
              <a:latin typeface="汉仪君黑-45简" panose="020B0604020202020204" charset="-122"/>
              <a:ea typeface="汉仪君黑-45简" panose="020B0604020202020204" charset="-122"/>
              <a:cs typeface="+mn-ea"/>
              <a:sym typeface="+mn-lt"/>
            </a:endParaRPr>
          </a:p>
        </p:txBody>
      </p:sp>
      <p:sp>
        <p:nvSpPr>
          <p:cNvPr id="42" name="文本框 36"/>
          <p:cNvSpPr txBox="1">
            <a:spLocks noChangeArrowheads="1"/>
          </p:cNvSpPr>
          <p:nvPr>
            <p:custDataLst>
              <p:tags r:id="rId15"/>
            </p:custDataLst>
          </p:nvPr>
        </p:nvSpPr>
        <p:spPr bwMode="auto">
          <a:xfrm>
            <a:off x="6289675" y="2492375"/>
            <a:ext cx="286004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400" dirty="0">
                <a:solidFill>
                  <a:srgbClr val="6696B6"/>
                </a:solidFill>
                <a:latin typeface="汉仪君黑-45简" panose="020B0604020202020204" charset="-122"/>
                <a:ea typeface="汉仪君黑-45简" panose="020B0604020202020204" charset="-122"/>
                <a:cs typeface="+mn-ea"/>
                <a:sym typeface="+mn-lt"/>
              </a:rPr>
              <a:t>节点到原型软匹配</a:t>
            </a:r>
            <a:endParaRPr lang="zh-CN" altLang="en-US" sz="2400" dirty="0">
              <a:solidFill>
                <a:srgbClr val="6696B6"/>
              </a:solidFill>
              <a:latin typeface="汉仪君黑-45简" panose="020B0604020202020204" charset="-122"/>
              <a:ea typeface="汉仪君黑-45简" panose="020B0604020202020204" charset="-122"/>
              <a:cs typeface="+mn-ea"/>
              <a:sym typeface="+mn-lt"/>
            </a:endParaRPr>
          </a:p>
        </p:txBody>
      </p:sp>
      <p:sp>
        <p:nvSpPr>
          <p:cNvPr id="44" name="文本框 36"/>
          <p:cNvSpPr txBox="1">
            <a:spLocks noChangeArrowheads="1"/>
          </p:cNvSpPr>
          <p:nvPr>
            <p:custDataLst>
              <p:tags r:id="rId16"/>
            </p:custDataLst>
          </p:nvPr>
        </p:nvSpPr>
        <p:spPr bwMode="auto">
          <a:xfrm>
            <a:off x="9208789" y="2492471"/>
            <a:ext cx="262029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400" dirty="0">
                <a:solidFill>
                  <a:srgbClr val="6696B6"/>
                </a:solidFill>
                <a:latin typeface="汉仪君黑-45简" panose="020B0604020202020204" charset="-122"/>
                <a:ea typeface="汉仪君黑-45简" panose="020B0604020202020204" charset="-122"/>
                <a:cs typeface="+mn-ea"/>
                <a:sym typeface="+mn-lt"/>
              </a:rPr>
              <a:t>原型诱导预测</a:t>
            </a:r>
            <a:endParaRPr lang="zh-CN" altLang="en-US" sz="2400" dirty="0">
              <a:solidFill>
                <a:srgbClr val="6696B6"/>
              </a:solidFill>
              <a:latin typeface="汉仪君黑-45简" panose="020B0604020202020204" charset="-122"/>
              <a:ea typeface="汉仪君黑-45简" panose="020B0604020202020204" charset="-122"/>
              <a:cs typeface="+mn-ea"/>
              <a:sym typeface="+mn-lt"/>
            </a:endParaRPr>
          </a:p>
        </p:txBody>
      </p:sp>
      <p:sp>
        <p:nvSpPr>
          <p:cNvPr id="23" name="任意多边形: 形状 22"/>
          <p:cNvSpPr/>
          <p:nvPr/>
        </p:nvSpPr>
        <p:spPr>
          <a:xfrm>
            <a:off x="11206264" y="6230570"/>
            <a:ext cx="992707" cy="627430"/>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5" name="任意多边形: 形状 24"/>
          <p:cNvSpPr/>
          <p:nvPr/>
        </p:nvSpPr>
        <p:spPr>
          <a:xfrm flipH="1">
            <a:off x="0" y="-1"/>
            <a:ext cx="1424610" cy="777930"/>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6" name="任意多边形: 形状 25"/>
          <p:cNvSpPr/>
          <p:nvPr/>
        </p:nvSpPr>
        <p:spPr>
          <a:xfrm flipH="1">
            <a:off x="1819" y="-1"/>
            <a:ext cx="1457330" cy="808547"/>
          </a:xfrm>
          <a:custGeom>
            <a:avLst/>
            <a:gdLst>
              <a:gd name="connsiteX0" fmla="*/ 0 w 5585422"/>
              <a:gd name="connsiteY0" fmla="*/ 0 h 3098871"/>
              <a:gd name="connsiteX1" fmla="*/ 5585422 w 5585422"/>
              <a:gd name="connsiteY1" fmla="*/ 0 h 3098871"/>
              <a:gd name="connsiteX2" fmla="*/ 5585422 w 5585422"/>
              <a:gd name="connsiteY2" fmla="*/ 1079106 h 3098871"/>
              <a:gd name="connsiteX3" fmla="*/ 3710012 w 5585422"/>
              <a:gd name="connsiteY3" fmla="*/ 2931810 h 3098871"/>
              <a:gd name="connsiteX4" fmla="*/ 2891388 w 5585422"/>
              <a:gd name="connsiteY4" fmla="*/ 2926824 h 309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5422" h="3098871">
                <a:moveTo>
                  <a:pt x="0" y="0"/>
                </a:moveTo>
                <a:lnTo>
                  <a:pt x="5585422" y="0"/>
                </a:lnTo>
                <a:lnTo>
                  <a:pt x="5585422" y="1079106"/>
                </a:lnTo>
                <a:lnTo>
                  <a:pt x="3710012" y="2931810"/>
                </a:lnTo>
                <a:cubicBezTo>
                  <a:pt x="3482580" y="3156491"/>
                  <a:pt x="3116069" y="3154260"/>
                  <a:pt x="2891388" y="2926824"/>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7" name="文本框 24"/>
          <p:cNvSpPr txBox="1"/>
          <p:nvPr/>
        </p:nvSpPr>
        <p:spPr>
          <a:xfrm>
            <a:off x="4274417" y="354567"/>
            <a:ext cx="3643166"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模块与代码的映射</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pic>
        <p:nvPicPr>
          <p:cNvPr id="7" name="图片 6"/>
          <p:cNvPicPr>
            <a:picLocks noChangeAspect="1"/>
          </p:cNvPicPr>
          <p:nvPr/>
        </p:nvPicPr>
        <p:blipFill>
          <a:blip r:embed="rId17"/>
          <a:stretch>
            <a:fillRect/>
          </a:stretch>
        </p:blipFill>
        <p:spPr>
          <a:xfrm>
            <a:off x="562610" y="2952750"/>
            <a:ext cx="1501140" cy="853440"/>
          </a:xfrm>
          <a:prstGeom prst="rect">
            <a:avLst/>
          </a:prstGeom>
        </p:spPr>
      </p:pic>
      <p:pic>
        <p:nvPicPr>
          <p:cNvPr id="8" name="图片 7"/>
          <p:cNvPicPr>
            <a:picLocks noChangeAspect="1"/>
          </p:cNvPicPr>
          <p:nvPr/>
        </p:nvPicPr>
        <p:blipFill>
          <a:blip r:embed="rId18"/>
          <a:stretch>
            <a:fillRect/>
          </a:stretch>
        </p:blipFill>
        <p:spPr>
          <a:xfrm>
            <a:off x="363220" y="3956050"/>
            <a:ext cx="2701925" cy="1120775"/>
          </a:xfrm>
          <a:prstGeom prst="rect">
            <a:avLst/>
          </a:prstGeom>
        </p:spPr>
      </p:pic>
      <p:pic>
        <p:nvPicPr>
          <p:cNvPr id="9" name="图片 8"/>
          <p:cNvPicPr>
            <a:picLocks noChangeAspect="1"/>
          </p:cNvPicPr>
          <p:nvPr/>
        </p:nvPicPr>
        <p:blipFill>
          <a:blip r:embed="rId19"/>
          <a:stretch>
            <a:fillRect/>
          </a:stretch>
        </p:blipFill>
        <p:spPr>
          <a:xfrm>
            <a:off x="3237230" y="3152775"/>
            <a:ext cx="2781300" cy="434340"/>
          </a:xfrm>
          <a:prstGeom prst="rect">
            <a:avLst/>
          </a:prstGeom>
        </p:spPr>
      </p:pic>
      <p:pic>
        <p:nvPicPr>
          <p:cNvPr id="10" name="图片 9"/>
          <p:cNvPicPr>
            <a:picLocks noChangeAspect="1"/>
          </p:cNvPicPr>
          <p:nvPr/>
        </p:nvPicPr>
        <p:blipFill>
          <a:blip r:embed="rId20"/>
          <a:stretch>
            <a:fillRect/>
          </a:stretch>
        </p:blipFill>
        <p:spPr>
          <a:xfrm>
            <a:off x="3215005" y="3950970"/>
            <a:ext cx="2766060" cy="1196340"/>
          </a:xfrm>
          <a:prstGeom prst="rect">
            <a:avLst/>
          </a:prstGeom>
        </p:spPr>
      </p:pic>
      <p:pic>
        <p:nvPicPr>
          <p:cNvPr id="11" name="图片 10"/>
          <p:cNvPicPr>
            <a:picLocks noChangeAspect="1"/>
          </p:cNvPicPr>
          <p:nvPr/>
        </p:nvPicPr>
        <p:blipFill>
          <a:blip r:embed="rId21"/>
          <a:stretch>
            <a:fillRect/>
          </a:stretch>
        </p:blipFill>
        <p:spPr>
          <a:xfrm>
            <a:off x="6186805" y="2952750"/>
            <a:ext cx="2705100" cy="853440"/>
          </a:xfrm>
          <a:prstGeom prst="rect">
            <a:avLst/>
          </a:prstGeom>
        </p:spPr>
      </p:pic>
      <p:pic>
        <p:nvPicPr>
          <p:cNvPr id="12" name="图片 11"/>
          <p:cNvPicPr>
            <a:picLocks noChangeAspect="1"/>
          </p:cNvPicPr>
          <p:nvPr/>
        </p:nvPicPr>
        <p:blipFill>
          <a:blip r:embed="rId22"/>
          <a:stretch>
            <a:fillRect/>
          </a:stretch>
        </p:blipFill>
        <p:spPr>
          <a:xfrm>
            <a:off x="6191250" y="3806190"/>
            <a:ext cx="2807970" cy="1447800"/>
          </a:xfrm>
          <a:prstGeom prst="rect">
            <a:avLst/>
          </a:prstGeom>
        </p:spPr>
      </p:pic>
      <p:pic>
        <p:nvPicPr>
          <p:cNvPr id="14" name="图片 13"/>
          <p:cNvPicPr>
            <a:picLocks noChangeAspect="1"/>
          </p:cNvPicPr>
          <p:nvPr/>
        </p:nvPicPr>
        <p:blipFill>
          <a:blip r:embed="rId23"/>
          <a:stretch>
            <a:fillRect/>
          </a:stretch>
        </p:blipFill>
        <p:spPr>
          <a:xfrm>
            <a:off x="9384665" y="3004820"/>
            <a:ext cx="1615440" cy="800100"/>
          </a:xfrm>
          <a:prstGeom prst="rect">
            <a:avLst/>
          </a:prstGeom>
        </p:spPr>
      </p:pic>
      <p:pic>
        <p:nvPicPr>
          <p:cNvPr id="15" name="图片 14"/>
          <p:cNvPicPr>
            <a:picLocks noChangeAspect="1"/>
          </p:cNvPicPr>
          <p:nvPr/>
        </p:nvPicPr>
        <p:blipFill>
          <a:blip r:embed="rId24"/>
          <a:stretch>
            <a:fillRect/>
          </a:stretch>
        </p:blipFill>
        <p:spPr>
          <a:xfrm>
            <a:off x="9209405" y="4088765"/>
            <a:ext cx="2403475" cy="10680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custDataLst>
              <p:tags r:id="rId1"/>
            </p:custDataLst>
          </p:nvPr>
        </p:nvSpPr>
        <p:spPr>
          <a:xfrm>
            <a:off x="864235" y="876105"/>
            <a:ext cx="2316480" cy="2103120"/>
          </a:xfrm>
          <a:prstGeom prst="roundRect">
            <a:avLst/>
          </a:prstGeom>
          <a:solidFill>
            <a:srgbClr val="669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7" name="矩形: 圆角 6"/>
          <p:cNvSpPr/>
          <p:nvPr>
            <p:custDataLst>
              <p:tags r:id="rId2"/>
            </p:custDataLst>
          </p:nvPr>
        </p:nvSpPr>
        <p:spPr>
          <a:xfrm>
            <a:off x="3599815" y="876105"/>
            <a:ext cx="2316480" cy="2103120"/>
          </a:xfrm>
          <a:prstGeom prst="roundRect">
            <a:avLst/>
          </a:prstGeom>
          <a:solidFill>
            <a:srgbClr val="669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8" name="矩形: 圆角 7"/>
          <p:cNvSpPr/>
          <p:nvPr>
            <p:custDataLst>
              <p:tags r:id="rId3"/>
            </p:custDataLst>
          </p:nvPr>
        </p:nvSpPr>
        <p:spPr>
          <a:xfrm>
            <a:off x="6335395" y="876105"/>
            <a:ext cx="2316480" cy="2103120"/>
          </a:xfrm>
          <a:prstGeom prst="roundRect">
            <a:avLst/>
          </a:prstGeom>
          <a:solidFill>
            <a:srgbClr val="669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9" name="矩形: 圆角 8"/>
          <p:cNvSpPr/>
          <p:nvPr>
            <p:custDataLst>
              <p:tags r:id="rId4"/>
            </p:custDataLst>
          </p:nvPr>
        </p:nvSpPr>
        <p:spPr>
          <a:xfrm>
            <a:off x="9070975" y="876105"/>
            <a:ext cx="2316480" cy="2103120"/>
          </a:xfrm>
          <a:prstGeom prst="roundRect">
            <a:avLst/>
          </a:prstGeom>
          <a:solidFill>
            <a:srgbClr val="669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grpSp>
        <p:nvGrpSpPr>
          <p:cNvPr id="11" name="组合 10"/>
          <p:cNvGrpSpPr/>
          <p:nvPr>
            <p:custDataLst>
              <p:tags r:id="rId5"/>
            </p:custDataLst>
          </p:nvPr>
        </p:nvGrpSpPr>
        <p:grpSpPr bwMode="auto">
          <a:xfrm>
            <a:off x="7019038" y="1485078"/>
            <a:ext cx="949195" cy="885174"/>
            <a:chOff x="5513141" y="5082923"/>
            <a:chExt cx="245393" cy="229163"/>
          </a:xfrm>
          <a:solidFill>
            <a:schemeClr val="bg1"/>
          </a:solidFill>
        </p:grpSpPr>
        <p:sp>
          <p:nvSpPr>
            <p:cNvPr id="12" name="Freeform 322"/>
            <p:cNvSpPr/>
            <p:nvPr>
              <p:custDataLst>
                <p:tags r:id="rId6"/>
              </p:custDataLst>
            </p:nvPr>
          </p:nvSpPr>
          <p:spPr bwMode="auto">
            <a:xfrm>
              <a:off x="5541999" y="5192992"/>
              <a:ext cx="45110" cy="81197"/>
            </a:xfrm>
            <a:custGeom>
              <a:avLst/>
              <a:gdLst>
                <a:gd name="T0" fmla="*/ 14 w 49"/>
                <a:gd name="T1" fmla="*/ 0 h 90"/>
                <a:gd name="T2" fmla="*/ 14 w 49"/>
                <a:gd name="T3" fmla="*/ 0 h 90"/>
                <a:gd name="T4" fmla="*/ 8 w 49"/>
                <a:gd name="T5" fmla="*/ 2 h 90"/>
                <a:gd name="T6" fmla="*/ 4 w 49"/>
                <a:gd name="T7" fmla="*/ 4 h 90"/>
                <a:gd name="T8" fmla="*/ 1 w 49"/>
                <a:gd name="T9" fmla="*/ 8 h 90"/>
                <a:gd name="T10" fmla="*/ 0 w 49"/>
                <a:gd name="T11" fmla="*/ 14 h 90"/>
                <a:gd name="T12" fmla="*/ 0 w 49"/>
                <a:gd name="T13" fmla="*/ 78 h 90"/>
                <a:gd name="T14" fmla="*/ 0 w 49"/>
                <a:gd name="T15" fmla="*/ 78 h 90"/>
                <a:gd name="T16" fmla="*/ 1 w 49"/>
                <a:gd name="T17" fmla="*/ 84 h 90"/>
                <a:gd name="T18" fmla="*/ 4 w 49"/>
                <a:gd name="T19" fmla="*/ 88 h 90"/>
                <a:gd name="T20" fmla="*/ 8 w 49"/>
                <a:gd name="T21" fmla="*/ 90 h 90"/>
                <a:gd name="T22" fmla="*/ 14 w 49"/>
                <a:gd name="T23" fmla="*/ 90 h 90"/>
                <a:gd name="T24" fmla="*/ 35 w 49"/>
                <a:gd name="T25" fmla="*/ 90 h 90"/>
                <a:gd name="T26" fmla="*/ 35 w 49"/>
                <a:gd name="T27" fmla="*/ 90 h 90"/>
                <a:gd name="T28" fmla="*/ 41 w 49"/>
                <a:gd name="T29" fmla="*/ 90 h 90"/>
                <a:gd name="T30" fmla="*/ 45 w 49"/>
                <a:gd name="T31" fmla="*/ 88 h 90"/>
                <a:gd name="T32" fmla="*/ 48 w 49"/>
                <a:gd name="T33" fmla="*/ 84 h 90"/>
                <a:gd name="T34" fmla="*/ 49 w 49"/>
                <a:gd name="T35" fmla="*/ 78 h 90"/>
                <a:gd name="T36" fmla="*/ 49 w 49"/>
                <a:gd name="T37" fmla="*/ 14 h 90"/>
                <a:gd name="T38" fmla="*/ 49 w 49"/>
                <a:gd name="T39" fmla="*/ 14 h 90"/>
                <a:gd name="T40" fmla="*/ 48 w 49"/>
                <a:gd name="T41" fmla="*/ 8 h 90"/>
                <a:gd name="T42" fmla="*/ 45 w 49"/>
                <a:gd name="T43" fmla="*/ 4 h 90"/>
                <a:gd name="T44" fmla="*/ 41 w 49"/>
                <a:gd name="T45" fmla="*/ 2 h 90"/>
                <a:gd name="T46" fmla="*/ 35 w 49"/>
                <a:gd name="T47" fmla="*/ 0 h 90"/>
                <a:gd name="T48" fmla="*/ 14 w 49"/>
                <a:gd name="T4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 h="90">
                  <a:moveTo>
                    <a:pt x="14" y="0"/>
                  </a:moveTo>
                  <a:lnTo>
                    <a:pt x="14" y="0"/>
                  </a:lnTo>
                  <a:lnTo>
                    <a:pt x="8" y="2"/>
                  </a:lnTo>
                  <a:lnTo>
                    <a:pt x="4" y="4"/>
                  </a:lnTo>
                  <a:lnTo>
                    <a:pt x="1" y="8"/>
                  </a:lnTo>
                  <a:lnTo>
                    <a:pt x="0" y="14"/>
                  </a:lnTo>
                  <a:lnTo>
                    <a:pt x="0" y="78"/>
                  </a:lnTo>
                  <a:lnTo>
                    <a:pt x="0" y="78"/>
                  </a:lnTo>
                  <a:lnTo>
                    <a:pt x="1" y="84"/>
                  </a:lnTo>
                  <a:lnTo>
                    <a:pt x="4" y="88"/>
                  </a:lnTo>
                  <a:lnTo>
                    <a:pt x="8" y="90"/>
                  </a:lnTo>
                  <a:lnTo>
                    <a:pt x="14" y="90"/>
                  </a:lnTo>
                  <a:lnTo>
                    <a:pt x="35" y="90"/>
                  </a:lnTo>
                  <a:lnTo>
                    <a:pt x="35" y="90"/>
                  </a:lnTo>
                  <a:lnTo>
                    <a:pt x="41" y="90"/>
                  </a:lnTo>
                  <a:lnTo>
                    <a:pt x="45" y="88"/>
                  </a:lnTo>
                  <a:lnTo>
                    <a:pt x="48" y="84"/>
                  </a:lnTo>
                  <a:lnTo>
                    <a:pt x="49" y="78"/>
                  </a:lnTo>
                  <a:lnTo>
                    <a:pt x="49" y="14"/>
                  </a:lnTo>
                  <a:lnTo>
                    <a:pt x="49" y="14"/>
                  </a:lnTo>
                  <a:lnTo>
                    <a:pt x="48" y="8"/>
                  </a:lnTo>
                  <a:lnTo>
                    <a:pt x="45" y="4"/>
                  </a:lnTo>
                  <a:lnTo>
                    <a:pt x="41" y="2"/>
                  </a:lnTo>
                  <a:lnTo>
                    <a:pt x="35" y="0"/>
                  </a:lnTo>
                  <a:lnTo>
                    <a:pt x="1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b="1">
                <a:solidFill>
                  <a:srgbClr val="00B0F0"/>
                </a:solidFill>
                <a:latin typeface="汉仪君黑-45简" panose="020B0604020202020204" charset="-122"/>
                <a:ea typeface="汉仪君黑-45简" panose="020B0604020202020204" charset="-122"/>
                <a:cs typeface="+mn-ea"/>
                <a:sym typeface="+mn-lt"/>
              </a:endParaRPr>
            </a:p>
          </p:txBody>
        </p:sp>
        <p:sp>
          <p:nvSpPr>
            <p:cNvPr id="13" name="Freeform 323"/>
            <p:cNvSpPr/>
            <p:nvPr>
              <p:custDataLst>
                <p:tags r:id="rId7"/>
              </p:custDataLst>
            </p:nvPr>
          </p:nvSpPr>
          <p:spPr bwMode="auto">
            <a:xfrm>
              <a:off x="5610565" y="5223665"/>
              <a:ext cx="45110" cy="50523"/>
            </a:xfrm>
            <a:custGeom>
              <a:avLst/>
              <a:gdLst>
                <a:gd name="T0" fmla="*/ 14 w 49"/>
                <a:gd name="T1" fmla="*/ 0 h 57"/>
                <a:gd name="T2" fmla="*/ 14 w 49"/>
                <a:gd name="T3" fmla="*/ 0 h 57"/>
                <a:gd name="T4" fmla="*/ 9 w 49"/>
                <a:gd name="T5" fmla="*/ 1 h 57"/>
                <a:gd name="T6" fmla="*/ 4 w 49"/>
                <a:gd name="T7" fmla="*/ 4 h 57"/>
                <a:gd name="T8" fmla="*/ 2 w 49"/>
                <a:gd name="T9" fmla="*/ 8 h 57"/>
                <a:gd name="T10" fmla="*/ 0 w 49"/>
                <a:gd name="T11" fmla="*/ 14 h 57"/>
                <a:gd name="T12" fmla="*/ 0 w 49"/>
                <a:gd name="T13" fmla="*/ 45 h 57"/>
                <a:gd name="T14" fmla="*/ 0 w 49"/>
                <a:gd name="T15" fmla="*/ 45 h 57"/>
                <a:gd name="T16" fmla="*/ 2 w 49"/>
                <a:gd name="T17" fmla="*/ 51 h 57"/>
                <a:gd name="T18" fmla="*/ 4 w 49"/>
                <a:gd name="T19" fmla="*/ 55 h 57"/>
                <a:gd name="T20" fmla="*/ 9 w 49"/>
                <a:gd name="T21" fmla="*/ 57 h 57"/>
                <a:gd name="T22" fmla="*/ 14 w 49"/>
                <a:gd name="T23" fmla="*/ 57 h 57"/>
                <a:gd name="T24" fmla="*/ 36 w 49"/>
                <a:gd name="T25" fmla="*/ 57 h 57"/>
                <a:gd name="T26" fmla="*/ 36 w 49"/>
                <a:gd name="T27" fmla="*/ 57 h 57"/>
                <a:gd name="T28" fmla="*/ 41 w 49"/>
                <a:gd name="T29" fmla="*/ 57 h 57"/>
                <a:gd name="T30" fmla="*/ 45 w 49"/>
                <a:gd name="T31" fmla="*/ 55 h 57"/>
                <a:gd name="T32" fmla="*/ 48 w 49"/>
                <a:gd name="T33" fmla="*/ 51 h 57"/>
                <a:gd name="T34" fmla="*/ 49 w 49"/>
                <a:gd name="T35" fmla="*/ 45 h 57"/>
                <a:gd name="T36" fmla="*/ 49 w 49"/>
                <a:gd name="T37" fmla="*/ 14 h 57"/>
                <a:gd name="T38" fmla="*/ 49 w 49"/>
                <a:gd name="T39" fmla="*/ 14 h 57"/>
                <a:gd name="T40" fmla="*/ 48 w 49"/>
                <a:gd name="T41" fmla="*/ 8 h 57"/>
                <a:gd name="T42" fmla="*/ 45 w 49"/>
                <a:gd name="T43" fmla="*/ 4 h 57"/>
                <a:gd name="T44" fmla="*/ 41 w 49"/>
                <a:gd name="T45" fmla="*/ 1 h 57"/>
                <a:gd name="T46" fmla="*/ 36 w 49"/>
                <a:gd name="T47" fmla="*/ 0 h 57"/>
                <a:gd name="T48" fmla="*/ 14 w 49"/>
                <a:gd name="T49"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 h="57">
                  <a:moveTo>
                    <a:pt x="14" y="0"/>
                  </a:moveTo>
                  <a:lnTo>
                    <a:pt x="14" y="0"/>
                  </a:lnTo>
                  <a:lnTo>
                    <a:pt x="9" y="1"/>
                  </a:lnTo>
                  <a:lnTo>
                    <a:pt x="4" y="4"/>
                  </a:lnTo>
                  <a:lnTo>
                    <a:pt x="2" y="8"/>
                  </a:lnTo>
                  <a:lnTo>
                    <a:pt x="0" y="14"/>
                  </a:lnTo>
                  <a:lnTo>
                    <a:pt x="0" y="45"/>
                  </a:lnTo>
                  <a:lnTo>
                    <a:pt x="0" y="45"/>
                  </a:lnTo>
                  <a:lnTo>
                    <a:pt x="2" y="51"/>
                  </a:lnTo>
                  <a:lnTo>
                    <a:pt x="4" y="55"/>
                  </a:lnTo>
                  <a:lnTo>
                    <a:pt x="9" y="57"/>
                  </a:lnTo>
                  <a:lnTo>
                    <a:pt x="14" y="57"/>
                  </a:lnTo>
                  <a:lnTo>
                    <a:pt x="36" y="57"/>
                  </a:lnTo>
                  <a:lnTo>
                    <a:pt x="36" y="57"/>
                  </a:lnTo>
                  <a:lnTo>
                    <a:pt x="41" y="57"/>
                  </a:lnTo>
                  <a:lnTo>
                    <a:pt x="45" y="55"/>
                  </a:lnTo>
                  <a:lnTo>
                    <a:pt x="48" y="51"/>
                  </a:lnTo>
                  <a:lnTo>
                    <a:pt x="49" y="45"/>
                  </a:lnTo>
                  <a:lnTo>
                    <a:pt x="49" y="14"/>
                  </a:lnTo>
                  <a:lnTo>
                    <a:pt x="49" y="14"/>
                  </a:lnTo>
                  <a:lnTo>
                    <a:pt x="48" y="8"/>
                  </a:lnTo>
                  <a:lnTo>
                    <a:pt x="45" y="4"/>
                  </a:lnTo>
                  <a:lnTo>
                    <a:pt x="41" y="1"/>
                  </a:lnTo>
                  <a:lnTo>
                    <a:pt x="36" y="0"/>
                  </a:lnTo>
                  <a:lnTo>
                    <a:pt x="1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b="1">
                <a:solidFill>
                  <a:srgbClr val="00B0F0"/>
                </a:solidFill>
                <a:latin typeface="汉仪君黑-45简" panose="020B0604020202020204" charset="-122"/>
                <a:ea typeface="汉仪君黑-45简" panose="020B0604020202020204" charset="-122"/>
                <a:cs typeface="+mn-ea"/>
                <a:sym typeface="+mn-lt"/>
              </a:endParaRPr>
            </a:p>
          </p:txBody>
        </p:sp>
        <p:sp>
          <p:nvSpPr>
            <p:cNvPr id="14" name="Freeform 324"/>
            <p:cNvSpPr/>
            <p:nvPr>
              <p:custDataLst>
                <p:tags r:id="rId8"/>
              </p:custDataLst>
            </p:nvPr>
          </p:nvSpPr>
          <p:spPr bwMode="auto">
            <a:xfrm>
              <a:off x="5679131" y="5158714"/>
              <a:ext cx="45110" cy="115479"/>
            </a:xfrm>
            <a:custGeom>
              <a:avLst/>
              <a:gdLst>
                <a:gd name="T0" fmla="*/ 35 w 49"/>
                <a:gd name="T1" fmla="*/ 0 h 128"/>
                <a:gd name="T2" fmla="*/ 13 w 49"/>
                <a:gd name="T3" fmla="*/ 0 h 128"/>
                <a:gd name="T4" fmla="*/ 13 w 49"/>
                <a:gd name="T5" fmla="*/ 0 h 128"/>
                <a:gd name="T6" fmla="*/ 8 w 49"/>
                <a:gd name="T7" fmla="*/ 1 h 128"/>
                <a:gd name="T8" fmla="*/ 4 w 49"/>
                <a:gd name="T9" fmla="*/ 4 h 128"/>
                <a:gd name="T10" fmla="*/ 1 w 49"/>
                <a:gd name="T11" fmla="*/ 8 h 128"/>
                <a:gd name="T12" fmla="*/ 0 w 49"/>
                <a:gd name="T13" fmla="*/ 14 h 128"/>
                <a:gd name="T14" fmla="*/ 0 w 49"/>
                <a:gd name="T15" fmla="*/ 116 h 128"/>
                <a:gd name="T16" fmla="*/ 0 w 49"/>
                <a:gd name="T17" fmla="*/ 116 h 128"/>
                <a:gd name="T18" fmla="*/ 1 w 49"/>
                <a:gd name="T19" fmla="*/ 122 h 128"/>
                <a:gd name="T20" fmla="*/ 4 w 49"/>
                <a:gd name="T21" fmla="*/ 126 h 128"/>
                <a:gd name="T22" fmla="*/ 8 w 49"/>
                <a:gd name="T23" fmla="*/ 128 h 128"/>
                <a:gd name="T24" fmla="*/ 13 w 49"/>
                <a:gd name="T25" fmla="*/ 128 h 128"/>
                <a:gd name="T26" fmla="*/ 35 w 49"/>
                <a:gd name="T27" fmla="*/ 128 h 128"/>
                <a:gd name="T28" fmla="*/ 35 w 49"/>
                <a:gd name="T29" fmla="*/ 128 h 128"/>
                <a:gd name="T30" fmla="*/ 41 w 49"/>
                <a:gd name="T31" fmla="*/ 128 h 128"/>
                <a:gd name="T32" fmla="*/ 45 w 49"/>
                <a:gd name="T33" fmla="*/ 126 h 128"/>
                <a:gd name="T34" fmla="*/ 48 w 49"/>
                <a:gd name="T35" fmla="*/ 122 h 128"/>
                <a:gd name="T36" fmla="*/ 49 w 49"/>
                <a:gd name="T37" fmla="*/ 116 h 128"/>
                <a:gd name="T38" fmla="*/ 49 w 49"/>
                <a:gd name="T39" fmla="*/ 14 h 128"/>
                <a:gd name="T40" fmla="*/ 49 w 49"/>
                <a:gd name="T41" fmla="*/ 14 h 128"/>
                <a:gd name="T42" fmla="*/ 48 w 49"/>
                <a:gd name="T43" fmla="*/ 8 h 128"/>
                <a:gd name="T44" fmla="*/ 45 w 49"/>
                <a:gd name="T45" fmla="*/ 4 h 128"/>
                <a:gd name="T46" fmla="*/ 41 w 49"/>
                <a:gd name="T47" fmla="*/ 1 h 128"/>
                <a:gd name="T48" fmla="*/ 35 w 49"/>
                <a:gd name="T49" fmla="*/ 0 h 128"/>
                <a:gd name="T50" fmla="*/ 35 w 49"/>
                <a:gd name="T51"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128">
                  <a:moveTo>
                    <a:pt x="35" y="0"/>
                  </a:moveTo>
                  <a:lnTo>
                    <a:pt x="13" y="0"/>
                  </a:lnTo>
                  <a:lnTo>
                    <a:pt x="13" y="0"/>
                  </a:lnTo>
                  <a:lnTo>
                    <a:pt x="8" y="1"/>
                  </a:lnTo>
                  <a:lnTo>
                    <a:pt x="4" y="4"/>
                  </a:lnTo>
                  <a:lnTo>
                    <a:pt x="1" y="8"/>
                  </a:lnTo>
                  <a:lnTo>
                    <a:pt x="0" y="14"/>
                  </a:lnTo>
                  <a:lnTo>
                    <a:pt x="0" y="116"/>
                  </a:lnTo>
                  <a:lnTo>
                    <a:pt x="0" y="116"/>
                  </a:lnTo>
                  <a:lnTo>
                    <a:pt x="1" y="122"/>
                  </a:lnTo>
                  <a:lnTo>
                    <a:pt x="4" y="126"/>
                  </a:lnTo>
                  <a:lnTo>
                    <a:pt x="8" y="128"/>
                  </a:lnTo>
                  <a:lnTo>
                    <a:pt x="13" y="128"/>
                  </a:lnTo>
                  <a:lnTo>
                    <a:pt x="35" y="128"/>
                  </a:lnTo>
                  <a:lnTo>
                    <a:pt x="35" y="128"/>
                  </a:lnTo>
                  <a:lnTo>
                    <a:pt x="41" y="128"/>
                  </a:lnTo>
                  <a:lnTo>
                    <a:pt x="45" y="126"/>
                  </a:lnTo>
                  <a:lnTo>
                    <a:pt x="48" y="122"/>
                  </a:lnTo>
                  <a:lnTo>
                    <a:pt x="49" y="116"/>
                  </a:lnTo>
                  <a:lnTo>
                    <a:pt x="49" y="14"/>
                  </a:lnTo>
                  <a:lnTo>
                    <a:pt x="49" y="14"/>
                  </a:lnTo>
                  <a:lnTo>
                    <a:pt x="48" y="8"/>
                  </a:lnTo>
                  <a:lnTo>
                    <a:pt x="45" y="4"/>
                  </a:lnTo>
                  <a:lnTo>
                    <a:pt x="41" y="1"/>
                  </a:lnTo>
                  <a:lnTo>
                    <a:pt x="35" y="0"/>
                  </a:lnTo>
                  <a:lnTo>
                    <a:pt x="3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b="1">
                <a:solidFill>
                  <a:srgbClr val="00B0F0"/>
                </a:solidFill>
                <a:latin typeface="汉仪君黑-45简" panose="020B0604020202020204" charset="-122"/>
                <a:ea typeface="汉仪君黑-45简" panose="020B0604020202020204" charset="-122"/>
                <a:cs typeface="+mn-ea"/>
                <a:sym typeface="+mn-lt"/>
              </a:endParaRPr>
            </a:p>
          </p:txBody>
        </p:sp>
        <p:sp>
          <p:nvSpPr>
            <p:cNvPr id="15" name="Freeform 325"/>
            <p:cNvSpPr/>
            <p:nvPr>
              <p:custDataLst>
                <p:tags r:id="rId9"/>
              </p:custDataLst>
            </p:nvPr>
          </p:nvSpPr>
          <p:spPr bwMode="auto">
            <a:xfrm>
              <a:off x="5513141" y="5292237"/>
              <a:ext cx="245393" cy="19849"/>
            </a:xfrm>
            <a:custGeom>
              <a:avLst/>
              <a:gdLst>
                <a:gd name="T0" fmla="*/ 262 w 273"/>
                <a:gd name="T1" fmla="*/ 0 h 22"/>
                <a:gd name="T2" fmla="*/ 11 w 273"/>
                <a:gd name="T3" fmla="*/ 0 h 22"/>
                <a:gd name="T4" fmla="*/ 11 w 273"/>
                <a:gd name="T5" fmla="*/ 0 h 22"/>
                <a:gd name="T6" fmla="*/ 7 w 273"/>
                <a:gd name="T7" fmla="*/ 0 h 22"/>
                <a:gd name="T8" fmla="*/ 3 w 273"/>
                <a:gd name="T9" fmla="*/ 3 h 22"/>
                <a:gd name="T10" fmla="*/ 1 w 273"/>
                <a:gd name="T11" fmla="*/ 6 h 22"/>
                <a:gd name="T12" fmla="*/ 0 w 273"/>
                <a:gd name="T13" fmla="*/ 11 h 22"/>
                <a:gd name="T14" fmla="*/ 0 w 273"/>
                <a:gd name="T15" fmla="*/ 11 h 22"/>
                <a:gd name="T16" fmla="*/ 0 w 273"/>
                <a:gd name="T17" fmla="*/ 11 h 22"/>
                <a:gd name="T18" fmla="*/ 1 w 273"/>
                <a:gd name="T19" fmla="*/ 15 h 22"/>
                <a:gd name="T20" fmla="*/ 3 w 273"/>
                <a:gd name="T21" fmla="*/ 20 h 22"/>
                <a:gd name="T22" fmla="*/ 7 w 273"/>
                <a:gd name="T23" fmla="*/ 22 h 22"/>
                <a:gd name="T24" fmla="*/ 11 w 273"/>
                <a:gd name="T25" fmla="*/ 22 h 22"/>
                <a:gd name="T26" fmla="*/ 262 w 273"/>
                <a:gd name="T27" fmla="*/ 22 h 22"/>
                <a:gd name="T28" fmla="*/ 262 w 273"/>
                <a:gd name="T29" fmla="*/ 22 h 22"/>
                <a:gd name="T30" fmla="*/ 266 w 273"/>
                <a:gd name="T31" fmla="*/ 22 h 22"/>
                <a:gd name="T32" fmla="*/ 269 w 273"/>
                <a:gd name="T33" fmla="*/ 20 h 22"/>
                <a:gd name="T34" fmla="*/ 272 w 273"/>
                <a:gd name="T35" fmla="*/ 15 h 22"/>
                <a:gd name="T36" fmla="*/ 273 w 273"/>
                <a:gd name="T37" fmla="*/ 11 h 22"/>
                <a:gd name="T38" fmla="*/ 273 w 273"/>
                <a:gd name="T39" fmla="*/ 11 h 22"/>
                <a:gd name="T40" fmla="*/ 273 w 273"/>
                <a:gd name="T41" fmla="*/ 11 h 22"/>
                <a:gd name="T42" fmla="*/ 272 w 273"/>
                <a:gd name="T43" fmla="*/ 6 h 22"/>
                <a:gd name="T44" fmla="*/ 269 w 273"/>
                <a:gd name="T45" fmla="*/ 3 h 22"/>
                <a:gd name="T46" fmla="*/ 266 w 273"/>
                <a:gd name="T47" fmla="*/ 0 h 22"/>
                <a:gd name="T48" fmla="*/ 262 w 273"/>
                <a:gd name="T49" fmla="*/ 0 h 22"/>
                <a:gd name="T50" fmla="*/ 262 w 273"/>
                <a:gd name="T51"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3" h="22">
                  <a:moveTo>
                    <a:pt x="262" y="0"/>
                  </a:moveTo>
                  <a:lnTo>
                    <a:pt x="11" y="0"/>
                  </a:lnTo>
                  <a:lnTo>
                    <a:pt x="11" y="0"/>
                  </a:lnTo>
                  <a:lnTo>
                    <a:pt x="7" y="0"/>
                  </a:lnTo>
                  <a:lnTo>
                    <a:pt x="3" y="3"/>
                  </a:lnTo>
                  <a:lnTo>
                    <a:pt x="1" y="6"/>
                  </a:lnTo>
                  <a:lnTo>
                    <a:pt x="0" y="11"/>
                  </a:lnTo>
                  <a:lnTo>
                    <a:pt x="0" y="11"/>
                  </a:lnTo>
                  <a:lnTo>
                    <a:pt x="0" y="11"/>
                  </a:lnTo>
                  <a:lnTo>
                    <a:pt x="1" y="15"/>
                  </a:lnTo>
                  <a:lnTo>
                    <a:pt x="3" y="20"/>
                  </a:lnTo>
                  <a:lnTo>
                    <a:pt x="7" y="22"/>
                  </a:lnTo>
                  <a:lnTo>
                    <a:pt x="11" y="22"/>
                  </a:lnTo>
                  <a:lnTo>
                    <a:pt x="262" y="22"/>
                  </a:lnTo>
                  <a:lnTo>
                    <a:pt x="262" y="22"/>
                  </a:lnTo>
                  <a:lnTo>
                    <a:pt x="266" y="22"/>
                  </a:lnTo>
                  <a:lnTo>
                    <a:pt x="269" y="20"/>
                  </a:lnTo>
                  <a:lnTo>
                    <a:pt x="272" y="15"/>
                  </a:lnTo>
                  <a:lnTo>
                    <a:pt x="273" y="11"/>
                  </a:lnTo>
                  <a:lnTo>
                    <a:pt x="273" y="11"/>
                  </a:lnTo>
                  <a:lnTo>
                    <a:pt x="273" y="11"/>
                  </a:lnTo>
                  <a:lnTo>
                    <a:pt x="272" y="6"/>
                  </a:lnTo>
                  <a:lnTo>
                    <a:pt x="269" y="3"/>
                  </a:lnTo>
                  <a:lnTo>
                    <a:pt x="266" y="0"/>
                  </a:lnTo>
                  <a:lnTo>
                    <a:pt x="262" y="0"/>
                  </a:lnTo>
                  <a:lnTo>
                    <a:pt x="26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b="1">
                <a:solidFill>
                  <a:srgbClr val="00B0F0"/>
                </a:solidFill>
                <a:latin typeface="汉仪君黑-45简" panose="020B0604020202020204" charset="-122"/>
                <a:ea typeface="汉仪君黑-45简" panose="020B0604020202020204" charset="-122"/>
                <a:cs typeface="+mn-ea"/>
                <a:sym typeface="+mn-lt"/>
              </a:endParaRPr>
            </a:p>
          </p:txBody>
        </p:sp>
        <p:sp>
          <p:nvSpPr>
            <p:cNvPr id="16" name="Freeform 326"/>
            <p:cNvSpPr/>
            <p:nvPr>
              <p:custDataLst>
                <p:tags r:id="rId10"/>
              </p:custDataLst>
            </p:nvPr>
          </p:nvSpPr>
          <p:spPr bwMode="auto">
            <a:xfrm>
              <a:off x="5529368" y="5082923"/>
              <a:ext cx="203894" cy="95632"/>
            </a:xfrm>
            <a:custGeom>
              <a:avLst/>
              <a:gdLst>
                <a:gd name="T0" fmla="*/ 10 w 227"/>
                <a:gd name="T1" fmla="*/ 93 h 107"/>
                <a:gd name="T2" fmla="*/ 38 w 227"/>
                <a:gd name="T3" fmla="*/ 66 h 107"/>
                <a:gd name="T4" fmla="*/ 112 w 227"/>
                <a:gd name="T5" fmla="*/ 106 h 107"/>
                <a:gd name="T6" fmla="*/ 112 w 227"/>
                <a:gd name="T7" fmla="*/ 106 h 107"/>
                <a:gd name="T8" fmla="*/ 114 w 227"/>
                <a:gd name="T9" fmla="*/ 107 h 107"/>
                <a:gd name="T10" fmla="*/ 114 w 227"/>
                <a:gd name="T11" fmla="*/ 107 h 107"/>
                <a:gd name="T12" fmla="*/ 118 w 227"/>
                <a:gd name="T13" fmla="*/ 106 h 107"/>
                <a:gd name="T14" fmla="*/ 202 w 227"/>
                <a:gd name="T15" fmla="*/ 30 h 107"/>
                <a:gd name="T16" fmla="*/ 210 w 227"/>
                <a:gd name="T17" fmla="*/ 39 h 107"/>
                <a:gd name="T18" fmla="*/ 210 w 227"/>
                <a:gd name="T19" fmla="*/ 39 h 107"/>
                <a:gd name="T20" fmla="*/ 210 w 227"/>
                <a:gd name="T21" fmla="*/ 39 h 107"/>
                <a:gd name="T22" fmla="*/ 210 w 227"/>
                <a:gd name="T23" fmla="*/ 39 h 107"/>
                <a:gd name="T24" fmla="*/ 213 w 227"/>
                <a:gd name="T25" fmla="*/ 39 h 107"/>
                <a:gd name="T26" fmla="*/ 213 w 227"/>
                <a:gd name="T27" fmla="*/ 39 h 107"/>
                <a:gd name="T28" fmla="*/ 215 w 227"/>
                <a:gd name="T29" fmla="*/ 35 h 107"/>
                <a:gd name="T30" fmla="*/ 215 w 227"/>
                <a:gd name="T31" fmla="*/ 35 h 107"/>
                <a:gd name="T32" fmla="*/ 227 w 227"/>
                <a:gd name="T33" fmla="*/ 3 h 107"/>
                <a:gd name="T34" fmla="*/ 227 w 227"/>
                <a:gd name="T35" fmla="*/ 3 h 107"/>
                <a:gd name="T36" fmla="*/ 227 w 227"/>
                <a:gd name="T37" fmla="*/ 0 h 107"/>
                <a:gd name="T38" fmla="*/ 227 w 227"/>
                <a:gd name="T39" fmla="*/ 0 h 107"/>
                <a:gd name="T40" fmla="*/ 224 w 227"/>
                <a:gd name="T41" fmla="*/ 0 h 107"/>
                <a:gd name="T42" fmla="*/ 224 w 227"/>
                <a:gd name="T43" fmla="*/ 0 h 107"/>
                <a:gd name="T44" fmla="*/ 224 w 227"/>
                <a:gd name="T45" fmla="*/ 0 h 107"/>
                <a:gd name="T46" fmla="*/ 191 w 227"/>
                <a:gd name="T47" fmla="*/ 13 h 107"/>
                <a:gd name="T48" fmla="*/ 191 w 227"/>
                <a:gd name="T49" fmla="*/ 13 h 107"/>
                <a:gd name="T50" fmla="*/ 189 w 227"/>
                <a:gd name="T51" fmla="*/ 14 h 107"/>
                <a:gd name="T52" fmla="*/ 189 w 227"/>
                <a:gd name="T53" fmla="*/ 14 h 107"/>
                <a:gd name="T54" fmla="*/ 187 w 227"/>
                <a:gd name="T55" fmla="*/ 15 h 107"/>
                <a:gd name="T56" fmla="*/ 187 w 227"/>
                <a:gd name="T57" fmla="*/ 17 h 107"/>
                <a:gd name="T58" fmla="*/ 187 w 227"/>
                <a:gd name="T59" fmla="*/ 17 h 107"/>
                <a:gd name="T60" fmla="*/ 189 w 227"/>
                <a:gd name="T61" fmla="*/ 18 h 107"/>
                <a:gd name="T62" fmla="*/ 194 w 227"/>
                <a:gd name="T63" fmla="*/ 24 h 107"/>
                <a:gd name="T64" fmla="*/ 114 w 227"/>
                <a:gd name="T65" fmla="*/ 95 h 107"/>
                <a:gd name="T66" fmla="*/ 40 w 227"/>
                <a:gd name="T67" fmla="*/ 55 h 107"/>
                <a:gd name="T68" fmla="*/ 40 w 227"/>
                <a:gd name="T69" fmla="*/ 55 h 107"/>
                <a:gd name="T70" fmla="*/ 36 w 227"/>
                <a:gd name="T71" fmla="*/ 54 h 107"/>
                <a:gd name="T72" fmla="*/ 33 w 227"/>
                <a:gd name="T73" fmla="*/ 55 h 107"/>
                <a:gd name="T74" fmla="*/ 3 w 227"/>
                <a:gd name="T75" fmla="*/ 85 h 107"/>
                <a:gd name="T76" fmla="*/ 3 w 227"/>
                <a:gd name="T77" fmla="*/ 85 h 107"/>
                <a:gd name="T78" fmla="*/ 2 w 227"/>
                <a:gd name="T79" fmla="*/ 88 h 107"/>
                <a:gd name="T80" fmla="*/ 0 w 227"/>
                <a:gd name="T81" fmla="*/ 89 h 107"/>
                <a:gd name="T82" fmla="*/ 2 w 227"/>
                <a:gd name="T83" fmla="*/ 92 h 107"/>
                <a:gd name="T84" fmla="*/ 2 w 227"/>
                <a:gd name="T85" fmla="*/ 93 h 107"/>
                <a:gd name="T86" fmla="*/ 2 w 227"/>
                <a:gd name="T87" fmla="*/ 93 h 107"/>
                <a:gd name="T88" fmla="*/ 4 w 227"/>
                <a:gd name="T89" fmla="*/ 95 h 107"/>
                <a:gd name="T90" fmla="*/ 6 w 227"/>
                <a:gd name="T91" fmla="*/ 95 h 107"/>
                <a:gd name="T92" fmla="*/ 8 w 227"/>
                <a:gd name="T93" fmla="*/ 95 h 107"/>
                <a:gd name="T94" fmla="*/ 10 w 227"/>
                <a:gd name="T95" fmla="*/ 93 h 107"/>
                <a:gd name="T96" fmla="*/ 10 w 227"/>
                <a:gd name="T97"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7" h="107">
                  <a:moveTo>
                    <a:pt x="10" y="93"/>
                  </a:moveTo>
                  <a:lnTo>
                    <a:pt x="38" y="66"/>
                  </a:lnTo>
                  <a:lnTo>
                    <a:pt x="112" y="106"/>
                  </a:lnTo>
                  <a:lnTo>
                    <a:pt x="112" y="106"/>
                  </a:lnTo>
                  <a:lnTo>
                    <a:pt x="114" y="107"/>
                  </a:lnTo>
                  <a:lnTo>
                    <a:pt x="114" y="107"/>
                  </a:lnTo>
                  <a:lnTo>
                    <a:pt x="118" y="106"/>
                  </a:lnTo>
                  <a:lnTo>
                    <a:pt x="202" y="30"/>
                  </a:lnTo>
                  <a:lnTo>
                    <a:pt x="210" y="39"/>
                  </a:lnTo>
                  <a:lnTo>
                    <a:pt x="210" y="39"/>
                  </a:lnTo>
                  <a:lnTo>
                    <a:pt x="210" y="39"/>
                  </a:lnTo>
                  <a:lnTo>
                    <a:pt x="210" y="39"/>
                  </a:lnTo>
                  <a:lnTo>
                    <a:pt x="213" y="39"/>
                  </a:lnTo>
                  <a:lnTo>
                    <a:pt x="213" y="39"/>
                  </a:lnTo>
                  <a:lnTo>
                    <a:pt x="215" y="35"/>
                  </a:lnTo>
                  <a:lnTo>
                    <a:pt x="215" y="35"/>
                  </a:lnTo>
                  <a:lnTo>
                    <a:pt x="227" y="3"/>
                  </a:lnTo>
                  <a:lnTo>
                    <a:pt x="227" y="3"/>
                  </a:lnTo>
                  <a:lnTo>
                    <a:pt x="227" y="0"/>
                  </a:lnTo>
                  <a:lnTo>
                    <a:pt x="227" y="0"/>
                  </a:lnTo>
                  <a:lnTo>
                    <a:pt x="224" y="0"/>
                  </a:lnTo>
                  <a:lnTo>
                    <a:pt x="224" y="0"/>
                  </a:lnTo>
                  <a:lnTo>
                    <a:pt x="224" y="0"/>
                  </a:lnTo>
                  <a:lnTo>
                    <a:pt x="191" y="13"/>
                  </a:lnTo>
                  <a:lnTo>
                    <a:pt x="191" y="13"/>
                  </a:lnTo>
                  <a:lnTo>
                    <a:pt x="189" y="14"/>
                  </a:lnTo>
                  <a:lnTo>
                    <a:pt x="189" y="14"/>
                  </a:lnTo>
                  <a:lnTo>
                    <a:pt x="187" y="15"/>
                  </a:lnTo>
                  <a:lnTo>
                    <a:pt x="187" y="17"/>
                  </a:lnTo>
                  <a:lnTo>
                    <a:pt x="187" y="17"/>
                  </a:lnTo>
                  <a:lnTo>
                    <a:pt x="189" y="18"/>
                  </a:lnTo>
                  <a:lnTo>
                    <a:pt x="194" y="24"/>
                  </a:lnTo>
                  <a:lnTo>
                    <a:pt x="114" y="95"/>
                  </a:lnTo>
                  <a:lnTo>
                    <a:pt x="40" y="55"/>
                  </a:lnTo>
                  <a:lnTo>
                    <a:pt x="40" y="55"/>
                  </a:lnTo>
                  <a:lnTo>
                    <a:pt x="36" y="54"/>
                  </a:lnTo>
                  <a:lnTo>
                    <a:pt x="33" y="55"/>
                  </a:lnTo>
                  <a:lnTo>
                    <a:pt x="3" y="85"/>
                  </a:lnTo>
                  <a:lnTo>
                    <a:pt x="3" y="85"/>
                  </a:lnTo>
                  <a:lnTo>
                    <a:pt x="2" y="88"/>
                  </a:lnTo>
                  <a:lnTo>
                    <a:pt x="0" y="89"/>
                  </a:lnTo>
                  <a:lnTo>
                    <a:pt x="2" y="92"/>
                  </a:lnTo>
                  <a:lnTo>
                    <a:pt x="2" y="93"/>
                  </a:lnTo>
                  <a:lnTo>
                    <a:pt x="2" y="93"/>
                  </a:lnTo>
                  <a:lnTo>
                    <a:pt x="4" y="95"/>
                  </a:lnTo>
                  <a:lnTo>
                    <a:pt x="6" y="95"/>
                  </a:lnTo>
                  <a:lnTo>
                    <a:pt x="8" y="95"/>
                  </a:lnTo>
                  <a:lnTo>
                    <a:pt x="10" y="93"/>
                  </a:lnTo>
                  <a:lnTo>
                    <a:pt x="10" y="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b="1">
                <a:solidFill>
                  <a:srgbClr val="00B0F0"/>
                </a:solidFill>
                <a:latin typeface="汉仪君黑-45简" panose="020B0604020202020204" charset="-122"/>
                <a:ea typeface="汉仪君黑-45简" panose="020B0604020202020204" charset="-122"/>
                <a:cs typeface="+mn-ea"/>
                <a:sym typeface="+mn-lt"/>
              </a:endParaRPr>
            </a:p>
          </p:txBody>
        </p:sp>
      </p:grpSp>
      <p:grpSp>
        <p:nvGrpSpPr>
          <p:cNvPr id="17" name="Group 20"/>
          <p:cNvGrpSpPr>
            <a:grpSpLocks noChangeAspect="1"/>
          </p:cNvGrpSpPr>
          <p:nvPr>
            <p:custDataLst>
              <p:tags r:id="rId11"/>
            </p:custDataLst>
          </p:nvPr>
        </p:nvGrpSpPr>
        <p:grpSpPr bwMode="auto">
          <a:xfrm>
            <a:off x="9747927" y="1529411"/>
            <a:ext cx="962577" cy="796508"/>
            <a:chOff x="1066" y="1895"/>
            <a:chExt cx="314" cy="241"/>
          </a:xfrm>
          <a:solidFill>
            <a:schemeClr val="bg1"/>
          </a:solidFill>
          <a:effectLst/>
        </p:grpSpPr>
        <p:sp>
          <p:nvSpPr>
            <p:cNvPr id="18" name="Freeform 21"/>
            <p:cNvSpPr/>
            <p:nvPr>
              <p:custDataLst>
                <p:tags r:id="rId12"/>
              </p:custDataLst>
            </p:nvPr>
          </p:nvSpPr>
          <p:spPr bwMode="auto">
            <a:xfrm>
              <a:off x="1066" y="2128"/>
              <a:ext cx="314" cy="8"/>
            </a:xfrm>
            <a:custGeom>
              <a:avLst/>
              <a:gdLst>
                <a:gd name="T0" fmla="*/ 2 w 76"/>
                <a:gd name="T1" fmla="*/ 2 h 2"/>
                <a:gd name="T2" fmla="*/ 0 w 76"/>
                <a:gd name="T3" fmla="*/ 1 h 2"/>
                <a:gd name="T4" fmla="*/ 2 w 76"/>
                <a:gd name="T5" fmla="*/ 0 h 2"/>
                <a:gd name="T6" fmla="*/ 75 w 76"/>
                <a:gd name="T7" fmla="*/ 0 h 2"/>
                <a:gd name="T8" fmla="*/ 76 w 76"/>
                <a:gd name="T9" fmla="*/ 1 h 2"/>
                <a:gd name="T10" fmla="*/ 75 w 76"/>
                <a:gd name="T11" fmla="*/ 2 h 2"/>
                <a:gd name="T12" fmla="*/ 2 w 76"/>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76" h="2">
                  <a:moveTo>
                    <a:pt x="2" y="2"/>
                  </a:moveTo>
                  <a:cubicBezTo>
                    <a:pt x="1" y="2"/>
                    <a:pt x="0" y="2"/>
                    <a:pt x="0" y="1"/>
                  </a:cubicBezTo>
                  <a:cubicBezTo>
                    <a:pt x="0" y="0"/>
                    <a:pt x="1" y="0"/>
                    <a:pt x="2" y="0"/>
                  </a:cubicBezTo>
                  <a:cubicBezTo>
                    <a:pt x="75" y="0"/>
                    <a:pt x="75" y="0"/>
                    <a:pt x="75" y="0"/>
                  </a:cubicBezTo>
                  <a:cubicBezTo>
                    <a:pt x="75" y="0"/>
                    <a:pt x="76" y="0"/>
                    <a:pt x="76" y="1"/>
                  </a:cubicBezTo>
                  <a:cubicBezTo>
                    <a:pt x="76" y="2"/>
                    <a:pt x="75" y="2"/>
                    <a:pt x="75" y="2"/>
                  </a:cubicBezTo>
                  <a:lnTo>
                    <a:pt x="2"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latin typeface="汉仪君黑-45简" panose="020B0604020202020204" charset="-122"/>
                <a:ea typeface="汉仪君黑-45简" panose="020B0604020202020204" charset="-122"/>
              </a:endParaRPr>
            </a:p>
          </p:txBody>
        </p:sp>
        <p:sp>
          <p:nvSpPr>
            <p:cNvPr id="19" name="Rectangle 22"/>
            <p:cNvSpPr>
              <a:spLocks noChangeArrowheads="1"/>
            </p:cNvSpPr>
            <p:nvPr>
              <p:custDataLst>
                <p:tags r:id="rId13"/>
              </p:custDataLst>
            </p:nvPr>
          </p:nvSpPr>
          <p:spPr bwMode="auto">
            <a:xfrm>
              <a:off x="1107" y="1949"/>
              <a:ext cx="46" cy="1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latin typeface="汉仪君黑-45简" panose="020B0604020202020204" charset="-122"/>
                <a:ea typeface="汉仪君黑-45简" panose="020B0604020202020204" charset="-122"/>
              </a:endParaRPr>
            </a:p>
          </p:txBody>
        </p:sp>
        <p:sp>
          <p:nvSpPr>
            <p:cNvPr id="20" name="Rectangle 23"/>
            <p:cNvSpPr>
              <a:spLocks noChangeArrowheads="1"/>
            </p:cNvSpPr>
            <p:nvPr>
              <p:custDataLst>
                <p:tags r:id="rId14"/>
              </p:custDataLst>
            </p:nvPr>
          </p:nvSpPr>
          <p:spPr bwMode="auto">
            <a:xfrm>
              <a:off x="1173" y="1895"/>
              <a:ext cx="46" cy="20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latin typeface="汉仪君黑-45简" panose="020B0604020202020204" charset="-122"/>
                <a:ea typeface="汉仪君黑-45简" panose="020B0604020202020204" charset="-122"/>
              </a:endParaRPr>
            </a:p>
          </p:txBody>
        </p:sp>
        <p:sp>
          <p:nvSpPr>
            <p:cNvPr id="21" name="Rectangle 24"/>
            <p:cNvSpPr>
              <a:spLocks noChangeArrowheads="1"/>
            </p:cNvSpPr>
            <p:nvPr>
              <p:custDataLst>
                <p:tags r:id="rId15"/>
              </p:custDataLst>
            </p:nvPr>
          </p:nvSpPr>
          <p:spPr bwMode="auto">
            <a:xfrm>
              <a:off x="1235" y="1961"/>
              <a:ext cx="46" cy="14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latin typeface="汉仪君黑-45简" panose="020B0604020202020204" charset="-122"/>
                <a:ea typeface="汉仪君黑-45简" panose="020B0604020202020204" charset="-122"/>
              </a:endParaRPr>
            </a:p>
          </p:txBody>
        </p:sp>
        <p:sp>
          <p:nvSpPr>
            <p:cNvPr id="22" name="Rectangle 25"/>
            <p:cNvSpPr>
              <a:spLocks noChangeArrowheads="1"/>
            </p:cNvSpPr>
            <p:nvPr>
              <p:custDataLst>
                <p:tags r:id="rId16"/>
              </p:custDataLst>
            </p:nvPr>
          </p:nvSpPr>
          <p:spPr bwMode="auto">
            <a:xfrm>
              <a:off x="1306" y="2007"/>
              <a:ext cx="45" cy="9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latin typeface="汉仪君黑-45简" panose="020B0604020202020204" charset="-122"/>
                <a:ea typeface="汉仪君黑-45简" panose="020B0604020202020204" charset="-122"/>
              </a:endParaRPr>
            </a:p>
          </p:txBody>
        </p:sp>
      </p:grpSp>
      <p:sp>
        <p:nvSpPr>
          <p:cNvPr id="23" name="稻壳儿小管"/>
          <p:cNvSpPr>
            <a:spLocks noChangeAspect="1"/>
          </p:cNvSpPr>
          <p:nvPr>
            <p:custDataLst>
              <p:tags r:id="rId17"/>
            </p:custDataLst>
          </p:nvPr>
        </p:nvSpPr>
        <p:spPr bwMode="auto">
          <a:xfrm>
            <a:off x="1288311" y="1463759"/>
            <a:ext cx="1468329" cy="927813"/>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rgbClr val="FF6600"/>
              </a:solidFill>
              <a:latin typeface="汉仪君黑-45简" panose="020B0604020202020204" charset="-122"/>
              <a:ea typeface="汉仪君黑-45简" panose="020B0604020202020204" charset="-122"/>
              <a:cs typeface="+mn-ea"/>
              <a:sym typeface="+mn-lt"/>
            </a:endParaRPr>
          </a:p>
        </p:txBody>
      </p:sp>
      <p:grpSp>
        <p:nvGrpSpPr>
          <p:cNvPr id="24" name="Group 58"/>
          <p:cNvGrpSpPr/>
          <p:nvPr>
            <p:custDataLst>
              <p:tags r:id="rId18"/>
            </p:custDataLst>
          </p:nvPr>
        </p:nvGrpSpPr>
        <p:grpSpPr>
          <a:xfrm>
            <a:off x="4325479" y="1521709"/>
            <a:ext cx="865152" cy="811913"/>
            <a:chOff x="10074275" y="1647825"/>
            <a:chExt cx="464344" cy="435769"/>
          </a:xfrm>
          <a:solidFill>
            <a:schemeClr val="bg1"/>
          </a:solidFill>
        </p:grpSpPr>
        <p:sp>
          <p:nvSpPr>
            <p:cNvPr id="25" name="AutoShape 69"/>
            <p:cNvSpPr/>
            <p:nvPr>
              <p:custDataLst>
                <p:tags r:id="rId19"/>
              </p:custDataLst>
            </p:nvPr>
          </p:nvSpPr>
          <p:spPr bwMode="auto">
            <a:xfrm>
              <a:off x="10074275" y="1647825"/>
              <a:ext cx="464344"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223" y="5760"/>
                  </a:moveTo>
                  <a:lnTo>
                    <a:pt x="17548" y="5760"/>
                  </a:lnTo>
                  <a:cubicBezTo>
                    <a:pt x="16804" y="5760"/>
                    <a:pt x="16198" y="5114"/>
                    <a:pt x="16198" y="4320"/>
                  </a:cubicBezTo>
                  <a:lnTo>
                    <a:pt x="16200" y="4320"/>
                  </a:lnTo>
                  <a:lnTo>
                    <a:pt x="16200" y="1440"/>
                  </a:lnTo>
                  <a:lnTo>
                    <a:pt x="20250" y="5760"/>
                  </a:lnTo>
                  <a:cubicBezTo>
                    <a:pt x="20250" y="5760"/>
                    <a:pt x="18223" y="5760"/>
                    <a:pt x="18223" y="5760"/>
                  </a:cubicBezTo>
                  <a:close/>
                  <a:moveTo>
                    <a:pt x="20250" y="19440"/>
                  </a:moveTo>
                  <a:cubicBezTo>
                    <a:pt x="20250" y="19837"/>
                    <a:pt x="19948" y="20160"/>
                    <a:pt x="19575" y="20160"/>
                  </a:cubicBezTo>
                  <a:lnTo>
                    <a:pt x="2024" y="20160"/>
                  </a:lnTo>
                  <a:cubicBezTo>
                    <a:pt x="1651" y="20160"/>
                    <a:pt x="1349" y="19837"/>
                    <a:pt x="1349" y="19440"/>
                  </a:cubicBezTo>
                  <a:lnTo>
                    <a:pt x="1349" y="2160"/>
                  </a:lnTo>
                  <a:cubicBezTo>
                    <a:pt x="1349" y="1762"/>
                    <a:pt x="1651" y="1440"/>
                    <a:pt x="2024" y="1440"/>
                  </a:cubicBezTo>
                  <a:lnTo>
                    <a:pt x="15525" y="1440"/>
                  </a:lnTo>
                  <a:lnTo>
                    <a:pt x="15525" y="4320"/>
                  </a:lnTo>
                  <a:lnTo>
                    <a:pt x="15523" y="4320"/>
                  </a:lnTo>
                  <a:cubicBezTo>
                    <a:pt x="15523" y="5513"/>
                    <a:pt x="16430" y="6480"/>
                    <a:pt x="17548" y="6480"/>
                  </a:cubicBezTo>
                  <a:lnTo>
                    <a:pt x="18223" y="6480"/>
                  </a:lnTo>
                  <a:lnTo>
                    <a:pt x="20250" y="6480"/>
                  </a:lnTo>
                  <a:cubicBezTo>
                    <a:pt x="20250" y="6480"/>
                    <a:pt x="20250" y="19440"/>
                    <a:pt x="20250" y="19440"/>
                  </a:cubicBezTo>
                  <a:close/>
                  <a:moveTo>
                    <a:pt x="21204" y="4741"/>
                  </a:moveTo>
                  <a:lnTo>
                    <a:pt x="17154" y="421"/>
                  </a:lnTo>
                  <a:cubicBezTo>
                    <a:pt x="16901" y="151"/>
                    <a:pt x="16557" y="0"/>
                    <a:pt x="16200" y="0"/>
                  </a:cubicBezTo>
                  <a:lnTo>
                    <a:pt x="2024" y="0"/>
                  </a:lnTo>
                  <a:cubicBezTo>
                    <a:pt x="908" y="0"/>
                    <a:pt x="0" y="968"/>
                    <a:pt x="0" y="2160"/>
                  </a:cubicBezTo>
                  <a:lnTo>
                    <a:pt x="0" y="19440"/>
                  </a:lnTo>
                  <a:cubicBezTo>
                    <a:pt x="0" y="20631"/>
                    <a:pt x="908" y="21600"/>
                    <a:pt x="2024" y="21600"/>
                  </a:cubicBezTo>
                  <a:lnTo>
                    <a:pt x="19575" y="21600"/>
                  </a:lnTo>
                  <a:cubicBezTo>
                    <a:pt x="20691" y="21600"/>
                    <a:pt x="21599" y="20631"/>
                    <a:pt x="21599" y="19440"/>
                  </a:cubicBezTo>
                  <a:lnTo>
                    <a:pt x="21599" y="5760"/>
                  </a:lnTo>
                  <a:cubicBezTo>
                    <a:pt x="21599" y="5378"/>
                    <a:pt x="21457" y="5011"/>
                    <a:pt x="21204" y="4741"/>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70815" fontAlgn="base" hangingPunct="0">
                <a:spcBef>
                  <a:spcPct val="0"/>
                </a:spcBef>
                <a:spcAft>
                  <a:spcPct val="0"/>
                </a:spcAft>
              </a:pPr>
              <a:endParaRPr lang="en-US" sz="1125" dirty="0">
                <a:solidFill>
                  <a:schemeClr val="bg1">
                    <a:lumMod val="65000"/>
                  </a:schemeClr>
                </a:solidFill>
                <a:effectLst>
                  <a:outerShdw blurRad="38100" dist="38100" dir="2700000" algn="tl">
                    <a:srgbClr val="000000"/>
                  </a:outerShdw>
                </a:effectLst>
                <a:latin typeface="汉仪君黑-45简" panose="020B0604020202020204" charset="-122"/>
                <a:ea typeface="汉仪君黑-45简" panose="020B0604020202020204" charset="-122"/>
                <a:cs typeface="+mn-ea"/>
                <a:sym typeface="+mn-lt"/>
              </a:endParaRPr>
            </a:p>
          </p:txBody>
        </p:sp>
        <p:sp>
          <p:nvSpPr>
            <p:cNvPr id="26" name="AutoShape 70"/>
            <p:cNvSpPr/>
            <p:nvPr>
              <p:custDataLst>
                <p:tags r:id="rId20"/>
              </p:custDataLst>
            </p:nvPr>
          </p:nvSpPr>
          <p:spPr bwMode="auto">
            <a:xfrm>
              <a:off x="10291763" y="1734344"/>
              <a:ext cx="87313"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00" y="21599"/>
                  </a:moveTo>
                  <a:lnTo>
                    <a:pt x="19800" y="21599"/>
                  </a:lnTo>
                  <a:cubicBezTo>
                    <a:pt x="20791" y="21599"/>
                    <a:pt x="21600" y="16769"/>
                    <a:pt x="21600" y="10800"/>
                  </a:cubicBezTo>
                  <a:cubicBezTo>
                    <a:pt x="21600" y="4830"/>
                    <a:pt x="20791" y="0"/>
                    <a:pt x="19800" y="0"/>
                  </a:cubicBezTo>
                  <a:lnTo>
                    <a:pt x="1800" y="0"/>
                  </a:lnTo>
                  <a:cubicBezTo>
                    <a:pt x="801" y="0"/>
                    <a:pt x="0" y="4830"/>
                    <a:pt x="0" y="10800"/>
                  </a:cubicBezTo>
                  <a:cubicBezTo>
                    <a:pt x="0" y="16769"/>
                    <a:pt x="801" y="21599"/>
                    <a:pt x="1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70815" fontAlgn="base" hangingPunct="0">
                <a:spcBef>
                  <a:spcPct val="0"/>
                </a:spcBef>
                <a:spcAft>
                  <a:spcPct val="0"/>
                </a:spcAft>
              </a:pPr>
              <a:endParaRPr lang="en-US" sz="1125" dirty="0">
                <a:solidFill>
                  <a:schemeClr val="bg1">
                    <a:lumMod val="65000"/>
                  </a:schemeClr>
                </a:solidFill>
                <a:effectLst>
                  <a:outerShdw blurRad="38100" dist="38100" dir="2700000" algn="tl">
                    <a:srgbClr val="000000"/>
                  </a:outerShdw>
                </a:effectLst>
                <a:latin typeface="汉仪君黑-45简" panose="020B0604020202020204" charset="-122"/>
                <a:ea typeface="汉仪君黑-45简" panose="020B0604020202020204" charset="-122"/>
                <a:cs typeface="+mn-ea"/>
                <a:sym typeface="+mn-lt"/>
              </a:endParaRPr>
            </a:p>
          </p:txBody>
        </p:sp>
        <p:sp>
          <p:nvSpPr>
            <p:cNvPr id="27" name="AutoShape 71"/>
            <p:cNvSpPr/>
            <p:nvPr>
              <p:custDataLst>
                <p:tags r:id="rId21"/>
              </p:custDataLst>
            </p:nvPr>
          </p:nvSpPr>
          <p:spPr bwMode="auto">
            <a:xfrm>
              <a:off x="10291763" y="1778000"/>
              <a:ext cx="87313"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00" y="21599"/>
                  </a:moveTo>
                  <a:lnTo>
                    <a:pt x="19800" y="21599"/>
                  </a:lnTo>
                  <a:cubicBezTo>
                    <a:pt x="20791" y="21599"/>
                    <a:pt x="21600" y="16769"/>
                    <a:pt x="21600" y="10800"/>
                  </a:cubicBezTo>
                  <a:cubicBezTo>
                    <a:pt x="21600" y="4830"/>
                    <a:pt x="20791" y="0"/>
                    <a:pt x="19800" y="0"/>
                  </a:cubicBezTo>
                  <a:lnTo>
                    <a:pt x="1800" y="0"/>
                  </a:lnTo>
                  <a:cubicBezTo>
                    <a:pt x="801" y="0"/>
                    <a:pt x="0" y="4830"/>
                    <a:pt x="0" y="10800"/>
                  </a:cubicBezTo>
                  <a:cubicBezTo>
                    <a:pt x="0" y="16769"/>
                    <a:pt x="801" y="21599"/>
                    <a:pt x="1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70815" fontAlgn="base" hangingPunct="0">
                <a:spcBef>
                  <a:spcPct val="0"/>
                </a:spcBef>
                <a:spcAft>
                  <a:spcPct val="0"/>
                </a:spcAft>
              </a:pPr>
              <a:endParaRPr lang="en-US" sz="1125" dirty="0">
                <a:solidFill>
                  <a:schemeClr val="bg1">
                    <a:lumMod val="65000"/>
                  </a:schemeClr>
                </a:solidFill>
                <a:effectLst>
                  <a:outerShdw blurRad="38100" dist="38100" dir="2700000" algn="tl">
                    <a:srgbClr val="000000"/>
                  </a:outerShdw>
                </a:effectLst>
                <a:latin typeface="汉仪君黑-45简" panose="020B0604020202020204" charset="-122"/>
                <a:ea typeface="汉仪君黑-45简" panose="020B0604020202020204" charset="-122"/>
                <a:cs typeface="+mn-ea"/>
                <a:sym typeface="+mn-lt"/>
              </a:endParaRPr>
            </a:p>
          </p:txBody>
        </p:sp>
        <p:sp>
          <p:nvSpPr>
            <p:cNvPr id="28" name="AutoShape 72"/>
            <p:cNvSpPr/>
            <p:nvPr>
              <p:custDataLst>
                <p:tags r:id="rId22"/>
              </p:custDataLst>
            </p:nvPr>
          </p:nvSpPr>
          <p:spPr bwMode="auto">
            <a:xfrm>
              <a:off x="10291763" y="1821657"/>
              <a:ext cx="188913"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0800"/>
                  </a:moveTo>
                  <a:cubicBezTo>
                    <a:pt x="0" y="16769"/>
                    <a:pt x="369" y="21599"/>
                    <a:pt x="830" y="21599"/>
                  </a:cubicBezTo>
                  <a:lnTo>
                    <a:pt x="20769" y="21599"/>
                  </a:lnTo>
                  <a:cubicBezTo>
                    <a:pt x="21226" y="21599"/>
                    <a:pt x="21600" y="16769"/>
                    <a:pt x="21600" y="10800"/>
                  </a:cubicBezTo>
                  <a:cubicBezTo>
                    <a:pt x="21600" y="4830"/>
                    <a:pt x="21226" y="0"/>
                    <a:pt x="20769" y="0"/>
                  </a:cubicBezTo>
                  <a:lnTo>
                    <a:pt x="830" y="0"/>
                  </a:lnTo>
                  <a:cubicBezTo>
                    <a:pt x="369" y="0"/>
                    <a:pt x="0" y="4830"/>
                    <a:pt x="0" y="1080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70815" fontAlgn="base" hangingPunct="0">
                <a:spcBef>
                  <a:spcPct val="0"/>
                </a:spcBef>
                <a:spcAft>
                  <a:spcPct val="0"/>
                </a:spcAft>
              </a:pPr>
              <a:endParaRPr lang="en-US" sz="1125" dirty="0">
                <a:solidFill>
                  <a:schemeClr val="bg1">
                    <a:lumMod val="65000"/>
                  </a:schemeClr>
                </a:solidFill>
                <a:effectLst>
                  <a:outerShdw blurRad="38100" dist="38100" dir="2700000" algn="tl">
                    <a:srgbClr val="000000"/>
                  </a:outerShdw>
                </a:effectLst>
                <a:latin typeface="汉仪君黑-45简" panose="020B0604020202020204" charset="-122"/>
                <a:ea typeface="汉仪君黑-45简" panose="020B0604020202020204" charset="-122"/>
                <a:cs typeface="+mn-ea"/>
                <a:sym typeface="+mn-lt"/>
              </a:endParaRPr>
            </a:p>
          </p:txBody>
        </p:sp>
        <p:sp>
          <p:nvSpPr>
            <p:cNvPr id="29" name="AutoShape 73"/>
            <p:cNvSpPr/>
            <p:nvPr>
              <p:custDataLst>
                <p:tags r:id="rId23"/>
              </p:custDataLst>
            </p:nvPr>
          </p:nvSpPr>
          <p:spPr bwMode="auto">
            <a:xfrm>
              <a:off x="10132219" y="1908969"/>
              <a:ext cx="348456"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70815" fontAlgn="base" hangingPunct="0">
                <a:spcBef>
                  <a:spcPct val="0"/>
                </a:spcBef>
                <a:spcAft>
                  <a:spcPct val="0"/>
                </a:spcAft>
              </a:pPr>
              <a:endParaRPr lang="en-US" sz="1125" dirty="0">
                <a:solidFill>
                  <a:schemeClr val="bg1">
                    <a:lumMod val="65000"/>
                  </a:schemeClr>
                </a:solidFill>
                <a:effectLst>
                  <a:outerShdw blurRad="38100" dist="38100" dir="2700000" algn="tl">
                    <a:srgbClr val="000000"/>
                  </a:outerShdw>
                </a:effectLst>
                <a:latin typeface="汉仪君黑-45简" panose="020B0604020202020204" charset="-122"/>
                <a:ea typeface="汉仪君黑-45简" panose="020B0604020202020204" charset="-122"/>
                <a:cs typeface="+mn-ea"/>
                <a:sym typeface="+mn-lt"/>
              </a:endParaRPr>
            </a:p>
          </p:txBody>
        </p:sp>
        <p:sp>
          <p:nvSpPr>
            <p:cNvPr id="30" name="AutoShape 74"/>
            <p:cNvSpPr/>
            <p:nvPr>
              <p:custDataLst>
                <p:tags r:id="rId24"/>
              </p:custDataLst>
            </p:nvPr>
          </p:nvSpPr>
          <p:spPr bwMode="auto">
            <a:xfrm>
              <a:off x="10132219" y="1952625"/>
              <a:ext cx="348456"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70815" fontAlgn="base" hangingPunct="0">
                <a:spcBef>
                  <a:spcPct val="0"/>
                </a:spcBef>
                <a:spcAft>
                  <a:spcPct val="0"/>
                </a:spcAft>
              </a:pPr>
              <a:endParaRPr lang="en-US" sz="1125" dirty="0">
                <a:solidFill>
                  <a:schemeClr val="bg1">
                    <a:lumMod val="65000"/>
                  </a:schemeClr>
                </a:solidFill>
                <a:effectLst>
                  <a:outerShdw blurRad="38100" dist="38100" dir="2700000" algn="tl">
                    <a:srgbClr val="000000"/>
                  </a:outerShdw>
                </a:effectLst>
                <a:latin typeface="汉仪君黑-45简" panose="020B0604020202020204" charset="-122"/>
                <a:ea typeface="汉仪君黑-45简" panose="020B0604020202020204" charset="-122"/>
                <a:cs typeface="+mn-ea"/>
                <a:sym typeface="+mn-lt"/>
              </a:endParaRPr>
            </a:p>
          </p:txBody>
        </p:sp>
        <p:sp>
          <p:nvSpPr>
            <p:cNvPr id="31" name="AutoShape 75"/>
            <p:cNvSpPr/>
            <p:nvPr>
              <p:custDataLst>
                <p:tags r:id="rId25"/>
              </p:custDataLst>
            </p:nvPr>
          </p:nvSpPr>
          <p:spPr bwMode="auto">
            <a:xfrm>
              <a:off x="10132219" y="1996282"/>
              <a:ext cx="348456"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70815" fontAlgn="base" hangingPunct="0">
                <a:spcBef>
                  <a:spcPct val="0"/>
                </a:spcBef>
                <a:spcAft>
                  <a:spcPct val="0"/>
                </a:spcAft>
              </a:pPr>
              <a:endParaRPr lang="en-US" sz="1125" dirty="0">
                <a:solidFill>
                  <a:schemeClr val="bg1">
                    <a:lumMod val="65000"/>
                  </a:schemeClr>
                </a:solidFill>
                <a:effectLst>
                  <a:outerShdw blurRad="38100" dist="38100" dir="2700000" algn="tl">
                    <a:srgbClr val="000000"/>
                  </a:outerShdw>
                </a:effectLst>
                <a:latin typeface="汉仪君黑-45简" panose="020B0604020202020204" charset="-122"/>
                <a:ea typeface="汉仪君黑-45简" panose="020B0604020202020204" charset="-122"/>
                <a:cs typeface="+mn-ea"/>
                <a:sym typeface="+mn-lt"/>
              </a:endParaRPr>
            </a:p>
          </p:txBody>
        </p:sp>
        <p:sp>
          <p:nvSpPr>
            <p:cNvPr id="32" name="AutoShape 76"/>
            <p:cNvSpPr/>
            <p:nvPr>
              <p:custDataLst>
                <p:tags r:id="rId26"/>
              </p:custDataLst>
            </p:nvPr>
          </p:nvSpPr>
          <p:spPr bwMode="auto">
            <a:xfrm>
              <a:off x="10132219" y="1865313"/>
              <a:ext cx="348456"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69"/>
                    <a:pt x="201" y="21599"/>
                    <a:pt x="449" y="21599"/>
                  </a:cubicBezTo>
                  <a:lnTo>
                    <a:pt x="21150" y="21599"/>
                  </a:lnTo>
                  <a:cubicBezTo>
                    <a:pt x="21397" y="21599"/>
                    <a:pt x="21599" y="16769"/>
                    <a:pt x="21599" y="10800"/>
                  </a:cubicBezTo>
                  <a:cubicBezTo>
                    <a:pt x="21599" y="4830"/>
                    <a:pt x="21397" y="0"/>
                    <a:pt x="2115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70815" fontAlgn="base" hangingPunct="0">
                <a:spcBef>
                  <a:spcPct val="0"/>
                </a:spcBef>
                <a:spcAft>
                  <a:spcPct val="0"/>
                </a:spcAft>
              </a:pPr>
              <a:endParaRPr lang="en-US" sz="1125" dirty="0">
                <a:solidFill>
                  <a:schemeClr val="bg1">
                    <a:lumMod val="65000"/>
                  </a:schemeClr>
                </a:solidFill>
                <a:effectLst>
                  <a:outerShdw blurRad="38100" dist="38100" dir="2700000" algn="tl">
                    <a:srgbClr val="000000"/>
                  </a:outerShdw>
                </a:effectLst>
                <a:latin typeface="汉仪君黑-45简" panose="020B0604020202020204" charset="-122"/>
                <a:ea typeface="汉仪君黑-45简" panose="020B0604020202020204" charset="-122"/>
                <a:cs typeface="+mn-ea"/>
                <a:sym typeface="+mn-lt"/>
              </a:endParaRPr>
            </a:p>
          </p:txBody>
        </p:sp>
        <p:sp>
          <p:nvSpPr>
            <p:cNvPr id="33" name="AutoShape 77"/>
            <p:cNvSpPr/>
            <p:nvPr>
              <p:custDataLst>
                <p:tags r:id="rId27"/>
              </p:custDataLst>
            </p:nvPr>
          </p:nvSpPr>
          <p:spPr bwMode="auto">
            <a:xfrm>
              <a:off x="10132219" y="1720057"/>
              <a:ext cx="130969" cy="1166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5400"/>
                  </a:moveTo>
                  <a:lnTo>
                    <a:pt x="16800" y="5400"/>
                  </a:lnTo>
                  <a:lnTo>
                    <a:pt x="16800" y="16200"/>
                  </a:lnTo>
                  <a:lnTo>
                    <a:pt x="4799" y="16200"/>
                  </a:lnTo>
                  <a:cubicBezTo>
                    <a:pt x="4799" y="16200"/>
                    <a:pt x="4799" y="5400"/>
                    <a:pt x="4799" y="5400"/>
                  </a:cubicBezTo>
                  <a:close/>
                  <a:moveTo>
                    <a:pt x="2399" y="21599"/>
                  </a:moveTo>
                  <a:lnTo>
                    <a:pt x="19200" y="21599"/>
                  </a:lnTo>
                  <a:cubicBezTo>
                    <a:pt x="20526" y="21599"/>
                    <a:pt x="21599" y="20392"/>
                    <a:pt x="21599" y="18900"/>
                  </a:cubicBezTo>
                  <a:lnTo>
                    <a:pt x="21599" y="2700"/>
                  </a:lnTo>
                  <a:cubicBezTo>
                    <a:pt x="21599" y="1207"/>
                    <a:pt x="20526" y="0"/>
                    <a:pt x="19200" y="0"/>
                  </a:cubicBezTo>
                  <a:lnTo>
                    <a:pt x="2399" y="0"/>
                  </a:lnTo>
                  <a:cubicBezTo>
                    <a:pt x="1073" y="0"/>
                    <a:pt x="0" y="1207"/>
                    <a:pt x="0" y="2700"/>
                  </a:cubicBezTo>
                  <a:lnTo>
                    <a:pt x="0" y="18900"/>
                  </a:lnTo>
                  <a:cubicBezTo>
                    <a:pt x="0" y="20392"/>
                    <a:pt x="1073" y="21599"/>
                    <a:pt x="2399"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70815" fontAlgn="base" hangingPunct="0">
                <a:spcBef>
                  <a:spcPct val="0"/>
                </a:spcBef>
                <a:spcAft>
                  <a:spcPct val="0"/>
                </a:spcAft>
              </a:pPr>
              <a:endParaRPr lang="en-US" sz="1125" dirty="0">
                <a:solidFill>
                  <a:schemeClr val="bg1">
                    <a:lumMod val="65000"/>
                  </a:schemeClr>
                </a:solidFill>
                <a:effectLst>
                  <a:outerShdw blurRad="38100" dist="38100" dir="2700000" algn="tl">
                    <a:srgbClr val="000000"/>
                  </a:outerShdw>
                </a:effectLst>
                <a:latin typeface="汉仪君黑-45简" panose="020B0604020202020204" charset="-122"/>
                <a:ea typeface="汉仪君黑-45简" panose="020B0604020202020204" charset="-122"/>
                <a:cs typeface="+mn-ea"/>
                <a:sym typeface="+mn-lt"/>
              </a:endParaRPr>
            </a:p>
          </p:txBody>
        </p:sp>
      </p:grpSp>
      <p:sp>
        <p:nvSpPr>
          <p:cNvPr id="34" name="文本框 33"/>
          <p:cNvSpPr txBox="1">
            <a:spLocks noChangeArrowheads="1"/>
          </p:cNvSpPr>
          <p:nvPr>
            <p:custDataLst>
              <p:tags r:id="rId28"/>
            </p:custDataLst>
          </p:nvPr>
        </p:nvSpPr>
        <p:spPr bwMode="auto">
          <a:xfrm>
            <a:off x="728345" y="3046730"/>
            <a:ext cx="27311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匹配集中度和可靠性</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38" name="文本框 37"/>
          <p:cNvSpPr txBox="1">
            <a:spLocks noChangeArrowheads="1"/>
          </p:cNvSpPr>
          <p:nvPr>
            <p:custDataLst>
              <p:tags r:id="rId29"/>
            </p:custDataLst>
          </p:nvPr>
        </p:nvSpPr>
        <p:spPr bwMode="auto">
          <a:xfrm>
            <a:off x="3599929" y="3059886"/>
            <a:ext cx="211714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跨视图冲突</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41" name="文本框 40"/>
          <p:cNvSpPr txBox="1">
            <a:spLocks noChangeArrowheads="1"/>
          </p:cNvSpPr>
          <p:nvPr>
            <p:custDataLst>
              <p:tags r:id="rId30"/>
            </p:custDataLst>
          </p:nvPr>
        </p:nvSpPr>
        <p:spPr bwMode="auto">
          <a:xfrm>
            <a:off x="6403340" y="3056890"/>
            <a:ext cx="24765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非对称双向方向权重</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44" name="文本框 43"/>
          <p:cNvSpPr txBox="1">
            <a:spLocks noChangeArrowheads="1"/>
          </p:cNvSpPr>
          <p:nvPr>
            <p:custDataLst>
              <p:tags r:id="rId31"/>
            </p:custDataLst>
          </p:nvPr>
        </p:nvSpPr>
        <p:spPr bwMode="auto">
          <a:xfrm>
            <a:off x="9299769" y="3046551"/>
            <a:ext cx="2117142"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双向 </a:t>
            </a:r>
            <a:r>
              <a:rPr lang="en-US" altLang="zh-CN" sz="2000" dirty="0">
                <a:solidFill>
                  <a:srgbClr val="6696B6"/>
                </a:solidFill>
                <a:latin typeface="汉仪君黑-45简" panose="020B0604020202020204" charset="-122"/>
                <a:ea typeface="汉仪君黑-45简" panose="020B0604020202020204" charset="-122"/>
                <a:cs typeface="+mn-ea"/>
                <a:sym typeface="+mn-lt"/>
              </a:rPr>
              <a:t>KL </a:t>
            </a:r>
            <a:r>
              <a:rPr lang="zh-CN" altLang="en-US" sz="2000" dirty="0">
                <a:solidFill>
                  <a:srgbClr val="6696B6"/>
                </a:solidFill>
                <a:latin typeface="汉仪君黑-45简" panose="020B0604020202020204" charset="-122"/>
                <a:ea typeface="汉仪君黑-45简" panose="020B0604020202020204" charset="-122"/>
                <a:cs typeface="+mn-ea"/>
                <a:sym typeface="+mn-lt"/>
              </a:rPr>
              <a:t>校准损失和 </a:t>
            </a:r>
            <a:r>
              <a:rPr lang="en-US" altLang="zh-CN" sz="2000" dirty="0">
                <a:solidFill>
                  <a:srgbClr val="6696B6"/>
                </a:solidFill>
                <a:latin typeface="汉仪君黑-45简" panose="020B0604020202020204" charset="-122"/>
                <a:ea typeface="汉仪君黑-45简" panose="020B0604020202020204" charset="-122"/>
                <a:cs typeface="+mn-ea"/>
                <a:sym typeface="+mn-lt"/>
              </a:rPr>
              <a:t>stopgrad</a:t>
            </a:r>
            <a:endParaRPr lang="en-US" altLang="zh-CN" sz="2000" dirty="0">
              <a:solidFill>
                <a:srgbClr val="6696B6"/>
              </a:solidFill>
              <a:latin typeface="汉仪君黑-45简" panose="020B0604020202020204" charset="-122"/>
              <a:ea typeface="汉仪君黑-45简" panose="020B0604020202020204" charset="-122"/>
              <a:cs typeface="+mn-ea"/>
              <a:sym typeface="+mn-lt"/>
            </a:endParaRPr>
          </a:p>
          <a:p>
            <a:pPr eaLnBrk="1" hangingPunct="1"/>
            <a:endParaRPr lang="en-US" altLang="zh-CN" sz="2000" dirty="0">
              <a:solidFill>
                <a:srgbClr val="6696B6"/>
              </a:solidFill>
              <a:latin typeface="汉仪君黑-45简" panose="020B0604020202020204" charset="-122"/>
              <a:ea typeface="汉仪君黑-45简" panose="020B0604020202020204" charset="-122"/>
              <a:cs typeface="+mn-ea"/>
              <a:sym typeface="+mn-lt"/>
            </a:endParaRPr>
          </a:p>
        </p:txBody>
      </p:sp>
      <p:sp>
        <p:nvSpPr>
          <p:cNvPr id="37" name="任意多边形: 形状 36"/>
          <p:cNvSpPr/>
          <p:nvPr/>
        </p:nvSpPr>
        <p:spPr>
          <a:xfrm>
            <a:off x="11206264" y="6230570"/>
            <a:ext cx="992707" cy="627430"/>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40" name="任意多边形: 形状 39"/>
          <p:cNvSpPr/>
          <p:nvPr/>
        </p:nvSpPr>
        <p:spPr>
          <a:xfrm flipH="1">
            <a:off x="0" y="-1"/>
            <a:ext cx="1424610" cy="777930"/>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43" name="任意多边形: 形状 42"/>
          <p:cNvSpPr/>
          <p:nvPr/>
        </p:nvSpPr>
        <p:spPr>
          <a:xfrm flipH="1">
            <a:off x="1819" y="-1"/>
            <a:ext cx="1457330" cy="808547"/>
          </a:xfrm>
          <a:custGeom>
            <a:avLst/>
            <a:gdLst>
              <a:gd name="connsiteX0" fmla="*/ 0 w 5585422"/>
              <a:gd name="connsiteY0" fmla="*/ 0 h 3098871"/>
              <a:gd name="connsiteX1" fmla="*/ 5585422 w 5585422"/>
              <a:gd name="connsiteY1" fmla="*/ 0 h 3098871"/>
              <a:gd name="connsiteX2" fmla="*/ 5585422 w 5585422"/>
              <a:gd name="connsiteY2" fmla="*/ 1079106 h 3098871"/>
              <a:gd name="connsiteX3" fmla="*/ 3710012 w 5585422"/>
              <a:gd name="connsiteY3" fmla="*/ 2931810 h 3098871"/>
              <a:gd name="connsiteX4" fmla="*/ 2891388 w 5585422"/>
              <a:gd name="connsiteY4" fmla="*/ 2926824 h 309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5422" h="3098871">
                <a:moveTo>
                  <a:pt x="0" y="0"/>
                </a:moveTo>
                <a:lnTo>
                  <a:pt x="5585422" y="0"/>
                </a:lnTo>
                <a:lnTo>
                  <a:pt x="5585422" y="1079106"/>
                </a:lnTo>
                <a:lnTo>
                  <a:pt x="3710012" y="2931810"/>
                </a:lnTo>
                <a:cubicBezTo>
                  <a:pt x="3482580" y="3156491"/>
                  <a:pt x="3116069" y="3154260"/>
                  <a:pt x="2891388" y="2926824"/>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46" name="文本框 24"/>
          <p:cNvSpPr txBox="1"/>
          <p:nvPr/>
        </p:nvSpPr>
        <p:spPr>
          <a:xfrm>
            <a:off x="4274417" y="354567"/>
            <a:ext cx="3643166"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模块与代码的映射</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pic>
        <p:nvPicPr>
          <p:cNvPr id="2" name="图片 1"/>
          <p:cNvPicPr>
            <a:picLocks noChangeAspect="1"/>
          </p:cNvPicPr>
          <p:nvPr/>
        </p:nvPicPr>
        <p:blipFill>
          <a:blip r:embed="rId32"/>
          <a:stretch>
            <a:fillRect/>
          </a:stretch>
        </p:blipFill>
        <p:spPr>
          <a:xfrm>
            <a:off x="792480" y="3445510"/>
            <a:ext cx="2476500" cy="1371600"/>
          </a:xfrm>
          <a:prstGeom prst="rect">
            <a:avLst/>
          </a:prstGeom>
        </p:spPr>
      </p:pic>
      <p:pic>
        <p:nvPicPr>
          <p:cNvPr id="3" name="图片 2"/>
          <p:cNvPicPr>
            <a:picLocks noChangeAspect="1"/>
          </p:cNvPicPr>
          <p:nvPr/>
        </p:nvPicPr>
        <p:blipFill>
          <a:blip r:embed="rId33"/>
          <a:stretch>
            <a:fillRect/>
          </a:stretch>
        </p:blipFill>
        <p:spPr>
          <a:xfrm>
            <a:off x="864235" y="4904740"/>
            <a:ext cx="2352675" cy="1249045"/>
          </a:xfrm>
          <a:prstGeom prst="rect">
            <a:avLst/>
          </a:prstGeom>
        </p:spPr>
      </p:pic>
      <p:pic>
        <p:nvPicPr>
          <p:cNvPr id="4" name="图片 3"/>
          <p:cNvPicPr>
            <a:picLocks noChangeAspect="1"/>
          </p:cNvPicPr>
          <p:nvPr/>
        </p:nvPicPr>
        <p:blipFill>
          <a:blip r:embed="rId34"/>
          <a:stretch>
            <a:fillRect/>
          </a:stretch>
        </p:blipFill>
        <p:spPr>
          <a:xfrm>
            <a:off x="3599815" y="3801745"/>
            <a:ext cx="2476500" cy="434340"/>
          </a:xfrm>
          <a:prstGeom prst="rect">
            <a:avLst/>
          </a:prstGeom>
        </p:spPr>
      </p:pic>
      <p:pic>
        <p:nvPicPr>
          <p:cNvPr id="6" name="图片 5"/>
          <p:cNvPicPr>
            <a:picLocks noChangeAspect="1"/>
          </p:cNvPicPr>
          <p:nvPr/>
        </p:nvPicPr>
        <p:blipFill>
          <a:blip r:embed="rId35"/>
          <a:stretch>
            <a:fillRect/>
          </a:stretch>
        </p:blipFill>
        <p:spPr>
          <a:xfrm>
            <a:off x="3362960" y="4904740"/>
            <a:ext cx="2921000" cy="1249045"/>
          </a:xfrm>
          <a:prstGeom prst="rect">
            <a:avLst/>
          </a:prstGeom>
        </p:spPr>
      </p:pic>
      <p:pic>
        <p:nvPicPr>
          <p:cNvPr id="10" name="图片 9"/>
          <p:cNvPicPr>
            <a:picLocks noChangeAspect="1"/>
          </p:cNvPicPr>
          <p:nvPr/>
        </p:nvPicPr>
        <p:blipFill>
          <a:blip r:embed="rId36"/>
          <a:stretch>
            <a:fillRect/>
          </a:stretch>
        </p:blipFill>
        <p:spPr>
          <a:xfrm>
            <a:off x="6367780" y="3630295"/>
            <a:ext cx="2682240" cy="777240"/>
          </a:xfrm>
          <a:prstGeom prst="rect">
            <a:avLst/>
          </a:prstGeom>
        </p:spPr>
      </p:pic>
      <p:pic>
        <p:nvPicPr>
          <p:cNvPr id="36" name="图片 35"/>
          <p:cNvPicPr>
            <a:picLocks noChangeAspect="1"/>
          </p:cNvPicPr>
          <p:nvPr/>
        </p:nvPicPr>
        <p:blipFill>
          <a:blip r:embed="rId37"/>
          <a:stretch>
            <a:fillRect/>
          </a:stretch>
        </p:blipFill>
        <p:spPr>
          <a:xfrm>
            <a:off x="6430010" y="4904740"/>
            <a:ext cx="2640965" cy="928370"/>
          </a:xfrm>
          <a:prstGeom prst="rect">
            <a:avLst/>
          </a:prstGeom>
        </p:spPr>
      </p:pic>
      <p:pic>
        <p:nvPicPr>
          <p:cNvPr id="47" name="图片 46"/>
          <p:cNvPicPr>
            <a:picLocks noChangeAspect="1"/>
          </p:cNvPicPr>
          <p:nvPr/>
        </p:nvPicPr>
        <p:blipFill>
          <a:blip r:embed="rId38"/>
          <a:stretch>
            <a:fillRect/>
          </a:stretch>
        </p:blipFill>
        <p:spPr>
          <a:xfrm>
            <a:off x="9217025" y="4938395"/>
            <a:ext cx="2892425" cy="1424940"/>
          </a:xfrm>
          <a:prstGeom prst="rect">
            <a:avLst/>
          </a:prstGeom>
        </p:spPr>
      </p:pic>
      <p:pic>
        <p:nvPicPr>
          <p:cNvPr id="48" name="图片 47"/>
          <p:cNvPicPr>
            <a:picLocks noChangeAspect="1"/>
          </p:cNvPicPr>
          <p:nvPr/>
        </p:nvPicPr>
        <p:blipFill>
          <a:blip r:embed="rId39"/>
          <a:stretch>
            <a:fillRect/>
          </a:stretch>
        </p:blipFill>
        <p:spPr>
          <a:xfrm>
            <a:off x="9299575" y="3723640"/>
            <a:ext cx="2453640" cy="8153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测试实验三大方面基本没有发现问题</a:t>
            </a:r>
            <a:endParaRPr lang="zh-CN" altLang="en-US"/>
          </a:p>
        </p:txBody>
      </p:sp>
      <p:sp>
        <p:nvSpPr>
          <p:cNvPr id="26" name="任意多边形 25"/>
          <p:cNvSpPr/>
          <p:nvPr>
            <p:custDataLst>
              <p:tags r:id="rId2"/>
            </p:custDataLst>
          </p:nvPr>
        </p:nvSpPr>
        <p:spPr>
          <a:xfrm>
            <a:off x="635" y="5575935"/>
            <a:ext cx="12191365" cy="1275080"/>
          </a:xfrm>
          <a:custGeom>
            <a:avLst/>
            <a:gdLst/>
            <a:ahLst/>
            <a:cxnLst>
              <a:cxn ang="3">
                <a:pos x="hc" y="t"/>
              </a:cxn>
              <a:cxn ang="cd2">
                <a:pos x="l" y="vc"/>
              </a:cxn>
              <a:cxn ang="cd4">
                <a:pos x="hc" y="b"/>
              </a:cxn>
              <a:cxn ang="0">
                <a:pos x="r" y="vc"/>
              </a:cxn>
            </a:cxnLst>
            <a:rect l="l" t="t" r="r" b="b"/>
            <a:pathLst>
              <a:path w="19199" h="2019">
                <a:moveTo>
                  <a:pt x="12754" y="0"/>
                </a:moveTo>
                <a:cubicBezTo>
                  <a:pt x="13067" y="0"/>
                  <a:pt x="13380" y="105"/>
                  <a:pt x="13618" y="315"/>
                </a:cubicBezTo>
                <a:cubicBezTo>
                  <a:pt x="13790" y="466"/>
                  <a:pt x="13900" y="651"/>
                  <a:pt x="13948" y="845"/>
                </a:cubicBezTo>
                <a:lnTo>
                  <a:pt x="13950" y="853"/>
                </a:lnTo>
                <a:lnTo>
                  <a:pt x="13974" y="839"/>
                </a:lnTo>
                <a:cubicBezTo>
                  <a:pt x="14328" y="645"/>
                  <a:pt x="14772" y="628"/>
                  <a:pt x="15142" y="790"/>
                </a:cubicBezTo>
                <a:lnTo>
                  <a:pt x="15155" y="796"/>
                </a:lnTo>
                <a:lnTo>
                  <a:pt x="15159" y="783"/>
                </a:lnTo>
                <a:cubicBezTo>
                  <a:pt x="15216" y="630"/>
                  <a:pt x="15313" y="485"/>
                  <a:pt x="15452" y="363"/>
                </a:cubicBezTo>
                <a:cubicBezTo>
                  <a:pt x="15912" y="-42"/>
                  <a:pt x="16654" y="-48"/>
                  <a:pt x="17123" y="344"/>
                </a:cubicBezTo>
                <a:lnTo>
                  <a:pt x="17127" y="348"/>
                </a:lnTo>
                <a:lnTo>
                  <a:pt x="17151" y="339"/>
                </a:lnTo>
                <a:cubicBezTo>
                  <a:pt x="17772" y="101"/>
                  <a:pt x="18523" y="206"/>
                  <a:pt x="19031" y="653"/>
                </a:cubicBezTo>
                <a:cubicBezTo>
                  <a:pt x="19086" y="702"/>
                  <a:pt x="19137" y="753"/>
                  <a:pt x="19184" y="807"/>
                </a:cubicBezTo>
                <a:lnTo>
                  <a:pt x="19199" y="825"/>
                </a:lnTo>
                <a:lnTo>
                  <a:pt x="19199" y="2019"/>
                </a:lnTo>
                <a:lnTo>
                  <a:pt x="0" y="2019"/>
                </a:lnTo>
                <a:lnTo>
                  <a:pt x="0" y="627"/>
                </a:lnTo>
                <a:lnTo>
                  <a:pt x="16" y="620"/>
                </a:lnTo>
                <a:cubicBezTo>
                  <a:pt x="338" y="502"/>
                  <a:pt x="705" y="508"/>
                  <a:pt x="1022" y="638"/>
                </a:cubicBezTo>
                <a:lnTo>
                  <a:pt x="1030" y="641"/>
                </a:lnTo>
                <a:lnTo>
                  <a:pt x="1052" y="619"/>
                </a:lnTo>
                <a:cubicBezTo>
                  <a:pt x="1067" y="604"/>
                  <a:pt x="1082" y="590"/>
                  <a:pt x="1098" y="576"/>
                </a:cubicBezTo>
                <a:cubicBezTo>
                  <a:pt x="1613" y="123"/>
                  <a:pt x="2447" y="123"/>
                  <a:pt x="2962" y="576"/>
                </a:cubicBezTo>
                <a:cubicBezTo>
                  <a:pt x="3130" y="724"/>
                  <a:pt x="3244" y="903"/>
                  <a:pt x="3302" y="1092"/>
                </a:cubicBezTo>
                <a:lnTo>
                  <a:pt x="3305" y="1102"/>
                </a:lnTo>
                <a:lnTo>
                  <a:pt x="3323" y="1079"/>
                </a:lnTo>
                <a:cubicBezTo>
                  <a:pt x="3367" y="1024"/>
                  <a:pt x="3417" y="971"/>
                  <a:pt x="3473" y="921"/>
                </a:cubicBezTo>
                <a:cubicBezTo>
                  <a:pt x="3988" y="469"/>
                  <a:pt x="4822" y="469"/>
                  <a:pt x="5336" y="921"/>
                </a:cubicBezTo>
                <a:cubicBezTo>
                  <a:pt x="5441" y="1013"/>
                  <a:pt x="5524" y="1117"/>
                  <a:pt x="5586" y="1227"/>
                </a:cubicBezTo>
                <a:lnTo>
                  <a:pt x="5596" y="1245"/>
                </a:lnTo>
                <a:lnTo>
                  <a:pt x="5611" y="1230"/>
                </a:lnTo>
                <a:cubicBezTo>
                  <a:pt x="5853" y="984"/>
                  <a:pt x="6210" y="829"/>
                  <a:pt x="6607" y="829"/>
                </a:cubicBezTo>
                <a:cubicBezTo>
                  <a:pt x="6914" y="829"/>
                  <a:pt x="7197" y="922"/>
                  <a:pt x="7421" y="1076"/>
                </a:cubicBezTo>
                <a:lnTo>
                  <a:pt x="7437" y="1088"/>
                </a:lnTo>
                <a:lnTo>
                  <a:pt x="7446" y="1073"/>
                </a:lnTo>
                <a:cubicBezTo>
                  <a:pt x="7742" y="594"/>
                  <a:pt x="8320" y="268"/>
                  <a:pt x="8984" y="268"/>
                </a:cubicBezTo>
                <a:cubicBezTo>
                  <a:pt x="9542" y="268"/>
                  <a:pt x="10040" y="498"/>
                  <a:pt x="10360" y="857"/>
                </a:cubicBezTo>
                <a:lnTo>
                  <a:pt x="10371" y="869"/>
                </a:lnTo>
                <a:lnTo>
                  <a:pt x="10372" y="868"/>
                </a:lnTo>
                <a:cubicBezTo>
                  <a:pt x="10734" y="669"/>
                  <a:pt x="11212" y="701"/>
                  <a:pt x="11537" y="962"/>
                </a:cubicBezTo>
                <a:lnTo>
                  <a:pt x="11538" y="963"/>
                </a:lnTo>
                <a:lnTo>
                  <a:pt x="11540" y="946"/>
                </a:lnTo>
                <a:cubicBezTo>
                  <a:pt x="11572" y="716"/>
                  <a:pt x="11688" y="492"/>
                  <a:pt x="11889" y="315"/>
                </a:cubicBezTo>
                <a:cubicBezTo>
                  <a:pt x="12128" y="105"/>
                  <a:pt x="12441" y="0"/>
                  <a:pt x="12754" y="0"/>
                </a:cubicBezTo>
                <a:close/>
              </a:path>
            </a:pathLst>
          </a:custGeom>
          <a:solidFill>
            <a:schemeClr val="accent1">
              <a:lumMod val="60000"/>
              <a:lumOff val="40000"/>
            </a:schemeClr>
          </a:solidFill>
          <a:ln w="15875">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汉仪粗圆简" panose="02010600000101010101" charset="-122"/>
              <a:ea typeface="汉仪粗圆简" panose="02010600000101010101" charset="-122"/>
              <a:sym typeface="+mn-ea"/>
            </a:endParaRPr>
          </a:p>
        </p:txBody>
      </p:sp>
      <p:sp>
        <p:nvSpPr>
          <p:cNvPr id="9" name="矩形 8"/>
          <p:cNvSpPr/>
          <p:nvPr>
            <p:custDataLst>
              <p:tags r:id="rId3"/>
            </p:custDataLst>
          </p:nvPr>
        </p:nvSpPr>
        <p:spPr>
          <a:xfrm>
            <a:off x="1335405" y="3232150"/>
            <a:ext cx="1795780" cy="428625"/>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r>
              <a:rPr lang="zh-CN" altLang="en-US" sz="1800" b="1" spc="100" dirty="0">
                <a:solidFill>
                  <a:schemeClr val="accent1"/>
                </a:solidFill>
              </a:rPr>
              <a:t>核心公式链路可以正常运行</a:t>
            </a:r>
            <a:endParaRPr lang="zh-CN" altLang="en-US" sz="1800" b="1" spc="100" dirty="0">
              <a:solidFill>
                <a:schemeClr val="accent1"/>
              </a:solidFill>
            </a:endParaRPr>
          </a:p>
        </p:txBody>
      </p:sp>
      <p:sp>
        <p:nvSpPr>
          <p:cNvPr id="23" name="文本框 22"/>
          <p:cNvSpPr txBox="1"/>
          <p:nvPr>
            <p:custDataLst>
              <p:tags r:id="rId4"/>
            </p:custDataLst>
          </p:nvPr>
        </p:nvSpPr>
        <p:spPr>
          <a:xfrm>
            <a:off x="1236986" y="3777402"/>
            <a:ext cx="1796231" cy="860422"/>
          </a:xfrm>
          <a:prstGeom prst="rect">
            <a:avLst/>
          </a:prstGeom>
          <a:noFill/>
        </p:spPr>
        <p:txBody>
          <a:bodyPr wrap="square" lIns="0" tIns="0" rIns="0" bIns="0" rtlCol="0">
            <a:noAutofit/>
          </a:bodyPr>
          <a:lstStyle/>
          <a:p>
            <a:pPr>
              <a:lnSpc>
                <a:spcPct val="150000"/>
              </a:lnSpc>
            </a:pPr>
            <a:r>
              <a:rPr lang="zh-CN" altLang="en-US" sz="1200" b="1" dirty="0">
                <a:solidFill>
                  <a:schemeClr val="tx1">
                    <a:lumMod val="85000"/>
                    <a:lumOff val="15000"/>
                  </a:schemeClr>
                </a:solidFill>
              </a:rPr>
              <a:t>输入输出关系基本正确；</a:t>
            </a:r>
            <a:endParaRPr lang="zh-CN" altLang="en-US" sz="1200" b="1" dirty="0">
              <a:solidFill>
                <a:schemeClr val="tx1">
                  <a:lumMod val="85000"/>
                  <a:lumOff val="15000"/>
                </a:schemeClr>
              </a:solidFill>
            </a:endParaRPr>
          </a:p>
          <a:p>
            <a:pPr>
              <a:lnSpc>
                <a:spcPct val="150000"/>
              </a:lnSpc>
            </a:pPr>
            <a:r>
              <a:rPr lang="zh-CN" altLang="en-US" sz="1200" b="1" dirty="0">
                <a:solidFill>
                  <a:schemeClr val="tx1">
                    <a:lumMod val="85000"/>
                    <a:lumOff val="15000"/>
                  </a:schemeClr>
                </a:solidFill>
              </a:rPr>
              <a:t>没有出现明显的空值、维度错误或计算中断；</a:t>
            </a:r>
            <a:endParaRPr lang="zh-CN" altLang="en-US" sz="1200" b="1" dirty="0">
              <a:solidFill>
                <a:schemeClr val="tx1">
                  <a:lumMod val="85000"/>
                  <a:lumOff val="15000"/>
                </a:schemeClr>
              </a:solidFill>
            </a:endParaRPr>
          </a:p>
          <a:p>
            <a:pPr>
              <a:lnSpc>
                <a:spcPct val="150000"/>
              </a:lnSpc>
            </a:pPr>
            <a:r>
              <a:rPr lang="zh-CN" altLang="en-US" sz="1200" b="1" dirty="0">
                <a:solidFill>
                  <a:schemeClr val="tx1">
                    <a:lumMod val="85000"/>
                    <a:lumOff val="15000"/>
                  </a:schemeClr>
                </a:solidFill>
              </a:rPr>
              <a:t>训练、验证、测试流程可以完整跑通。</a:t>
            </a:r>
            <a:endParaRPr lang="zh-CN" altLang="en-US" sz="1200" b="1" dirty="0">
              <a:solidFill>
                <a:schemeClr val="tx1">
                  <a:lumMod val="85000"/>
                  <a:lumOff val="15000"/>
                </a:schemeClr>
              </a:solidFill>
            </a:endParaRPr>
          </a:p>
        </p:txBody>
      </p:sp>
      <p:sp>
        <p:nvSpPr>
          <p:cNvPr id="11" name="矩形 10"/>
          <p:cNvSpPr/>
          <p:nvPr>
            <p:custDataLst>
              <p:tags r:id="rId5"/>
            </p:custDataLst>
          </p:nvPr>
        </p:nvSpPr>
        <p:spPr>
          <a:xfrm>
            <a:off x="4662170" y="2416175"/>
            <a:ext cx="1795780" cy="428625"/>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r>
              <a:rPr lang="zh-CN" altLang="en-US" sz="1800" b="1" spc="100" dirty="0">
                <a:solidFill>
                  <a:schemeClr val="accent1"/>
                </a:solidFill>
              </a:rPr>
              <a:t>关键梯度计算经过了数值验证</a:t>
            </a:r>
            <a:endParaRPr lang="zh-CN" altLang="en-US" sz="1800" b="1" spc="100" dirty="0">
              <a:solidFill>
                <a:schemeClr val="accent1"/>
              </a:solidFill>
            </a:endParaRPr>
          </a:p>
        </p:txBody>
      </p:sp>
      <p:sp>
        <p:nvSpPr>
          <p:cNvPr id="38" name="文本框 37"/>
          <p:cNvSpPr txBox="1"/>
          <p:nvPr>
            <p:custDataLst>
              <p:tags r:id="rId6"/>
            </p:custDataLst>
          </p:nvPr>
        </p:nvSpPr>
        <p:spPr>
          <a:xfrm>
            <a:off x="4661683" y="3016183"/>
            <a:ext cx="1796231" cy="860422"/>
          </a:xfrm>
          <a:prstGeom prst="rect">
            <a:avLst/>
          </a:prstGeom>
          <a:noFill/>
        </p:spPr>
        <p:txBody>
          <a:bodyPr wrap="square" lIns="0" tIns="0" rIns="0" bIns="0" rtlCol="0">
            <a:noAutofit/>
          </a:bodyPr>
          <a:lstStyle/>
          <a:p>
            <a:pPr>
              <a:lnSpc>
                <a:spcPct val="150000"/>
              </a:lnSpc>
            </a:pPr>
            <a:r>
              <a:rPr lang="zh-CN" altLang="en-US" sz="1200" b="1" dirty="0">
                <a:solidFill>
                  <a:schemeClr val="tx1">
                    <a:lumMod val="85000"/>
                    <a:lumOff val="15000"/>
                  </a:schemeClr>
                </a:solidFill>
              </a:rPr>
              <a:t>固定 </a:t>
            </a:r>
            <a:r>
              <a:rPr lang="en-US" altLang="zh-CN" sz="1200" b="1" dirty="0">
                <a:solidFill>
                  <a:schemeClr val="tx1">
                    <a:lumMod val="85000"/>
                    <a:lumOff val="15000"/>
                  </a:schemeClr>
                </a:solidFill>
              </a:rPr>
              <a:t>eta </a:t>
            </a:r>
            <a:r>
              <a:rPr lang="zh-CN" altLang="en-US" sz="1200" b="1" dirty="0">
                <a:solidFill>
                  <a:schemeClr val="tx1">
                    <a:lumMod val="85000"/>
                    <a:lumOff val="15000"/>
                  </a:schemeClr>
                </a:solidFill>
              </a:rPr>
              <a:t>梯度最大相对误差：6.920</a:t>
            </a:r>
            <a:r>
              <a:rPr lang="en-US" altLang="zh-CN" sz="1200" b="1" dirty="0">
                <a:solidFill>
                  <a:schemeClr val="tx1">
                    <a:lumMod val="85000"/>
                    <a:lumOff val="15000"/>
                  </a:schemeClr>
                </a:solidFill>
              </a:rPr>
              <a:t>e-09</a:t>
            </a:r>
            <a:endParaRPr lang="en-US" altLang="zh-CN" sz="1200" b="1" dirty="0">
              <a:solidFill>
                <a:schemeClr val="tx1">
                  <a:lumMod val="85000"/>
                  <a:lumOff val="15000"/>
                </a:schemeClr>
              </a:solidFill>
            </a:endParaRPr>
          </a:p>
          <a:p>
            <a:pPr>
              <a:lnSpc>
                <a:spcPct val="150000"/>
              </a:lnSpc>
            </a:pPr>
            <a:r>
              <a:rPr lang="zh-CN" altLang="en-US" sz="1200" b="1" dirty="0">
                <a:solidFill>
                  <a:schemeClr val="tx1">
                    <a:lumMod val="85000"/>
                    <a:lumOff val="15000"/>
                  </a:schemeClr>
                </a:solidFill>
              </a:rPr>
              <a:t>动态 </a:t>
            </a:r>
            <a:r>
              <a:rPr lang="en-US" altLang="zh-CN" sz="1200" b="1" dirty="0">
                <a:solidFill>
                  <a:schemeClr val="tx1">
                    <a:lumMod val="85000"/>
                    <a:lumOff val="15000"/>
                  </a:schemeClr>
                </a:solidFill>
              </a:rPr>
              <a:t>eta </a:t>
            </a:r>
            <a:r>
              <a:rPr lang="zh-CN" altLang="en-US" sz="1200" b="1" dirty="0">
                <a:solidFill>
                  <a:schemeClr val="tx1">
                    <a:lumMod val="85000"/>
                    <a:lumOff val="15000"/>
                  </a:schemeClr>
                </a:solidFill>
              </a:rPr>
              <a:t>梯度最大相对误差：6.120</a:t>
            </a:r>
            <a:r>
              <a:rPr lang="en-US" altLang="zh-CN" sz="1200" b="1" dirty="0">
                <a:solidFill>
                  <a:schemeClr val="tx1">
                    <a:lumMod val="85000"/>
                    <a:lumOff val="15000"/>
                  </a:schemeClr>
                </a:solidFill>
              </a:rPr>
              <a:t>e-09</a:t>
            </a:r>
            <a:endParaRPr lang="en-US" altLang="zh-CN" sz="1200" b="1" dirty="0">
              <a:solidFill>
                <a:schemeClr val="tx1">
                  <a:lumMod val="85000"/>
                  <a:lumOff val="15000"/>
                </a:schemeClr>
              </a:solidFill>
            </a:endParaRPr>
          </a:p>
          <a:p>
            <a:pPr>
              <a:lnSpc>
                <a:spcPct val="150000"/>
              </a:lnSpc>
            </a:pPr>
            <a:r>
              <a:rPr lang="zh-CN" altLang="en-US" sz="1200" b="1" dirty="0">
                <a:solidFill>
                  <a:schemeClr val="tx1">
                    <a:lumMod val="85000"/>
                    <a:lumOff val="15000"/>
                  </a:schemeClr>
                </a:solidFill>
              </a:rPr>
              <a:t>两者都远小于实验标准：</a:t>
            </a:r>
            <a:endParaRPr lang="zh-CN" altLang="en-US" sz="1200" b="1" dirty="0">
              <a:solidFill>
                <a:schemeClr val="tx1">
                  <a:lumMod val="85000"/>
                  <a:lumOff val="15000"/>
                </a:schemeClr>
              </a:solidFill>
            </a:endParaRPr>
          </a:p>
          <a:p>
            <a:pPr>
              <a:lnSpc>
                <a:spcPct val="150000"/>
              </a:lnSpc>
            </a:pPr>
            <a:r>
              <a:rPr lang="zh-CN" altLang="en-US" sz="1200" b="1" dirty="0">
                <a:solidFill>
                  <a:schemeClr val="tx1">
                    <a:lumMod val="85000"/>
                    <a:lumOff val="15000"/>
                  </a:schemeClr>
                </a:solidFill>
              </a:rPr>
              <a:t>同时，旧梯度与论文动态 </a:t>
            </a:r>
            <a:r>
              <a:rPr lang="en-US" altLang="zh-CN" sz="1200" b="1" dirty="0">
                <a:solidFill>
                  <a:schemeClr val="tx1">
                    <a:lumMod val="85000"/>
                    <a:lumOff val="15000"/>
                  </a:schemeClr>
                </a:solidFill>
              </a:rPr>
              <a:t>eta </a:t>
            </a:r>
            <a:r>
              <a:rPr lang="zh-CN" altLang="en-US" sz="1200" b="1" dirty="0">
                <a:solidFill>
                  <a:schemeClr val="tx1">
                    <a:lumMod val="85000"/>
                    <a:lumOff val="15000"/>
                  </a:schemeClr>
                </a:solidFill>
              </a:rPr>
              <a:t>目标的误差达到：</a:t>
            </a:r>
            <a:endParaRPr lang="zh-CN" altLang="en-US" sz="1200" b="1" dirty="0">
              <a:solidFill>
                <a:schemeClr val="tx1">
                  <a:lumMod val="85000"/>
                  <a:lumOff val="15000"/>
                </a:schemeClr>
              </a:solidFill>
            </a:endParaRPr>
          </a:p>
          <a:p>
            <a:pPr>
              <a:lnSpc>
                <a:spcPct val="150000"/>
              </a:lnSpc>
            </a:pPr>
            <a:r>
              <a:rPr lang="en-US" altLang="zh-CN" sz="1200" b="1" dirty="0">
                <a:solidFill>
                  <a:schemeClr val="tx1">
                    <a:lumMod val="85000"/>
                    <a:lumOff val="15000"/>
                  </a:schemeClr>
                </a:solidFill>
              </a:rPr>
              <a:t>0.3793</a:t>
            </a:r>
            <a:endParaRPr lang="en-US" altLang="zh-CN" sz="1200" b="1" dirty="0">
              <a:solidFill>
                <a:schemeClr val="tx1">
                  <a:lumMod val="85000"/>
                  <a:lumOff val="15000"/>
                </a:schemeClr>
              </a:solidFill>
            </a:endParaRPr>
          </a:p>
          <a:p>
            <a:pPr>
              <a:lnSpc>
                <a:spcPct val="150000"/>
              </a:lnSpc>
            </a:pPr>
            <a:r>
              <a:rPr lang="zh-CN" altLang="en-US" sz="1200" b="1" dirty="0">
                <a:solidFill>
                  <a:schemeClr val="tx1">
                    <a:lumMod val="85000"/>
                    <a:lumOff val="15000"/>
                  </a:schemeClr>
                </a:solidFill>
              </a:rPr>
              <a:t>这证明原来的固定 </a:t>
            </a:r>
            <a:r>
              <a:rPr lang="en-US" altLang="zh-CN" sz="1200" b="1" dirty="0">
                <a:solidFill>
                  <a:schemeClr val="tx1">
                    <a:lumMod val="85000"/>
                    <a:lumOff val="15000"/>
                  </a:schemeClr>
                </a:solidFill>
              </a:rPr>
              <a:t>eta </a:t>
            </a:r>
            <a:r>
              <a:rPr lang="zh-CN" altLang="en-US" sz="1200" b="1" dirty="0">
                <a:solidFill>
                  <a:schemeClr val="tx1">
                    <a:lumMod val="85000"/>
                    <a:lumOff val="15000"/>
                  </a:schemeClr>
                </a:solidFill>
              </a:rPr>
              <a:t>梯度确实漏掉了一部分动态 </a:t>
            </a:r>
            <a:r>
              <a:rPr lang="en-US" altLang="zh-CN" sz="1200" b="1" dirty="0">
                <a:solidFill>
                  <a:schemeClr val="tx1">
                    <a:lumMod val="85000"/>
                    <a:lumOff val="15000"/>
                  </a:schemeClr>
                </a:solidFill>
              </a:rPr>
              <a:t>eta </a:t>
            </a:r>
            <a:r>
              <a:rPr lang="zh-CN" altLang="en-US" sz="1200" b="1" dirty="0">
                <a:solidFill>
                  <a:schemeClr val="tx1">
                    <a:lumMod val="85000"/>
                    <a:lumOff val="15000"/>
                  </a:schemeClr>
                </a:solidFill>
              </a:rPr>
              <a:t>梯度。</a:t>
            </a:r>
            <a:endParaRPr lang="zh-CN" altLang="en-US" sz="1200" b="1" dirty="0">
              <a:solidFill>
                <a:schemeClr val="tx1">
                  <a:lumMod val="85000"/>
                  <a:lumOff val="15000"/>
                </a:schemeClr>
              </a:solidFill>
            </a:endParaRPr>
          </a:p>
        </p:txBody>
      </p:sp>
      <p:sp>
        <p:nvSpPr>
          <p:cNvPr id="12" name="矩形 11"/>
          <p:cNvSpPr/>
          <p:nvPr>
            <p:custDataLst>
              <p:tags r:id="rId7"/>
            </p:custDataLst>
          </p:nvPr>
        </p:nvSpPr>
        <p:spPr>
          <a:xfrm>
            <a:off x="8039735" y="1569720"/>
            <a:ext cx="1795780" cy="428625"/>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r>
              <a:rPr lang="zh-CN" altLang="en-US" sz="1800" b="1" spc="100" dirty="0">
                <a:solidFill>
                  <a:schemeClr val="accent1"/>
                </a:solidFill>
              </a:rPr>
              <a:t>训练流程、参数扫描和结果记录基本可靠</a:t>
            </a:r>
            <a:endParaRPr lang="zh-CN" altLang="en-US" sz="1800" b="1" spc="100" dirty="0">
              <a:solidFill>
                <a:schemeClr val="accent1"/>
              </a:solidFill>
            </a:endParaRPr>
          </a:p>
        </p:txBody>
      </p:sp>
      <p:sp>
        <p:nvSpPr>
          <p:cNvPr id="39" name="文本框 38"/>
          <p:cNvSpPr txBox="1"/>
          <p:nvPr>
            <p:custDataLst>
              <p:tags r:id="rId8"/>
            </p:custDataLst>
          </p:nvPr>
        </p:nvSpPr>
        <p:spPr>
          <a:xfrm>
            <a:off x="8424538" y="2520048"/>
            <a:ext cx="1796231" cy="860422"/>
          </a:xfrm>
          <a:prstGeom prst="rect">
            <a:avLst/>
          </a:prstGeom>
          <a:noFill/>
        </p:spPr>
        <p:txBody>
          <a:bodyPr wrap="square" lIns="0" tIns="0" rIns="0" bIns="0" rtlCol="0">
            <a:noAutofit/>
          </a:bodyPr>
          <a:lstStyle/>
          <a:p>
            <a:pPr>
              <a:lnSpc>
                <a:spcPct val="150000"/>
              </a:lnSpc>
            </a:pPr>
            <a:r>
              <a:rPr lang="zh-CN" altLang="en-US" sz="1200" b="1" dirty="0">
                <a:solidFill>
                  <a:schemeClr val="tx1">
                    <a:lumMod val="85000"/>
                    <a:lumOff val="15000"/>
                  </a:schemeClr>
                </a:solidFill>
              </a:rPr>
              <a:t>多个随机种子可以重复运行；</a:t>
            </a:r>
            <a:endParaRPr lang="zh-CN" altLang="en-US" sz="1200" b="1" dirty="0">
              <a:solidFill>
                <a:schemeClr val="tx1">
                  <a:lumMod val="85000"/>
                  <a:lumOff val="15000"/>
                </a:schemeClr>
              </a:solidFill>
            </a:endParaRPr>
          </a:p>
          <a:p>
            <a:pPr>
              <a:lnSpc>
                <a:spcPct val="150000"/>
              </a:lnSpc>
            </a:pPr>
            <a:r>
              <a:rPr lang="zh-CN" altLang="en-US" sz="1200" b="1" dirty="0">
                <a:solidFill>
                  <a:schemeClr val="tx1">
                    <a:lumMod val="85000"/>
                    <a:lumOff val="15000"/>
                  </a:schemeClr>
                </a:solidFill>
              </a:rPr>
              <a:t>参数可以进行单因素扫描；</a:t>
            </a:r>
            <a:endParaRPr lang="zh-CN" altLang="en-US" sz="1200" b="1" dirty="0">
              <a:solidFill>
                <a:schemeClr val="tx1">
                  <a:lumMod val="85000"/>
                  <a:lumOff val="15000"/>
                </a:schemeClr>
              </a:solidFill>
            </a:endParaRPr>
          </a:p>
          <a:p>
            <a:pPr>
              <a:lnSpc>
                <a:spcPct val="150000"/>
              </a:lnSpc>
            </a:pPr>
            <a:r>
              <a:rPr lang="zh-CN" altLang="en-US" sz="1200" b="1" dirty="0">
                <a:solidFill>
                  <a:schemeClr val="tx1">
                    <a:lumMod val="85000"/>
                    <a:lumOff val="15000"/>
                  </a:schemeClr>
                </a:solidFill>
              </a:rPr>
              <a:t>使用验证集选择模型；</a:t>
            </a:r>
            <a:endParaRPr lang="zh-CN" altLang="en-US" sz="1200" b="1" dirty="0">
              <a:solidFill>
                <a:schemeClr val="tx1">
                  <a:lumMod val="85000"/>
                  <a:lumOff val="15000"/>
                </a:schemeClr>
              </a:solidFill>
            </a:endParaRPr>
          </a:p>
          <a:p>
            <a:pPr>
              <a:lnSpc>
                <a:spcPct val="150000"/>
              </a:lnSpc>
            </a:pPr>
            <a:r>
              <a:rPr lang="zh-CN" altLang="en-US" sz="1200" b="1" dirty="0">
                <a:solidFill>
                  <a:schemeClr val="tx1">
                    <a:lumMod val="85000"/>
                    <a:lumOff val="15000"/>
                  </a:schemeClr>
                </a:solidFill>
              </a:rPr>
              <a:t>测试集不用于选模型；</a:t>
            </a:r>
            <a:endParaRPr lang="zh-CN" altLang="en-US" sz="1200" b="1" dirty="0">
              <a:solidFill>
                <a:schemeClr val="tx1">
                  <a:lumMod val="85000"/>
                  <a:lumOff val="15000"/>
                </a:schemeClr>
              </a:solidFill>
            </a:endParaRPr>
          </a:p>
          <a:p>
            <a:pPr>
              <a:lnSpc>
                <a:spcPct val="150000"/>
              </a:lnSpc>
            </a:pPr>
            <a:r>
              <a:rPr lang="zh-CN" altLang="en-US" sz="1200" b="1" dirty="0">
                <a:solidFill>
                  <a:schemeClr val="tx1">
                    <a:lumMod val="85000"/>
                    <a:lumOff val="15000"/>
                  </a:schemeClr>
                </a:solidFill>
              </a:rPr>
              <a:t>能输出 </a:t>
            </a:r>
            <a:r>
              <a:rPr lang="en-US" altLang="zh-CN" sz="1200" b="1" dirty="0">
                <a:solidFill>
                  <a:schemeClr val="tx1">
                    <a:lumMod val="85000"/>
                    <a:lumOff val="15000"/>
                  </a:schemeClr>
                </a:solidFill>
              </a:rPr>
              <a:t>CSV、</a:t>
            </a:r>
            <a:r>
              <a:rPr lang="zh-CN" altLang="en-US" sz="1200" b="1" dirty="0">
                <a:solidFill>
                  <a:schemeClr val="tx1">
                    <a:lumMod val="85000"/>
                    <a:lumOff val="15000"/>
                  </a:schemeClr>
                </a:solidFill>
              </a:rPr>
              <a:t>曲线和运行日志；</a:t>
            </a:r>
            <a:endParaRPr lang="zh-CN" altLang="en-US" sz="1200" b="1" dirty="0">
              <a:solidFill>
                <a:schemeClr val="tx1">
                  <a:lumMod val="85000"/>
                  <a:lumOff val="15000"/>
                </a:schemeClr>
              </a:solidFill>
            </a:endParaRPr>
          </a:p>
          <a:p>
            <a:pPr>
              <a:lnSpc>
                <a:spcPct val="150000"/>
              </a:lnSpc>
            </a:pPr>
            <a:r>
              <a:rPr lang="zh-CN" altLang="en-US" sz="1200" b="1" dirty="0">
                <a:solidFill>
                  <a:schemeClr val="tx1">
                    <a:lumMod val="85000"/>
                    <a:lumOff val="15000"/>
                  </a:schemeClr>
                </a:solidFill>
              </a:rPr>
              <a:t>可以比较 </a:t>
            </a:r>
            <a:r>
              <a:rPr lang="en-US" altLang="zh-CN" sz="1200" b="1" dirty="0">
                <a:solidFill>
                  <a:schemeClr val="tx1">
                    <a:lumMod val="85000"/>
                    <a:lumOff val="15000"/>
                  </a:schemeClr>
                </a:solidFill>
              </a:rPr>
              <a:t>alpha=0 </a:t>
            </a:r>
            <a:r>
              <a:rPr lang="zh-CN" altLang="en-US" sz="1200" b="1" dirty="0">
                <a:solidFill>
                  <a:schemeClr val="tx1">
                    <a:lumMod val="85000"/>
                    <a:lumOff val="15000"/>
                  </a:schemeClr>
                </a:solidFill>
              </a:rPr>
              <a:t>的基线和完整方法。</a:t>
            </a:r>
            <a:endParaRPr lang="zh-CN" altLang="en-US" sz="1200" b="1" dirty="0">
              <a:solidFill>
                <a:schemeClr val="tx1">
                  <a:lumMod val="85000"/>
                  <a:lumOff val="15000"/>
                </a:schemeClr>
              </a:solidFill>
            </a:endParaRPr>
          </a:p>
        </p:txBody>
      </p:sp>
      <p:sp>
        <p:nvSpPr>
          <p:cNvPr id="233" name="图形 231"/>
          <p:cNvSpPr/>
          <p:nvPr>
            <p:custDataLst>
              <p:tags r:id="rId9"/>
            </p:custDataLst>
          </p:nvPr>
        </p:nvSpPr>
        <p:spPr>
          <a:xfrm>
            <a:off x="3456940" y="4182110"/>
            <a:ext cx="176530" cy="2176145"/>
          </a:xfrm>
          <a:custGeom>
            <a:avLst/>
            <a:gdLst>
              <a:gd name="connsiteX0" fmla="*/ 71539 w 99259"/>
              <a:gd name="connsiteY0" fmla="*/ -362 h 1128236"/>
              <a:gd name="connsiteX1" fmla="*/ 25057 w 99259"/>
              <a:gd name="connsiteY1" fmla="*/ 440836 h 1128236"/>
              <a:gd name="connsiteX2" fmla="*/ 71348 w 99259"/>
              <a:gd name="connsiteY2" fmla="*/ 1127875 h 1128236"/>
            </a:gdLst>
            <a:ahLst/>
            <a:cxnLst>
              <a:cxn ang="0">
                <a:pos x="connsiteX0" y="connsiteY0"/>
              </a:cxn>
              <a:cxn ang="0">
                <a:pos x="connsiteX1" y="connsiteY1"/>
              </a:cxn>
              <a:cxn ang="0">
                <a:pos x="connsiteX2" y="connsiteY2"/>
              </a:cxn>
            </a:cxnLst>
            <a:rect l="l" t="t" r="r" b="b"/>
            <a:pathLst>
              <a:path w="99259" h="1128236">
                <a:moveTo>
                  <a:pt x="71539" y="-362"/>
                </a:moveTo>
                <a:cubicBezTo>
                  <a:pt x="71539" y="-362"/>
                  <a:pt x="-51715" y="234525"/>
                  <a:pt x="25057" y="440836"/>
                </a:cubicBezTo>
                <a:cubicBezTo>
                  <a:pt x="25057" y="440836"/>
                  <a:pt x="154311" y="882035"/>
                  <a:pt x="71348" y="1127875"/>
                </a:cubicBezTo>
              </a:path>
            </a:pathLst>
          </a:custGeom>
          <a:noFill/>
          <a:ln w="15875" cap="rnd">
            <a:solidFill>
              <a:schemeClr val="accent1"/>
            </a:solidFill>
            <a:prstDash val="solid"/>
            <a:round/>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latin typeface="汉仪粗圆简" panose="02010600000101010101" charset="-122"/>
              <a:ea typeface="汉仪粗圆简" panose="02010600000101010101" charset="-122"/>
              <a:sym typeface="汉仪粗圆简" panose="02010600000101010101" charset="-122"/>
            </a:endParaRPr>
          </a:p>
        </p:txBody>
      </p:sp>
      <p:sp>
        <p:nvSpPr>
          <p:cNvPr id="10" name="任意多边形: 形状 235"/>
          <p:cNvSpPr/>
          <p:nvPr>
            <p:custDataLst>
              <p:tags r:id="rId10"/>
            </p:custDataLst>
          </p:nvPr>
        </p:nvSpPr>
        <p:spPr>
          <a:xfrm>
            <a:off x="3185160" y="3185160"/>
            <a:ext cx="814070" cy="996950"/>
          </a:xfrm>
          <a:custGeom>
            <a:avLst/>
            <a:gdLst>
              <a:gd name="connsiteX0" fmla="*/ 641 w 1281"/>
              <a:gd name="connsiteY0" fmla="*/ 0 h 1570"/>
              <a:gd name="connsiteX1" fmla="*/ 1093 w 1281"/>
              <a:gd name="connsiteY1" fmla="*/ 188 h 1570"/>
              <a:gd name="connsiteX2" fmla="*/ 1093 w 1281"/>
              <a:gd name="connsiteY2" fmla="*/ 188 h 1570"/>
              <a:gd name="connsiteX3" fmla="*/ 1093 w 1281"/>
              <a:gd name="connsiteY3" fmla="*/ 1093 h 1570"/>
              <a:gd name="connsiteX4" fmla="*/ 710 w 1281"/>
              <a:gd name="connsiteY4" fmla="*/ 1531 h 1570"/>
              <a:gd name="connsiteX5" fmla="*/ 619 w 1281"/>
              <a:gd name="connsiteY5" fmla="*/ 1552 h 1570"/>
              <a:gd name="connsiteX6" fmla="*/ 188 w 1281"/>
              <a:gd name="connsiteY6" fmla="*/ 1093 h 1570"/>
              <a:gd name="connsiteX7" fmla="*/ 188 w 1281"/>
              <a:gd name="connsiteY7" fmla="*/ 188 h 1570"/>
              <a:gd name="connsiteX8" fmla="*/ 641 w 1281"/>
              <a:gd name="connsiteY8" fmla="*/ 0 h 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2" h="1570">
                <a:moveTo>
                  <a:pt x="641" y="0"/>
                </a:moveTo>
                <a:cubicBezTo>
                  <a:pt x="804" y="0"/>
                  <a:pt x="968" y="63"/>
                  <a:pt x="1093" y="188"/>
                </a:cubicBezTo>
                <a:lnTo>
                  <a:pt x="1093" y="188"/>
                </a:lnTo>
                <a:cubicBezTo>
                  <a:pt x="1344" y="438"/>
                  <a:pt x="1344" y="843"/>
                  <a:pt x="1093" y="1093"/>
                </a:cubicBezTo>
                <a:lnTo>
                  <a:pt x="710" y="1531"/>
                </a:lnTo>
                <a:cubicBezTo>
                  <a:pt x="680" y="1570"/>
                  <a:pt x="661" y="1585"/>
                  <a:pt x="619" y="1552"/>
                </a:cubicBezTo>
                <a:lnTo>
                  <a:pt x="188" y="1093"/>
                </a:lnTo>
                <a:cubicBezTo>
                  <a:pt x="-63" y="843"/>
                  <a:pt x="-63" y="438"/>
                  <a:pt x="188" y="188"/>
                </a:cubicBezTo>
                <a:cubicBezTo>
                  <a:pt x="313" y="63"/>
                  <a:pt x="477" y="0"/>
                  <a:pt x="641" y="0"/>
                </a:cubicBezTo>
                <a:close/>
              </a:path>
            </a:pathLst>
          </a:custGeom>
          <a:gradFill>
            <a:gsLst>
              <a:gs pos="0">
                <a:schemeClr val="accent1"/>
              </a:gs>
              <a:gs pos="100000">
                <a:schemeClr val="accent1">
                  <a:alpha val="70000"/>
                </a:schemeClr>
              </a:gs>
            </a:gsLst>
            <a:lin ang="13500000" scaled="0"/>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r>
              <a:rPr lang="en-US" altLang="zh-CN" sz="2800">
                <a:latin typeface="+mn-ea"/>
                <a:sym typeface="汉仪粗圆简" panose="02010600000101010101" charset="-122"/>
              </a:rPr>
              <a:t>01</a:t>
            </a:r>
            <a:endParaRPr lang="en-US" altLang="zh-CN" sz="2800">
              <a:latin typeface="+mn-ea"/>
              <a:sym typeface="汉仪粗圆简" panose="02010600000101010101" charset="-122"/>
            </a:endParaRPr>
          </a:p>
        </p:txBody>
      </p:sp>
      <p:sp>
        <p:nvSpPr>
          <p:cNvPr id="8" name="任意多边形: 形状 235"/>
          <p:cNvSpPr/>
          <p:nvPr>
            <p:custDataLst>
              <p:tags r:id="rId11"/>
            </p:custDataLst>
          </p:nvPr>
        </p:nvSpPr>
        <p:spPr>
          <a:xfrm>
            <a:off x="3131185" y="3232150"/>
            <a:ext cx="824865" cy="955040"/>
          </a:xfrm>
          <a:custGeom>
            <a:avLst/>
            <a:gdLst>
              <a:gd name="connsiteX0" fmla="*/ 641 w 1281"/>
              <a:gd name="connsiteY0" fmla="*/ 0 h 1570"/>
              <a:gd name="connsiteX1" fmla="*/ 1093 w 1281"/>
              <a:gd name="connsiteY1" fmla="*/ 188 h 1570"/>
              <a:gd name="connsiteX2" fmla="*/ 1093 w 1281"/>
              <a:gd name="connsiteY2" fmla="*/ 188 h 1570"/>
              <a:gd name="connsiteX3" fmla="*/ 1093 w 1281"/>
              <a:gd name="connsiteY3" fmla="*/ 1093 h 1570"/>
              <a:gd name="connsiteX4" fmla="*/ 710 w 1281"/>
              <a:gd name="connsiteY4" fmla="*/ 1531 h 1570"/>
              <a:gd name="connsiteX5" fmla="*/ 619 w 1281"/>
              <a:gd name="connsiteY5" fmla="*/ 1552 h 1570"/>
              <a:gd name="connsiteX6" fmla="*/ 188 w 1281"/>
              <a:gd name="connsiteY6" fmla="*/ 1093 h 1570"/>
              <a:gd name="connsiteX7" fmla="*/ 188 w 1281"/>
              <a:gd name="connsiteY7" fmla="*/ 188 h 1570"/>
              <a:gd name="connsiteX8" fmla="*/ 641 w 1281"/>
              <a:gd name="connsiteY8" fmla="*/ 0 h 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2" h="1570">
                <a:moveTo>
                  <a:pt x="641" y="0"/>
                </a:moveTo>
                <a:cubicBezTo>
                  <a:pt x="804" y="0"/>
                  <a:pt x="968" y="63"/>
                  <a:pt x="1093" y="188"/>
                </a:cubicBezTo>
                <a:lnTo>
                  <a:pt x="1093" y="188"/>
                </a:lnTo>
                <a:cubicBezTo>
                  <a:pt x="1344" y="438"/>
                  <a:pt x="1344" y="843"/>
                  <a:pt x="1093" y="1093"/>
                </a:cubicBezTo>
                <a:lnTo>
                  <a:pt x="710" y="1531"/>
                </a:lnTo>
                <a:cubicBezTo>
                  <a:pt x="680" y="1570"/>
                  <a:pt x="661" y="1585"/>
                  <a:pt x="619" y="1552"/>
                </a:cubicBezTo>
                <a:lnTo>
                  <a:pt x="188" y="1093"/>
                </a:lnTo>
                <a:cubicBezTo>
                  <a:pt x="-63" y="843"/>
                  <a:pt x="-63" y="438"/>
                  <a:pt x="188" y="188"/>
                </a:cubicBezTo>
                <a:cubicBezTo>
                  <a:pt x="313" y="63"/>
                  <a:pt x="477" y="0"/>
                  <a:pt x="641" y="0"/>
                </a:cubicBezTo>
                <a:close/>
              </a:path>
            </a:pathLst>
          </a:custGeom>
          <a:noFill/>
          <a:ln w="19050" cap="rnd">
            <a:solidFill>
              <a:schemeClr val="tx1">
                <a:lumMod val="75000"/>
                <a:lumOff val="2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a:latin typeface="汉仪粗圆简" panose="02010600000101010101" charset="-122"/>
              <a:ea typeface="汉仪粗圆简" panose="02010600000101010101" charset="-122"/>
              <a:sym typeface="汉仪粗圆简" panose="02010600000101010101" charset="-122"/>
            </a:endParaRPr>
          </a:p>
        </p:txBody>
      </p:sp>
      <p:sp>
        <p:nvSpPr>
          <p:cNvPr id="3" name="椭圆 2"/>
          <p:cNvSpPr/>
          <p:nvPr>
            <p:custDataLst>
              <p:tags r:id="rId12"/>
            </p:custDataLst>
          </p:nvPr>
        </p:nvSpPr>
        <p:spPr>
          <a:xfrm>
            <a:off x="3512820" y="6240145"/>
            <a:ext cx="121285" cy="12128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粗圆简" panose="02010600000101010101" charset="-122"/>
              <a:ea typeface="汉仪粗圆简" panose="02010600000101010101" charset="-122"/>
              <a:sym typeface="汉仪粗圆简" panose="02010600000101010101" charset="-122"/>
            </a:endParaRPr>
          </a:p>
        </p:txBody>
      </p:sp>
      <p:sp>
        <p:nvSpPr>
          <p:cNvPr id="19" name="椭圆 18"/>
          <p:cNvSpPr/>
          <p:nvPr>
            <p:custDataLst>
              <p:tags r:id="rId13"/>
            </p:custDataLst>
          </p:nvPr>
        </p:nvSpPr>
        <p:spPr>
          <a:xfrm>
            <a:off x="3531870" y="6237605"/>
            <a:ext cx="121285" cy="121285"/>
          </a:xfrm>
          <a:prstGeom prst="ellipse">
            <a:avLst/>
          </a:prstGeom>
          <a:noFill/>
          <a:ln w="12700">
            <a:solidFill>
              <a:srgbClr val="4A4A4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endParaRPr lang="zh-CN" altLang="en-US">
              <a:latin typeface="汉仪粗圆简" panose="02010600000101010101" charset="-122"/>
              <a:ea typeface="汉仪粗圆简" panose="02010600000101010101" charset="-122"/>
              <a:sym typeface="汉仪粗圆简" panose="02010600000101010101" charset="-122"/>
            </a:endParaRPr>
          </a:p>
        </p:txBody>
      </p:sp>
      <p:sp>
        <p:nvSpPr>
          <p:cNvPr id="27" name="图形 231"/>
          <p:cNvSpPr/>
          <p:nvPr>
            <p:custDataLst>
              <p:tags r:id="rId14"/>
            </p:custDataLst>
          </p:nvPr>
        </p:nvSpPr>
        <p:spPr>
          <a:xfrm flipH="1">
            <a:off x="6796405" y="3288665"/>
            <a:ext cx="191770" cy="2693670"/>
          </a:xfrm>
          <a:custGeom>
            <a:avLst/>
            <a:gdLst>
              <a:gd name="connsiteX0" fmla="*/ 112 w 301"/>
              <a:gd name="connsiteY0" fmla="*/ 0 h 3986"/>
              <a:gd name="connsiteX1" fmla="*/ 171 w 301"/>
              <a:gd name="connsiteY1" fmla="*/ 1936 h 3986"/>
              <a:gd name="connsiteX2" fmla="*/ 100 w 301"/>
              <a:gd name="connsiteY2" fmla="*/ 3986 h 3986"/>
            </a:gdLst>
            <a:ahLst/>
            <a:cxnLst>
              <a:cxn ang="0">
                <a:pos x="connsiteX0" y="connsiteY0"/>
              </a:cxn>
              <a:cxn ang="0">
                <a:pos x="connsiteX1" y="connsiteY1"/>
              </a:cxn>
              <a:cxn ang="0">
                <a:pos x="connsiteX2" y="connsiteY2"/>
              </a:cxn>
            </a:cxnLst>
            <a:rect l="l" t="t" r="r" b="b"/>
            <a:pathLst>
              <a:path w="302" h="3986">
                <a:moveTo>
                  <a:pt x="112" y="0"/>
                </a:moveTo>
                <a:cubicBezTo>
                  <a:pt x="112" y="0"/>
                  <a:pt x="-176" y="888"/>
                  <a:pt x="171" y="1936"/>
                </a:cubicBezTo>
                <a:cubicBezTo>
                  <a:pt x="171" y="1936"/>
                  <a:pt x="508" y="2544"/>
                  <a:pt x="100" y="3986"/>
                </a:cubicBezTo>
              </a:path>
            </a:pathLst>
          </a:custGeom>
          <a:noFill/>
          <a:ln w="15875" cap="rnd">
            <a:solidFill>
              <a:schemeClr val="accent1"/>
            </a:solidFill>
            <a:prstDash val="solid"/>
            <a:round/>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latin typeface="汉仪粗圆简" panose="02010600000101010101" charset="-122"/>
              <a:ea typeface="汉仪粗圆简" panose="02010600000101010101" charset="-122"/>
              <a:sym typeface="汉仪粗圆简" panose="02010600000101010101" charset="-122"/>
            </a:endParaRPr>
          </a:p>
        </p:txBody>
      </p:sp>
      <p:sp>
        <p:nvSpPr>
          <p:cNvPr id="5" name="椭圆 4"/>
          <p:cNvSpPr/>
          <p:nvPr>
            <p:custDataLst>
              <p:tags r:id="rId15"/>
            </p:custDataLst>
          </p:nvPr>
        </p:nvSpPr>
        <p:spPr>
          <a:xfrm>
            <a:off x="6848475" y="5949950"/>
            <a:ext cx="121285" cy="12128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粗圆简" panose="02010600000101010101" charset="-122"/>
              <a:ea typeface="汉仪粗圆简" panose="02010600000101010101" charset="-122"/>
              <a:sym typeface="汉仪粗圆简" panose="02010600000101010101" charset="-122"/>
            </a:endParaRPr>
          </a:p>
        </p:txBody>
      </p:sp>
      <p:sp>
        <p:nvSpPr>
          <p:cNvPr id="28" name="任意多边形: 形状 235"/>
          <p:cNvSpPr/>
          <p:nvPr>
            <p:custDataLst>
              <p:tags r:id="rId16"/>
            </p:custDataLst>
          </p:nvPr>
        </p:nvSpPr>
        <p:spPr>
          <a:xfrm>
            <a:off x="6530340" y="2354580"/>
            <a:ext cx="814070" cy="996950"/>
          </a:xfrm>
          <a:custGeom>
            <a:avLst/>
            <a:gdLst>
              <a:gd name="connsiteX0" fmla="*/ 641 w 1281"/>
              <a:gd name="connsiteY0" fmla="*/ 0 h 1570"/>
              <a:gd name="connsiteX1" fmla="*/ 1093 w 1281"/>
              <a:gd name="connsiteY1" fmla="*/ 188 h 1570"/>
              <a:gd name="connsiteX2" fmla="*/ 1093 w 1281"/>
              <a:gd name="connsiteY2" fmla="*/ 188 h 1570"/>
              <a:gd name="connsiteX3" fmla="*/ 1093 w 1281"/>
              <a:gd name="connsiteY3" fmla="*/ 1093 h 1570"/>
              <a:gd name="connsiteX4" fmla="*/ 710 w 1281"/>
              <a:gd name="connsiteY4" fmla="*/ 1531 h 1570"/>
              <a:gd name="connsiteX5" fmla="*/ 619 w 1281"/>
              <a:gd name="connsiteY5" fmla="*/ 1552 h 1570"/>
              <a:gd name="connsiteX6" fmla="*/ 188 w 1281"/>
              <a:gd name="connsiteY6" fmla="*/ 1093 h 1570"/>
              <a:gd name="connsiteX7" fmla="*/ 188 w 1281"/>
              <a:gd name="connsiteY7" fmla="*/ 188 h 1570"/>
              <a:gd name="connsiteX8" fmla="*/ 641 w 1281"/>
              <a:gd name="connsiteY8" fmla="*/ 0 h 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2" h="1570">
                <a:moveTo>
                  <a:pt x="641" y="0"/>
                </a:moveTo>
                <a:cubicBezTo>
                  <a:pt x="804" y="0"/>
                  <a:pt x="968" y="63"/>
                  <a:pt x="1093" y="188"/>
                </a:cubicBezTo>
                <a:lnTo>
                  <a:pt x="1093" y="188"/>
                </a:lnTo>
                <a:cubicBezTo>
                  <a:pt x="1344" y="438"/>
                  <a:pt x="1344" y="843"/>
                  <a:pt x="1093" y="1093"/>
                </a:cubicBezTo>
                <a:lnTo>
                  <a:pt x="710" y="1531"/>
                </a:lnTo>
                <a:cubicBezTo>
                  <a:pt x="680" y="1570"/>
                  <a:pt x="661" y="1585"/>
                  <a:pt x="619" y="1552"/>
                </a:cubicBezTo>
                <a:lnTo>
                  <a:pt x="188" y="1093"/>
                </a:lnTo>
                <a:cubicBezTo>
                  <a:pt x="-63" y="843"/>
                  <a:pt x="-63" y="438"/>
                  <a:pt x="188" y="188"/>
                </a:cubicBezTo>
                <a:cubicBezTo>
                  <a:pt x="313" y="63"/>
                  <a:pt x="477" y="0"/>
                  <a:pt x="641" y="0"/>
                </a:cubicBezTo>
                <a:close/>
              </a:path>
            </a:pathLst>
          </a:custGeom>
          <a:gradFill>
            <a:gsLst>
              <a:gs pos="0">
                <a:schemeClr val="accent1"/>
              </a:gs>
              <a:gs pos="100000">
                <a:schemeClr val="accent1">
                  <a:alpha val="70000"/>
                </a:schemeClr>
              </a:gs>
            </a:gsLst>
            <a:lin ang="13500000" scaled="0"/>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r>
              <a:rPr lang="en-US" altLang="zh-CN" sz="2800">
                <a:latin typeface="+mn-ea"/>
                <a:sym typeface="汉仪粗圆简" panose="02010600000101010101" charset="-122"/>
              </a:rPr>
              <a:t>02</a:t>
            </a:r>
            <a:endParaRPr lang="en-US" altLang="zh-CN" sz="2800">
              <a:latin typeface="+mn-ea"/>
              <a:sym typeface="汉仪粗圆简" panose="02010600000101010101" charset="-122"/>
            </a:endParaRPr>
          </a:p>
        </p:txBody>
      </p:sp>
      <p:sp>
        <p:nvSpPr>
          <p:cNvPr id="31" name="椭圆 30"/>
          <p:cNvSpPr/>
          <p:nvPr>
            <p:custDataLst>
              <p:tags r:id="rId17"/>
            </p:custDataLst>
          </p:nvPr>
        </p:nvSpPr>
        <p:spPr>
          <a:xfrm>
            <a:off x="6870065" y="5949950"/>
            <a:ext cx="121285" cy="121285"/>
          </a:xfrm>
          <a:prstGeom prst="ellipse">
            <a:avLst/>
          </a:prstGeom>
          <a:noFill/>
          <a:ln w="12700">
            <a:solidFill>
              <a:srgbClr val="4A4A4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endParaRPr lang="zh-CN" altLang="en-US">
              <a:latin typeface="汉仪粗圆简" panose="02010600000101010101" charset="-122"/>
              <a:ea typeface="汉仪粗圆简" panose="02010600000101010101" charset="-122"/>
              <a:sym typeface="汉仪粗圆简" panose="02010600000101010101" charset="-122"/>
            </a:endParaRPr>
          </a:p>
        </p:txBody>
      </p:sp>
      <p:sp>
        <p:nvSpPr>
          <p:cNvPr id="432" name="任意多边形: 形状 431"/>
          <p:cNvSpPr/>
          <p:nvPr>
            <p:custDataLst>
              <p:tags r:id="rId18"/>
            </p:custDataLst>
          </p:nvPr>
        </p:nvSpPr>
        <p:spPr>
          <a:xfrm>
            <a:off x="6582410" y="2355215"/>
            <a:ext cx="814070" cy="996315"/>
          </a:xfrm>
          <a:custGeom>
            <a:avLst/>
            <a:gdLst>
              <a:gd name="connsiteX0" fmla="*/ 435565 w 813753"/>
              <a:gd name="connsiteY0" fmla="*/ 991 h 996441"/>
              <a:gd name="connsiteX1" fmla="*/ 713558 w 813753"/>
              <a:gd name="connsiteY1" fmla="*/ 140102 h 996441"/>
              <a:gd name="connsiteX2" fmla="*/ 673471 w 813753"/>
              <a:gd name="connsiteY2" fmla="*/ 713377 h 996441"/>
              <a:gd name="connsiteX3" fmla="*/ 411457 w 813753"/>
              <a:gd name="connsiteY3" fmla="*/ 973865 h 996441"/>
              <a:gd name="connsiteX4" fmla="*/ 352883 w 813753"/>
              <a:gd name="connsiteY4" fmla="*/ 983136 h 996441"/>
              <a:gd name="connsiteX5" fmla="*/ 100196 w 813753"/>
              <a:gd name="connsiteY5" fmla="*/ 673290 h 996441"/>
              <a:gd name="connsiteX6" fmla="*/ 140283 w 813753"/>
              <a:gd name="connsiteY6" fmla="*/ 100015 h 996441"/>
              <a:gd name="connsiteX7" fmla="*/ 435565 w 813753"/>
              <a:gd name="connsiteY7" fmla="*/ 991 h 996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753" h="996441">
                <a:moveTo>
                  <a:pt x="435565" y="991"/>
                </a:moveTo>
                <a:cubicBezTo>
                  <a:pt x="538818" y="8211"/>
                  <a:pt x="639914" y="55383"/>
                  <a:pt x="713558" y="140102"/>
                </a:cubicBezTo>
                <a:cubicBezTo>
                  <a:pt x="861481" y="309583"/>
                  <a:pt x="843542" y="566132"/>
                  <a:pt x="673471" y="713377"/>
                </a:cubicBezTo>
                <a:lnTo>
                  <a:pt x="411457" y="973865"/>
                </a:lnTo>
                <a:cubicBezTo>
                  <a:pt x="390726" y="997240"/>
                  <a:pt x="378026" y="1005901"/>
                  <a:pt x="352883" y="983136"/>
                </a:cubicBezTo>
                <a:lnTo>
                  <a:pt x="100196" y="673290"/>
                </a:lnTo>
                <a:cubicBezTo>
                  <a:pt x="-47727" y="503808"/>
                  <a:pt x="-29787" y="247260"/>
                  <a:pt x="140283" y="100015"/>
                </a:cubicBezTo>
                <a:cubicBezTo>
                  <a:pt x="225002" y="26370"/>
                  <a:pt x="331679" y="-6273"/>
                  <a:pt x="435565" y="991"/>
                </a:cubicBezTo>
                <a:close/>
              </a:path>
            </a:pathLst>
          </a:custGeom>
          <a:noFill/>
          <a:ln w="19050" cap="rnd">
            <a:solidFill>
              <a:schemeClr val="tx1">
                <a:lumMod val="75000"/>
                <a:lumOff val="2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粗圆简" panose="02010600000101010101" charset="-122"/>
              <a:ea typeface="汉仪粗圆简" panose="02010600000101010101" charset="-122"/>
            </a:endParaRPr>
          </a:p>
        </p:txBody>
      </p:sp>
      <p:sp>
        <p:nvSpPr>
          <p:cNvPr id="35" name="图形 231"/>
          <p:cNvSpPr/>
          <p:nvPr>
            <p:custDataLst>
              <p:tags r:id="rId19"/>
            </p:custDataLst>
          </p:nvPr>
        </p:nvSpPr>
        <p:spPr>
          <a:xfrm>
            <a:off x="10264140" y="2407920"/>
            <a:ext cx="276860" cy="3168650"/>
          </a:xfrm>
          <a:custGeom>
            <a:avLst/>
            <a:gdLst>
              <a:gd name="connsiteX0" fmla="*/ 270 w 436"/>
              <a:gd name="connsiteY0" fmla="*/ 0 h 5439"/>
              <a:gd name="connsiteX1" fmla="*/ 0 w 436"/>
              <a:gd name="connsiteY1" fmla="*/ 1657 h 5439"/>
              <a:gd name="connsiteX2" fmla="*/ 386 w 436"/>
              <a:gd name="connsiteY2" fmla="*/ 3223 h 5439"/>
              <a:gd name="connsiteX3" fmla="*/ 258 w 436"/>
              <a:gd name="connsiteY3" fmla="*/ 5439 h 5439"/>
            </a:gdLst>
            <a:ahLst/>
            <a:cxnLst>
              <a:cxn ang="0">
                <a:pos x="connsiteX0" y="connsiteY0"/>
              </a:cxn>
              <a:cxn ang="0">
                <a:pos x="connsiteX1" y="connsiteY1"/>
              </a:cxn>
              <a:cxn ang="0">
                <a:pos x="connsiteX2" y="connsiteY2"/>
              </a:cxn>
              <a:cxn ang="0">
                <a:pos x="connsiteX3" y="connsiteY3"/>
              </a:cxn>
            </a:cxnLst>
            <a:rect l="l" t="t" r="r" b="b"/>
            <a:pathLst>
              <a:path w="436" h="5439">
                <a:moveTo>
                  <a:pt x="270" y="0"/>
                </a:moveTo>
                <a:cubicBezTo>
                  <a:pt x="268" y="430"/>
                  <a:pt x="26" y="505"/>
                  <a:pt x="0" y="1657"/>
                </a:cubicBezTo>
                <a:cubicBezTo>
                  <a:pt x="104" y="2731"/>
                  <a:pt x="346" y="2644"/>
                  <a:pt x="386" y="3223"/>
                </a:cubicBezTo>
                <a:cubicBezTo>
                  <a:pt x="386" y="3223"/>
                  <a:pt x="561" y="4334"/>
                  <a:pt x="258" y="5439"/>
                </a:cubicBezTo>
              </a:path>
            </a:pathLst>
          </a:custGeom>
          <a:noFill/>
          <a:ln w="15875" cap="rnd">
            <a:solidFill>
              <a:schemeClr val="accent1"/>
            </a:solidFill>
            <a:prstDash val="solid"/>
            <a:round/>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latin typeface="汉仪粗圆简" panose="02010600000101010101" charset="-122"/>
              <a:ea typeface="汉仪粗圆简" panose="02010600000101010101" charset="-122"/>
              <a:sym typeface="汉仪粗圆简" panose="02010600000101010101" charset="-122"/>
            </a:endParaRPr>
          </a:p>
        </p:txBody>
      </p:sp>
      <p:sp>
        <p:nvSpPr>
          <p:cNvPr id="25" name="椭圆 24"/>
          <p:cNvSpPr/>
          <p:nvPr>
            <p:custDataLst>
              <p:tags r:id="rId20"/>
            </p:custDataLst>
          </p:nvPr>
        </p:nvSpPr>
        <p:spPr>
          <a:xfrm>
            <a:off x="10372725" y="5541010"/>
            <a:ext cx="121285" cy="12128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粗圆简" panose="02010600000101010101" charset="-122"/>
              <a:ea typeface="汉仪粗圆简" panose="02010600000101010101" charset="-122"/>
              <a:sym typeface="汉仪粗圆简" panose="02010600000101010101" charset="-122"/>
            </a:endParaRPr>
          </a:p>
        </p:txBody>
      </p:sp>
      <p:sp>
        <p:nvSpPr>
          <p:cNvPr id="32" name="椭圆 31"/>
          <p:cNvSpPr/>
          <p:nvPr>
            <p:custDataLst>
              <p:tags r:id="rId21"/>
            </p:custDataLst>
          </p:nvPr>
        </p:nvSpPr>
        <p:spPr>
          <a:xfrm>
            <a:off x="10391775" y="5541010"/>
            <a:ext cx="121285" cy="121285"/>
          </a:xfrm>
          <a:prstGeom prst="ellipse">
            <a:avLst/>
          </a:prstGeom>
          <a:noFill/>
          <a:ln w="12700">
            <a:solidFill>
              <a:srgbClr val="4A4A4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endParaRPr lang="zh-CN" altLang="en-US">
              <a:latin typeface="汉仪粗圆简" panose="02010600000101010101" charset="-122"/>
              <a:ea typeface="汉仪粗圆简" panose="02010600000101010101" charset="-122"/>
              <a:sym typeface="汉仪粗圆简" panose="02010600000101010101" charset="-122"/>
            </a:endParaRPr>
          </a:p>
        </p:txBody>
      </p:sp>
      <p:sp>
        <p:nvSpPr>
          <p:cNvPr id="33" name="任意多边形: 形状 235"/>
          <p:cNvSpPr/>
          <p:nvPr>
            <p:custDataLst>
              <p:tags r:id="rId22"/>
            </p:custDataLst>
          </p:nvPr>
        </p:nvSpPr>
        <p:spPr>
          <a:xfrm>
            <a:off x="10032365" y="1413510"/>
            <a:ext cx="814070" cy="996950"/>
          </a:xfrm>
          <a:custGeom>
            <a:avLst/>
            <a:gdLst>
              <a:gd name="connsiteX0" fmla="*/ 641 w 1281"/>
              <a:gd name="connsiteY0" fmla="*/ 0 h 1570"/>
              <a:gd name="connsiteX1" fmla="*/ 1093 w 1281"/>
              <a:gd name="connsiteY1" fmla="*/ 188 h 1570"/>
              <a:gd name="connsiteX2" fmla="*/ 1093 w 1281"/>
              <a:gd name="connsiteY2" fmla="*/ 188 h 1570"/>
              <a:gd name="connsiteX3" fmla="*/ 1093 w 1281"/>
              <a:gd name="connsiteY3" fmla="*/ 1093 h 1570"/>
              <a:gd name="connsiteX4" fmla="*/ 710 w 1281"/>
              <a:gd name="connsiteY4" fmla="*/ 1531 h 1570"/>
              <a:gd name="connsiteX5" fmla="*/ 619 w 1281"/>
              <a:gd name="connsiteY5" fmla="*/ 1552 h 1570"/>
              <a:gd name="connsiteX6" fmla="*/ 188 w 1281"/>
              <a:gd name="connsiteY6" fmla="*/ 1093 h 1570"/>
              <a:gd name="connsiteX7" fmla="*/ 188 w 1281"/>
              <a:gd name="connsiteY7" fmla="*/ 188 h 1570"/>
              <a:gd name="connsiteX8" fmla="*/ 641 w 1281"/>
              <a:gd name="connsiteY8" fmla="*/ 0 h 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2" h="1570">
                <a:moveTo>
                  <a:pt x="641" y="0"/>
                </a:moveTo>
                <a:cubicBezTo>
                  <a:pt x="804" y="0"/>
                  <a:pt x="968" y="63"/>
                  <a:pt x="1093" y="188"/>
                </a:cubicBezTo>
                <a:lnTo>
                  <a:pt x="1093" y="188"/>
                </a:lnTo>
                <a:cubicBezTo>
                  <a:pt x="1344" y="438"/>
                  <a:pt x="1344" y="843"/>
                  <a:pt x="1093" y="1093"/>
                </a:cubicBezTo>
                <a:lnTo>
                  <a:pt x="710" y="1531"/>
                </a:lnTo>
                <a:cubicBezTo>
                  <a:pt x="680" y="1570"/>
                  <a:pt x="661" y="1585"/>
                  <a:pt x="619" y="1552"/>
                </a:cubicBezTo>
                <a:lnTo>
                  <a:pt x="188" y="1093"/>
                </a:lnTo>
                <a:cubicBezTo>
                  <a:pt x="-63" y="843"/>
                  <a:pt x="-63" y="438"/>
                  <a:pt x="188" y="188"/>
                </a:cubicBezTo>
                <a:cubicBezTo>
                  <a:pt x="313" y="63"/>
                  <a:pt x="477" y="0"/>
                  <a:pt x="641" y="0"/>
                </a:cubicBezTo>
                <a:close/>
              </a:path>
            </a:pathLst>
          </a:custGeom>
          <a:gradFill>
            <a:gsLst>
              <a:gs pos="0">
                <a:schemeClr val="accent1"/>
              </a:gs>
              <a:gs pos="100000">
                <a:schemeClr val="accent1">
                  <a:alpha val="70000"/>
                </a:schemeClr>
              </a:gs>
            </a:gsLst>
            <a:lin ang="13500000" scaled="0"/>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r>
              <a:rPr lang="en-US" altLang="zh-CN" sz="2800">
                <a:latin typeface="+mn-ea"/>
                <a:sym typeface="汉仪粗圆简" panose="02010600000101010101" charset="-122"/>
              </a:rPr>
              <a:t>03</a:t>
            </a:r>
            <a:endParaRPr lang="en-US" altLang="zh-CN" sz="2800">
              <a:latin typeface="+mn-ea"/>
              <a:sym typeface="汉仪粗圆简" panose="02010600000101010101" charset="-122"/>
            </a:endParaRPr>
          </a:p>
        </p:txBody>
      </p:sp>
      <p:sp>
        <p:nvSpPr>
          <p:cNvPr id="34" name="任意多边形: 形状 235"/>
          <p:cNvSpPr/>
          <p:nvPr>
            <p:custDataLst>
              <p:tags r:id="rId23"/>
            </p:custDataLst>
          </p:nvPr>
        </p:nvSpPr>
        <p:spPr>
          <a:xfrm>
            <a:off x="9979660" y="1419225"/>
            <a:ext cx="814070" cy="996950"/>
          </a:xfrm>
          <a:custGeom>
            <a:avLst/>
            <a:gdLst>
              <a:gd name="connsiteX0" fmla="*/ 641 w 1281"/>
              <a:gd name="connsiteY0" fmla="*/ 0 h 1570"/>
              <a:gd name="connsiteX1" fmla="*/ 1093 w 1281"/>
              <a:gd name="connsiteY1" fmla="*/ 188 h 1570"/>
              <a:gd name="connsiteX2" fmla="*/ 1093 w 1281"/>
              <a:gd name="connsiteY2" fmla="*/ 188 h 1570"/>
              <a:gd name="connsiteX3" fmla="*/ 1093 w 1281"/>
              <a:gd name="connsiteY3" fmla="*/ 1093 h 1570"/>
              <a:gd name="connsiteX4" fmla="*/ 710 w 1281"/>
              <a:gd name="connsiteY4" fmla="*/ 1531 h 1570"/>
              <a:gd name="connsiteX5" fmla="*/ 619 w 1281"/>
              <a:gd name="connsiteY5" fmla="*/ 1552 h 1570"/>
              <a:gd name="connsiteX6" fmla="*/ 188 w 1281"/>
              <a:gd name="connsiteY6" fmla="*/ 1093 h 1570"/>
              <a:gd name="connsiteX7" fmla="*/ 188 w 1281"/>
              <a:gd name="connsiteY7" fmla="*/ 188 h 1570"/>
              <a:gd name="connsiteX8" fmla="*/ 641 w 1281"/>
              <a:gd name="connsiteY8" fmla="*/ 0 h 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2" h="1570">
                <a:moveTo>
                  <a:pt x="641" y="0"/>
                </a:moveTo>
                <a:cubicBezTo>
                  <a:pt x="804" y="0"/>
                  <a:pt x="968" y="63"/>
                  <a:pt x="1093" y="188"/>
                </a:cubicBezTo>
                <a:lnTo>
                  <a:pt x="1093" y="188"/>
                </a:lnTo>
                <a:cubicBezTo>
                  <a:pt x="1344" y="438"/>
                  <a:pt x="1344" y="843"/>
                  <a:pt x="1093" y="1093"/>
                </a:cubicBezTo>
                <a:lnTo>
                  <a:pt x="710" y="1531"/>
                </a:lnTo>
                <a:cubicBezTo>
                  <a:pt x="680" y="1570"/>
                  <a:pt x="661" y="1585"/>
                  <a:pt x="619" y="1552"/>
                </a:cubicBezTo>
                <a:lnTo>
                  <a:pt x="188" y="1093"/>
                </a:lnTo>
                <a:cubicBezTo>
                  <a:pt x="-63" y="843"/>
                  <a:pt x="-63" y="438"/>
                  <a:pt x="188" y="188"/>
                </a:cubicBezTo>
                <a:cubicBezTo>
                  <a:pt x="313" y="63"/>
                  <a:pt x="477" y="0"/>
                  <a:pt x="641" y="0"/>
                </a:cubicBezTo>
                <a:close/>
              </a:path>
            </a:pathLst>
          </a:custGeom>
          <a:noFill/>
          <a:ln w="19050" cap="rnd">
            <a:solidFill>
              <a:schemeClr val="tx1">
                <a:lumMod val="75000"/>
                <a:lumOff val="2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a:latin typeface="汉仪粗圆简" panose="02010600000101010101" charset="-122"/>
              <a:ea typeface="汉仪粗圆简" panose="02010600000101010101" charset="-122"/>
              <a:sym typeface="汉仪粗圆简" panose="02010600000101010101" charset="-122"/>
            </a:endParaRPr>
          </a:p>
        </p:txBody>
      </p:sp>
    </p:spTree>
    <p:custDataLst>
      <p:tags r:id="rId2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7403" y="-2"/>
            <a:ext cx="12221827" cy="6861177"/>
            <a:chOff x="-7403" y="-2"/>
            <a:chExt cx="12221827" cy="6861177"/>
          </a:xfrm>
        </p:grpSpPr>
        <p:sp>
          <p:nvSpPr>
            <p:cNvPr id="17" name="任意多边形: 形状 16"/>
            <p:cNvSpPr/>
            <p:nvPr/>
          </p:nvSpPr>
          <p:spPr>
            <a:xfrm>
              <a:off x="-7403" y="2508015"/>
              <a:ext cx="4391298" cy="4353160"/>
            </a:xfrm>
            <a:custGeom>
              <a:avLst/>
              <a:gdLst>
                <a:gd name="connsiteX0" fmla="*/ 0 w 3918711"/>
                <a:gd name="connsiteY0" fmla="*/ 0 h 3884677"/>
                <a:gd name="connsiteX1" fmla="*/ 127100 w 3918711"/>
                <a:gd name="connsiteY1" fmla="*/ 67876 h 3884677"/>
                <a:gd name="connsiteX2" fmla="*/ 241996 w 3918711"/>
                <a:gd name="connsiteY2" fmla="*/ 162901 h 3884677"/>
                <a:gd name="connsiteX3" fmla="*/ 3918711 w 3918711"/>
                <a:gd name="connsiteY3" fmla="*/ 3884677 h 3884677"/>
                <a:gd name="connsiteX4" fmla="*/ 0 w 3918711"/>
                <a:gd name="connsiteY4" fmla="*/ 3884677 h 3884677"/>
                <a:gd name="connsiteX5" fmla="*/ 0 w 3918711"/>
                <a:gd name="connsiteY5" fmla="*/ 0 h 38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8711" h="3884677">
                  <a:moveTo>
                    <a:pt x="0" y="0"/>
                  </a:moveTo>
                  <a:lnTo>
                    <a:pt x="127100" y="67876"/>
                  </a:lnTo>
                  <a:cubicBezTo>
                    <a:pt x="167752" y="95074"/>
                    <a:pt x="206283" y="126750"/>
                    <a:pt x="241996" y="162901"/>
                  </a:cubicBezTo>
                  <a:lnTo>
                    <a:pt x="3918711" y="3884677"/>
                  </a:lnTo>
                  <a:lnTo>
                    <a:pt x="0" y="3884677"/>
                  </a:lnTo>
                  <a:lnTo>
                    <a:pt x="0" y="0"/>
                  </a:lnTo>
                  <a:close/>
                </a:path>
              </a:pathLst>
            </a:custGeom>
            <a:noFill/>
            <a:ln>
              <a:solidFill>
                <a:srgbClr val="6696B6">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0" name="任意多边形: 形状 19"/>
            <p:cNvSpPr/>
            <p:nvPr/>
          </p:nvSpPr>
          <p:spPr>
            <a:xfrm>
              <a:off x="1703876" y="-2"/>
              <a:ext cx="8784250" cy="6858002"/>
            </a:xfrm>
            <a:custGeom>
              <a:avLst/>
              <a:gdLst>
                <a:gd name="connsiteX0" fmla="*/ 3325627 w 8784250"/>
                <a:gd name="connsiteY0" fmla="*/ 0 h 6858002"/>
                <a:gd name="connsiteX1" fmla="*/ 5488675 w 8784250"/>
                <a:gd name="connsiteY1" fmla="*/ 0 h 6858002"/>
                <a:gd name="connsiteX2" fmla="*/ 8618482 w 8784250"/>
                <a:gd name="connsiteY2" fmla="*/ 3168164 h 6858002"/>
                <a:gd name="connsiteX3" fmla="*/ 8613534 w 8784250"/>
                <a:gd name="connsiteY3" fmla="*/ 3980458 h 6858002"/>
                <a:gd name="connsiteX4" fmla="*/ 5700725 w 8784250"/>
                <a:gd name="connsiteY4" fmla="*/ 6858002 h 6858002"/>
                <a:gd name="connsiteX5" fmla="*/ 3059304 w 8784250"/>
                <a:gd name="connsiteY5" fmla="*/ 6858002 h 6858002"/>
                <a:gd name="connsiteX6" fmla="*/ 165769 w 8784250"/>
                <a:gd name="connsiteY6" fmla="*/ 3929008 h 6858002"/>
                <a:gd name="connsiteX7" fmla="*/ 170717 w 8784250"/>
                <a:gd name="connsiteY7" fmla="*/ 3116714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84250" h="6858002">
                  <a:moveTo>
                    <a:pt x="3325627" y="0"/>
                  </a:moveTo>
                  <a:lnTo>
                    <a:pt x="5488675" y="0"/>
                  </a:lnTo>
                  <a:lnTo>
                    <a:pt x="8618482" y="3168164"/>
                  </a:lnTo>
                  <a:cubicBezTo>
                    <a:pt x="8841425" y="3393839"/>
                    <a:pt x="8839209" y="3757515"/>
                    <a:pt x="8613534" y="3980458"/>
                  </a:cubicBezTo>
                  <a:lnTo>
                    <a:pt x="5700725" y="6858002"/>
                  </a:lnTo>
                  <a:lnTo>
                    <a:pt x="3059304" y="6858002"/>
                  </a:lnTo>
                  <a:lnTo>
                    <a:pt x="165769" y="3929008"/>
                  </a:lnTo>
                  <a:cubicBezTo>
                    <a:pt x="-57174" y="3703333"/>
                    <a:pt x="-54957" y="3339657"/>
                    <a:pt x="170717" y="3116714"/>
                  </a:cubicBezTo>
                  <a:close/>
                </a:path>
              </a:pathLst>
            </a:custGeom>
            <a:solidFill>
              <a:srgbClr val="6696B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7" name="任意多边形: 形状 6"/>
            <p:cNvSpPr/>
            <p:nvPr/>
          </p:nvSpPr>
          <p:spPr>
            <a:xfrm>
              <a:off x="7888406" y="4142179"/>
              <a:ext cx="4296918" cy="2715822"/>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9" name="任意多边形: 形状 8"/>
            <p:cNvSpPr/>
            <p:nvPr/>
          </p:nvSpPr>
          <p:spPr>
            <a:xfrm flipH="1">
              <a:off x="0" y="-1"/>
              <a:ext cx="4592885" cy="2508015"/>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2" name="任意多边形: 形状 21"/>
            <p:cNvSpPr/>
            <p:nvPr/>
          </p:nvSpPr>
          <p:spPr>
            <a:xfrm>
              <a:off x="7671541" y="1"/>
              <a:ext cx="4542883" cy="3754877"/>
            </a:xfrm>
            <a:custGeom>
              <a:avLst/>
              <a:gdLst>
                <a:gd name="connsiteX0" fmla="*/ 0 w 4542883"/>
                <a:gd name="connsiteY0" fmla="*/ 0 h 3754877"/>
                <a:gd name="connsiteX1" fmla="*/ 4542883 w 4542883"/>
                <a:gd name="connsiteY1" fmla="*/ 0 h 3754877"/>
                <a:gd name="connsiteX2" fmla="*/ 4542883 w 4542883"/>
                <a:gd name="connsiteY2" fmla="*/ 3505533 h 3754877"/>
                <a:gd name="connsiteX3" fmla="*/ 4495391 w 4542883"/>
                <a:gd name="connsiteY3" fmla="*/ 3552450 h 3754877"/>
                <a:gd name="connsiteX4" fmla="*/ 3503471 w 4542883"/>
                <a:gd name="connsiteY4" fmla="*/ 3546408 h 3754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883" h="3754877">
                  <a:moveTo>
                    <a:pt x="0" y="0"/>
                  </a:moveTo>
                  <a:lnTo>
                    <a:pt x="4542883" y="0"/>
                  </a:lnTo>
                  <a:lnTo>
                    <a:pt x="4542883" y="3505533"/>
                  </a:lnTo>
                  <a:lnTo>
                    <a:pt x="4495391" y="3552450"/>
                  </a:lnTo>
                  <a:cubicBezTo>
                    <a:pt x="4219813" y="3824694"/>
                    <a:pt x="3775715" y="3821991"/>
                    <a:pt x="3503471" y="3546408"/>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4" name="菱形"/>
          <p:cNvSpPr/>
          <p:nvPr/>
        </p:nvSpPr>
        <p:spPr bwMode="auto">
          <a:xfrm>
            <a:off x="5300759" y="1727190"/>
            <a:ext cx="1590482" cy="1590482"/>
          </a:xfrm>
          <a:custGeom>
            <a:avLst/>
            <a:gdLst>
              <a:gd name="T0" fmla="*/ 7569 w 16599"/>
              <a:gd name="T1" fmla="*/ 403 h 16599"/>
              <a:gd name="T2" fmla="*/ 9030 w 16599"/>
              <a:gd name="T3" fmla="*/ 403 h 16599"/>
              <a:gd name="T4" fmla="*/ 16195 w 16599"/>
              <a:gd name="T5" fmla="*/ 7569 h 16599"/>
              <a:gd name="T6" fmla="*/ 16195 w 16599"/>
              <a:gd name="T7" fmla="*/ 9030 h 16599"/>
              <a:gd name="T8" fmla="*/ 9030 w 16599"/>
              <a:gd name="T9" fmla="*/ 16195 h 16599"/>
              <a:gd name="T10" fmla="*/ 7569 w 16599"/>
              <a:gd name="T11" fmla="*/ 16195 h 16599"/>
              <a:gd name="T12" fmla="*/ 403 w 16599"/>
              <a:gd name="T13" fmla="*/ 9030 h 16599"/>
              <a:gd name="T14" fmla="*/ 403 w 16599"/>
              <a:gd name="T15" fmla="*/ 7569 h 16599"/>
              <a:gd name="T16" fmla="*/ 7569 w 16599"/>
              <a:gd name="T17" fmla="*/ 403 h 16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99" h="16599">
                <a:moveTo>
                  <a:pt x="7569" y="403"/>
                </a:moveTo>
                <a:cubicBezTo>
                  <a:pt x="7972" y="0"/>
                  <a:pt x="8627" y="0"/>
                  <a:pt x="9030" y="403"/>
                </a:cubicBezTo>
                <a:lnTo>
                  <a:pt x="16195" y="7569"/>
                </a:lnTo>
                <a:cubicBezTo>
                  <a:pt x="16599" y="7972"/>
                  <a:pt x="16599" y="8627"/>
                  <a:pt x="16195" y="9030"/>
                </a:cubicBezTo>
                <a:lnTo>
                  <a:pt x="9030" y="16195"/>
                </a:lnTo>
                <a:cubicBezTo>
                  <a:pt x="8627" y="16599"/>
                  <a:pt x="7972" y="16599"/>
                  <a:pt x="7569" y="16195"/>
                </a:cubicBezTo>
                <a:lnTo>
                  <a:pt x="403" y="9030"/>
                </a:lnTo>
                <a:cubicBezTo>
                  <a:pt x="0" y="8627"/>
                  <a:pt x="0" y="7972"/>
                  <a:pt x="403" y="7569"/>
                </a:cubicBezTo>
                <a:lnTo>
                  <a:pt x="7569" y="403"/>
                </a:lnTo>
                <a:close/>
              </a:path>
            </a:pathLst>
          </a:custGeom>
          <a:solidFill>
            <a:srgbClr val="6696B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5400" dirty="0">
                <a:solidFill>
                  <a:prstClr val="white"/>
                </a:solidFill>
                <a:latin typeface="汉仪君黑-45简" panose="020B0604020202020204" charset="-122"/>
                <a:ea typeface="汉仪君黑-45简" panose="020B0604020202020204" charset="-122"/>
                <a:cs typeface="+mn-ea"/>
                <a:sym typeface="+mn-lt"/>
              </a:rPr>
              <a:t>03</a:t>
            </a:r>
            <a:endParaRPr lang="en-US" altLang="zh-CN" sz="5400" dirty="0">
              <a:solidFill>
                <a:prstClr val="white"/>
              </a:solidFill>
              <a:latin typeface="汉仪君黑-45简" panose="020B0604020202020204" charset="-122"/>
              <a:ea typeface="汉仪君黑-45简" panose="020B0604020202020204" charset="-122"/>
              <a:cs typeface="+mn-ea"/>
              <a:sym typeface="+mn-lt"/>
            </a:endParaRPr>
          </a:p>
        </p:txBody>
      </p:sp>
      <p:sp>
        <p:nvSpPr>
          <p:cNvPr id="35" name="文本框 24"/>
          <p:cNvSpPr txBox="1"/>
          <p:nvPr/>
        </p:nvSpPr>
        <p:spPr>
          <a:xfrm>
            <a:off x="3419116" y="3537092"/>
            <a:ext cx="5353769" cy="829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800" dirty="0">
                <a:solidFill>
                  <a:schemeClr val="tx1">
                    <a:lumMod val="75000"/>
                    <a:lumOff val="25000"/>
                  </a:schemeClr>
                </a:solidFill>
                <a:latin typeface="汉仪君黑-45简" panose="020B0604020202020204" charset="-122"/>
                <a:ea typeface="汉仪君黑-45简" panose="020B0604020202020204" charset="-122"/>
                <a:cs typeface="+mn-ea"/>
                <a:sym typeface="+mn-lt"/>
              </a:rPr>
              <a:t>该领域</a:t>
            </a:r>
            <a:r>
              <a:rPr lang="en-US" altLang="zh-CN" sz="4800" dirty="0">
                <a:solidFill>
                  <a:schemeClr val="tx1">
                    <a:lumMod val="75000"/>
                    <a:lumOff val="25000"/>
                  </a:schemeClr>
                </a:solidFill>
                <a:latin typeface="汉仪君黑-45简" panose="020B0604020202020204" charset="-122"/>
                <a:ea typeface="汉仪君黑-45简" panose="020B0604020202020204" charset="-122"/>
                <a:cs typeface="+mn-ea"/>
                <a:sym typeface="+mn-lt"/>
              </a:rPr>
              <a:t>SOTA</a:t>
            </a:r>
            <a:r>
              <a:rPr lang="zh-CN" altLang="en-US" sz="4800" dirty="0">
                <a:solidFill>
                  <a:schemeClr val="tx1">
                    <a:lumMod val="75000"/>
                    <a:lumOff val="25000"/>
                  </a:schemeClr>
                </a:solidFill>
                <a:latin typeface="汉仪君黑-45简" panose="020B0604020202020204" charset="-122"/>
                <a:ea typeface="汉仪君黑-45简" panose="020B0604020202020204" charset="-122"/>
                <a:cs typeface="+mn-ea"/>
                <a:sym typeface="+mn-lt"/>
              </a:rPr>
              <a:t>选择</a:t>
            </a:r>
            <a:endParaRPr lang="zh-CN" altLang="en-US" sz="4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36" name="矩形 35"/>
          <p:cNvSpPr/>
          <p:nvPr/>
        </p:nvSpPr>
        <p:spPr>
          <a:xfrm>
            <a:off x="2977324" y="4341684"/>
            <a:ext cx="6237352" cy="4603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endParaRPr lang="en-US" altLang="zh-CN" sz="16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36"/>
          <p:cNvCxnSpPr/>
          <p:nvPr>
            <p:custDataLst>
              <p:tags r:id="rId1"/>
            </p:custDataLst>
          </p:nvPr>
        </p:nvCxnSpPr>
        <p:spPr>
          <a:xfrm flipH="1">
            <a:off x="4174431" y="2186671"/>
            <a:ext cx="5080" cy="3624580"/>
          </a:xfrm>
          <a:prstGeom prst="line">
            <a:avLst/>
          </a:prstGeom>
          <a:ln>
            <a:solidFill>
              <a:srgbClr val="6696B6"/>
            </a:solidFill>
          </a:ln>
        </p:spPr>
        <p:style>
          <a:lnRef idx="1">
            <a:schemeClr val="accent1"/>
          </a:lnRef>
          <a:fillRef idx="0">
            <a:schemeClr val="accent1"/>
          </a:fillRef>
          <a:effectRef idx="0">
            <a:schemeClr val="accent1"/>
          </a:effectRef>
          <a:fontRef idx="minor">
            <a:schemeClr val="tx1"/>
          </a:fontRef>
        </p:style>
      </p:cxnSp>
      <p:sp>
        <p:nvSpPr>
          <p:cNvPr id="11" name="Freeform 5"/>
          <p:cNvSpPr>
            <a:spLocks noEditPoints="1"/>
          </p:cNvSpPr>
          <p:nvPr>
            <p:custDataLst>
              <p:tags r:id="rId2"/>
            </p:custDataLst>
          </p:nvPr>
        </p:nvSpPr>
        <p:spPr bwMode="auto">
          <a:xfrm>
            <a:off x="9626043" y="2005016"/>
            <a:ext cx="720725" cy="720725"/>
          </a:xfrm>
          <a:custGeom>
            <a:avLst/>
            <a:gdLst>
              <a:gd name="T0" fmla="*/ 795 w 1116"/>
              <a:gd name="T1" fmla="*/ 774 h 1117"/>
              <a:gd name="T2" fmla="*/ 1039 w 1116"/>
              <a:gd name="T3" fmla="*/ 623 h 1117"/>
              <a:gd name="T4" fmla="*/ 970 w 1116"/>
              <a:gd name="T5" fmla="*/ 816 h 1117"/>
              <a:gd name="T6" fmla="*/ 291 w 1116"/>
              <a:gd name="T7" fmla="*/ 610 h 1117"/>
              <a:gd name="T8" fmla="*/ 309 w 1116"/>
              <a:gd name="T9" fmla="*/ 848 h 1117"/>
              <a:gd name="T10" fmla="*/ 146 w 1116"/>
              <a:gd name="T11" fmla="*/ 816 h 1117"/>
              <a:gd name="T12" fmla="*/ 77 w 1116"/>
              <a:gd name="T13" fmla="*/ 623 h 1117"/>
              <a:gd name="T14" fmla="*/ 277 w 1116"/>
              <a:gd name="T15" fmla="*/ 290 h 1117"/>
              <a:gd name="T16" fmla="*/ 293 w 1116"/>
              <a:gd name="T17" fmla="*/ 482 h 1117"/>
              <a:gd name="T18" fmla="*/ 94 w 1116"/>
              <a:gd name="T19" fmla="*/ 415 h 1117"/>
              <a:gd name="T20" fmla="*/ 182 w 1116"/>
              <a:gd name="T21" fmla="*/ 252 h 1117"/>
              <a:gd name="T22" fmla="*/ 710 w 1116"/>
              <a:gd name="T23" fmla="*/ 340 h 1117"/>
              <a:gd name="T24" fmla="*/ 790 w 1116"/>
              <a:gd name="T25" fmla="*/ 512 h 1117"/>
              <a:gd name="T26" fmla="*/ 618 w 1116"/>
              <a:gd name="T27" fmla="*/ 796 h 1117"/>
              <a:gd name="T28" fmla="*/ 769 w 1116"/>
              <a:gd name="T29" fmla="*/ 735 h 1117"/>
              <a:gd name="T30" fmla="*/ 861 w 1116"/>
              <a:gd name="T31" fmla="*/ 938 h 1117"/>
              <a:gd name="T32" fmla="*/ 734 w 1116"/>
              <a:gd name="T33" fmla="*/ 1011 h 1117"/>
              <a:gd name="T34" fmla="*/ 689 w 1116"/>
              <a:gd name="T35" fmla="*/ 980 h 1117"/>
              <a:gd name="T36" fmla="*/ 615 w 1116"/>
              <a:gd name="T37" fmla="*/ 832 h 1117"/>
              <a:gd name="T38" fmla="*/ 678 w 1116"/>
              <a:gd name="T39" fmla="*/ 933 h 1117"/>
              <a:gd name="T40" fmla="*/ 445 w 1116"/>
              <a:gd name="T41" fmla="*/ 1031 h 1117"/>
              <a:gd name="T42" fmla="*/ 308 w 1116"/>
              <a:gd name="T43" fmla="*/ 976 h 1117"/>
              <a:gd name="T44" fmla="*/ 358 w 1116"/>
              <a:gd name="T45" fmla="*/ 866 h 1117"/>
              <a:gd name="T46" fmla="*/ 540 w 1116"/>
              <a:gd name="T47" fmla="*/ 577 h 1117"/>
              <a:gd name="T48" fmla="*/ 376 w 1116"/>
              <a:gd name="T49" fmla="*/ 821 h 1117"/>
              <a:gd name="T50" fmla="*/ 540 w 1116"/>
              <a:gd name="T51" fmla="*/ 577 h 1117"/>
              <a:gd name="T52" fmla="*/ 540 w 1116"/>
              <a:gd name="T53" fmla="*/ 360 h 1117"/>
              <a:gd name="T54" fmla="*/ 356 w 1116"/>
              <a:gd name="T55" fmla="*/ 352 h 1117"/>
              <a:gd name="T56" fmla="*/ 249 w 1116"/>
              <a:gd name="T57" fmla="*/ 230 h 1117"/>
              <a:gd name="T58" fmla="*/ 322 w 1116"/>
              <a:gd name="T59" fmla="*/ 134 h 1117"/>
              <a:gd name="T60" fmla="*/ 478 w 1116"/>
              <a:gd name="T61" fmla="*/ 80 h 1117"/>
              <a:gd name="T62" fmla="*/ 540 w 1116"/>
              <a:gd name="T63" fmla="*/ 74 h 1117"/>
              <a:gd name="T64" fmla="*/ 377 w 1116"/>
              <a:gd name="T65" fmla="*/ 294 h 1117"/>
              <a:gd name="T66" fmla="*/ 539 w 1116"/>
              <a:gd name="T67" fmla="*/ 74 h 1117"/>
              <a:gd name="T68" fmla="*/ 744 w 1116"/>
              <a:gd name="T69" fmla="*/ 110 h 1117"/>
              <a:gd name="T70" fmla="*/ 883 w 1116"/>
              <a:gd name="T71" fmla="*/ 198 h 1117"/>
              <a:gd name="T72" fmla="*/ 773 w 1116"/>
              <a:gd name="T73" fmla="*/ 282 h 1117"/>
              <a:gd name="T74" fmla="*/ 578 w 1116"/>
              <a:gd name="T75" fmla="*/ 74 h 1117"/>
              <a:gd name="T76" fmla="*/ 720 w 1116"/>
              <a:gd name="T77" fmla="*/ 301 h 1117"/>
              <a:gd name="T78" fmla="*/ 577 w 1116"/>
              <a:gd name="T79" fmla="*/ 74 h 1117"/>
              <a:gd name="T80" fmla="*/ 422 w 1116"/>
              <a:gd name="T81" fmla="*/ 909 h 1117"/>
              <a:gd name="T82" fmla="*/ 521 w 1116"/>
              <a:gd name="T83" fmla="*/ 831 h 1117"/>
              <a:gd name="T84" fmla="*/ 816 w 1116"/>
              <a:gd name="T85" fmla="*/ 424 h 1117"/>
              <a:gd name="T86" fmla="*/ 873 w 1116"/>
              <a:gd name="T87" fmla="*/ 269 h 1117"/>
              <a:gd name="T88" fmla="*/ 990 w 1116"/>
              <a:gd name="T89" fmla="*/ 337 h 1117"/>
              <a:gd name="T90" fmla="*/ 1041 w 1116"/>
              <a:gd name="T91" fmla="*/ 519 h 1117"/>
              <a:gd name="T92" fmla="*/ 392 w 1116"/>
              <a:gd name="T93" fmla="*/ 26 h 1117"/>
              <a:gd name="T94" fmla="*/ 183 w 1116"/>
              <a:gd name="T95" fmla="*/ 146 h 1117"/>
              <a:gd name="T96" fmla="*/ 44 w 1116"/>
              <a:gd name="T97" fmla="*/ 342 h 1117"/>
              <a:gd name="T98" fmla="*/ 0 w 1116"/>
              <a:gd name="T99" fmla="*/ 588 h 1117"/>
              <a:gd name="T100" fmla="*/ 67 w 1116"/>
              <a:gd name="T101" fmla="*/ 824 h 1117"/>
              <a:gd name="T102" fmla="*/ 224 w 1116"/>
              <a:gd name="T103" fmla="*/ 1006 h 1117"/>
              <a:gd name="T104" fmla="*/ 445 w 1116"/>
              <a:gd name="T105" fmla="*/ 1105 h 1117"/>
              <a:gd name="T106" fmla="*/ 697 w 1116"/>
              <a:gd name="T107" fmla="*/ 1099 h 1117"/>
              <a:gd name="T108" fmla="*/ 913 w 1116"/>
              <a:gd name="T109" fmla="*/ 990 h 1117"/>
              <a:gd name="T110" fmla="*/ 1061 w 1116"/>
              <a:gd name="T111" fmla="*/ 801 h 1117"/>
              <a:gd name="T112" fmla="*/ 1116 w 1116"/>
              <a:gd name="T113" fmla="*/ 559 h 1117"/>
              <a:gd name="T114" fmla="*/ 1061 w 1116"/>
              <a:gd name="T115" fmla="*/ 317 h 1117"/>
              <a:gd name="T116" fmla="*/ 913 w 1116"/>
              <a:gd name="T117" fmla="*/ 128 h 1117"/>
              <a:gd name="T118" fmla="*/ 697 w 1116"/>
              <a:gd name="T119" fmla="*/ 19 h 1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6" h="1117">
                <a:moveTo>
                  <a:pt x="900" y="903"/>
                </a:moveTo>
                <a:lnTo>
                  <a:pt x="871" y="883"/>
                </a:lnTo>
                <a:lnTo>
                  <a:pt x="840" y="864"/>
                </a:lnTo>
                <a:lnTo>
                  <a:pt x="823" y="856"/>
                </a:lnTo>
                <a:lnTo>
                  <a:pt x="807" y="848"/>
                </a:lnTo>
                <a:lnTo>
                  <a:pt x="790" y="841"/>
                </a:lnTo>
                <a:lnTo>
                  <a:pt x="774" y="834"/>
                </a:lnTo>
                <a:lnTo>
                  <a:pt x="784" y="804"/>
                </a:lnTo>
                <a:lnTo>
                  <a:pt x="795" y="774"/>
                </a:lnTo>
                <a:lnTo>
                  <a:pt x="804" y="742"/>
                </a:lnTo>
                <a:lnTo>
                  <a:pt x="811" y="710"/>
                </a:lnTo>
                <a:lnTo>
                  <a:pt x="818" y="677"/>
                </a:lnTo>
                <a:lnTo>
                  <a:pt x="822" y="645"/>
                </a:lnTo>
                <a:lnTo>
                  <a:pt x="825" y="610"/>
                </a:lnTo>
                <a:lnTo>
                  <a:pt x="828" y="577"/>
                </a:lnTo>
                <a:lnTo>
                  <a:pt x="1043" y="577"/>
                </a:lnTo>
                <a:lnTo>
                  <a:pt x="1041" y="601"/>
                </a:lnTo>
                <a:lnTo>
                  <a:pt x="1039" y="623"/>
                </a:lnTo>
                <a:lnTo>
                  <a:pt x="1035" y="647"/>
                </a:lnTo>
                <a:lnTo>
                  <a:pt x="1031" y="670"/>
                </a:lnTo>
                <a:lnTo>
                  <a:pt x="1025" y="691"/>
                </a:lnTo>
                <a:lnTo>
                  <a:pt x="1018" y="714"/>
                </a:lnTo>
                <a:lnTo>
                  <a:pt x="1010" y="735"/>
                </a:lnTo>
                <a:lnTo>
                  <a:pt x="1002" y="756"/>
                </a:lnTo>
                <a:lnTo>
                  <a:pt x="992" y="777"/>
                </a:lnTo>
                <a:lnTo>
                  <a:pt x="981" y="796"/>
                </a:lnTo>
                <a:lnTo>
                  <a:pt x="970" y="816"/>
                </a:lnTo>
                <a:lnTo>
                  <a:pt x="957" y="834"/>
                </a:lnTo>
                <a:lnTo>
                  <a:pt x="944" y="852"/>
                </a:lnTo>
                <a:lnTo>
                  <a:pt x="930" y="870"/>
                </a:lnTo>
                <a:lnTo>
                  <a:pt x="916" y="887"/>
                </a:lnTo>
                <a:lnTo>
                  <a:pt x="900" y="903"/>
                </a:lnTo>
                <a:lnTo>
                  <a:pt x="900" y="903"/>
                </a:lnTo>
                <a:close/>
                <a:moveTo>
                  <a:pt x="73" y="577"/>
                </a:moveTo>
                <a:lnTo>
                  <a:pt x="289" y="577"/>
                </a:lnTo>
                <a:lnTo>
                  <a:pt x="291" y="610"/>
                </a:lnTo>
                <a:lnTo>
                  <a:pt x="294" y="645"/>
                </a:lnTo>
                <a:lnTo>
                  <a:pt x="298" y="677"/>
                </a:lnTo>
                <a:lnTo>
                  <a:pt x="305" y="710"/>
                </a:lnTo>
                <a:lnTo>
                  <a:pt x="312" y="742"/>
                </a:lnTo>
                <a:lnTo>
                  <a:pt x="321" y="774"/>
                </a:lnTo>
                <a:lnTo>
                  <a:pt x="331" y="804"/>
                </a:lnTo>
                <a:lnTo>
                  <a:pt x="343" y="834"/>
                </a:lnTo>
                <a:lnTo>
                  <a:pt x="325" y="841"/>
                </a:lnTo>
                <a:lnTo>
                  <a:pt x="309" y="848"/>
                </a:lnTo>
                <a:lnTo>
                  <a:pt x="293" y="856"/>
                </a:lnTo>
                <a:lnTo>
                  <a:pt x="277" y="864"/>
                </a:lnTo>
                <a:lnTo>
                  <a:pt x="245" y="883"/>
                </a:lnTo>
                <a:lnTo>
                  <a:pt x="215" y="903"/>
                </a:lnTo>
                <a:lnTo>
                  <a:pt x="200" y="887"/>
                </a:lnTo>
                <a:lnTo>
                  <a:pt x="185" y="870"/>
                </a:lnTo>
                <a:lnTo>
                  <a:pt x="171" y="852"/>
                </a:lnTo>
                <a:lnTo>
                  <a:pt x="158" y="834"/>
                </a:lnTo>
                <a:lnTo>
                  <a:pt x="146" y="816"/>
                </a:lnTo>
                <a:lnTo>
                  <a:pt x="134" y="796"/>
                </a:lnTo>
                <a:lnTo>
                  <a:pt x="123" y="777"/>
                </a:lnTo>
                <a:lnTo>
                  <a:pt x="114" y="756"/>
                </a:lnTo>
                <a:lnTo>
                  <a:pt x="105" y="735"/>
                </a:lnTo>
                <a:lnTo>
                  <a:pt x="98" y="714"/>
                </a:lnTo>
                <a:lnTo>
                  <a:pt x="91" y="691"/>
                </a:lnTo>
                <a:lnTo>
                  <a:pt x="86" y="670"/>
                </a:lnTo>
                <a:lnTo>
                  <a:pt x="80" y="647"/>
                </a:lnTo>
                <a:lnTo>
                  <a:pt x="77" y="623"/>
                </a:lnTo>
                <a:lnTo>
                  <a:pt x="75" y="601"/>
                </a:lnTo>
                <a:lnTo>
                  <a:pt x="73" y="577"/>
                </a:lnTo>
                <a:lnTo>
                  <a:pt x="73" y="577"/>
                </a:lnTo>
                <a:close/>
                <a:moveTo>
                  <a:pt x="196" y="236"/>
                </a:moveTo>
                <a:lnTo>
                  <a:pt x="211" y="248"/>
                </a:lnTo>
                <a:lnTo>
                  <a:pt x="227" y="258"/>
                </a:lnTo>
                <a:lnTo>
                  <a:pt x="243" y="269"/>
                </a:lnTo>
                <a:lnTo>
                  <a:pt x="260" y="280"/>
                </a:lnTo>
                <a:lnTo>
                  <a:pt x="277" y="290"/>
                </a:lnTo>
                <a:lnTo>
                  <a:pt x="294" y="298"/>
                </a:lnTo>
                <a:lnTo>
                  <a:pt x="312" y="307"/>
                </a:lnTo>
                <a:lnTo>
                  <a:pt x="330" y="315"/>
                </a:lnTo>
                <a:lnTo>
                  <a:pt x="321" y="342"/>
                </a:lnTo>
                <a:lnTo>
                  <a:pt x="314" y="369"/>
                </a:lnTo>
                <a:lnTo>
                  <a:pt x="306" y="396"/>
                </a:lnTo>
                <a:lnTo>
                  <a:pt x="301" y="424"/>
                </a:lnTo>
                <a:lnTo>
                  <a:pt x="296" y="453"/>
                </a:lnTo>
                <a:lnTo>
                  <a:pt x="293" y="482"/>
                </a:lnTo>
                <a:lnTo>
                  <a:pt x="290" y="511"/>
                </a:lnTo>
                <a:lnTo>
                  <a:pt x="289" y="540"/>
                </a:lnTo>
                <a:lnTo>
                  <a:pt x="73" y="540"/>
                </a:lnTo>
                <a:lnTo>
                  <a:pt x="74" y="519"/>
                </a:lnTo>
                <a:lnTo>
                  <a:pt x="76" y="497"/>
                </a:lnTo>
                <a:lnTo>
                  <a:pt x="79" y="477"/>
                </a:lnTo>
                <a:lnTo>
                  <a:pt x="83" y="455"/>
                </a:lnTo>
                <a:lnTo>
                  <a:pt x="89" y="434"/>
                </a:lnTo>
                <a:lnTo>
                  <a:pt x="94" y="415"/>
                </a:lnTo>
                <a:lnTo>
                  <a:pt x="101" y="394"/>
                </a:lnTo>
                <a:lnTo>
                  <a:pt x="108" y="375"/>
                </a:lnTo>
                <a:lnTo>
                  <a:pt x="117" y="356"/>
                </a:lnTo>
                <a:lnTo>
                  <a:pt x="126" y="337"/>
                </a:lnTo>
                <a:lnTo>
                  <a:pt x="135" y="319"/>
                </a:lnTo>
                <a:lnTo>
                  <a:pt x="146" y="302"/>
                </a:lnTo>
                <a:lnTo>
                  <a:pt x="158" y="284"/>
                </a:lnTo>
                <a:lnTo>
                  <a:pt x="170" y="268"/>
                </a:lnTo>
                <a:lnTo>
                  <a:pt x="182" y="252"/>
                </a:lnTo>
                <a:lnTo>
                  <a:pt x="196" y="236"/>
                </a:lnTo>
                <a:close/>
                <a:moveTo>
                  <a:pt x="576" y="540"/>
                </a:moveTo>
                <a:lnTo>
                  <a:pt x="576" y="360"/>
                </a:lnTo>
                <a:lnTo>
                  <a:pt x="599" y="359"/>
                </a:lnTo>
                <a:lnTo>
                  <a:pt x="621" y="357"/>
                </a:lnTo>
                <a:lnTo>
                  <a:pt x="644" y="353"/>
                </a:lnTo>
                <a:lnTo>
                  <a:pt x="667" y="350"/>
                </a:lnTo>
                <a:lnTo>
                  <a:pt x="688" y="346"/>
                </a:lnTo>
                <a:lnTo>
                  <a:pt x="710" y="340"/>
                </a:lnTo>
                <a:lnTo>
                  <a:pt x="732" y="334"/>
                </a:lnTo>
                <a:lnTo>
                  <a:pt x="752" y="328"/>
                </a:lnTo>
                <a:lnTo>
                  <a:pt x="761" y="352"/>
                </a:lnTo>
                <a:lnTo>
                  <a:pt x="768" y="378"/>
                </a:lnTo>
                <a:lnTo>
                  <a:pt x="775" y="404"/>
                </a:lnTo>
                <a:lnTo>
                  <a:pt x="780" y="430"/>
                </a:lnTo>
                <a:lnTo>
                  <a:pt x="784" y="457"/>
                </a:lnTo>
                <a:lnTo>
                  <a:pt x="788" y="485"/>
                </a:lnTo>
                <a:lnTo>
                  <a:pt x="790" y="512"/>
                </a:lnTo>
                <a:lnTo>
                  <a:pt x="791" y="540"/>
                </a:lnTo>
                <a:lnTo>
                  <a:pt x="576" y="540"/>
                </a:lnTo>
                <a:close/>
                <a:moveTo>
                  <a:pt x="739" y="821"/>
                </a:moveTo>
                <a:lnTo>
                  <a:pt x="720" y="816"/>
                </a:lnTo>
                <a:lnTo>
                  <a:pt x="700" y="810"/>
                </a:lnTo>
                <a:lnTo>
                  <a:pt x="680" y="806"/>
                </a:lnTo>
                <a:lnTo>
                  <a:pt x="659" y="802"/>
                </a:lnTo>
                <a:lnTo>
                  <a:pt x="639" y="798"/>
                </a:lnTo>
                <a:lnTo>
                  <a:pt x="618" y="796"/>
                </a:lnTo>
                <a:lnTo>
                  <a:pt x="598" y="794"/>
                </a:lnTo>
                <a:lnTo>
                  <a:pt x="576" y="794"/>
                </a:lnTo>
                <a:lnTo>
                  <a:pt x="576" y="577"/>
                </a:lnTo>
                <a:lnTo>
                  <a:pt x="791" y="577"/>
                </a:lnTo>
                <a:lnTo>
                  <a:pt x="790" y="609"/>
                </a:lnTo>
                <a:lnTo>
                  <a:pt x="787" y="642"/>
                </a:lnTo>
                <a:lnTo>
                  <a:pt x="782" y="673"/>
                </a:lnTo>
                <a:lnTo>
                  <a:pt x="776" y="704"/>
                </a:lnTo>
                <a:lnTo>
                  <a:pt x="769" y="735"/>
                </a:lnTo>
                <a:lnTo>
                  <a:pt x="761" y="764"/>
                </a:lnTo>
                <a:lnTo>
                  <a:pt x="751" y="793"/>
                </a:lnTo>
                <a:lnTo>
                  <a:pt x="739" y="821"/>
                </a:lnTo>
                <a:close/>
                <a:moveTo>
                  <a:pt x="759" y="866"/>
                </a:moveTo>
                <a:lnTo>
                  <a:pt x="789" y="879"/>
                </a:lnTo>
                <a:lnTo>
                  <a:pt x="818" y="893"/>
                </a:lnTo>
                <a:lnTo>
                  <a:pt x="846" y="910"/>
                </a:lnTo>
                <a:lnTo>
                  <a:pt x="873" y="928"/>
                </a:lnTo>
                <a:lnTo>
                  <a:pt x="861" y="938"/>
                </a:lnTo>
                <a:lnTo>
                  <a:pt x="848" y="947"/>
                </a:lnTo>
                <a:lnTo>
                  <a:pt x="835" y="957"/>
                </a:lnTo>
                <a:lnTo>
                  <a:pt x="821" y="967"/>
                </a:lnTo>
                <a:lnTo>
                  <a:pt x="807" y="976"/>
                </a:lnTo>
                <a:lnTo>
                  <a:pt x="793" y="983"/>
                </a:lnTo>
                <a:lnTo>
                  <a:pt x="779" y="991"/>
                </a:lnTo>
                <a:lnTo>
                  <a:pt x="764" y="998"/>
                </a:lnTo>
                <a:lnTo>
                  <a:pt x="750" y="1005"/>
                </a:lnTo>
                <a:lnTo>
                  <a:pt x="734" y="1011"/>
                </a:lnTo>
                <a:lnTo>
                  <a:pt x="719" y="1017"/>
                </a:lnTo>
                <a:lnTo>
                  <a:pt x="703" y="1022"/>
                </a:lnTo>
                <a:lnTo>
                  <a:pt x="687" y="1026"/>
                </a:lnTo>
                <a:lnTo>
                  <a:pt x="671" y="1031"/>
                </a:lnTo>
                <a:lnTo>
                  <a:pt x="655" y="1035"/>
                </a:lnTo>
                <a:lnTo>
                  <a:pt x="638" y="1037"/>
                </a:lnTo>
                <a:lnTo>
                  <a:pt x="656" y="1019"/>
                </a:lnTo>
                <a:lnTo>
                  <a:pt x="673" y="999"/>
                </a:lnTo>
                <a:lnTo>
                  <a:pt x="689" y="980"/>
                </a:lnTo>
                <a:lnTo>
                  <a:pt x="705" y="958"/>
                </a:lnTo>
                <a:lnTo>
                  <a:pt x="720" y="937"/>
                </a:lnTo>
                <a:lnTo>
                  <a:pt x="734" y="914"/>
                </a:lnTo>
                <a:lnTo>
                  <a:pt x="747" y="890"/>
                </a:lnTo>
                <a:lnTo>
                  <a:pt x="759" y="866"/>
                </a:lnTo>
                <a:close/>
                <a:moveTo>
                  <a:pt x="576" y="1044"/>
                </a:moveTo>
                <a:lnTo>
                  <a:pt x="576" y="830"/>
                </a:lnTo>
                <a:lnTo>
                  <a:pt x="595" y="831"/>
                </a:lnTo>
                <a:lnTo>
                  <a:pt x="615" y="832"/>
                </a:lnTo>
                <a:lnTo>
                  <a:pt x="633" y="834"/>
                </a:lnTo>
                <a:lnTo>
                  <a:pt x="652" y="837"/>
                </a:lnTo>
                <a:lnTo>
                  <a:pt x="671" y="841"/>
                </a:lnTo>
                <a:lnTo>
                  <a:pt x="688" y="844"/>
                </a:lnTo>
                <a:lnTo>
                  <a:pt x="707" y="849"/>
                </a:lnTo>
                <a:lnTo>
                  <a:pt x="725" y="855"/>
                </a:lnTo>
                <a:lnTo>
                  <a:pt x="710" y="882"/>
                </a:lnTo>
                <a:lnTo>
                  <a:pt x="695" y="909"/>
                </a:lnTo>
                <a:lnTo>
                  <a:pt x="678" y="933"/>
                </a:lnTo>
                <a:lnTo>
                  <a:pt x="660" y="958"/>
                </a:lnTo>
                <a:lnTo>
                  <a:pt x="641" y="982"/>
                </a:lnTo>
                <a:lnTo>
                  <a:pt x="621" y="1004"/>
                </a:lnTo>
                <a:lnTo>
                  <a:pt x="600" y="1024"/>
                </a:lnTo>
                <a:lnTo>
                  <a:pt x="578" y="1044"/>
                </a:lnTo>
                <a:lnTo>
                  <a:pt x="576" y="1044"/>
                </a:lnTo>
                <a:close/>
                <a:moveTo>
                  <a:pt x="478" y="1037"/>
                </a:moveTo>
                <a:lnTo>
                  <a:pt x="462" y="1035"/>
                </a:lnTo>
                <a:lnTo>
                  <a:pt x="445" y="1031"/>
                </a:lnTo>
                <a:lnTo>
                  <a:pt x="429" y="1026"/>
                </a:lnTo>
                <a:lnTo>
                  <a:pt x="413" y="1022"/>
                </a:lnTo>
                <a:lnTo>
                  <a:pt x="398" y="1017"/>
                </a:lnTo>
                <a:lnTo>
                  <a:pt x="382" y="1011"/>
                </a:lnTo>
                <a:lnTo>
                  <a:pt x="366" y="1005"/>
                </a:lnTo>
                <a:lnTo>
                  <a:pt x="351" y="998"/>
                </a:lnTo>
                <a:lnTo>
                  <a:pt x="337" y="991"/>
                </a:lnTo>
                <a:lnTo>
                  <a:pt x="322" y="983"/>
                </a:lnTo>
                <a:lnTo>
                  <a:pt x="308" y="976"/>
                </a:lnTo>
                <a:lnTo>
                  <a:pt x="294" y="967"/>
                </a:lnTo>
                <a:lnTo>
                  <a:pt x="281" y="957"/>
                </a:lnTo>
                <a:lnTo>
                  <a:pt x="268" y="947"/>
                </a:lnTo>
                <a:lnTo>
                  <a:pt x="255" y="938"/>
                </a:lnTo>
                <a:lnTo>
                  <a:pt x="242" y="928"/>
                </a:lnTo>
                <a:lnTo>
                  <a:pt x="269" y="910"/>
                </a:lnTo>
                <a:lnTo>
                  <a:pt x="298" y="893"/>
                </a:lnTo>
                <a:lnTo>
                  <a:pt x="328" y="879"/>
                </a:lnTo>
                <a:lnTo>
                  <a:pt x="358" y="866"/>
                </a:lnTo>
                <a:lnTo>
                  <a:pt x="370" y="890"/>
                </a:lnTo>
                <a:lnTo>
                  <a:pt x="383" y="914"/>
                </a:lnTo>
                <a:lnTo>
                  <a:pt x="397" y="937"/>
                </a:lnTo>
                <a:lnTo>
                  <a:pt x="412" y="958"/>
                </a:lnTo>
                <a:lnTo>
                  <a:pt x="427" y="980"/>
                </a:lnTo>
                <a:lnTo>
                  <a:pt x="443" y="999"/>
                </a:lnTo>
                <a:lnTo>
                  <a:pt x="460" y="1019"/>
                </a:lnTo>
                <a:lnTo>
                  <a:pt x="478" y="1037"/>
                </a:lnTo>
                <a:close/>
                <a:moveTo>
                  <a:pt x="540" y="577"/>
                </a:moveTo>
                <a:lnTo>
                  <a:pt x="540" y="794"/>
                </a:lnTo>
                <a:lnTo>
                  <a:pt x="519" y="794"/>
                </a:lnTo>
                <a:lnTo>
                  <a:pt x="498" y="796"/>
                </a:lnTo>
                <a:lnTo>
                  <a:pt x="477" y="798"/>
                </a:lnTo>
                <a:lnTo>
                  <a:pt x="456" y="802"/>
                </a:lnTo>
                <a:lnTo>
                  <a:pt x="436" y="806"/>
                </a:lnTo>
                <a:lnTo>
                  <a:pt x="416" y="810"/>
                </a:lnTo>
                <a:lnTo>
                  <a:pt x="396" y="816"/>
                </a:lnTo>
                <a:lnTo>
                  <a:pt x="376" y="821"/>
                </a:lnTo>
                <a:lnTo>
                  <a:pt x="365" y="793"/>
                </a:lnTo>
                <a:lnTo>
                  <a:pt x="356" y="764"/>
                </a:lnTo>
                <a:lnTo>
                  <a:pt x="347" y="735"/>
                </a:lnTo>
                <a:lnTo>
                  <a:pt x="339" y="704"/>
                </a:lnTo>
                <a:lnTo>
                  <a:pt x="334" y="673"/>
                </a:lnTo>
                <a:lnTo>
                  <a:pt x="330" y="642"/>
                </a:lnTo>
                <a:lnTo>
                  <a:pt x="326" y="609"/>
                </a:lnTo>
                <a:lnTo>
                  <a:pt x="324" y="577"/>
                </a:lnTo>
                <a:lnTo>
                  <a:pt x="540" y="577"/>
                </a:lnTo>
                <a:close/>
                <a:moveTo>
                  <a:pt x="364" y="328"/>
                </a:moveTo>
                <a:lnTo>
                  <a:pt x="385" y="334"/>
                </a:lnTo>
                <a:lnTo>
                  <a:pt x="406" y="340"/>
                </a:lnTo>
                <a:lnTo>
                  <a:pt x="428" y="346"/>
                </a:lnTo>
                <a:lnTo>
                  <a:pt x="450" y="350"/>
                </a:lnTo>
                <a:lnTo>
                  <a:pt x="472" y="353"/>
                </a:lnTo>
                <a:lnTo>
                  <a:pt x="494" y="357"/>
                </a:lnTo>
                <a:lnTo>
                  <a:pt x="517" y="359"/>
                </a:lnTo>
                <a:lnTo>
                  <a:pt x="540" y="360"/>
                </a:lnTo>
                <a:lnTo>
                  <a:pt x="540" y="540"/>
                </a:lnTo>
                <a:lnTo>
                  <a:pt x="324" y="540"/>
                </a:lnTo>
                <a:lnTo>
                  <a:pt x="326" y="512"/>
                </a:lnTo>
                <a:lnTo>
                  <a:pt x="329" y="485"/>
                </a:lnTo>
                <a:lnTo>
                  <a:pt x="332" y="457"/>
                </a:lnTo>
                <a:lnTo>
                  <a:pt x="336" y="430"/>
                </a:lnTo>
                <a:lnTo>
                  <a:pt x="342" y="404"/>
                </a:lnTo>
                <a:lnTo>
                  <a:pt x="348" y="378"/>
                </a:lnTo>
                <a:lnTo>
                  <a:pt x="356" y="352"/>
                </a:lnTo>
                <a:lnTo>
                  <a:pt x="364" y="328"/>
                </a:lnTo>
                <a:lnTo>
                  <a:pt x="364" y="328"/>
                </a:lnTo>
                <a:close/>
                <a:moveTo>
                  <a:pt x="344" y="282"/>
                </a:moveTo>
                <a:lnTo>
                  <a:pt x="328" y="275"/>
                </a:lnTo>
                <a:lnTo>
                  <a:pt x="311" y="267"/>
                </a:lnTo>
                <a:lnTo>
                  <a:pt x="295" y="258"/>
                </a:lnTo>
                <a:lnTo>
                  <a:pt x="279" y="250"/>
                </a:lnTo>
                <a:lnTo>
                  <a:pt x="264" y="240"/>
                </a:lnTo>
                <a:lnTo>
                  <a:pt x="249" y="230"/>
                </a:lnTo>
                <a:lnTo>
                  <a:pt x="235" y="221"/>
                </a:lnTo>
                <a:lnTo>
                  <a:pt x="221" y="210"/>
                </a:lnTo>
                <a:lnTo>
                  <a:pt x="234" y="198"/>
                </a:lnTo>
                <a:lnTo>
                  <a:pt x="248" y="186"/>
                </a:lnTo>
                <a:lnTo>
                  <a:pt x="262" y="174"/>
                </a:lnTo>
                <a:lnTo>
                  <a:pt x="276" y="163"/>
                </a:lnTo>
                <a:lnTo>
                  <a:pt x="291" y="154"/>
                </a:lnTo>
                <a:lnTo>
                  <a:pt x="306" y="144"/>
                </a:lnTo>
                <a:lnTo>
                  <a:pt x="322" y="134"/>
                </a:lnTo>
                <a:lnTo>
                  <a:pt x="338" y="126"/>
                </a:lnTo>
                <a:lnTo>
                  <a:pt x="355" y="118"/>
                </a:lnTo>
                <a:lnTo>
                  <a:pt x="371" y="110"/>
                </a:lnTo>
                <a:lnTo>
                  <a:pt x="388" y="104"/>
                </a:lnTo>
                <a:lnTo>
                  <a:pt x="405" y="97"/>
                </a:lnTo>
                <a:lnTo>
                  <a:pt x="424" y="92"/>
                </a:lnTo>
                <a:lnTo>
                  <a:pt x="441" y="88"/>
                </a:lnTo>
                <a:lnTo>
                  <a:pt x="459" y="83"/>
                </a:lnTo>
                <a:lnTo>
                  <a:pt x="478" y="80"/>
                </a:lnTo>
                <a:lnTo>
                  <a:pt x="458" y="102"/>
                </a:lnTo>
                <a:lnTo>
                  <a:pt x="438" y="124"/>
                </a:lnTo>
                <a:lnTo>
                  <a:pt x="419" y="148"/>
                </a:lnTo>
                <a:lnTo>
                  <a:pt x="402" y="173"/>
                </a:lnTo>
                <a:lnTo>
                  <a:pt x="386" y="199"/>
                </a:lnTo>
                <a:lnTo>
                  <a:pt x="371" y="225"/>
                </a:lnTo>
                <a:lnTo>
                  <a:pt x="357" y="253"/>
                </a:lnTo>
                <a:lnTo>
                  <a:pt x="344" y="282"/>
                </a:lnTo>
                <a:close/>
                <a:moveTo>
                  <a:pt x="540" y="74"/>
                </a:moveTo>
                <a:lnTo>
                  <a:pt x="540" y="324"/>
                </a:lnTo>
                <a:lnTo>
                  <a:pt x="519" y="323"/>
                </a:lnTo>
                <a:lnTo>
                  <a:pt x="498" y="321"/>
                </a:lnTo>
                <a:lnTo>
                  <a:pt x="477" y="318"/>
                </a:lnTo>
                <a:lnTo>
                  <a:pt x="456" y="315"/>
                </a:lnTo>
                <a:lnTo>
                  <a:pt x="437" y="311"/>
                </a:lnTo>
                <a:lnTo>
                  <a:pt x="416" y="306"/>
                </a:lnTo>
                <a:lnTo>
                  <a:pt x="397" y="301"/>
                </a:lnTo>
                <a:lnTo>
                  <a:pt x="377" y="294"/>
                </a:lnTo>
                <a:lnTo>
                  <a:pt x="392" y="262"/>
                </a:lnTo>
                <a:lnTo>
                  <a:pt x="409" y="230"/>
                </a:lnTo>
                <a:lnTo>
                  <a:pt x="427" y="200"/>
                </a:lnTo>
                <a:lnTo>
                  <a:pt x="446" y="172"/>
                </a:lnTo>
                <a:lnTo>
                  <a:pt x="467" y="145"/>
                </a:lnTo>
                <a:lnTo>
                  <a:pt x="490" y="119"/>
                </a:lnTo>
                <a:lnTo>
                  <a:pt x="513" y="95"/>
                </a:lnTo>
                <a:lnTo>
                  <a:pt x="538" y="74"/>
                </a:lnTo>
                <a:lnTo>
                  <a:pt x="539" y="74"/>
                </a:lnTo>
                <a:lnTo>
                  <a:pt x="540" y="74"/>
                </a:lnTo>
                <a:lnTo>
                  <a:pt x="540" y="74"/>
                </a:lnTo>
                <a:close/>
                <a:moveTo>
                  <a:pt x="638" y="80"/>
                </a:moveTo>
                <a:lnTo>
                  <a:pt x="656" y="83"/>
                </a:lnTo>
                <a:lnTo>
                  <a:pt x="674" y="88"/>
                </a:lnTo>
                <a:lnTo>
                  <a:pt x="693" y="92"/>
                </a:lnTo>
                <a:lnTo>
                  <a:pt x="710" y="97"/>
                </a:lnTo>
                <a:lnTo>
                  <a:pt x="727" y="104"/>
                </a:lnTo>
                <a:lnTo>
                  <a:pt x="744" y="110"/>
                </a:lnTo>
                <a:lnTo>
                  <a:pt x="762" y="118"/>
                </a:lnTo>
                <a:lnTo>
                  <a:pt x="778" y="126"/>
                </a:lnTo>
                <a:lnTo>
                  <a:pt x="794" y="134"/>
                </a:lnTo>
                <a:lnTo>
                  <a:pt x="809" y="144"/>
                </a:lnTo>
                <a:lnTo>
                  <a:pt x="825" y="154"/>
                </a:lnTo>
                <a:lnTo>
                  <a:pt x="841" y="163"/>
                </a:lnTo>
                <a:lnTo>
                  <a:pt x="855" y="174"/>
                </a:lnTo>
                <a:lnTo>
                  <a:pt x="869" y="186"/>
                </a:lnTo>
                <a:lnTo>
                  <a:pt x="883" y="198"/>
                </a:lnTo>
                <a:lnTo>
                  <a:pt x="896" y="210"/>
                </a:lnTo>
                <a:lnTo>
                  <a:pt x="882" y="221"/>
                </a:lnTo>
                <a:lnTo>
                  <a:pt x="867" y="230"/>
                </a:lnTo>
                <a:lnTo>
                  <a:pt x="851" y="240"/>
                </a:lnTo>
                <a:lnTo>
                  <a:pt x="836" y="250"/>
                </a:lnTo>
                <a:lnTo>
                  <a:pt x="821" y="258"/>
                </a:lnTo>
                <a:lnTo>
                  <a:pt x="805" y="267"/>
                </a:lnTo>
                <a:lnTo>
                  <a:pt x="789" y="275"/>
                </a:lnTo>
                <a:lnTo>
                  <a:pt x="773" y="282"/>
                </a:lnTo>
                <a:lnTo>
                  <a:pt x="760" y="253"/>
                </a:lnTo>
                <a:lnTo>
                  <a:pt x="746" y="225"/>
                </a:lnTo>
                <a:lnTo>
                  <a:pt x="730" y="199"/>
                </a:lnTo>
                <a:lnTo>
                  <a:pt x="714" y="173"/>
                </a:lnTo>
                <a:lnTo>
                  <a:pt x="696" y="148"/>
                </a:lnTo>
                <a:lnTo>
                  <a:pt x="678" y="124"/>
                </a:lnTo>
                <a:lnTo>
                  <a:pt x="658" y="102"/>
                </a:lnTo>
                <a:lnTo>
                  <a:pt x="638" y="80"/>
                </a:lnTo>
                <a:close/>
                <a:moveTo>
                  <a:pt x="578" y="74"/>
                </a:moveTo>
                <a:lnTo>
                  <a:pt x="603" y="95"/>
                </a:lnTo>
                <a:lnTo>
                  <a:pt x="627" y="119"/>
                </a:lnTo>
                <a:lnTo>
                  <a:pt x="648" y="145"/>
                </a:lnTo>
                <a:lnTo>
                  <a:pt x="670" y="172"/>
                </a:lnTo>
                <a:lnTo>
                  <a:pt x="689" y="200"/>
                </a:lnTo>
                <a:lnTo>
                  <a:pt x="708" y="230"/>
                </a:lnTo>
                <a:lnTo>
                  <a:pt x="724" y="262"/>
                </a:lnTo>
                <a:lnTo>
                  <a:pt x="739" y="294"/>
                </a:lnTo>
                <a:lnTo>
                  <a:pt x="720" y="301"/>
                </a:lnTo>
                <a:lnTo>
                  <a:pt x="699" y="306"/>
                </a:lnTo>
                <a:lnTo>
                  <a:pt x="680" y="311"/>
                </a:lnTo>
                <a:lnTo>
                  <a:pt x="659" y="315"/>
                </a:lnTo>
                <a:lnTo>
                  <a:pt x="639" y="318"/>
                </a:lnTo>
                <a:lnTo>
                  <a:pt x="618" y="321"/>
                </a:lnTo>
                <a:lnTo>
                  <a:pt x="598" y="323"/>
                </a:lnTo>
                <a:lnTo>
                  <a:pt x="576" y="324"/>
                </a:lnTo>
                <a:lnTo>
                  <a:pt x="576" y="74"/>
                </a:lnTo>
                <a:lnTo>
                  <a:pt x="577" y="74"/>
                </a:lnTo>
                <a:lnTo>
                  <a:pt x="578" y="74"/>
                </a:lnTo>
                <a:lnTo>
                  <a:pt x="578" y="74"/>
                </a:lnTo>
                <a:close/>
                <a:moveTo>
                  <a:pt x="538" y="1044"/>
                </a:moveTo>
                <a:lnTo>
                  <a:pt x="517" y="1024"/>
                </a:lnTo>
                <a:lnTo>
                  <a:pt x="495" y="1004"/>
                </a:lnTo>
                <a:lnTo>
                  <a:pt x="476" y="982"/>
                </a:lnTo>
                <a:lnTo>
                  <a:pt x="456" y="958"/>
                </a:lnTo>
                <a:lnTo>
                  <a:pt x="438" y="933"/>
                </a:lnTo>
                <a:lnTo>
                  <a:pt x="422" y="909"/>
                </a:lnTo>
                <a:lnTo>
                  <a:pt x="405" y="882"/>
                </a:lnTo>
                <a:lnTo>
                  <a:pt x="391" y="855"/>
                </a:lnTo>
                <a:lnTo>
                  <a:pt x="410" y="849"/>
                </a:lnTo>
                <a:lnTo>
                  <a:pt x="427" y="844"/>
                </a:lnTo>
                <a:lnTo>
                  <a:pt x="445" y="841"/>
                </a:lnTo>
                <a:lnTo>
                  <a:pt x="464" y="837"/>
                </a:lnTo>
                <a:lnTo>
                  <a:pt x="483" y="834"/>
                </a:lnTo>
                <a:lnTo>
                  <a:pt x="501" y="832"/>
                </a:lnTo>
                <a:lnTo>
                  <a:pt x="521" y="831"/>
                </a:lnTo>
                <a:lnTo>
                  <a:pt x="540" y="830"/>
                </a:lnTo>
                <a:lnTo>
                  <a:pt x="540" y="1044"/>
                </a:lnTo>
                <a:lnTo>
                  <a:pt x="538" y="1044"/>
                </a:lnTo>
                <a:close/>
                <a:moveTo>
                  <a:pt x="1043" y="540"/>
                </a:moveTo>
                <a:lnTo>
                  <a:pt x="828" y="540"/>
                </a:lnTo>
                <a:lnTo>
                  <a:pt x="825" y="511"/>
                </a:lnTo>
                <a:lnTo>
                  <a:pt x="823" y="482"/>
                </a:lnTo>
                <a:lnTo>
                  <a:pt x="820" y="453"/>
                </a:lnTo>
                <a:lnTo>
                  <a:pt x="816" y="424"/>
                </a:lnTo>
                <a:lnTo>
                  <a:pt x="809" y="396"/>
                </a:lnTo>
                <a:lnTo>
                  <a:pt x="803" y="369"/>
                </a:lnTo>
                <a:lnTo>
                  <a:pt x="795" y="342"/>
                </a:lnTo>
                <a:lnTo>
                  <a:pt x="786" y="315"/>
                </a:lnTo>
                <a:lnTo>
                  <a:pt x="804" y="307"/>
                </a:lnTo>
                <a:lnTo>
                  <a:pt x="821" y="298"/>
                </a:lnTo>
                <a:lnTo>
                  <a:pt x="840" y="290"/>
                </a:lnTo>
                <a:lnTo>
                  <a:pt x="856" y="280"/>
                </a:lnTo>
                <a:lnTo>
                  <a:pt x="873" y="269"/>
                </a:lnTo>
                <a:lnTo>
                  <a:pt x="889" y="258"/>
                </a:lnTo>
                <a:lnTo>
                  <a:pt x="904" y="248"/>
                </a:lnTo>
                <a:lnTo>
                  <a:pt x="921" y="236"/>
                </a:lnTo>
                <a:lnTo>
                  <a:pt x="933" y="252"/>
                </a:lnTo>
                <a:lnTo>
                  <a:pt x="946" y="268"/>
                </a:lnTo>
                <a:lnTo>
                  <a:pt x="958" y="284"/>
                </a:lnTo>
                <a:lnTo>
                  <a:pt x="970" y="302"/>
                </a:lnTo>
                <a:lnTo>
                  <a:pt x="980" y="319"/>
                </a:lnTo>
                <a:lnTo>
                  <a:pt x="990" y="337"/>
                </a:lnTo>
                <a:lnTo>
                  <a:pt x="999" y="356"/>
                </a:lnTo>
                <a:lnTo>
                  <a:pt x="1007" y="375"/>
                </a:lnTo>
                <a:lnTo>
                  <a:pt x="1014" y="394"/>
                </a:lnTo>
                <a:lnTo>
                  <a:pt x="1022" y="415"/>
                </a:lnTo>
                <a:lnTo>
                  <a:pt x="1027" y="434"/>
                </a:lnTo>
                <a:lnTo>
                  <a:pt x="1033" y="455"/>
                </a:lnTo>
                <a:lnTo>
                  <a:pt x="1036" y="477"/>
                </a:lnTo>
                <a:lnTo>
                  <a:pt x="1039" y="497"/>
                </a:lnTo>
                <a:lnTo>
                  <a:pt x="1041" y="519"/>
                </a:lnTo>
                <a:lnTo>
                  <a:pt x="1043" y="540"/>
                </a:lnTo>
                <a:lnTo>
                  <a:pt x="1043" y="540"/>
                </a:lnTo>
                <a:close/>
                <a:moveTo>
                  <a:pt x="558" y="0"/>
                </a:moveTo>
                <a:lnTo>
                  <a:pt x="530" y="1"/>
                </a:lnTo>
                <a:lnTo>
                  <a:pt x="501" y="4"/>
                </a:lnTo>
                <a:lnTo>
                  <a:pt x="473" y="7"/>
                </a:lnTo>
                <a:lnTo>
                  <a:pt x="445" y="12"/>
                </a:lnTo>
                <a:lnTo>
                  <a:pt x="418" y="19"/>
                </a:lnTo>
                <a:lnTo>
                  <a:pt x="392" y="26"/>
                </a:lnTo>
                <a:lnTo>
                  <a:pt x="366" y="35"/>
                </a:lnTo>
                <a:lnTo>
                  <a:pt x="341" y="45"/>
                </a:lnTo>
                <a:lnTo>
                  <a:pt x="316" y="55"/>
                </a:lnTo>
                <a:lnTo>
                  <a:pt x="292" y="68"/>
                </a:lnTo>
                <a:lnTo>
                  <a:pt x="268" y="81"/>
                </a:lnTo>
                <a:lnTo>
                  <a:pt x="245" y="96"/>
                </a:lnTo>
                <a:lnTo>
                  <a:pt x="224" y="112"/>
                </a:lnTo>
                <a:lnTo>
                  <a:pt x="203" y="128"/>
                </a:lnTo>
                <a:lnTo>
                  <a:pt x="183" y="146"/>
                </a:lnTo>
                <a:lnTo>
                  <a:pt x="163" y="164"/>
                </a:lnTo>
                <a:lnTo>
                  <a:pt x="145" y="184"/>
                </a:lnTo>
                <a:lnTo>
                  <a:pt x="128" y="203"/>
                </a:lnTo>
                <a:lnTo>
                  <a:pt x="110" y="225"/>
                </a:lnTo>
                <a:lnTo>
                  <a:pt x="95" y="247"/>
                </a:lnTo>
                <a:lnTo>
                  <a:pt x="80" y="269"/>
                </a:lnTo>
                <a:lnTo>
                  <a:pt x="67" y="293"/>
                </a:lnTo>
                <a:lnTo>
                  <a:pt x="55" y="317"/>
                </a:lnTo>
                <a:lnTo>
                  <a:pt x="44" y="342"/>
                </a:lnTo>
                <a:lnTo>
                  <a:pt x="34" y="366"/>
                </a:lnTo>
                <a:lnTo>
                  <a:pt x="25" y="392"/>
                </a:lnTo>
                <a:lnTo>
                  <a:pt x="18" y="419"/>
                </a:lnTo>
                <a:lnTo>
                  <a:pt x="11" y="446"/>
                </a:lnTo>
                <a:lnTo>
                  <a:pt x="7" y="473"/>
                </a:lnTo>
                <a:lnTo>
                  <a:pt x="2" y="501"/>
                </a:lnTo>
                <a:lnTo>
                  <a:pt x="0" y="529"/>
                </a:lnTo>
                <a:lnTo>
                  <a:pt x="0" y="559"/>
                </a:lnTo>
                <a:lnTo>
                  <a:pt x="0" y="588"/>
                </a:lnTo>
                <a:lnTo>
                  <a:pt x="2" y="616"/>
                </a:lnTo>
                <a:lnTo>
                  <a:pt x="7" y="644"/>
                </a:lnTo>
                <a:lnTo>
                  <a:pt x="11" y="671"/>
                </a:lnTo>
                <a:lnTo>
                  <a:pt x="18" y="698"/>
                </a:lnTo>
                <a:lnTo>
                  <a:pt x="25" y="725"/>
                </a:lnTo>
                <a:lnTo>
                  <a:pt x="34" y="751"/>
                </a:lnTo>
                <a:lnTo>
                  <a:pt x="44" y="776"/>
                </a:lnTo>
                <a:lnTo>
                  <a:pt x="55" y="801"/>
                </a:lnTo>
                <a:lnTo>
                  <a:pt x="67" y="824"/>
                </a:lnTo>
                <a:lnTo>
                  <a:pt x="80" y="848"/>
                </a:lnTo>
                <a:lnTo>
                  <a:pt x="95" y="871"/>
                </a:lnTo>
                <a:lnTo>
                  <a:pt x="110" y="892"/>
                </a:lnTo>
                <a:lnTo>
                  <a:pt x="128" y="914"/>
                </a:lnTo>
                <a:lnTo>
                  <a:pt x="145" y="933"/>
                </a:lnTo>
                <a:lnTo>
                  <a:pt x="163" y="953"/>
                </a:lnTo>
                <a:lnTo>
                  <a:pt x="183" y="972"/>
                </a:lnTo>
                <a:lnTo>
                  <a:pt x="203" y="990"/>
                </a:lnTo>
                <a:lnTo>
                  <a:pt x="224" y="1006"/>
                </a:lnTo>
                <a:lnTo>
                  <a:pt x="245" y="1021"/>
                </a:lnTo>
                <a:lnTo>
                  <a:pt x="268" y="1036"/>
                </a:lnTo>
                <a:lnTo>
                  <a:pt x="292" y="1049"/>
                </a:lnTo>
                <a:lnTo>
                  <a:pt x="316" y="1062"/>
                </a:lnTo>
                <a:lnTo>
                  <a:pt x="341" y="1073"/>
                </a:lnTo>
                <a:lnTo>
                  <a:pt x="366" y="1082"/>
                </a:lnTo>
                <a:lnTo>
                  <a:pt x="392" y="1091"/>
                </a:lnTo>
                <a:lnTo>
                  <a:pt x="418" y="1099"/>
                </a:lnTo>
                <a:lnTo>
                  <a:pt x="445" y="1105"/>
                </a:lnTo>
                <a:lnTo>
                  <a:pt x="473" y="1111"/>
                </a:lnTo>
                <a:lnTo>
                  <a:pt x="501" y="1114"/>
                </a:lnTo>
                <a:lnTo>
                  <a:pt x="530" y="1116"/>
                </a:lnTo>
                <a:lnTo>
                  <a:pt x="558" y="1117"/>
                </a:lnTo>
                <a:lnTo>
                  <a:pt x="587" y="1116"/>
                </a:lnTo>
                <a:lnTo>
                  <a:pt x="615" y="1114"/>
                </a:lnTo>
                <a:lnTo>
                  <a:pt x="643" y="1111"/>
                </a:lnTo>
                <a:lnTo>
                  <a:pt x="670" y="1105"/>
                </a:lnTo>
                <a:lnTo>
                  <a:pt x="697" y="1099"/>
                </a:lnTo>
                <a:lnTo>
                  <a:pt x="724" y="1091"/>
                </a:lnTo>
                <a:lnTo>
                  <a:pt x="750" y="1082"/>
                </a:lnTo>
                <a:lnTo>
                  <a:pt x="775" y="1073"/>
                </a:lnTo>
                <a:lnTo>
                  <a:pt x="800" y="1062"/>
                </a:lnTo>
                <a:lnTo>
                  <a:pt x="824" y="1049"/>
                </a:lnTo>
                <a:lnTo>
                  <a:pt x="847" y="1036"/>
                </a:lnTo>
                <a:lnTo>
                  <a:pt x="870" y="1021"/>
                </a:lnTo>
                <a:lnTo>
                  <a:pt x="891" y="1006"/>
                </a:lnTo>
                <a:lnTo>
                  <a:pt x="913" y="990"/>
                </a:lnTo>
                <a:lnTo>
                  <a:pt x="933" y="972"/>
                </a:lnTo>
                <a:lnTo>
                  <a:pt x="953" y="953"/>
                </a:lnTo>
                <a:lnTo>
                  <a:pt x="971" y="933"/>
                </a:lnTo>
                <a:lnTo>
                  <a:pt x="989" y="914"/>
                </a:lnTo>
                <a:lnTo>
                  <a:pt x="1005" y="892"/>
                </a:lnTo>
                <a:lnTo>
                  <a:pt x="1021" y="871"/>
                </a:lnTo>
                <a:lnTo>
                  <a:pt x="1035" y="848"/>
                </a:lnTo>
                <a:lnTo>
                  <a:pt x="1049" y="824"/>
                </a:lnTo>
                <a:lnTo>
                  <a:pt x="1061" y="801"/>
                </a:lnTo>
                <a:lnTo>
                  <a:pt x="1072" y="776"/>
                </a:lnTo>
                <a:lnTo>
                  <a:pt x="1083" y="751"/>
                </a:lnTo>
                <a:lnTo>
                  <a:pt x="1091" y="725"/>
                </a:lnTo>
                <a:lnTo>
                  <a:pt x="1099" y="698"/>
                </a:lnTo>
                <a:lnTo>
                  <a:pt x="1104" y="671"/>
                </a:lnTo>
                <a:lnTo>
                  <a:pt x="1110" y="644"/>
                </a:lnTo>
                <a:lnTo>
                  <a:pt x="1113" y="616"/>
                </a:lnTo>
                <a:lnTo>
                  <a:pt x="1115" y="588"/>
                </a:lnTo>
                <a:lnTo>
                  <a:pt x="1116" y="559"/>
                </a:lnTo>
                <a:lnTo>
                  <a:pt x="1115" y="529"/>
                </a:lnTo>
                <a:lnTo>
                  <a:pt x="1113" y="501"/>
                </a:lnTo>
                <a:lnTo>
                  <a:pt x="1110" y="473"/>
                </a:lnTo>
                <a:lnTo>
                  <a:pt x="1104" y="446"/>
                </a:lnTo>
                <a:lnTo>
                  <a:pt x="1099" y="419"/>
                </a:lnTo>
                <a:lnTo>
                  <a:pt x="1091" y="392"/>
                </a:lnTo>
                <a:lnTo>
                  <a:pt x="1083" y="366"/>
                </a:lnTo>
                <a:lnTo>
                  <a:pt x="1072" y="342"/>
                </a:lnTo>
                <a:lnTo>
                  <a:pt x="1061" y="317"/>
                </a:lnTo>
                <a:lnTo>
                  <a:pt x="1049" y="293"/>
                </a:lnTo>
                <a:lnTo>
                  <a:pt x="1035" y="269"/>
                </a:lnTo>
                <a:lnTo>
                  <a:pt x="1021" y="247"/>
                </a:lnTo>
                <a:lnTo>
                  <a:pt x="1005" y="225"/>
                </a:lnTo>
                <a:lnTo>
                  <a:pt x="989" y="203"/>
                </a:lnTo>
                <a:lnTo>
                  <a:pt x="971" y="184"/>
                </a:lnTo>
                <a:lnTo>
                  <a:pt x="953" y="164"/>
                </a:lnTo>
                <a:lnTo>
                  <a:pt x="933" y="146"/>
                </a:lnTo>
                <a:lnTo>
                  <a:pt x="913" y="128"/>
                </a:lnTo>
                <a:lnTo>
                  <a:pt x="891" y="112"/>
                </a:lnTo>
                <a:lnTo>
                  <a:pt x="870" y="96"/>
                </a:lnTo>
                <a:lnTo>
                  <a:pt x="847" y="81"/>
                </a:lnTo>
                <a:lnTo>
                  <a:pt x="824" y="68"/>
                </a:lnTo>
                <a:lnTo>
                  <a:pt x="800" y="55"/>
                </a:lnTo>
                <a:lnTo>
                  <a:pt x="775" y="45"/>
                </a:lnTo>
                <a:lnTo>
                  <a:pt x="750" y="35"/>
                </a:lnTo>
                <a:lnTo>
                  <a:pt x="724" y="26"/>
                </a:lnTo>
                <a:lnTo>
                  <a:pt x="697" y="19"/>
                </a:lnTo>
                <a:lnTo>
                  <a:pt x="670" y="12"/>
                </a:lnTo>
                <a:lnTo>
                  <a:pt x="643" y="7"/>
                </a:lnTo>
                <a:lnTo>
                  <a:pt x="615" y="4"/>
                </a:lnTo>
                <a:lnTo>
                  <a:pt x="587" y="1"/>
                </a:lnTo>
                <a:lnTo>
                  <a:pt x="558" y="0"/>
                </a:lnTo>
                <a:close/>
              </a:path>
            </a:pathLst>
          </a:custGeom>
          <a:solidFill>
            <a:srgbClr val="6696B6"/>
          </a:solid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grpSp>
        <p:nvGrpSpPr>
          <p:cNvPr id="12" name="Group 96"/>
          <p:cNvGrpSpPr/>
          <p:nvPr>
            <p:custDataLst>
              <p:tags r:id="rId3"/>
            </p:custDataLst>
          </p:nvPr>
        </p:nvGrpSpPr>
        <p:grpSpPr>
          <a:xfrm>
            <a:off x="5697161" y="2005014"/>
            <a:ext cx="743584" cy="720728"/>
            <a:chOff x="8085931" y="4575572"/>
            <a:chExt cx="457200" cy="442913"/>
          </a:xfrm>
          <a:solidFill>
            <a:srgbClr val="6696B6"/>
          </a:solidFill>
        </p:grpSpPr>
        <p:sp>
          <p:nvSpPr>
            <p:cNvPr id="28" name="Freeform 17"/>
            <p:cNvSpPr/>
            <p:nvPr>
              <p:custDataLst>
                <p:tags r:id="rId4"/>
              </p:custDataLst>
            </p:nvPr>
          </p:nvSpPr>
          <p:spPr bwMode="auto">
            <a:xfrm>
              <a:off x="8314531" y="4818459"/>
              <a:ext cx="57150" cy="57150"/>
            </a:xfrm>
            <a:custGeom>
              <a:avLst/>
              <a:gdLst>
                <a:gd name="T0" fmla="*/ 65 w 144"/>
                <a:gd name="T1" fmla="*/ 0 h 143"/>
                <a:gd name="T2" fmla="*/ 51 w 144"/>
                <a:gd name="T3" fmla="*/ 3 h 143"/>
                <a:gd name="T4" fmla="*/ 38 w 144"/>
                <a:gd name="T5" fmla="*/ 8 h 143"/>
                <a:gd name="T6" fmla="*/ 26 w 144"/>
                <a:gd name="T7" fmla="*/ 16 h 143"/>
                <a:gd name="T8" fmla="*/ 16 w 144"/>
                <a:gd name="T9" fmla="*/ 26 h 143"/>
                <a:gd name="T10" fmla="*/ 9 w 144"/>
                <a:gd name="T11" fmla="*/ 37 h 143"/>
                <a:gd name="T12" fmla="*/ 3 w 144"/>
                <a:gd name="T13" fmla="*/ 50 h 143"/>
                <a:gd name="T14" fmla="*/ 0 w 144"/>
                <a:gd name="T15" fmla="*/ 64 h 143"/>
                <a:gd name="T16" fmla="*/ 0 w 144"/>
                <a:gd name="T17" fmla="*/ 80 h 143"/>
                <a:gd name="T18" fmla="*/ 3 w 144"/>
                <a:gd name="T19" fmla="*/ 94 h 143"/>
                <a:gd name="T20" fmla="*/ 9 w 144"/>
                <a:gd name="T21" fmla="*/ 105 h 143"/>
                <a:gd name="T22" fmla="*/ 16 w 144"/>
                <a:gd name="T23" fmla="*/ 117 h 143"/>
                <a:gd name="T24" fmla="*/ 26 w 144"/>
                <a:gd name="T25" fmla="*/ 127 h 143"/>
                <a:gd name="T26" fmla="*/ 38 w 144"/>
                <a:gd name="T27" fmla="*/ 135 h 143"/>
                <a:gd name="T28" fmla="*/ 51 w 144"/>
                <a:gd name="T29" fmla="*/ 140 h 143"/>
                <a:gd name="T30" fmla="*/ 65 w 144"/>
                <a:gd name="T31" fmla="*/ 143 h 143"/>
                <a:gd name="T32" fmla="*/ 79 w 144"/>
                <a:gd name="T33" fmla="*/ 143 h 143"/>
                <a:gd name="T34" fmla="*/ 93 w 144"/>
                <a:gd name="T35" fmla="*/ 140 h 143"/>
                <a:gd name="T36" fmla="*/ 106 w 144"/>
                <a:gd name="T37" fmla="*/ 135 h 143"/>
                <a:gd name="T38" fmla="*/ 118 w 144"/>
                <a:gd name="T39" fmla="*/ 127 h 143"/>
                <a:gd name="T40" fmla="*/ 128 w 144"/>
                <a:gd name="T41" fmla="*/ 117 h 143"/>
                <a:gd name="T42" fmla="*/ 135 w 144"/>
                <a:gd name="T43" fmla="*/ 105 h 143"/>
                <a:gd name="T44" fmla="*/ 141 w 144"/>
                <a:gd name="T45" fmla="*/ 94 h 143"/>
                <a:gd name="T46" fmla="*/ 144 w 144"/>
                <a:gd name="T47" fmla="*/ 80 h 143"/>
                <a:gd name="T48" fmla="*/ 144 w 144"/>
                <a:gd name="T49" fmla="*/ 64 h 143"/>
                <a:gd name="T50" fmla="*/ 141 w 144"/>
                <a:gd name="T51" fmla="*/ 50 h 143"/>
                <a:gd name="T52" fmla="*/ 135 w 144"/>
                <a:gd name="T53" fmla="*/ 37 h 143"/>
                <a:gd name="T54" fmla="*/ 128 w 144"/>
                <a:gd name="T55" fmla="*/ 26 h 143"/>
                <a:gd name="T56" fmla="*/ 118 w 144"/>
                <a:gd name="T57" fmla="*/ 16 h 143"/>
                <a:gd name="T58" fmla="*/ 106 w 144"/>
                <a:gd name="T59" fmla="*/ 8 h 143"/>
                <a:gd name="T60" fmla="*/ 93 w 144"/>
                <a:gd name="T61" fmla="*/ 3 h 143"/>
                <a:gd name="T62" fmla="*/ 79 w 144"/>
                <a:gd name="T63"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4" h="143">
                  <a:moveTo>
                    <a:pt x="73" y="0"/>
                  </a:moveTo>
                  <a:lnTo>
                    <a:pt x="65" y="0"/>
                  </a:lnTo>
                  <a:lnTo>
                    <a:pt x="57" y="1"/>
                  </a:lnTo>
                  <a:lnTo>
                    <a:pt x="51" y="3"/>
                  </a:lnTo>
                  <a:lnTo>
                    <a:pt x="44" y="5"/>
                  </a:lnTo>
                  <a:lnTo>
                    <a:pt x="38" y="8"/>
                  </a:lnTo>
                  <a:lnTo>
                    <a:pt x="31" y="12"/>
                  </a:lnTo>
                  <a:lnTo>
                    <a:pt x="26" y="16"/>
                  </a:lnTo>
                  <a:lnTo>
                    <a:pt x="21" y="21"/>
                  </a:lnTo>
                  <a:lnTo>
                    <a:pt x="16" y="26"/>
                  </a:lnTo>
                  <a:lnTo>
                    <a:pt x="12" y="31"/>
                  </a:lnTo>
                  <a:lnTo>
                    <a:pt x="9" y="37"/>
                  </a:lnTo>
                  <a:lnTo>
                    <a:pt x="6" y="44"/>
                  </a:lnTo>
                  <a:lnTo>
                    <a:pt x="3" y="50"/>
                  </a:lnTo>
                  <a:lnTo>
                    <a:pt x="1" y="57"/>
                  </a:lnTo>
                  <a:lnTo>
                    <a:pt x="0" y="64"/>
                  </a:lnTo>
                  <a:lnTo>
                    <a:pt x="0" y="72"/>
                  </a:lnTo>
                  <a:lnTo>
                    <a:pt x="0" y="80"/>
                  </a:lnTo>
                  <a:lnTo>
                    <a:pt x="1" y="86"/>
                  </a:lnTo>
                  <a:lnTo>
                    <a:pt x="3" y="94"/>
                  </a:lnTo>
                  <a:lnTo>
                    <a:pt x="6" y="100"/>
                  </a:lnTo>
                  <a:lnTo>
                    <a:pt x="9" y="105"/>
                  </a:lnTo>
                  <a:lnTo>
                    <a:pt x="12" y="112"/>
                  </a:lnTo>
                  <a:lnTo>
                    <a:pt x="16" y="117"/>
                  </a:lnTo>
                  <a:lnTo>
                    <a:pt x="21" y="123"/>
                  </a:lnTo>
                  <a:lnTo>
                    <a:pt x="26" y="127"/>
                  </a:lnTo>
                  <a:lnTo>
                    <a:pt x="31" y="131"/>
                  </a:lnTo>
                  <a:lnTo>
                    <a:pt x="38" y="135"/>
                  </a:lnTo>
                  <a:lnTo>
                    <a:pt x="44" y="138"/>
                  </a:lnTo>
                  <a:lnTo>
                    <a:pt x="51" y="140"/>
                  </a:lnTo>
                  <a:lnTo>
                    <a:pt x="57" y="142"/>
                  </a:lnTo>
                  <a:lnTo>
                    <a:pt x="65" y="143"/>
                  </a:lnTo>
                  <a:lnTo>
                    <a:pt x="73" y="143"/>
                  </a:lnTo>
                  <a:lnTo>
                    <a:pt x="79" y="143"/>
                  </a:lnTo>
                  <a:lnTo>
                    <a:pt x="87" y="142"/>
                  </a:lnTo>
                  <a:lnTo>
                    <a:pt x="93" y="140"/>
                  </a:lnTo>
                  <a:lnTo>
                    <a:pt x="100" y="138"/>
                  </a:lnTo>
                  <a:lnTo>
                    <a:pt x="106" y="135"/>
                  </a:lnTo>
                  <a:lnTo>
                    <a:pt x="112" y="131"/>
                  </a:lnTo>
                  <a:lnTo>
                    <a:pt x="118" y="127"/>
                  </a:lnTo>
                  <a:lnTo>
                    <a:pt x="123" y="123"/>
                  </a:lnTo>
                  <a:lnTo>
                    <a:pt x="128" y="117"/>
                  </a:lnTo>
                  <a:lnTo>
                    <a:pt x="132" y="112"/>
                  </a:lnTo>
                  <a:lnTo>
                    <a:pt x="135" y="105"/>
                  </a:lnTo>
                  <a:lnTo>
                    <a:pt x="138" y="100"/>
                  </a:lnTo>
                  <a:lnTo>
                    <a:pt x="141" y="94"/>
                  </a:lnTo>
                  <a:lnTo>
                    <a:pt x="143" y="86"/>
                  </a:lnTo>
                  <a:lnTo>
                    <a:pt x="144" y="80"/>
                  </a:lnTo>
                  <a:lnTo>
                    <a:pt x="144" y="72"/>
                  </a:lnTo>
                  <a:lnTo>
                    <a:pt x="144" y="64"/>
                  </a:lnTo>
                  <a:lnTo>
                    <a:pt x="143" y="57"/>
                  </a:lnTo>
                  <a:lnTo>
                    <a:pt x="141" y="50"/>
                  </a:lnTo>
                  <a:lnTo>
                    <a:pt x="138" y="44"/>
                  </a:lnTo>
                  <a:lnTo>
                    <a:pt x="135" y="37"/>
                  </a:lnTo>
                  <a:lnTo>
                    <a:pt x="132" y="31"/>
                  </a:lnTo>
                  <a:lnTo>
                    <a:pt x="128" y="26"/>
                  </a:lnTo>
                  <a:lnTo>
                    <a:pt x="123" y="21"/>
                  </a:lnTo>
                  <a:lnTo>
                    <a:pt x="118" y="16"/>
                  </a:lnTo>
                  <a:lnTo>
                    <a:pt x="112" y="12"/>
                  </a:lnTo>
                  <a:lnTo>
                    <a:pt x="106" y="8"/>
                  </a:lnTo>
                  <a:lnTo>
                    <a:pt x="100" y="5"/>
                  </a:lnTo>
                  <a:lnTo>
                    <a:pt x="93" y="3"/>
                  </a:lnTo>
                  <a:lnTo>
                    <a:pt x="87" y="1"/>
                  </a:lnTo>
                  <a:lnTo>
                    <a:pt x="79" y="0"/>
                  </a:lnTo>
                  <a:lnTo>
                    <a:pt x="73" y="0"/>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29" name="Freeform 18"/>
            <p:cNvSpPr>
              <a:spLocks noEditPoints="1"/>
            </p:cNvSpPr>
            <p:nvPr>
              <p:custDataLst>
                <p:tags r:id="rId5"/>
              </p:custDataLst>
            </p:nvPr>
          </p:nvSpPr>
          <p:spPr bwMode="auto">
            <a:xfrm>
              <a:off x="8085931" y="4575572"/>
              <a:ext cx="457200" cy="442913"/>
            </a:xfrm>
            <a:custGeom>
              <a:avLst/>
              <a:gdLst>
                <a:gd name="T0" fmla="*/ 606 w 1152"/>
                <a:gd name="T1" fmla="*/ 784 h 1117"/>
                <a:gd name="T2" fmla="*/ 559 w 1152"/>
                <a:gd name="T3" fmla="*/ 745 h 1117"/>
                <a:gd name="T4" fmla="*/ 541 w 1152"/>
                <a:gd name="T5" fmla="*/ 685 h 1117"/>
                <a:gd name="T6" fmla="*/ 559 w 1152"/>
                <a:gd name="T7" fmla="*/ 625 h 1117"/>
                <a:gd name="T8" fmla="*/ 606 w 1152"/>
                <a:gd name="T9" fmla="*/ 586 h 1117"/>
                <a:gd name="T10" fmla="*/ 980 w 1152"/>
                <a:gd name="T11" fmla="*/ 576 h 1117"/>
                <a:gd name="T12" fmla="*/ 1024 w 1152"/>
                <a:gd name="T13" fmla="*/ 554 h 1117"/>
                <a:gd name="T14" fmla="*/ 1049 w 1152"/>
                <a:gd name="T15" fmla="*/ 542 h 1117"/>
                <a:gd name="T16" fmla="*/ 1079 w 1152"/>
                <a:gd name="T17" fmla="*/ 632 h 1117"/>
                <a:gd name="T18" fmla="*/ 1055 w 1152"/>
                <a:gd name="T19" fmla="*/ 745 h 1117"/>
                <a:gd name="T20" fmla="*/ 971 w 1152"/>
                <a:gd name="T21" fmla="*/ 931 h 1117"/>
                <a:gd name="T22" fmla="*/ 943 w 1152"/>
                <a:gd name="T23" fmla="*/ 999 h 1117"/>
                <a:gd name="T24" fmla="*/ 884 w 1152"/>
                <a:gd name="T25" fmla="*/ 1039 h 1117"/>
                <a:gd name="T26" fmla="*/ 172 w 1152"/>
                <a:gd name="T27" fmla="*/ 1042 h 1117"/>
                <a:gd name="T28" fmla="*/ 108 w 1152"/>
                <a:gd name="T29" fmla="*/ 1008 h 1117"/>
                <a:gd name="T30" fmla="*/ 75 w 1152"/>
                <a:gd name="T31" fmla="*/ 944 h 1117"/>
                <a:gd name="T32" fmla="*/ 114 w 1152"/>
                <a:gd name="T33" fmla="*/ 378 h 1117"/>
                <a:gd name="T34" fmla="*/ 792 w 1152"/>
                <a:gd name="T35" fmla="*/ 397 h 1117"/>
                <a:gd name="T36" fmla="*/ 966 w 1152"/>
                <a:gd name="T37" fmla="*/ 413 h 1117"/>
                <a:gd name="T38" fmla="*/ 629 w 1152"/>
                <a:gd name="T39" fmla="*/ 506 h 1117"/>
                <a:gd name="T40" fmla="*/ 534 w 1152"/>
                <a:gd name="T41" fmla="*/ 546 h 1117"/>
                <a:gd name="T42" fmla="*/ 476 w 1152"/>
                <a:gd name="T43" fmla="*/ 631 h 1117"/>
                <a:gd name="T44" fmla="*/ 476 w 1152"/>
                <a:gd name="T45" fmla="*/ 738 h 1117"/>
                <a:gd name="T46" fmla="*/ 534 w 1152"/>
                <a:gd name="T47" fmla="*/ 823 h 1117"/>
                <a:gd name="T48" fmla="*/ 629 w 1152"/>
                <a:gd name="T49" fmla="*/ 864 h 1117"/>
                <a:gd name="T50" fmla="*/ 792 w 1152"/>
                <a:gd name="T51" fmla="*/ 324 h 1117"/>
                <a:gd name="T52" fmla="*/ 144 w 1152"/>
                <a:gd name="T53" fmla="*/ 289 h 1117"/>
                <a:gd name="T54" fmla="*/ 900 w 1152"/>
                <a:gd name="T55" fmla="*/ 253 h 1117"/>
                <a:gd name="T56" fmla="*/ 198 w 1152"/>
                <a:gd name="T57" fmla="*/ 73 h 1117"/>
                <a:gd name="T58" fmla="*/ 962 w 1152"/>
                <a:gd name="T59" fmla="*/ 83 h 1117"/>
                <a:gd name="T60" fmla="*/ 973 w 1152"/>
                <a:gd name="T61" fmla="*/ 216 h 1117"/>
                <a:gd name="T62" fmla="*/ 936 w 1152"/>
                <a:gd name="T63" fmla="*/ 289 h 1117"/>
                <a:gd name="T64" fmla="*/ 925 w 1152"/>
                <a:gd name="T65" fmla="*/ 119 h 1117"/>
                <a:gd name="T66" fmla="*/ 137 w 1152"/>
                <a:gd name="T67" fmla="*/ 109 h 1117"/>
                <a:gd name="T68" fmla="*/ 108 w 1152"/>
                <a:gd name="T69" fmla="*/ 137 h 1117"/>
                <a:gd name="T70" fmla="*/ 87 w 1152"/>
                <a:gd name="T71" fmla="*/ 258 h 1117"/>
                <a:gd name="T72" fmla="*/ 73 w 1152"/>
                <a:gd name="T73" fmla="*/ 186 h 1117"/>
                <a:gd name="T74" fmla="*/ 101 w 1152"/>
                <a:gd name="T75" fmla="*/ 119 h 1117"/>
                <a:gd name="T76" fmla="*/ 160 w 1152"/>
                <a:gd name="T77" fmla="*/ 78 h 1117"/>
                <a:gd name="T78" fmla="*/ 1044 w 1152"/>
                <a:gd name="T79" fmla="*/ 216 h 1117"/>
                <a:gd name="T80" fmla="*/ 1035 w 1152"/>
                <a:gd name="T81" fmla="*/ 66 h 1117"/>
                <a:gd name="T82" fmla="*/ 996 w 1152"/>
                <a:gd name="T83" fmla="*/ 19 h 1117"/>
                <a:gd name="T84" fmla="*/ 936 w 1152"/>
                <a:gd name="T85" fmla="*/ 0 h 1117"/>
                <a:gd name="T86" fmla="*/ 121 w 1152"/>
                <a:gd name="T87" fmla="*/ 16 h 1117"/>
                <a:gd name="T88" fmla="*/ 34 w 1152"/>
                <a:gd name="T89" fmla="*/ 88 h 1117"/>
                <a:gd name="T90" fmla="*/ 0 w 1152"/>
                <a:gd name="T91" fmla="*/ 199 h 1117"/>
                <a:gd name="T92" fmla="*/ 24 w 1152"/>
                <a:gd name="T93" fmla="*/ 1013 h 1117"/>
                <a:gd name="T94" fmla="*/ 104 w 1152"/>
                <a:gd name="T95" fmla="*/ 1093 h 1117"/>
                <a:gd name="T96" fmla="*/ 846 w 1152"/>
                <a:gd name="T97" fmla="*/ 1117 h 1117"/>
                <a:gd name="T98" fmla="*/ 956 w 1152"/>
                <a:gd name="T99" fmla="*/ 1082 h 1117"/>
                <a:gd name="T100" fmla="*/ 1029 w 1152"/>
                <a:gd name="T101" fmla="*/ 996 h 1117"/>
                <a:gd name="T102" fmla="*/ 1044 w 1152"/>
                <a:gd name="T103" fmla="*/ 864 h 1117"/>
                <a:gd name="T104" fmla="*/ 1110 w 1152"/>
                <a:gd name="T105" fmla="*/ 794 h 1117"/>
                <a:gd name="T106" fmla="*/ 1145 w 1152"/>
                <a:gd name="T107" fmla="*/ 709 h 1117"/>
                <a:gd name="T108" fmla="*/ 1151 w 1152"/>
                <a:gd name="T109" fmla="*/ 618 h 1117"/>
                <a:gd name="T110" fmla="*/ 1125 w 1152"/>
                <a:gd name="T111" fmla="*/ 531 h 1117"/>
                <a:gd name="T112" fmla="*/ 1070 w 1152"/>
                <a:gd name="T113" fmla="*/ 454 h 1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 h="1117">
                  <a:moveTo>
                    <a:pt x="1018" y="793"/>
                  </a:moveTo>
                  <a:lnTo>
                    <a:pt x="649" y="793"/>
                  </a:lnTo>
                  <a:lnTo>
                    <a:pt x="637" y="792"/>
                  </a:lnTo>
                  <a:lnTo>
                    <a:pt x="626" y="791"/>
                  </a:lnTo>
                  <a:lnTo>
                    <a:pt x="616" y="788"/>
                  </a:lnTo>
                  <a:lnTo>
                    <a:pt x="606" y="784"/>
                  </a:lnTo>
                  <a:lnTo>
                    <a:pt x="597" y="780"/>
                  </a:lnTo>
                  <a:lnTo>
                    <a:pt x="588" y="775"/>
                  </a:lnTo>
                  <a:lnTo>
                    <a:pt x="579" y="768"/>
                  </a:lnTo>
                  <a:lnTo>
                    <a:pt x="572" y="761"/>
                  </a:lnTo>
                  <a:lnTo>
                    <a:pt x="564" y="753"/>
                  </a:lnTo>
                  <a:lnTo>
                    <a:pt x="559" y="745"/>
                  </a:lnTo>
                  <a:lnTo>
                    <a:pt x="553" y="736"/>
                  </a:lnTo>
                  <a:lnTo>
                    <a:pt x="548" y="727"/>
                  </a:lnTo>
                  <a:lnTo>
                    <a:pt x="545" y="716"/>
                  </a:lnTo>
                  <a:lnTo>
                    <a:pt x="543" y="707"/>
                  </a:lnTo>
                  <a:lnTo>
                    <a:pt x="541" y="696"/>
                  </a:lnTo>
                  <a:lnTo>
                    <a:pt x="541" y="685"/>
                  </a:lnTo>
                  <a:lnTo>
                    <a:pt x="541" y="674"/>
                  </a:lnTo>
                  <a:lnTo>
                    <a:pt x="543" y="663"/>
                  </a:lnTo>
                  <a:lnTo>
                    <a:pt x="545" y="653"/>
                  </a:lnTo>
                  <a:lnTo>
                    <a:pt x="548" y="643"/>
                  </a:lnTo>
                  <a:lnTo>
                    <a:pt x="553" y="633"/>
                  </a:lnTo>
                  <a:lnTo>
                    <a:pt x="559" y="625"/>
                  </a:lnTo>
                  <a:lnTo>
                    <a:pt x="564" y="616"/>
                  </a:lnTo>
                  <a:lnTo>
                    <a:pt x="572" y="608"/>
                  </a:lnTo>
                  <a:lnTo>
                    <a:pt x="579" y="602"/>
                  </a:lnTo>
                  <a:lnTo>
                    <a:pt x="588" y="595"/>
                  </a:lnTo>
                  <a:lnTo>
                    <a:pt x="597" y="590"/>
                  </a:lnTo>
                  <a:lnTo>
                    <a:pt x="606" y="586"/>
                  </a:lnTo>
                  <a:lnTo>
                    <a:pt x="616" y="581"/>
                  </a:lnTo>
                  <a:lnTo>
                    <a:pt x="626" y="579"/>
                  </a:lnTo>
                  <a:lnTo>
                    <a:pt x="637" y="577"/>
                  </a:lnTo>
                  <a:lnTo>
                    <a:pt x="649" y="577"/>
                  </a:lnTo>
                  <a:lnTo>
                    <a:pt x="973" y="577"/>
                  </a:lnTo>
                  <a:lnTo>
                    <a:pt x="980" y="576"/>
                  </a:lnTo>
                  <a:lnTo>
                    <a:pt x="989" y="575"/>
                  </a:lnTo>
                  <a:lnTo>
                    <a:pt x="996" y="572"/>
                  </a:lnTo>
                  <a:lnTo>
                    <a:pt x="1004" y="568"/>
                  </a:lnTo>
                  <a:lnTo>
                    <a:pt x="1011" y="565"/>
                  </a:lnTo>
                  <a:lnTo>
                    <a:pt x="1018" y="560"/>
                  </a:lnTo>
                  <a:lnTo>
                    <a:pt x="1024" y="554"/>
                  </a:lnTo>
                  <a:lnTo>
                    <a:pt x="1030" y="548"/>
                  </a:lnTo>
                  <a:lnTo>
                    <a:pt x="1035" y="540"/>
                  </a:lnTo>
                  <a:lnTo>
                    <a:pt x="1038" y="532"/>
                  </a:lnTo>
                  <a:lnTo>
                    <a:pt x="1039" y="531"/>
                  </a:lnTo>
                  <a:lnTo>
                    <a:pt x="1039" y="529"/>
                  </a:lnTo>
                  <a:lnTo>
                    <a:pt x="1049" y="542"/>
                  </a:lnTo>
                  <a:lnTo>
                    <a:pt x="1057" y="555"/>
                  </a:lnTo>
                  <a:lnTo>
                    <a:pt x="1064" y="571"/>
                  </a:lnTo>
                  <a:lnTo>
                    <a:pt x="1070" y="585"/>
                  </a:lnTo>
                  <a:lnTo>
                    <a:pt x="1074" y="601"/>
                  </a:lnTo>
                  <a:lnTo>
                    <a:pt x="1077" y="616"/>
                  </a:lnTo>
                  <a:lnTo>
                    <a:pt x="1079" y="632"/>
                  </a:lnTo>
                  <a:lnTo>
                    <a:pt x="1081" y="648"/>
                  </a:lnTo>
                  <a:lnTo>
                    <a:pt x="1079" y="669"/>
                  </a:lnTo>
                  <a:lnTo>
                    <a:pt x="1076" y="689"/>
                  </a:lnTo>
                  <a:lnTo>
                    <a:pt x="1071" y="709"/>
                  </a:lnTo>
                  <a:lnTo>
                    <a:pt x="1064" y="727"/>
                  </a:lnTo>
                  <a:lnTo>
                    <a:pt x="1055" y="745"/>
                  </a:lnTo>
                  <a:lnTo>
                    <a:pt x="1045" y="763"/>
                  </a:lnTo>
                  <a:lnTo>
                    <a:pt x="1032" y="778"/>
                  </a:lnTo>
                  <a:lnTo>
                    <a:pt x="1018" y="793"/>
                  </a:lnTo>
                  <a:lnTo>
                    <a:pt x="1018" y="793"/>
                  </a:lnTo>
                  <a:close/>
                  <a:moveTo>
                    <a:pt x="973" y="918"/>
                  </a:moveTo>
                  <a:lnTo>
                    <a:pt x="971" y="931"/>
                  </a:lnTo>
                  <a:lnTo>
                    <a:pt x="969" y="944"/>
                  </a:lnTo>
                  <a:lnTo>
                    <a:pt x="966" y="956"/>
                  </a:lnTo>
                  <a:lnTo>
                    <a:pt x="962" y="968"/>
                  </a:lnTo>
                  <a:lnTo>
                    <a:pt x="956" y="979"/>
                  </a:lnTo>
                  <a:lnTo>
                    <a:pt x="951" y="990"/>
                  </a:lnTo>
                  <a:lnTo>
                    <a:pt x="943" y="999"/>
                  </a:lnTo>
                  <a:lnTo>
                    <a:pt x="935" y="1008"/>
                  </a:lnTo>
                  <a:lnTo>
                    <a:pt x="926" y="1015"/>
                  </a:lnTo>
                  <a:lnTo>
                    <a:pt x="916" y="1023"/>
                  </a:lnTo>
                  <a:lnTo>
                    <a:pt x="906" y="1030"/>
                  </a:lnTo>
                  <a:lnTo>
                    <a:pt x="895" y="1035"/>
                  </a:lnTo>
                  <a:lnTo>
                    <a:pt x="884" y="1039"/>
                  </a:lnTo>
                  <a:lnTo>
                    <a:pt x="871" y="1042"/>
                  </a:lnTo>
                  <a:lnTo>
                    <a:pt x="859" y="1044"/>
                  </a:lnTo>
                  <a:lnTo>
                    <a:pt x="846" y="1045"/>
                  </a:lnTo>
                  <a:lnTo>
                    <a:pt x="198" y="1045"/>
                  </a:lnTo>
                  <a:lnTo>
                    <a:pt x="185" y="1044"/>
                  </a:lnTo>
                  <a:lnTo>
                    <a:pt x="172" y="1042"/>
                  </a:lnTo>
                  <a:lnTo>
                    <a:pt x="160" y="1039"/>
                  </a:lnTo>
                  <a:lnTo>
                    <a:pt x="148" y="1035"/>
                  </a:lnTo>
                  <a:lnTo>
                    <a:pt x="138" y="1030"/>
                  </a:lnTo>
                  <a:lnTo>
                    <a:pt x="128" y="1023"/>
                  </a:lnTo>
                  <a:lnTo>
                    <a:pt x="118" y="1015"/>
                  </a:lnTo>
                  <a:lnTo>
                    <a:pt x="108" y="1008"/>
                  </a:lnTo>
                  <a:lnTo>
                    <a:pt x="101" y="999"/>
                  </a:lnTo>
                  <a:lnTo>
                    <a:pt x="93" y="990"/>
                  </a:lnTo>
                  <a:lnTo>
                    <a:pt x="87" y="979"/>
                  </a:lnTo>
                  <a:lnTo>
                    <a:pt x="81" y="968"/>
                  </a:lnTo>
                  <a:lnTo>
                    <a:pt x="77" y="956"/>
                  </a:lnTo>
                  <a:lnTo>
                    <a:pt x="75" y="944"/>
                  </a:lnTo>
                  <a:lnTo>
                    <a:pt x="73" y="931"/>
                  </a:lnTo>
                  <a:lnTo>
                    <a:pt x="72" y="918"/>
                  </a:lnTo>
                  <a:lnTo>
                    <a:pt x="72" y="351"/>
                  </a:lnTo>
                  <a:lnTo>
                    <a:pt x="86" y="361"/>
                  </a:lnTo>
                  <a:lnTo>
                    <a:pt x="100" y="371"/>
                  </a:lnTo>
                  <a:lnTo>
                    <a:pt x="114" y="378"/>
                  </a:lnTo>
                  <a:lnTo>
                    <a:pt x="130" y="385"/>
                  </a:lnTo>
                  <a:lnTo>
                    <a:pt x="146" y="390"/>
                  </a:lnTo>
                  <a:lnTo>
                    <a:pt x="162" y="393"/>
                  </a:lnTo>
                  <a:lnTo>
                    <a:pt x="180" y="396"/>
                  </a:lnTo>
                  <a:lnTo>
                    <a:pt x="198" y="397"/>
                  </a:lnTo>
                  <a:lnTo>
                    <a:pt x="792" y="397"/>
                  </a:lnTo>
                  <a:lnTo>
                    <a:pt x="936" y="397"/>
                  </a:lnTo>
                  <a:lnTo>
                    <a:pt x="943" y="398"/>
                  </a:lnTo>
                  <a:lnTo>
                    <a:pt x="950" y="400"/>
                  </a:lnTo>
                  <a:lnTo>
                    <a:pt x="956" y="403"/>
                  </a:lnTo>
                  <a:lnTo>
                    <a:pt x="962" y="407"/>
                  </a:lnTo>
                  <a:lnTo>
                    <a:pt x="966" y="413"/>
                  </a:lnTo>
                  <a:lnTo>
                    <a:pt x="969" y="418"/>
                  </a:lnTo>
                  <a:lnTo>
                    <a:pt x="971" y="426"/>
                  </a:lnTo>
                  <a:lnTo>
                    <a:pt x="973" y="432"/>
                  </a:lnTo>
                  <a:lnTo>
                    <a:pt x="973" y="505"/>
                  </a:lnTo>
                  <a:lnTo>
                    <a:pt x="649" y="505"/>
                  </a:lnTo>
                  <a:lnTo>
                    <a:pt x="629" y="506"/>
                  </a:lnTo>
                  <a:lnTo>
                    <a:pt x="612" y="508"/>
                  </a:lnTo>
                  <a:lnTo>
                    <a:pt x="595" y="513"/>
                  </a:lnTo>
                  <a:lnTo>
                    <a:pt x="578" y="519"/>
                  </a:lnTo>
                  <a:lnTo>
                    <a:pt x="562" y="526"/>
                  </a:lnTo>
                  <a:lnTo>
                    <a:pt x="547" y="536"/>
                  </a:lnTo>
                  <a:lnTo>
                    <a:pt x="534" y="546"/>
                  </a:lnTo>
                  <a:lnTo>
                    <a:pt x="521" y="558"/>
                  </a:lnTo>
                  <a:lnTo>
                    <a:pt x="509" y="571"/>
                  </a:lnTo>
                  <a:lnTo>
                    <a:pt x="498" y="585"/>
                  </a:lnTo>
                  <a:lnTo>
                    <a:pt x="490" y="599"/>
                  </a:lnTo>
                  <a:lnTo>
                    <a:pt x="482" y="615"/>
                  </a:lnTo>
                  <a:lnTo>
                    <a:pt x="476" y="631"/>
                  </a:lnTo>
                  <a:lnTo>
                    <a:pt x="471" y="648"/>
                  </a:lnTo>
                  <a:lnTo>
                    <a:pt x="469" y="667"/>
                  </a:lnTo>
                  <a:lnTo>
                    <a:pt x="468" y="685"/>
                  </a:lnTo>
                  <a:lnTo>
                    <a:pt x="469" y="703"/>
                  </a:lnTo>
                  <a:lnTo>
                    <a:pt x="471" y="721"/>
                  </a:lnTo>
                  <a:lnTo>
                    <a:pt x="476" y="738"/>
                  </a:lnTo>
                  <a:lnTo>
                    <a:pt x="482" y="755"/>
                  </a:lnTo>
                  <a:lnTo>
                    <a:pt x="490" y="770"/>
                  </a:lnTo>
                  <a:lnTo>
                    <a:pt x="498" y="785"/>
                  </a:lnTo>
                  <a:lnTo>
                    <a:pt x="509" y="799"/>
                  </a:lnTo>
                  <a:lnTo>
                    <a:pt x="521" y="812"/>
                  </a:lnTo>
                  <a:lnTo>
                    <a:pt x="534" y="823"/>
                  </a:lnTo>
                  <a:lnTo>
                    <a:pt x="547" y="834"/>
                  </a:lnTo>
                  <a:lnTo>
                    <a:pt x="562" y="843"/>
                  </a:lnTo>
                  <a:lnTo>
                    <a:pt x="578" y="850"/>
                  </a:lnTo>
                  <a:lnTo>
                    <a:pt x="595" y="857"/>
                  </a:lnTo>
                  <a:lnTo>
                    <a:pt x="612" y="861"/>
                  </a:lnTo>
                  <a:lnTo>
                    <a:pt x="629" y="864"/>
                  </a:lnTo>
                  <a:lnTo>
                    <a:pt x="649" y="864"/>
                  </a:lnTo>
                  <a:lnTo>
                    <a:pt x="973" y="864"/>
                  </a:lnTo>
                  <a:lnTo>
                    <a:pt x="973" y="918"/>
                  </a:lnTo>
                  <a:close/>
                  <a:moveTo>
                    <a:pt x="900" y="289"/>
                  </a:moveTo>
                  <a:lnTo>
                    <a:pt x="900" y="324"/>
                  </a:lnTo>
                  <a:lnTo>
                    <a:pt x="792" y="324"/>
                  </a:lnTo>
                  <a:lnTo>
                    <a:pt x="198" y="324"/>
                  </a:lnTo>
                  <a:lnTo>
                    <a:pt x="184" y="324"/>
                  </a:lnTo>
                  <a:lnTo>
                    <a:pt x="170" y="321"/>
                  </a:lnTo>
                  <a:lnTo>
                    <a:pt x="157" y="318"/>
                  </a:lnTo>
                  <a:lnTo>
                    <a:pt x="144" y="312"/>
                  </a:lnTo>
                  <a:lnTo>
                    <a:pt x="144" y="289"/>
                  </a:lnTo>
                  <a:lnTo>
                    <a:pt x="900" y="289"/>
                  </a:lnTo>
                  <a:close/>
                  <a:moveTo>
                    <a:pt x="900" y="253"/>
                  </a:moveTo>
                  <a:lnTo>
                    <a:pt x="144" y="253"/>
                  </a:lnTo>
                  <a:lnTo>
                    <a:pt x="144" y="216"/>
                  </a:lnTo>
                  <a:lnTo>
                    <a:pt x="900" y="216"/>
                  </a:lnTo>
                  <a:lnTo>
                    <a:pt x="900" y="253"/>
                  </a:lnTo>
                  <a:close/>
                  <a:moveTo>
                    <a:pt x="900" y="181"/>
                  </a:moveTo>
                  <a:lnTo>
                    <a:pt x="144" y="181"/>
                  </a:lnTo>
                  <a:lnTo>
                    <a:pt x="144" y="145"/>
                  </a:lnTo>
                  <a:lnTo>
                    <a:pt x="900" y="145"/>
                  </a:lnTo>
                  <a:lnTo>
                    <a:pt x="900" y="181"/>
                  </a:lnTo>
                  <a:close/>
                  <a:moveTo>
                    <a:pt x="198" y="73"/>
                  </a:moveTo>
                  <a:lnTo>
                    <a:pt x="792" y="73"/>
                  </a:lnTo>
                  <a:lnTo>
                    <a:pt x="936" y="73"/>
                  </a:lnTo>
                  <a:lnTo>
                    <a:pt x="943" y="74"/>
                  </a:lnTo>
                  <a:lnTo>
                    <a:pt x="950" y="76"/>
                  </a:lnTo>
                  <a:lnTo>
                    <a:pt x="956" y="79"/>
                  </a:lnTo>
                  <a:lnTo>
                    <a:pt x="962" y="83"/>
                  </a:lnTo>
                  <a:lnTo>
                    <a:pt x="966" y="89"/>
                  </a:lnTo>
                  <a:lnTo>
                    <a:pt x="969" y="94"/>
                  </a:lnTo>
                  <a:lnTo>
                    <a:pt x="971" y="102"/>
                  </a:lnTo>
                  <a:lnTo>
                    <a:pt x="973" y="108"/>
                  </a:lnTo>
                  <a:lnTo>
                    <a:pt x="973" y="199"/>
                  </a:lnTo>
                  <a:lnTo>
                    <a:pt x="973" y="216"/>
                  </a:lnTo>
                  <a:lnTo>
                    <a:pt x="973" y="332"/>
                  </a:lnTo>
                  <a:lnTo>
                    <a:pt x="964" y="329"/>
                  </a:lnTo>
                  <a:lnTo>
                    <a:pt x="954" y="326"/>
                  </a:lnTo>
                  <a:lnTo>
                    <a:pt x="946" y="325"/>
                  </a:lnTo>
                  <a:lnTo>
                    <a:pt x="936" y="324"/>
                  </a:lnTo>
                  <a:lnTo>
                    <a:pt x="936" y="289"/>
                  </a:lnTo>
                  <a:lnTo>
                    <a:pt x="936" y="216"/>
                  </a:lnTo>
                  <a:lnTo>
                    <a:pt x="936" y="145"/>
                  </a:lnTo>
                  <a:lnTo>
                    <a:pt x="936" y="137"/>
                  </a:lnTo>
                  <a:lnTo>
                    <a:pt x="934" y="131"/>
                  </a:lnTo>
                  <a:lnTo>
                    <a:pt x="929" y="124"/>
                  </a:lnTo>
                  <a:lnTo>
                    <a:pt x="925" y="119"/>
                  </a:lnTo>
                  <a:lnTo>
                    <a:pt x="920" y="115"/>
                  </a:lnTo>
                  <a:lnTo>
                    <a:pt x="914" y="112"/>
                  </a:lnTo>
                  <a:lnTo>
                    <a:pt x="908" y="109"/>
                  </a:lnTo>
                  <a:lnTo>
                    <a:pt x="900" y="108"/>
                  </a:lnTo>
                  <a:lnTo>
                    <a:pt x="144" y="108"/>
                  </a:lnTo>
                  <a:lnTo>
                    <a:pt x="137" y="109"/>
                  </a:lnTo>
                  <a:lnTo>
                    <a:pt x="130" y="112"/>
                  </a:lnTo>
                  <a:lnTo>
                    <a:pt x="124" y="115"/>
                  </a:lnTo>
                  <a:lnTo>
                    <a:pt x="118" y="119"/>
                  </a:lnTo>
                  <a:lnTo>
                    <a:pt x="114" y="124"/>
                  </a:lnTo>
                  <a:lnTo>
                    <a:pt x="111" y="131"/>
                  </a:lnTo>
                  <a:lnTo>
                    <a:pt x="108" y="137"/>
                  </a:lnTo>
                  <a:lnTo>
                    <a:pt x="108" y="145"/>
                  </a:lnTo>
                  <a:lnTo>
                    <a:pt x="108" y="216"/>
                  </a:lnTo>
                  <a:lnTo>
                    <a:pt x="108" y="286"/>
                  </a:lnTo>
                  <a:lnTo>
                    <a:pt x="100" y="278"/>
                  </a:lnTo>
                  <a:lnTo>
                    <a:pt x="93" y="268"/>
                  </a:lnTo>
                  <a:lnTo>
                    <a:pt x="87" y="258"/>
                  </a:lnTo>
                  <a:lnTo>
                    <a:pt x="81" y="247"/>
                  </a:lnTo>
                  <a:lnTo>
                    <a:pt x="77" y="236"/>
                  </a:lnTo>
                  <a:lnTo>
                    <a:pt x="75" y="224"/>
                  </a:lnTo>
                  <a:lnTo>
                    <a:pt x="73" y="211"/>
                  </a:lnTo>
                  <a:lnTo>
                    <a:pt x="72" y="199"/>
                  </a:lnTo>
                  <a:lnTo>
                    <a:pt x="73" y="186"/>
                  </a:lnTo>
                  <a:lnTo>
                    <a:pt x="75" y="173"/>
                  </a:lnTo>
                  <a:lnTo>
                    <a:pt x="77" y="161"/>
                  </a:lnTo>
                  <a:lnTo>
                    <a:pt x="81" y="149"/>
                  </a:lnTo>
                  <a:lnTo>
                    <a:pt x="87" y="139"/>
                  </a:lnTo>
                  <a:lnTo>
                    <a:pt x="93" y="128"/>
                  </a:lnTo>
                  <a:lnTo>
                    <a:pt x="101" y="119"/>
                  </a:lnTo>
                  <a:lnTo>
                    <a:pt x="108" y="109"/>
                  </a:lnTo>
                  <a:lnTo>
                    <a:pt x="118" y="102"/>
                  </a:lnTo>
                  <a:lnTo>
                    <a:pt x="128" y="94"/>
                  </a:lnTo>
                  <a:lnTo>
                    <a:pt x="138" y="88"/>
                  </a:lnTo>
                  <a:lnTo>
                    <a:pt x="148" y="82"/>
                  </a:lnTo>
                  <a:lnTo>
                    <a:pt x="160" y="78"/>
                  </a:lnTo>
                  <a:lnTo>
                    <a:pt x="172" y="75"/>
                  </a:lnTo>
                  <a:lnTo>
                    <a:pt x="185" y="74"/>
                  </a:lnTo>
                  <a:lnTo>
                    <a:pt x="198" y="73"/>
                  </a:lnTo>
                  <a:close/>
                  <a:moveTo>
                    <a:pt x="1044" y="432"/>
                  </a:moveTo>
                  <a:lnTo>
                    <a:pt x="1044" y="432"/>
                  </a:lnTo>
                  <a:lnTo>
                    <a:pt x="1044" y="216"/>
                  </a:lnTo>
                  <a:lnTo>
                    <a:pt x="1044" y="199"/>
                  </a:lnTo>
                  <a:lnTo>
                    <a:pt x="1044" y="108"/>
                  </a:lnTo>
                  <a:lnTo>
                    <a:pt x="1044" y="97"/>
                  </a:lnTo>
                  <a:lnTo>
                    <a:pt x="1042" y="87"/>
                  </a:lnTo>
                  <a:lnTo>
                    <a:pt x="1039" y="77"/>
                  </a:lnTo>
                  <a:lnTo>
                    <a:pt x="1035" y="66"/>
                  </a:lnTo>
                  <a:lnTo>
                    <a:pt x="1031" y="58"/>
                  </a:lnTo>
                  <a:lnTo>
                    <a:pt x="1025" y="48"/>
                  </a:lnTo>
                  <a:lnTo>
                    <a:pt x="1019" y="40"/>
                  </a:lnTo>
                  <a:lnTo>
                    <a:pt x="1012" y="33"/>
                  </a:lnTo>
                  <a:lnTo>
                    <a:pt x="1005" y="25"/>
                  </a:lnTo>
                  <a:lnTo>
                    <a:pt x="996" y="19"/>
                  </a:lnTo>
                  <a:lnTo>
                    <a:pt x="988" y="13"/>
                  </a:lnTo>
                  <a:lnTo>
                    <a:pt x="978" y="9"/>
                  </a:lnTo>
                  <a:lnTo>
                    <a:pt x="968" y="6"/>
                  </a:lnTo>
                  <a:lnTo>
                    <a:pt x="957" y="2"/>
                  </a:lnTo>
                  <a:lnTo>
                    <a:pt x="947" y="1"/>
                  </a:lnTo>
                  <a:lnTo>
                    <a:pt x="936" y="0"/>
                  </a:lnTo>
                  <a:lnTo>
                    <a:pt x="792" y="0"/>
                  </a:lnTo>
                  <a:lnTo>
                    <a:pt x="198" y="0"/>
                  </a:lnTo>
                  <a:lnTo>
                    <a:pt x="178" y="1"/>
                  </a:lnTo>
                  <a:lnTo>
                    <a:pt x="158" y="5"/>
                  </a:lnTo>
                  <a:lnTo>
                    <a:pt x="139" y="10"/>
                  </a:lnTo>
                  <a:lnTo>
                    <a:pt x="121" y="16"/>
                  </a:lnTo>
                  <a:lnTo>
                    <a:pt x="104" y="25"/>
                  </a:lnTo>
                  <a:lnTo>
                    <a:pt x="87" y="35"/>
                  </a:lnTo>
                  <a:lnTo>
                    <a:pt x="72" y="46"/>
                  </a:lnTo>
                  <a:lnTo>
                    <a:pt x="58" y="59"/>
                  </a:lnTo>
                  <a:lnTo>
                    <a:pt x="45" y="73"/>
                  </a:lnTo>
                  <a:lnTo>
                    <a:pt x="34" y="88"/>
                  </a:lnTo>
                  <a:lnTo>
                    <a:pt x="24" y="104"/>
                  </a:lnTo>
                  <a:lnTo>
                    <a:pt x="16" y="121"/>
                  </a:lnTo>
                  <a:lnTo>
                    <a:pt x="9" y="140"/>
                  </a:lnTo>
                  <a:lnTo>
                    <a:pt x="4" y="159"/>
                  </a:lnTo>
                  <a:lnTo>
                    <a:pt x="0" y="178"/>
                  </a:lnTo>
                  <a:lnTo>
                    <a:pt x="0" y="199"/>
                  </a:lnTo>
                  <a:lnTo>
                    <a:pt x="0" y="918"/>
                  </a:lnTo>
                  <a:lnTo>
                    <a:pt x="0" y="939"/>
                  </a:lnTo>
                  <a:lnTo>
                    <a:pt x="4" y="958"/>
                  </a:lnTo>
                  <a:lnTo>
                    <a:pt x="9" y="978"/>
                  </a:lnTo>
                  <a:lnTo>
                    <a:pt x="16" y="996"/>
                  </a:lnTo>
                  <a:lnTo>
                    <a:pt x="24" y="1013"/>
                  </a:lnTo>
                  <a:lnTo>
                    <a:pt x="34" y="1030"/>
                  </a:lnTo>
                  <a:lnTo>
                    <a:pt x="45" y="1045"/>
                  </a:lnTo>
                  <a:lnTo>
                    <a:pt x="58" y="1059"/>
                  </a:lnTo>
                  <a:lnTo>
                    <a:pt x="72" y="1072"/>
                  </a:lnTo>
                  <a:lnTo>
                    <a:pt x="87" y="1082"/>
                  </a:lnTo>
                  <a:lnTo>
                    <a:pt x="104" y="1093"/>
                  </a:lnTo>
                  <a:lnTo>
                    <a:pt x="121" y="1101"/>
                  </a:lnTo>
                  <a:lnTo>
                    <a:pt x="139" y="1107"/>
                  </a:lnTo>
                  <a:lnTo>
                    <a:pt x="158" y="1113"/>
                  </a:lnTo>
                  <a:lnTo>
                    <a:pt x="178" y="1116"/>
                  </a:lnTo>
                  <a:lnTo>
                    <a:pt x="198" y="1117"/>
                  </a:lnTo>
                  <a:lnTo>
                    <a:pt x="846" y="1117"/>
                  </a:lnTo>
                  <a:lnTo>
                    <a:pt x="867" y="1116"/>
                  </a:lnTo>
                  <a:lnTo>
                    <a:pt x="886" y="1113"/>
                  </a:lnTo>
                  <a:lnTo>
                    <a:pt x="904" y="1107"/>
                  </a:lnTo>
                  <a:lnTo>
                    <a:pt x="923" y="1101"/>
                  </a:lnTo>
                  <a:lnTo>
                    <a:pt x="940" y="1093"/>
                  </a:lnTo>
                  <a:lnTo>
                    <a:pt x="956" y="1082"/>
                  </a:lnTo>
                  <a:lnTo>
                    <a:pt x="971" y="1072"/>
                  </a:lnTo>
                  <a:lnTo>
                    <a:pt x="985" y="1059"/>
                  </a:lnTo>
                  <a:lnTo>
                    <a:pt x="998" y="1045"/>
                  </a:lnTo>
                  <a:lnTo>
                    <a:pt x="1010" y="1030"/>
                  </a:lnTo>
                  <a:lnTo>
                    <a:pt x="1020" y="1013"/>
                  </a:lnTo>
                  <a:lnTo>
                    <a:pt x="1029" y="996"/>
                  </a:lnTo>
                  <a:lnTo>
                    <a:pt x="1035" y="978"/>
                  </a:lnTo>
                  <a:lnTo>
                    <a:pt x="1039" y="958"/>
                  </a:lnTo>
                  <a:lnTo>
                    <a:pt x="1043" y="939"/>
                  </a:lnTo>
                  <a:lnTo>
                    <a:pt x="1044" y="918"/>
                  </a:lnTo>
                  <a:lnTo>
                    <a:pt x="1044" y="864"/>
                  </a:lnTo>
                  <a:lnTo>
                    <a:pt x="1044" y="864"/>
                  </a:lnTo>
                  <a:lnTo>
                    <a:pt x="1057" y="855"/>
                  </a:lnTo>
                  <a:lnTo>
                    <a:pt x="1070" y="844"/>
                  </a:lnTo>
                  <a:lnTo>
                    <a:pt x="1081" y="832"/>
                  </a:lnTo>
                  <a:lnTo>
                    <a:pt x="1091" y="820"/>
                  </a:lnTo>
                  <a:lnTo>
                    <a:pt x="1101" y="807"/>
                  </a:lnTo>
                  <a:lnTo>
                    <a:pt x="1110" y="794"/>
                  </a:lnTo>
                  <a:lnTo>
                    <a:pt x="1118" y="780"/>
                  </a:lnTo>
                  <a:lnTo>
                    <a:pt x="1125" y="767"/>
                  </a:lnTo>
                  <a:lnTo>
                    <a:pt x="1131" y="753"/>
                  </a:lnTo>
                  <a:lnTo>
                    <a:pt x="1137" y="738"/>
                  </a:lnTo>
                  <a:lnTo>
                    <a:pt x="1141" y="724"/>
                  </a:lnTo>
                  <a:lnTo>
                    <a:pt x="1145" y="709"/>
                  </a:lnTo>
                  <a:lnTo>
                    <a:pt x="1149" y="694"/>
                  </a:lnTo>
                  <a:lnTo>
                    <a:pt x="1151" y="679"/>
                  </a:lnTo>
                  <a:lnTo>
                    <a:pt x="1152" y="663"/>
                  </a:lnTo>
                  <a:lnTo>
                    <a:pt x="1152" y="648"/>
                  </a:lnTo>
                  <a:lnTo>
                    <a:pt x="1152" y="633"/>
                  </a:lnTo>
                  <a:lnTo>
                    <a:pt x="1151" y="618"/>
                  </a:lnTo>
                  <a:lnTo>
                    <a:pt x="1149" y="603"/>
                  </a:lnTo>
                  <a:lnTo>
                    <a:pt x="1145" y="589"/>
                  </a:lnTo>
                  <a:lnTo>
                    <a:pt x="1141" y="574"/>
                  </a:lnTo>
                  <a:lnTo>
                    <a:pt x="1137" y="559"/>
                  </a:lnTo>
                  <a:lnTo>
                    <a:pt x="1131" y="545"/>
                  </a:lnTo>
                  <a:lnTo>
                    <a:pt x="1125" y="531"/>
                  </a:lnTo>
                  <a:lnTo>
                    <a:pt x="1118" y="517"/>
                  </a:lnTo>
                  <a:lnTo>
                    <a:pt x="1110" y="504"/>
                  </a:lnTo>
                  <a:lnTo>
                    <a:pt x="1101" y="491"/>
                  </a:lnTo>
                  <a:lnTo>
                    <a:pt x="1091" y="478"/>
                  </a:lnTo>
                  <a:lnTo>
                    <a:pt x="1081" y="466"/>
                  </a:lnTo>
                  <a:lnTo>
                    <a:pt x="1070" y="454"/>
                  </a:lnTo>
                  <a:lnTo>
                    <a:pt x="1057" y="443"/>
                  </a:lnTo>
                  <a:lnTo>
                    <a:pt x="1044" y="432"/>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grpSp>
      <p:grpSp>
        <p:nvGrpSpPr>
          <p:cNvPr id="13" name="Group 99"/>
          <p:cNvGrpSpPr/>
          <p:nvPr>
            <p:custDataLst>
              <p:tags r:id="rId6"/>
            </p:custDataLst>
          </p:nvPr>
        </p:nvGrpSpPr>
        <p:grpSpPr>
          <a:xfrm>
            <a:off x="1403728" y="1993586"/>
            <a:ext cx="743585" cy="743585"/>
            <a:chOff x="6257131" y="1818084"/>
            <a:chExt cx="457200" cy="457200"/>
          </a:xfrm>
          <a:solidFill>
            <a:srgbClr val="6696B6"/>
          </a:solidFill>
        </p:grpSpPr>
        <p:sp>
          <p:nvSpPr>
            <p:cNvPr id="15" name="Freeform 85"/>
            <p:cNvSpPr>
              <a:spLocks noEditPoints="1"/>
            </p:cNvSpPr>
            <p:nvPr>
              <p:custDataLst>
                <p:tags r:id="rId7"/>
              </p:custDataLst>
            </p:nvPr>
          </p:nvSpPr>
          <p:spPr bwMode="auto">
            <a:xfrm>
              <a:off x="6257131" y="1818084"/>
              <a:ext cx="457200" cy="457200"/>
            </a:xfrm>
            <a:custGeom>
              <a:avLst/>
              <a:gdLst>
                <a:gd name="T0" fmla="*/ 1079 w 1152"/>
                <a:gd name="T1" fmla="*/ 1022 h 1152"/>
                <a:gd name="T2" fmla="*/ 1071 w 1152"/>
                <a:gd name="T3" fmla="*/ 1042 h 1152"/>
                <a:gd name="T4" fmla="*/ 1058 w 1152"/>
                <a:gd name="T5" fmla="*/ 1059 h 1152"/>
                <a:gd name="T6" fmla="*/ 1042 w 1152"/>
                <a:gd name="T7" fmla="*/ 1071 h 1152"/>
                <a:gd name="T8" fmla="*/ 1023 w 1152"/>
                <a:gd name="T9" fmla="*/ 1079 h 1152"/>
                <a:gd name="T10" fmla="*/ 144 w 1152"/>
                <a:gd name="T11" fmla="*/ 1080 h 1152"/>
                <a:gd name="T12" fmla="*/ 123 w 1152"/>
                <a:gd name="T13" fmla="*/ 1076 h 1152"/>
                <a:gd name="T14" fmla="*/ 104 w 1152"/>
                <a:gd name="T15" fmla="*/ 1068 h 1152"/>
                <a:gd name="T16" fmla="*/ 89 w 1152"/>
                <a:gd name="T17" fmla="*/ 1054 h 1152"/>
                <a:gd name="T18" fmla="*/ 78 w 1152"/>
                <a:gd name="T19" fmla="*/ 1035 h 1152"/>
                <a:gd name="T20" fmla="*/ 72 w 1152"/>
                <a:gd name="T21" fmla="*/ 1015 h 1152"/>
                <a:gd name="T22" fmla="*/ 72 w 1152"/>
                <a:gd name="T23" fmla="*/ 280 h 1152"/>
                <a:gd name="T24" fmla="*/ 82 w 1152"/>
                <a:gd name="T25" fmla="*/ 262 h 1152"/>
                <a:gd name="T26" fmla="*/ 100 w 1152"/>
                <a:gd name="T27" fmla="*/ 252 h 1152"/>
                <a:gd name="T28" fmla="*/ 144 w 1152"/>
                <a:gd name="T29" fmla="*/ 972 h 1152"/>
                <a:gd name="T30" fmla="*/ 150 w 1152"/>
                <a:gd name="T31" fmla="*/ 992 h 1152"/>
                <a:gd name="T32" fmla="*/ 166 w 1152"/>
                <a:gd name="T33" fmla="*/ 1005 h 1152"/>
                <a:gd name="T34" fmla="*/ 187 w 1152"/>
                <a:gd name="T35" fmla="*/ 1007 h 1152"/>
                <a:gd name="T36" fmla="*/ 205 w 1152"/>
                <a:gd name="T37" fmla="*/ 998 h 1152"/>
                <a:gd name="T38" fmla="*/ 215 w 1152"/>
                <a:gd name="T39" fmla="*/ 979 h 1152"/>
                <a:gd name="T40" fmla="*/ 217 w 1152"/>
                <a:gd name="T41" fmla="*/ 100 h 1152"/>
                <a:gd name="T42" fmla="*/ 227 w 1152"/>
                <a:gd name="T43" fmla="*/ 83 h 1152"/>
                <a:gd name="T44" fmla="*/ 245 w 1152"/>
                <a:gd name="T45" fmla="*/ 73 h 1152"/>
                <a:gd name="T46" fmla="*/ 1051 w 1152"/>
                <a:gd name="T47" fmla="*/ 73 h 1152"/>
                <a:gd name="T48" fmla="*/ 1069 w 1152"/>
                <a:gd name="T49" fmla="*/ 83 h 1152"/>
                <a:gd name="T50" fmla="*/ 1079 w 1152"/>
                <a:gd name="T51" fmla="*/ 100 h 1152"/>
                <a:gd name="T52" fmla="*/ 1044 w 1152"/>
                <a:gd name="T53" fmla="*/ 0 h 1152"/>
                <a:gd name="T54" fmla="*/ 230 w 1152"/>
                <a:gd name="T55" fmla="*/ 2 h 1152"/>
                <a:gd name="T56" fmla="*/ 201 w 1152"/>
                <a:gd name="T57" fmla="*/ 13 h 1152"/>
                <a:gd name="T58" fmla="*/ 176 w 1152"/>
                <a:gd name="T59" fmla="*/ 31 h 1152"/>
                <a:gd name="T60" fmla="*/ 157 w 1152"/>
                <a:gd name="T61" fmla="*/ 56 h 1152"/>
                <a:gd name="T62" fmla="*/ 146 w 1152"/>
                <a:gd name="T63" fmla="*/ 86 h 1152"/>
                <a:gd name="T64" fmla="*/ 144 w 1152"/>
                <a:gd name="T65" fmla="*/ 180 h 1152"/>
                <a:gd name="T66" fmla="*/ 86 w 1152"/>
                <a:gd name="T67" fmla="*/ 182 h 1152"/>
                <a:gd name="T68" fmla="*/ 56 w 1152"/>
                <a:gd name="T69" fmla="*/ 193 h 1152"/>
                <a:gd name="T70" fmla="*/ 31 w 1152"/>
                <a:gd name="T71" fmla="*/ 211 h 1152"/>
                <a:gd name="T72" fmla="*/ 13 w 1152"/>
                <a:gd name="T73" fmla="*/ 236 h 1152"/>
                <a:gd name="T74" fmla="*/ 2 w 1152"/>
                <a:gd name="T75" fmla="*/ 266 h 1152"/>
                <a:gd name="T76" fmla="*/ 0 w 1152"/>
                <a:gd name="T77" fmla="*/ 1007 h 1152"/>
                <a:gd name="T78" fmla="*/ 6 w 1152"/>
                <a:gd name="T79" fmla="*/ 1050 h 1152"/>
                <a:gd name="T80" fmla="*/ 25 w 1152"/>
                <a:gd name="T81" fmla="*/ 1088 h 1152"/>
                <a:gd name="T82" fmla="*/ 53 w 1152"/>
                <a:gd name="T83" fmla="*/ 1119 h 1152"/>
                <a:gd name="T84" fmla="*/ 87 w 1152"/>
                <a:gd name="T85" fmla="*/ 1140 h 1152"/>
                <a:gd name="T86" fmla="*/ 130 w 1152"/>
                <a:gd name="T87" fmla="*/ 1151 h 1152"/>
                <a:gd name="T88" fmla="*/ 1023 w 1152"/>
                <a:gd name="T89" fmla="*/ 1151 h 1152"/>
                <a:gd name="T90" fmla="*/ 1064 w 1152"/>
                <a:gd name="T91" fmla="*/ 1140 h 1152"/>
                <a:gd name="T92" fmla="*/ 1099 w 1152"/>
                <a:gd name="T93" fmla="*/ 1119 h 1152"/>
                <a:gd name="T94" fmla="*/ 1128 w 1152"/>
                <a:gd name="T95" fmla="*/ 1088 h 1152"/>
                <a:gd name="T96" fmla="*/ 1146 w 1152"/>
                <a:gd name="T97" fmla="*/ 1050 h 1152"/>
                <a:gd name="T98" fmla="*/ 1152 w 1152"/>
                <a:gd name="T99" fmla="*/ 1007 h 1152"/>
                <a:gd name="T100" fmla="*/ 1150 w 1152"/>
                <a:gd name="T101" fmla="*/ 86 h 1152"/>
                <a:gd name="T102" fmla="*/ 1139 w 1152"/>
                <a:gd name="T103" fmla="*/ 56 h 1152"/>
                <a:gd name="T104" fmla="*/ 1120 w 1152"/>
                <a:gd name="T105" fmla="*/ 31 h 1152"/>
                <a:gd name="T106" fmla="*/ 1095 w 1152"/>
                <a:gd name="T107" fmla="*/ 13 h 1152"/>
                <a:gd name="T108" fmla="*/ 1066 w 1152"/>
                <a:gd name="T109" fmla="*/ 2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52" h="1152">
                  <a:moveTo>
                    <a:pt x="1080" y="1007"/>
                  </a:moveTo>
                  <a:lnTo>
                    <a:pt x="1080" y="1015"/>
                  </a:lnTo>
                  <a:lnTo>
                    <a:pt x="1079" y="1022"/>
                  </a:lnTo>
                  <a:lnTo>
                    <a:pt x="1077" y="1029"/>
                  </a:lnTo>
                  <a:lnTo>
                    <a:pt x="1075" y="1035"/>
                  </a:lnTo>
                  <a:lnTo>
                    <a:pt x="1071" y="1042"/>
                  </a:lnTo>
                  <a:lnTo>
                    <a:pt x="1068" y="1048"/>
                  </a:lnTo>
                  <a:lnTo>
                    <a:pt x="1064" y="1054"/>
                  </a:lnTo>
                  <a:lnTo>
                    <a:pt x="1058" y="1059"/>
                  </a:lnTo>
                  <a:lnTo>
                    <a:pt x="1054" y="1063"/>
                  </a:lnTo>
                  <a:lnTo>
                    <a:pt x="1049" y="1068"/>
                  </a:lnTo>
                  <a:lnTo>
                    <a:pt x="1042" y="1071"/>
                  </a:lnTo>
                  <a:lnTo>
                    <a:pt x="1036" y="1074"/>
                  </a:lnTo>
                  <a:lnTo>
                    <a:pt x="1029" y="1076"/>
                  </a:lnTo>
                  <a:lnTo>
                    <a:pt x="1023" y="1079"/>
                  </a:lnTo>
                  <a:lnTo>
                    <a:pt x="1015" y="1080"/>
                  </a:lnTo>
                  <a:lnTo>
                    <a:pt x="1008" y="1080"/>
                  </a:lnTo>
                  <a:lnTo>
                    <a:pt x="144" y="1080"/>
                  </a:lnTo>
                  <a:lnTo>
                    <a:pt x="137" y="1080"/>
                  </a:lnTo>
                  <a:lnTo>
                    <a:pt x="130" y="1079"/>
                  </a:lnTo>
                  <a:lnTo>
                    <a:pt x="123" y="1076"/>
                  </a:lnTo>
                  <a:lnTo>
                    <a:pt x="116" y="1074"/>
                  </a:lnTo>
                  <a:lnTo>
                    <a:pt x="110" y="1071"/>
                  </a:lnTo>
                  <a:lnTo>
                    <a:pt x="104" y="1068"/>
                  </a:lnTo>
                  <a:lnTo>
                    <a:pt x="98" y="1063"/>
                  </a:lnTo>
                  <a:lnTo>
                    <a:pt x="93" y="1059"/>
                  </a:lnTo>
                  <a:lnTo>
                    <a:pt x="89" y="1054"/>
                  </a:lnTo>
                  <a:lnTo>
                    <a:pt x="84" y="1048"/>
                  </a:lnTo>
                  <a:lnTo>
                    <a:pt x="81" y="1042"/>
                  </a:lnTo>
                  <a:lnTo>
                    <a:pt x="78" y="1035"/>
                  </a:lnTo>
                  <a:lnTo>
                    <a:pt x="76" y="1029"/>
                  </a:lnTo>
                  <a:lnTo>
                    <a:pt x="73" y="1022"/>
                  </a:lnTo>
                  <a:lnTo>
                    <a:pt x="72" y="1015"/>
                  </a:lnTo>
                  <a:lnTo>
                    <a:pt x="72" y="1007"/>
                  </a:lnTo>
                  <a:lnTo>
                    <a:pt x="72" y="288"/>
                  </a:lnTo>
                  <a:lnTo>
                    <a:pt x="72" y="280"/>
                  </a:lnTo>
                  <a:lnTo>
                    <a:pt x="75" y="274"/>
                  </a:lnTo>
                  <a:lnTo>
                    <a:pt x="78" y="267"/>
                  </a:lnTo>
                  <a:lnTo>
                    <a:pt x="82" y="262"/>
                  </a:lnTo>
                  <a:lnTo>
                    <a:pt x="87" y="258"/>
                  </a:lnTo>
                  <a:lnTo>
                    <a:pt x="94" y="255"/>
                  </a:lnTo>
                  <a:lnTo>
                    <a:pt x="100" y="252"/>
                  </a:lnTo>
                  <a:lnTo>
                    <a:pt x="108" y="252"/>
                  </a:lnTo>
                  <a:lnTo>
                    <a:pt x="144" y="252"/>
                  </a:lnTo>
                  <a:lnTo>
                    <a:pt x="144" y="972"/>
                  </a:lnTo>
                  <a:lnTo>
                    <a:pt x="145" y="979"/>
                  </a:lnTo>
                  <a:lnTo>
                    <a:pt x="147" y="986"/>
                  </a:lnTo>
                  <a:lnTo>
                    <a:pt x="150" y="992"/>
                  </a:lnTo>
                  <a:lnTo>
                    <a:pt x="154" y="998"/>
                  </a:lnTo>
                  <a:lnTo>
                    <a:pt x="160" y="1002"/>
                  </a:lnTo>
                  <a:lnTo>
                    <a:pt x="166" y="1005"/>
                  </a:lnTo>
                  <a:lnTo>
                    <a:pt x="173" y="1007"/>
                  </a:lnTo>
                  <a:lnTo>
                    <a:pt x="180" y="1007"/>
                  </a:lnTo>
                  <a:lnTo>
                    <a:pt x="187" y="1007"/>
                  </a:lnTo>
                  <a:lnTo>
                    <a:pt x="194" y="1005"/>
                  </a:lnTo>
                  <a:lnTo>
                    <a:pt x="200" y="1002"/>
                  </a:lnTo>
                  <a:lnTo>
                    <a:pt x="205" y="998"/>
                  </a:lnTo>
                  <a:lnTo>
                    <a:pt x="210" y="992"/>
                  </a:lnTo>
                  <a:lnTo>
                    <a:pt x="213" y="986"/>
                  </a:lnTo>
                  <a:lnTo>
                    <a:pt x="215" y="979"/>
                  </a:lnTo>
                  <a:lnTo>
                    <a:pt x="216" y="972"/>
                  </a:lnTo>
                  <a:lnTo>
                    <a:pt x="216" y="108"/>
                  </a:lnTo>
                  <a:lnTo>
                    <a:pt x="217" y="100"/>
                  </a:lnTo>
                  <a:lnTo>
                    <a:pt x="219" y="94"/>
                  </a:lnTo>
                  <a:lnTo>
                    <a:pt x="222" y="88"/>
                  </a:lnTo>
                  <a:lnTo>
                    <a:pt x="227" y="83"/>
                  </a:lnTo>
                  <a:lnTo>
                    <a:pt x="232" y="78"/>
                  </a:lnTo>
                  <a:lnTo>
                    <a:pt x="238" y="74"/>
                  </a:lnTo>
                  <a:lnTo>
                    <a:pt x="245" y="73"/>
                  </a:lnTo>
                  <a:lnTo>
                    <a:pt x="252" y="72"/>
                  </a:lnTo>
                  <a:lnTo>
                    <a:pt x="1044" y="72"/>
                  </a:lnTo>
                  <a:lnTo>
                    <a:pt x="1051" y="73"/>
                  </a:lnTo>
                  <a:lnTo>
                    <a:pt x="1058" y="74"/>
                  </a:lnTo>
                  <a:lnTo>
                    <a:pt x="1064" y="78"/>
                  </a:lnTo>
                  <a:lnTo>
                    <a:pt x="1069" y="83"/>
                  </a:lnTo>
                  <a:lnTo>
                    <a:pt x="1074" y="88"/>
                  </a:lnTo>
                  <a:lnTo>
                    <a:pt x="1077" y="94"/>
                  </a:lnTo>
                  <a:lnTo>
                    <a:pt x="1079" y="100"/>
                  </a:lnTo>
                  <a:lnTo>
                    <a:pt x="1080" y="108"/>
                  </a:lnTo>
                  <a:lnTo>
                    <a:pt x="1080" y="1007"/>
                  </a:lnTo>
                  <a:close/>
                  <a:moveTo>
                    <a:pt x="1044" y="0"/>
                  </a:moveTo>
                  <a:lnTo>
                    <a:pt x="252" y="0"/>
                  </a:lnTo>
                  <a:lnTo>
                    <a:pt x="241" y="1"/>
                  </a:lnTo>
                  <a:lnTo>
                    <a:pt x="230" y="2"/>
                  </a:lnTo>
                  <a:lnTo>
                    <a:pt x="220" y="5"/>
                  </a:lnTo>
                  <a:lnTo>
                    <a:pt x="210" y="8"/>
                  </a:lnTo>
                  <a:lnTo>
                    <a:pt x="201" y="13"/>
                  </a:lnTo>
                  <a:lnTo>
                    <a:pt x="191" y="18"/>
                  </a:lnTo>
                  <a:lnTo>
                    <a:pt x="184" y="24"/>
                  </a:lnTo>
                  <a:lnTo>
                    <a:pt x="176" y="31"/>
                  </a:lnTo>
                  <a:lnTo>
                    <a:pt x="168" y="40"/>
                  </a:lnTo>
                  <a:lnTo>
                    <a:pt x="162" y="47"/>
                  </a:lnTo>
                  <a:lnTo>
                    <a:pt x="157" y="56"/>
                  </a:lnTo>
                  <a:lnTo>
                    <a:pt x="152" y="66"/>
                  </a:lnTo>
                  <a:lnTo>
                    <a:pt x="149" y="75"/>
                  </a:lnTo>
                  <a:lnTo>
                    <a:pt x="146" y="86"/>
                  </a:lnTo>
                  <a:lnTo>
                    <a:pt x="145" y="97"/>
                  </a:lnTo>
                  <a:lnTo>
                    <a:pt x="144" y="108"/>
                  </a:lnTo>
                  <a:lnTo>
                    <a:pt x="144" y="180"/>
                  </a:lnTo>
                  <a:lnTo>
                    <a:pt x="108" y="180"/>
                  </a:lnTo>
                  <a:lnTo>
                    <a:pt x="97" y="180"/>
                  </a:lnTo>
                  <a:lnTo>
                    <a:pt x="86" y="182"/>
                  </a:lnTo>
                  <a:lnTo>
                    <a:pt x="76" y="184"/>
                  </a:lnTo>
                  <a:lnTo>
                    <a:pt x="66" y="189"/>
                  </a:lnTo>
                  <a:lnTo>
                    <a:pt x="56" y="193"/>
                  </a:lnTo>
                  <a:lnTo>
                    <a:pt x="48" y="198"/>
                  </a:lnTo>
                  <a:lnTo>
                    <a:pt x="39" y="205"/>
                  </a:lnTo>
                  <a:lnTo>
                    <a:pt x="31" y="211"/>
                  </a:lnTo>
                  <a:lnTo>
                    <a:pt x="25" y="219"/>
                  </a:lnTo>
                  <a:lnTo>
                    <a:pt x="18" y="228"/>
                  </a:lnTo>
                  <a:lnTo>
                    <a:pt x="13" y="236"/>
                  </a:lnTo>
                  <a:lnTo>
                    <a:pt x="9" y="246"/>
                  </a:lnTo>
                  <a:lnTo>
                    <a:pt x="4" y="256"/>
                  </a:lnTo>
                  <a:lnTo>
                    <a:pt x="2" y="266"/>
                  </a:lnTo>
                  <a:lnTo>
                    <a:pt x="1" y="277"/>
                  </a:lnTo>
                  <a:lnTo>
                    <a:pt x="0" y="288"/>
                  </a:lnTo>
                  <a:lnTo>
                    <a:pt x="0" y="1007"/>
                  </a:lnTo>
                  <a:lnTo>
                    <a:pt x="1" y="1022"/>
                  </a:lnTo>
                  <a:lnTo>
                    <a:pt x="3" y="1036"/>
                  </a:lnTo>
                  <a:lnTo>
                    <a:pt x="6" y="1050"/>
                  </a:lnTo>
                  <a:lnTo>
                    <a:pt x="11" y="1063"/>
                  </a:lnTo>
                  <a:lnTo>
                    <a:pt x="17" y="1076"/>
                  </a:lnTo>
                  <a:lnTo>
                    <a:pt x="25" y="1088"/>
                  </a:lnTo>
                  <a:lnTo>
                    <a:pt x="32" y="1099"/>
                  </a:lnTo>
                  <a:lnTo>
                    <a:pt x="42" y="1110"/>
                  </a:lnTo>
                  <a:lnTo>
                    <a:pt x="53" y="1119"/>
                  </a:lnTo>
                  <a:lnTo>
                    <a:pt x="64" y="1127"/>
                  </a:lnTo>
                  <a:lnTo>
                    <a:pt x="76" y="1135"/>
                  </a:lnTo>
                  <a:lnTo>
                    <a:pt x="87" y="1140"/>
                  </a:lnTo>
                  <a:lnTo>
                    <a:pt x="102" y="1146"/>
                  </a:lnTo>
                  <a:lnTo>
                    <a:pt x="114" y="1149"/>
                  </a:lnTo>
                  <a:lnTo>
                    <a:pt x="130" y="1151"/>
                  </a:lnTo>
                  <a:lnTo>
                    <a:pt x="144" y="1152"/>
                  </a:lnTo>
                  <a:lnTo>
                    <a:pt x="1008" y="1152"/>
                  </a:lnTo>
                  <a:lnTo>
                    <a:pt x="1023" y="1151"/>
                  </a:lnTo>
                  <a:lnTo>
                    <a:pt x="1037" y="1149"/>
                  </a:lnTo>
                  <a:lnTo>
                    <a:pt x="1051" y="1146"/>
                  </a:lnTo>
                  <a:lnTo>
                    <a:pt x="1064" y="1140"/>
                  </a:lnTo>
                  <a:lnTo>
                    <a:pt x="1077" y="1135"/>
                  </a:lnTo>
                  <a:lnTo>
                    <a:pt x="1089" y="1127"/>
                  </a:lnTo>
                  <a:lnTo>
                    <a:pt x="1099" y="1119"/>
                  </a:lnTo>
                  <a:lnTo>
                    <a:pt x="1110" y="1110"/>
                  </a:lnTo>
                  <a:lnTo>
                    <a:pt x="1119" y="1099"/>
                  </a:lnTo>
                  <a:lnTo>
                    <a:pt x="1128" y="1088"/>
                  </a:lnTo>
                  <a:lnTo>
                    <a:pt x="1135" y="1076"/>
                  </a:lnTo>
                  <a:lnTo>
                    <a:pt x="1141" y="1063"/>
                  </a:lnTo>
                  <a:lnTo>
                    <a:pt x="1146" y="1050"/>
                  </a:lnTo>
                  <a:lnTo>
                    <a:pt x="1149" y="1036"/>
                  </a:lnTo>
                  <a:lnTo>
                    <a:pt x="1151" y="1022"/>
                  </a:lnTo>
                  <a:lnTo>
                    <a:pt x="1152" y="1007"/>
                  </a:lnTo>
                  <a:lnTo>
                    <a:pt x="1152" y="108"/>
                  </a:lnTo>
                  <a:lnTo>
                    <a:pt x="1151" y="97"/>
                  </a:lnTo>
                  <a:lnTo>
                    <a:pt x="1150" y="86"/>
                  </a:lnTo>
                  <a:lnTo>
                    <a:pt x="1147" y="75"/>
                  </a:lnTo>
                  <a:lnTo>
                    <a:pt x="1144" y="66"/>
                  </a:lnTo>
                  <a:lnTo>
                    <a:pt x="1139" y="56"/>
                  </a:lnTo>
                  <a:lnTo>
                    <a:pt x="1134" y="47"/>
                  </a:lnTo>
                  <a:lnTo>
                    <a:pt x="1128" y="40"/>
                  </a:lnTo>
                  <a:lnTo>
                    <a:pt x="1120" y="31"/>
                  </a:lnTo>
                  <a:lnTo>
                    <a:pt x="1112" y="24"/>
                  </a:lnTo>
                  <a:lnTo>
                    <a:pt x="1105" y="18"/>
                  </a:lnTo>
                  <a:lnTo>
                    <a:pt x="1095" y="13"/>
                  </a:lnTo>
                  <a:lnTo>
                    <a:pt x="1087" y="8"/>
                  </a:lnTo>
                  <a:lnTo>
                    <a:pt x="1076" y="5"/>
                  </a:lnTo>
                  <a:lnTo>
                    <a:pt x="1066" y="2"/>
                  </a:lnTo>
                  <a:lnTo>
                    <a:pt x="1055" y="1"/>
                  </a:lnTo>
                  <a:lnTo>
                    <a:pt x="1044" y="0"/>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16" name="Freeform 86"/>
            <p:cNvSpPr/>
            <p:nvPr>
              <p:custDataLst>
                <p:tags r:id="rId8"/>
              </p:custDataLst>
            </p:nvPr>
          </p:nvSpPr>
          <p:spPr bwMode="auto">
            <a:xfrm>
              <a:off x="6528594" y="1989534"/>
              <a:ext cx="128588" cy="14288"/>
            </a:xfrm>
            <a:custGeom>
              <a:avLst/>
              <a:gdLst>
                <a:gd name="T0" fmla="*/ 18 w 324"/>
                <a:gd name="T1" fmla="*/ 36 h 36"/>
                <a:gd name="T2" fmla="*/ 306 w 324"/>
                <a:gd name="T3" fmla="*/ 36 h 36"/>
                <a:gd name="T4" fmla="*/ 310 w 324"/>
                <a:gd name="T5" fmla="*/ 35 h 36"/>
                <a:gd name="T6" fmla="*/ 313 w 324"/>
                <a:gd name="T7" fmla="*/ 34 h 36"/>
                <a:gd name="T8" fmla="*/ 316 w 324"/>
                <a:gd name="T9" fmla="*/ 33 h 36"/>
                <a:gd name="T10" fmla="*/ 318 w 324"/>
                <a:gd name="T11" fmla="*/ 31 h 36"/>
                <a:gd name="T12" fmla="*/ 320 w 324"/>
                <a:gd name="T13" fmla="*/ 28 h 36"/>
                <a:gd name="T14" fmla="*/ 323 w 324"/>
                <a:gd name="T15" fmla="*/ 26 h 36"/>
                <a:gd name="T16" fmla="*/ 324 w 324"/>
                <a:gd name="T17" fmla="*/ 21 h 36"/>
                <a:gd name="T18" fmla="*/ 324 w 324"/>
                <a:gd name="T19" fmla="*/ 18 h 36"/>
                <a:gd name="T20" fmla="*/ 324 w 324"/>
                <a:gd name="T21" fmla="*/ 15 h 36"/>
                <a:gd name="T22" fmla="*/ 323 w 324"/>
                <a:gd name="T23" fmla="*/ 12 h 36"/>
                <a:gd name="T24" fmla="*/ 320 w 324"/>
                <a:gd name="T25" fmla="*/ 8 h 36"/>
                <a:gd name="T26" fmla="*/ 318 w 324"/>
                <a:gd name="T27" fmla="*/ 5 h 36"/>
                <a:gd name="T28" fmla="*/ 316 w 324"/>
                <a:gd name="T29" fmla="*/ 3 h 36"/>
                <a:gd name="T30" fmla="*/ 313 w 324"/>
                <a:gd name="T31" fmla="*/ 2 h 36"/>
                <a:gd name="T32" fmla="*/ 310 w 324"/>
                <a:gd name="T33" fmla="*/ 1 h 36"/>
                <a:gd name="T34" fmla="*/ 306 w 324"/>
                <a:gd name="T35" fmla="*/ 0 h 36"/>
                <a:gd name="T36" fmla="*/ 18 w 324"/>
                <a:gd name="T37" fmla="*/ 0 h 36"/>
                <a:gd name="T38" fmla="*/ 15 w 324"/>
                <a:gd name="T39" fmla="*/ 1 h 36"/>
                <a:gd name="T40" fmla="*/ 10 w 324"/>
                <a:gd name="T41" fmla="*/ 2 h 36"/>
                <a:gd name="T42" fmla="*/ 8 w 324"/>
                <a:gd name="T43" fmla="*/ 3 h 36"/>
                <a:gd name="T44" fmla="*/ 5 w 324"/>
                <a:gd name="T45" fmla="*/ 5 h 36"/>
                <a:gd name="T46" fmla="*/ 3 w 324"/>
                <a:gd name="T47" fmla="*/ 8 h 36"/>
                <a:gd name="T48" fmla="*/ 2 w 324"/>
                <a:gd name="T49" fmla="*/ 12 h 36"/>
                <a:gd name="T50" fmla="*/ 1 w 324"/>
                <a:gd name="T51" fmla="*/ 15 h 36"/>
                <a:gd name="T52" fmla="*/ 0 w 324"/>
                <a:gd name="T53" fmla="*/ 18 h 36"/>
                <a:gd name="T54" fmla="*/ 1 w 324"/>
                <a:gd name="T55" fmla="*/ 21 h 36"/>
                <a:gd name="T56" fmla="*/ 2 w 324"/>
                <a:gd name="T57" fmla="*/ 26 h 36"/>
                <a:gd name="T58" fmla="*/ 3 w 324"/>
                <a:gd name="T59" fmla="*/ 28 h 36"/>
                <a:gd name="T60" fmla="*/ 5 w 324"/>
                <a:gd name="T61" fmla="*/ 31 h 36"/>
                <a:gd name="T62" fmla="*/ 8 w 324"/>
                <a:gd name="T63" fmla="*/ 33 h 36"/>
                <a:gd name="T64" fmla="*/ 10 w 324"/>
                <a:gd name="T65" fmla="*/ 34 h 36"/>
                <a:gd name="T66" fmla="*/ 15 w 324"/>
                <a:gd name="T67" fmla="*/ 35 h 36"/>
                <a:gd name="T68" fmla="*/ 18 w 324"/>
                <a:gd name="T69"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4" h="36">
                  <a:moveTo>
                    <a:pt x="18" y="36"/>
                  </a:moveTo>
                  <a:lnTo>
                    <a:pt x="306" y="36"/>
                  </a:lnTo>
                  <a:lnTo>
                    <a:pt x="310" y="35"/>
                  </a:lnTo>
                  <a:lnTo>
                    <a:pt x="313" y="34"/>
                  </a:lnTo>
                  <a:lnTo>
                    <a:pt x="316" y="33"/>
                  </a:lnTo>
                  <a:lnTo>
                    <a:pt x="318" y="31"/>
                  </a:lnTo>
                  <a:lnTo>
                    <a:pt x="320" y="28"/>
                  </a:lnTo>
                  <a:lnTo>
                    <a:pt x="323" y="26"/>
                  </a:lnTo>
                  <a:lnTo>
                    <a:pt x="324" y="21"/>
                  </a:lnTo>
                  <a:lnTo>
                    <a:pt x="324" y="18"/>
                  </a:lnTo>
                  <a:lnTo>
                    <a:pt x="324" y="15"/>
                  </a:lnTo>
                  <a:lnTo>
                    <a:pt x="323" y="12"/>
                  </a:lnTo>
                  <a:lnTo>
                    <a:pt x="320" y="8"/>
                  </a:lnTo>
                  <a:lnTo>
                    <a:pt x="318" y="5"/>
                  </a:lnTo>
                  <a:lnTo>
                    <a:pt x="316" y="3"/>
                  </a:lnTo>
                  <a:lnTo>
                    <a:pt x="313" y="2"/>
                  </a:lnTo>
                  <a:lnTo>
                    <a:pt x="310" y="1"/>
                  </a:lnTo>
                  <a:lnTo>
                    <a:pt x="306" y="0"/>
                  </a:lnTo>
                  <a:lnTo>
                    <a:pt x="18" y="0"/>
                  </a:lnTo>
                  <a:lnTo>
                    <a:pt x="15" y="1"/>
                  </a:lnTo>
                  <a:lnTo>
                    <a:pt x="10" y="2"/>
                  </a:lnTo>
                  <a:lnTo>
                    <a:pt x="8" y="3"/>
                  </a:lnTo>
                  <a:lnTo>
                    <a:pt x="5" y="5"/>
                  </a:lnTo>
                  <a:lnTo>
                    <a:pt x="3" y="8"/>
                  </a:lnTo>
                  <a:lnTo>
                    <a:pt x="2" y="12"/>
                  </a:lnTo>
                  <a:lnTo>
                    <a:pt x="1" y="15"/>
                  </a:lnTo>
                  <a:lnTo>
                    <a:pt x="0" y="18"/>
                  </a:lnTo>
                  <a:lnTo>
                    <a:pt x="1" y="21"/>
                  </a:lnTo>
                  <a:lnTo>
                    <a:pt x="2" y="26"/>
                  </a:lnTo>
                  <a:lnTo>
                    <a:pt x="3" y="28"/>
                  </a:lnTo>
                  <a:lnTo>
                    <a:pt x="5" y="31"/>
                  </a:lnTo>
                  <a:lnTo>
                    <a:pt x="8" y="33"/>
                  </a:lnTo>
                  <a:lnTo>
                    <a:pt x="10" y="34"/>
                  </a:lnTo>
                  <a:lnTo>
                    <a:pt x="15" y="35"/>
                  </a:lnTo>
                  <a:lnTo>
                    <a:pt x="18" y="36"/>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17" name="Freeform 87"/>
            <p:cNvSpPr/>
            <p:nvPr>
              <p:custDataLst>
                <p:tags r:id="rId9"/>
              </p:custDataLst>
            </p:nvPr>
          </p:nvSpPr>
          <p:spPr bwMode="auto">
            <a:xfrm>
              <a:off x="6528594" y="1946672"/>
              <a:ext cx="128588" cy="14288"/>
            </a:xfrm>
            <a:custGeom>
              <a:avLst/>
              <a:gdLst>
                <a:gd name="T0" fmla="*/ 18 w 324"/>
                <a:gd name="T1" fmla="*/ 36 h 36"/>
                <a:gd name="T2" fmla="*/ 306 w 324"/>
                <a:gd name="T3" fmla="*/ 36 h 36"/>
                <a:gd name="T4" fmla="*/ 310 w 324"/>
                <a:gd name="T5" fmla="*/ 35 h 36"/>
                <a:gd name="T6" fmla="*/ 313 w 324"/>
                <a:gd name="T7" fmla="*/ 34 h 36"/>
                <a:gd name="T8" fmla="*/ 316 w 324"/>
                <a:gd name="T9" fmla="*/ 33 h 36"/>
                <a:gd name="T10" fmla="*/ 318 w 324"/>
                <a:gd name="T11" fmla="*/ 31 h 36"/>
                <a:gd name="T12" fmla="*/ 320 w 324"/>
                <a:gd name="T13" fmla="*/ 28 h 36"/>
                <a:gd name="T14" fmla="*/ 323 w 324"/>
                <a:gd name="T15" fmla="*/ 26 h 36"/>
                <a:gd name="T16" fmla="*/ 324 w 324"/>
                <a:gd name="T17" fmla="*/ 21 h 36"/>
                <a:gd name="T18" fmla="*/ 324 w 324"/>
                <a:gd name="T19" fmla="*/ 18 h 36"/>
                <a:gd name="T20" fmla="*/ 324 w 324"/>
                <a:gd name="T21" fmla="*/ 15 h 36"/>
                <a:gd name="T22" fmla="*/ 323 w 324"/>
                <a:gd name="T23" fmla="*/ 12 h 36"/>
                <a:gd name="T24" fmla="*/ 320 w 324"/>
                <a:gd name="T25" fmla="*/ 8 h 36"/>
                <a:gd name="T26" fmla="*/ 318 w 324"/>
                <a:gd name="T27" fmla="*/ 5 h 36"/>
                <a:gd name="T28" fmla="*/ 316 w 324"/>
                <a:gd name="T29" fmla="*/ 3 h 36"/>
                <a:gd name="T30" fmla="*/ 313 w 324"/>
                <a:gd name="T31" fmla="*/ 2 h 36"/>
                <a:gd name="T32" fmla="*/ 310 w 324"/>
                <a:gd name="T33" fmla="*/ 1 h 36"/>
                <a:gd name="T34" fmla="*/ 306 w 324"/>
                <a:gd name="T35" fmla="*/ 0 h 36"/>
                <a:gd name="T36" fmla="*/ 18 w 324"/>
                <a:gd name="T37" fmla="*/ 0 h 36"/>
                <a:gd name="T38" fmla="*/ 15 w 324"/>
                <a:gd name="T39" fmla="*/ 1 h 36"/>
                <a:gd name="T40" fmla="*/ 10 w 324"/>
                <a:gd name="T41" fmla="*/ 2 h 36"/>
                <a:gd name="T42" fmla="*/ 8 w 324"/>
                <a:gd name="T43" fmla="*/ 3 h 36"/>
                <a:gd name="T44" fmla="*/ 5 w 324"/>
                <a:gd name="T45" fmla="*/ 5 h 36"/>
                <a:gd name="T46" fmla="*/ 3 w 324"/>
                <a:gd name="T47" fmla="*/ 8 h 36"/>
                <a:gd name="T48" fmla="*/ 2 w 324"/>
                <a:gd name="T49" fmla="*/ 12 h 36"/>
                <a:gd name="T50" fmla="*/ 1 w 324"/>
                <a:gd name="T51" fmla="*/ 15 h 36"/>
                <a:gd name="T52" fmla="*/ 0 w 324"/>
                <a:gd name="T53" fmla="*/ 18 h 36"/>
                <a:gd name="T54" fmla="*/ 1 w 324"/>
                <a:gd name="T55" fmla="*/ 21 h 36"/>
                <a:gd name="T56" fmla="*/ 2 w 324"/>
                <a:gd name="T57" fmla="*/ 26 h 36"/>
                <a:gd name="T58" fmla="*/ 3 w 324"/>
                <a:gd name="T59" fmla="*/ 28 h 36"/>
                <a:gd name="T60" fmla="*/ 5 w 324"/>
                <a:gd name="T61" fmla="*/ 31 h 36"/>
                <a:gd name="T62" fmla="*/ 8 w 324"/>
                <a:gd name="T63" fmla="*/ 33 h 36"/>
                <a:gd name="T64" fmla="*/ 10 w 324"/>
                <a:gd name="T65" fmla="*/ 34 h 36"/>
                <a:gd name="T66" fmla="*/ 15 w 324"/>
                <a:gd name="T67" fmla="*/ 35 h 36"/>
                <a:gd name="T68" fmla="*/ 18 w 324"/>
                <a:gd name="T69"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4" h="36">
                  <a:moveTo>
                    <a:pt x="18" y="36"/>
                  </a:moveTo>
                  <a:lnTo>
                    <a:pt x="306" y="36"/>
                  </a:lnTo>
                  <a:lnTo>
                    <a:pt x="310" y="35"/>
                  </a:lnTo>
                  <a:lnTo>
                    <a:pt x="313" y="34"/>
                  </a:lnTo>
                  <a:lnTo>
                    <a:pt x="316" y="33"/>
                  </a:lnTo>
                  <a:lnTo>
                    <a:pt x="318" y="31"/>
                  </a:lnTo>
                  <a:lnTo>
                    <a:pt x="320" y="28"/>
                  </a:lnTo>
                  <a:lnTo>
                    <a:pt x="323" y="26"/>
                  </a:lnTo>
                  <a:lnTo>
                    <a:pt x="324" y="21"/>
                  </a:lnTo>
                  <a:lnTo>
                    <a:pt x="324" y="18"/>
                  </a:lnTo>
                  <a:lnTo>
                    <a:pt x="324" y="15"/>
                  </a:lnTo>
                  <a:lnTo>
                    <a:pt x="323" y="12"/>
                  </a:lnTo>
                  <a:lnTo>
                    <a:pt x="320" y="8"/>
                  </a:lnTo>
                  <a:lnTo>
                    <a:pt x="318" y="5"/>
                  </a:lnTo>
                  <a:lnTo>
                    <a:pt x="316" y="3"/>
                  </a:lnTo>
                  <a:lnTo>
                    <a:pt x="313" y="2"/>
                  </a:lnTo>
                  <a:lnTo>
                    <a:pt x="310" y="1"/>
                  </a:lnTo>
                  <a:lnTo>
                    <a:pt x="306" y="0"/>
                  </a:lnTo>
                  <a:lnTo>
                    <a:pt x="18" y="0"/>
                  </a:lnTo>
                  <a:lnTo>
                    <a:pt x="15" y="1"/>
                  </a:lnTo>
                  <a:lnTo>
                    <a:pt x="10" y="2"/>
                  </a:lnTo>
                  <a:lnTo>
                    <a:pt x="8" y="3"/>
                  </a:lnTo>
                  <a:lnTo>
                    <a:pt x="5" y="5"/>
                  </a:lnTo>
                  <a:lnTo>
                    <a:pt x="3" y="8"/>
                  </a:lnTo>
                  <a:lnTo>
                    <a:pt x="2" y="12"/>
                  </a:lnTo>
                  <a:lnTo>
                    <a:pt x="1" y="15"/>
                  </a:lnTo>
                  <a:lnTo>
                    <a:pt x="0" y="18"/>
                  </a:lnTo>
                  <a:lnTo>
                    <a:pt x="1" y="21"/>
                  </a:lnTo>
                  <a:lnTo>
                    <a:pt x="2" y="26"/>
                  </a:lnTo>
                  <a:lnTo>
                    <a:pt x="3" y="28"/>
                  </a:lnTo>
                  <a:lnTo>
                    <a:pt x="5" y="31"/>
                  </a:lnTo>
                  <a:lnTo>
                    <a:pt x="8" y="33"/>
                  </a:lnTo>
                  <a:lnTo>
                    <a:pt x="10" y="34"/>
                  </a:lnTo>
                  <a:lnTo>
                    <a:pt x="15" y="35"/>
                  </a:lnTo>
                  <a:lnTo>
                    <a:pt x="18" y="36"/>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18" name="Freeform 88"/>
            <p:cNvSpPr/>
            <p:nvPr>
              <p:custDataLst>
                <p:tags r:id="rId10"/>
              </p:custDataLst>
            </p:nvPr>
          </p:nvSpPr>
          <p:spPr bwMode="auto">
            <a:xfrm>
              <a:off x="6528594" y="1903809"/>
              <a:ext cx="128588" cy="14288"/>
            </a:xfrm>
            <a:custGeom>
              <a:avLst/>
              <a:gdLst>
                <a:gd name="T0" fmla="*/ 18 w 324"/>
                <a:gd name="T1" fmla="*/ 36 h 36"/>
                <a:gd name="T2" fmla="*/ 306 w 324"/>
                <a:gd name="T3" fmla="*/ 36 h 36"/>
                <a:gd name="T4" fmla="*/ 310 w 324"/>
                <a:gd name="T5" fmla="*/ 35 h 36"/>
                <a:gd name="T6" fmla="*/ 313 w 324"/>
                <a:gd name="T7" fmla="*/ 34 h 36"/>
                <a:gd name="T8" fmla="*/ 316 w 324"/>
                <a:gd name="T9" fmla="*/ 33 h 36"/>
                <a:gd name="T10" fmla="*/ 318 w 324"/>
                <a:gd name="T11" fmla="*/ 31 h 36"/>
                <a:gd name="T12" fmla="*/ 320 w 324"/>
                <a:gd name="T13" fmla="*/ 28 h 36"/>
                <a:gd name="T14" fmla="*/ 323 w 324"/>
                <a:gd name="T15" fmla="*/ 26 h 36"/>
                <a:gd name="T16" fmla="*/ 324 w 324"/>
                <a:gd name="T17" fmla="*/ 21 h 36"/>
                <a:gd name="T18" fmla="*/ 324 w 324"/>
                <a:gd name="T19" fmla="*/ 18 h 36"/>
                <a:gd name="T20" fmla="*/ 324 w 324"/>
                <a:gd name="T21" fmla="*/ 15 h 36"/>
                <a:gd name="T22" fmla="*/ 323 w 324"/>
                <a:gd name="T23" fmla="*/ 12 h 36"/>
                <a:gd name="T24" fmla="*/ 320 w 324"/>
                <a:gd name="T25" fmla="*/ 8 h 36"/>
                <a:gd name="T26" fmla="*/ 318 w 324"/>
                <a:gd name="T27" fmla="*/ 5 h 36"/>
                <a:gd name="T28" fmla="*/ 316 w 324"/>
                <a:gd name="T29" fmla="*/ 3 h 36"/>
                <a:gd name="T30" fmla="*/ 313 w 324"/>
                <a:gd name="T31" fmla="*/ 2 h 36"/>
                <a:gd name="T32" fmla="*/ 310 w 324"/>
                <a:gd name="T33" fmla="*/ 1 h 36"/>
                <a:gd name="T34" fmla="*/ 306 w 324"/>
                <a:gd name="T35" fmla="*/ 0 h 36"/>
                <a:gd name="T36" fmla="*/ 18 w 324"/>
                <a:gd name="T37" fmla="*/ 0 h 36"/>
                <a:gd name="T38" fmla="*/ 15 w 324"/>
                <a:gd name="T39" fmla="*/ 1 h 36"/>
                <a:gd name="T40" fmla="*/ 10 w 324"/>
                <a:gd name="T41" fmla="*/ 2 h 36"/>
                <a:gd name="T42" fmla="*/ 8 w 324"/>
                <a:gd name="T43" fmla="*/ 3 h 36"/>
                <a:gd name="T44" fmla="*/ 5 w 324"/>
                <a:gd name="T45" fmla="*/ 5 h 36"/>
                <a:gd name="T46" fmla="*/ 3 w 324"/>
                <a:gd name="T47" fmla="*/ 8 h 36"/>
                <a:gd name="T48" fmla="*/ 2 w 324"/>
                <a:gd name="T49" fmla="*/ 12 h 36"/>
                <a:gd name="T50" fmla="*/ 1 w 324"/>
                <a:gd name="T51" fmla="*/ 15 h 36"/>
                <a:gd name="T52" fmla="*/ 0 w 324"/>
                <a:gd name="T53" fmla="*/ 18 h 36"/>
                <a:gd name="T54" fmla="*/ 1 w 324"/>
                <a:gd name="T55" fmla="*/ 21 h 36"/>
                <a:gd name="T56" fmla="*/ 2 w 324"/>
                <a:gd name="T57" fmla="*/ 26 h 36"/>
                <a:gd name="T58" fmla="*/ 3 w 324"/>
                <a:gd name="T59" fmla="*/ 28 h 36"/>
                <a:gd name="T60" fmla="*/ 5 w 324"/>
                <a:gd name="T61" fmla="*/ 31 h 36"/>
                <a:gd name="T62" fmla="*/ 8 w 324"/>
                <a:gd name="T63" fmla="*/ 33 h 36"/>
                <a:gd name="T64" fmla="*/ 10 w 324"/>
                <a:gd name="T65" fmla="*/ 34 h 36"/>
                <a:gd name="T66" fmla="*/ 15 w 324"/>
                <a:gd name="T67" fmla="*/ 35 h 36"/>
                <a:gd name="T68" fmla="*/ 18 w 324"/>
                <a:gd name="T69"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4" h="36">
                  <a:moveTo>
                    <a:pt x="18" y="36"/>
                  </a:moveTo>
                  <a:lnTo>
                    <a:pt x="306" y="36"/>
                  </a:lnTo>
                  <a:lnTo>
                    <a:pt x="310" y="35"/>
                  </a:lnTo>
                  <a:lnTo>
                    <a:pt x="313" y="34"/>
                  </a:lnTo>
                  <a:lnTo>
                    <a:pt x="316" y="33"/>
                  </a:lnTo>
                  <a:lnTo>
                    <a:pt x="318" y="31"/>
                  </a:lnTo>
                  <a:lnTo>
                    <a:pt x="320" y="28"/>
                  </a:lnTo>
                  <a:lnTo>
                    <a:pt x="323" y="26"/>
                  </a:lnTo>
                  <a:lnTo>
                    <a:pt x="324" y="21"/>
                  </a:lnTo>
                  <a:lnTo>
                    <a:pt x="324" y="18"/>
                  </a:lnTo>
                  <a:lnTo>
                    <a:pt x="324" y="15"/>
                  </a:lnTo>
                  <a:lnTo>
                    <a:pt x="323" y="12"/>
                  </a:lnTo>
                  <a:lnTo>
                    <a:pt x="320" y="8"/>
                  </a:lnTo>
                  <a:lnTo>
                    <a:pt x="318" y="5"/>
                  </a:lnTo>
                  <a:lnTo>
                    <a:pt x="316" y="3"/>
                  </a:lnTo>
                  <a:lnTo>
                    <a:pt x="313" y="2"/>
                  </a:lnTo>
                  <a:lnTo>
                    <a:pt x="310" y="1"/>
                  </a:lnTo>
                  <a:lnTo>
                    <a:pt x="306" y="0"/>
                  </a:lnTo>
                  <a:lnTo>
                    <a:pt x="18" y="0"/>
                  </a:lnTo>
                  <a:lnTo>
                    <a:pt x="15" y="1"/>
                  </a:lnTo>
                  <a:lnTo>
                    <a:pt x="10" y="2"/>
                  </a:lnTo>
                  <a:lnTo>
                    <a:pt x="8" y="3"/>
                  </a:lnTo>
                  <a:lnTo>
                    <a:pt x="5" y="5"/>
                  </a:lnTo>
                  <a:lnTo>
                    <a:pt x="3" y="8"/>
                  </a:lnTo>
                  <a:lnTo>
                    <a:pt x="2" y="12"/>
                  </a:lnTo>
                  <a:lnTo>
                    <a:pt x="1" y="15"/>
                  </a:lnTo>
                  <a:lnTo>
                    <a:pt x="0" y="18"/>
                  </a:lnTo>
                  <a:lnTo>
                    <a:pt x="1" y="21"/>
                  </a:lnTo>
                  <a:lnTo>
                    <a:pt x="2" y="26"/>
                  </a:lnTo>
                  <a:lnTo>
                    <a:pt x="3" y="28"/>
                  </a:lnTo>
                  <a:lnTo>
                    <a:pt x="5" y="31"/>
                  </a:lnTo>
                  <a:lnTo>
                    <a:pt x="8" y="33"/>
                  </a:lnTo>
                  <a:lnTo>
                    <a:pt x="10" y="34"/>
                  </a:lnTo>
                  <a:lnTo>
                    <a:pt x="15" y="35"/>
                  </a:lnTo>
                  <a:lnTo>
                    <a:pt x="18" y="36"/>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19" name="Freeform 89"/>
            <p:cNvSpPr/>
            <p:nvPr>
              <p:custDataLst>
                <p:tags r:id="rId11"/>
              </p:custDataLst>
            </p:nvPr>
          </p:nvSpPr>
          <p:spPr bwMode="auto">
            <a:xfrm>
              <a:off x="6371431" y="2203847"/>
              <a:ext cx="128588" cy="14288"/>
            </a:xfrm>
            <a:custGeom>
              <a:avLst/>
              <a:gdLst>
                <a:gd name="T0" fmla="*/ 306 w 324"/>
                <a:gd name="T1" fmla="*/ 0 h 36"/>
                <a:gd name="T2" fmla="*/ 18 w 324"/>
                <a:gd name="T3" fmla="*/ 0 h 36"/>
                <a:gd name="T4" fmla="*/ 14 w 324"/>
                <a:gd name="T5" fmla="*/ 1 h 36"/>
                <a:gd name="T6" fmla="*/ 11 w 324"/>
                <a:gd name="T7" fmla="*/ 2 h 36"/>
                <a:gd name="T8" fmla="*/ 8 w 324"/>
                <a:gd name="T9" fmla="*/ 3 h 36"/>
                <a:gd name="T10" fmla="*/ 6 w 324"/>
                <a:gd name="T11" fmla="*/ 5 h 36"/>
                <a:gd name="T12" fmla="*/ 4 w 324"/>
                <a:gd name="T13" fmla="*/ 8 h 36"/>
                <a:gd name="T14" fmla="*/ 1 w 324"/>
                <a:gd name="T15" fmla="*/ 10 h 36"/>
                <a:gd name="T16" fmla="*/ 0 w 324"/>
                <a:gd name="T17" fmla="*/ 15 h 36"/>
                <a:gd name="T18" fmla="*/ 0 w 324"/>
                <a:gd name="T19" fmla="*/ 18 h 36"/>
                <a:gd name="T20" fmla="*/ 0 w 324"/>
                <a:gd name="T21" fmla="*/ 21 h 36"/>
                <a:gd name="T22" fmla="*/ 1 w 324"/>
                <a:gd name="T23" fmla="*/ 24 h 36"/>
                <a:gd name="T24" fmla="*/ 4 w 324"/>
                <a:gd name="T25" fmla="*/ 28 h 36"/>
                <a:gd name="T26" fmla="*/ 6 w 324"/>
                <a:gd name="T27" fmla="*/ 31 h 36"/>
                <a:gd name="T28" fmla="*/ 8 w 324"/>
                <a:gd name="T29" fmla="*/ 33 h 36"/>
                <a:gd name="T30" fmla="*/ 11 w 324"/>
                <a:gd name="T31" fmla="*/ 34 h 36"/>
                <a:gd name="T32" fmla="*/ 14 w 324"/>
                <a:gd name="T33" fmla="*/ 35 h 36"/>
                <a:gd name="T34" fmla="*/ 18 w 324"/>
                <a:gd name="T35" fmla="*/ 36 h 36"/>
                <a:gd name="T36" fmla="*/ 306 w 324"/>
                <a:gd name="T37" fmla="*/ 36 h 36"/>
                <a:gd name="T38" fmla="*/ 309 w 324"/>
                <a:gd name="T39" fmla="*/ 35 h 36"/>
                <a:gd name="T40" fmla="*/ 312 w 324"/>
                <a:gd name="T41" fmla="*/ 34 h 36"/>
                <a:gd name="T42" fmla="*/ 316 w 324"/>
                <a:gd name="T43" fmla="*/ 33 h 36"/>
                <a:gd name="T44" fmla="*/ 319 w 324"/>
                <a:gd name="T45" fmla="*/ 31 h 36"/>
                <a:gd name="T46" fmla="*/ 321 w 324"/>
                <a:gd name="T47" fmla="*/ 28 h 36"/>
                <a:gd name="T48" fmla="*/ 322 w 324"/>
                <a:gd name="T49" fmla="*/ 24 h 36"/>
                <a:gd name="T50" fmla="*/ 323 w 324"/>
                <a:gd name="T51" fmla="*/ 21 h 36"/>
                <a:gd name="T52" fmla="*/ 324 w 324"/>
                <a:gd name="T53" fmla="*/ 18 h 36"/>
                <a:gd name="T54" fmla="*/ 323 w 324"/>
                <a:gd name="T55" fmla="*/ 15 h 36"/>
                <a:gd name="T56" fmla="*/ 322 w 324"/>
                <a:gd name="T57" fmla="*/ 10 h 36"/>
                <a:gd name="T58" fmla="*/ 321 w 324"/>
                <a:gd name="T59" fmla="*/ 8 h 36"/>
                <a:gd name="T60" fmla="*/ 319 w 324"/>
                <a:gd name="T61" fmla="*/ 5 h 36"/>
                <a:gd name="T62" fmla="*/ 316 w 324"/>
                <a:gd name="T63" fmla="*/ 3 h 36"/>
                <a:gd name="T64" fmla="*/ 312 w 324"/>
                <a:gd name="T65" fmla="*/ 2 h 36"/>
                <a:gd name="T66" fmla="*/ 309 w 324"/>
                <a:gd name="T67" fmla="*/ 1 h 36"/>
                <a:gd name="T68" fmla="*/ 306 w 324"/>
                <a:gd name="T69"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4" h="36">
                  <a:moveTo>
                    <a:pt x="306" y="0"/>
                  </a:moveTo>
                  <a:lnTo>
                    <a:pt x="18" y="0"/>
                  </a:lnTo>
                  <a:lnTo>
                    <a:pt x="14" y="1"/>
                  </a:lnTo>
                  <a:lnTo>
                    <a:pt x="11" y="2"/>
                  </a:lnTo>
                  <a:lnTo>
                    <a:pt x="8" y="3"/>
                  </a:lnTo>
                  <a:lnTo>
                    <a:pt x="6" y="5"/>
                  </a:lnTo>
                  <a:lnTo>
                    <a:pt x="4" y="8"/>
                  </a:lnTo>
                  <a:lnTo>
                    <a:pt x="1" y="10"/>
                  </a:lnTo>
                  <a:lnTo>
                    <a:pt x="0" y="15"/>
                  </a:lnTo>
                  <a:lnTo>
                    <a:pt x="0" y="18"/>
                  </a:lnTo>
                  <a:lnTo>
                    <a:pt x="0" y="21"/>
                  </a:lnTo>
                  <a:lnTo>
                    <a:pt x="1" y="24"/>
                  </a:lnTo>
                  <a:lnTo>
                    <a:pt x="4" y="28"/>
                  </a:lnTo>
                  <a:lnTo>
                    <a:pt x="6" y="31"/>
                  </a:lnTo>
                  <a:lnTo>
                    <a:pt x="8" y="33"/>
                  </a:lnTo>
                  <a:lnTo>
                    <a:pt x="11" y="34"/>
                  </a:lnTo>
                  <a:lnTo>
                    <a:pt x="14" y="35"/>
                  </a:lnTo>
                  <a:lnTo>
                    <a:pt x="18" y="36"/>
                  </a:lnTo>
                  <a:lnTo>
                    <a:pt x="306" y="36"/>
                  </a:lnTo>
                  <a:lnTo>
                    <a:pt x="309" y="35"/>
                  </a:lnTo>
                  <a:lnTo>
                    <a:pt x="312" y="34"/>
                  </a:lnTo>
                  <a:lnTo>
                    <a:pt x="316" y="33"/>
                  </a:lnTo>
                  <a:lnTo>
                    <a:pt x="319" y="31"/>
                  </a:lnTo>
                  <a:lnTo>
                    <a:pt x="321" y="28"/>
                  </a:lnTo>
                  <a:lnTo>
                    <a:pt x="322" y="24"/>
                  </a:lnTo>
                  <a:lnTo>
                    <a:pt x="323" y="21"/>
                  </a:lnTo>
                  <a:lnTo>
                    <a:pt x="324" y="18"/>
                  </a:lnTo>
                  <a:lnTo>
                    <a:pt x="323" y="15"/>
                  </a:lnTo>
                  <a:lnTo>
                    <a:pt x="322" y="10"/>
                  </a:lnTo>
                  <a:lnTo>
                    <a:pt x="321" y="8"/>
                  </a:lnTo>
                  <a:lnTo>
                    <a:pt x="319" y="5"/>
                  </a:lnTo>
                  <a:lnTo>
                    <a:pt x="316" y="3"/>
                  </a:lnTo>
                  <a:lnTo>
                    <a:pt x="312" y="2"/>
                  </a:lnTo>
                  <a:lnTo>
                    <a:pt x="309" y="1"/>
                  </a:lnTo>
                  <a:lnTo>
                    <a:pt x="306" y="0"/>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20" name="Freeform 90"/>
            <p:cNvSpPr/>
            <p:nvPr>
              <p:custDataLst>
                <p:tags r:id="rId12"/>
              </p:custDataLst>
            </p:nvPr>
          </p:nvSpPr>
          <p:spPr bwMode="auto">
            <a:xfrm>
              <a:off x="6371431" y="2160984"/>
              <a:ext cx="128588" cy="14288"/>
            </a:xfrm>
            <a:custGeom>
              <a:avLst/>
              <a:gdLst>
                <a:gd name="T0" fmla="*/ 306 w 324"/>
                <a:gd name="T1" fmla="*/ 0 h 36"/>
                <a:gd name="T2" fmla="*/ 18 w 324"/>
                <a:gd name="T3" fmla="*/ 0 h 36"/>
                <a:gd name="T4" fmla="*/ 14 w 324"/>
                <a:gd name="T5" fmla="*/ 1 h 36"/>
                <a:gd name="T6" fmla="*/ 11 w 324"/>
                <a:gd name="T7" fmla="*/ 2 h 36"/>
                <a:gd name="T8" fmla="*/ 8 w 324"/>
                <a:gd name="T9" fmla="*/ 3 h 36"/>
                <a:gd name="T10" fmla="*/ 6 w 324"/>
                <a:gd name="T11" fmla="*/ 5 h 36"/>
                <a:gd name="T12" fmla="*/ 4 w 324"/>
                <a:gd name="T13" fmla="*/ 8 h 36"/>
                <a:gd name="T14" fmla="*/ 1 w 324"/>
                <a:gd name="T15" fmla="*/ 10 h 36"/>
                <a:gd name="T16" fmla="*/ 0 w 324"/>
                <a:gd name="T17" fmla="*/ 15 h 36"/>
                <a:gd name="T18" fmla="*/ 0 w 324"/>
                <a:gd name="T19" fmla="*/ 18 h 36"/>
                <a:gd name="T20" fmla="*/ 0 w 324"/>
                <a:gd name="T21" fmla="*/ 21 h 36"/>
                <a:gd name="T22" fmla="*/ 1 w 324"/>
                <a:gd name="T23" fmla="*/ 24 h 36"/>
                <a:gd name="T24" fmla="*/ 4 w 324"/>
                <a:gd name="T25" fmla="*/ 28 h 36"/>
                <a:gd name="T26" fmla="*/ 6 w 324"/>
                <a:gd name="T27" fmla="*/ 31 h 36"/>
                <a:gd name="T28" fmla="*/ 8 w 324"/>
                <a:gd name="T29" fmla="*/ 33 h 36"/>
                <a:gd name="T30" fmla="*/ 11 w 324"/>
                <a:gd name="T31" fmla="*/ 34 h 36"/>
                <a:gd name="T32" fmla="*/ 14 w 324"/>
                <a:gd name="T33" fmla="*/ 35 h 36"/>
                <a:gd name="T34" fmla="*/ 18 w 324"/>
                <a:gd name="T35" fmla="*/ 36 h 36"/>
                <a:gd name="T36" fmla="*/ 306 w 324"/>
                <a:gd name="T37" fmla="*/ 36 h 36"/>
                <a:gd name="T38" fmla="*/ 309 w 324"/>
                <a:gd name="T39" fmla="*/ 35 h 36"/>
                <a:gd name="T40" fmla="*/ 312 w 324"/>
                <a:gd name="T41" fmla="*/ 34 h 36"/>
                <a:gd name="T42" fmla="*/ 316 w 324"/>
                <a:gd name="T43" fmla="*/ 33 h 36"/>
                <a:gd name="T44" fmla="*/ 319 w 324"/>
                <a:gd name="T45" fmla="*/ 31 h 36"/>
                <a:gd name="T46" fmla="*/ 321 w 324"/>
                <a:gd name="T47" fmla="*/ 28 h 36"/>
                <a:gd name="T48" fmla="*/ 322 w 324"/>
                <a:gd name="T49" fmla="*/ 24 h 36"/>
                <a:gd name="T50" fmla="*/ 323 w 324"/>
                <a:gd name="T51" fmla="*/ 21 h 36"/>
                <a:gd name="T52" fmla="*/ 324 w 324"/>
                <a:gd name="T53" fmla="*/ 18 h 36"/>
                <a:gd name="T54" fmla="*/ 323 w 324"/>
                <a:gd name="T55" fmla="*/ 15 h 36"/>
                <a:gd name="T56" fmla="*/ 322 w 324"/>
                <a:gd name="T57" fmla="*/ 10 h 36"/>
                <a:gd name="T58" fmla="*/ 321 w 324"/>
                <a:gd name="T59" fmla="*/ 8 h 36"/>
                <a:gd name="T60" fmla="*/ 319 w 324"/>
                <a:gd name="T61" fmla="*/ 5 h 36"/>
                <a:gd name="T62" fmla="*/ 316 w 324"/>
                <a:gd name="T63" fmla="*/ 3 h 36"/>
                <a:gd name="T64" fmla="*/ 312 w 324"/>
                <a:gd name="T65" fmla="*/ 2 h 36"/>
                <a:gd name="T66" fmla="*/ 309 w 324"/>
                <a:gd name="T67" fmla="*/ 1 h 36"/>
                <a:gd name="T68" fmla="*/ 306 w 324"/>
                <a:gd name="T69"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4" h="36">
                  <a:moveTo>
                    <a:pt x="306" y="0"/>
                  </a:moveTo>
                  <a:lnTo>
                    <a:pt x="18" y="0"/>
                  </a:lnTo>
                  <a:lnTo>
                    <a:pt x="14" y="1"/>
                  </a:lnTo>
                  <a:lnTo>
                    <a:pt x="11" y="2"/>
                  </a:lnTo>
                  <a:lnTo>
                    <a:pt x="8" y="3"/>
                  </a:lnTo>
                  <a:lnTo>
                    <a:pt x="6" y="5"/>
                  </a:lnTo>
                  <a:lnTo>
                    <a:pt x="4" y="8"/>
                  </a:lnTo>
                  <a:lnTo>
                    <a:pt x="1" y="10"/>
                  </a:lnTo>
                  <a:lnTo>
                    <a:pt x="0" y="15"/>
                  </a:lnTo>
                  <a:lnTo>
                    <a:pt x="0" y="18"/>
                  </a:lnTo>
                  <a:lnTo>
                    <a:pt x="0" y="21"/>
                  </a:lnTo>
                  <a:lnTo>
                    <a:pt x="1" y="24"/>
                  </a:lnTo>
                  <a:lnTo>
                    <a:pt x="4" y="28"/>
                  </a:lnTo>
                  <a:lnTo>
                    <a:pt x="6" y="31"/>
                  </a:lnTo>
                  <a:lnTo>
                    <a:pt x="8" y="33"/>
                  </a:lnTo>
                  <a:lnTo>
                    <a:pt x="11" y="34"/>
                  </a:lnTo>
                  <a:lnTo>
                    <a:pt x="14" y="35"/>
                  </a:lnTo>
                  <a:lnTo>
                    <a:pt x="18" y="36"/>
                  </a:lnTo>
                  <a:lnTo>
                    <a:pt x="306" y="36"/>
                  </a:lnTo>
                  <a:lnTo>
                    <a:pt x="309" y="35"/>
                  </a:lnTo>
                  <a:lnTo>
                    <a:pt x="312" y="34"/>
                  </a:lnTo>
                  <a:lnTo>
                    <a:pt x="316" y="33"/>
                  </a:lnTo>
                  <a:lnTo>
                    <a:pt x="319" y="31"/>
                  </a:lnTo>
                  <a:lnTo>
                    <a:pt x="321" y="28"/>
                  </a:lnTo>
                  <a:lnTo>
                    <a:pt x="322" y="24"/>
                  </a:lnTo>
                  <a:lnTo>
                    <a:pt x="323" y="21"/>
                  </a:lnTo>
                  <a:lnTo>
                    <a:pt x="324" y="18"/>
                  </a:lnTo>
                  <a:lnTo>
                    <a:pt x="323" y="15"/>
                  </a:lnTo>
                  <a:lnTo>
                    <a:pt x="322" y="10"/>
                  </a:lnTo>
                  <a:lnTo>
                    <a:pt x="321" y="8"/>
                  </a:lnTo>
                  <a:lnTo>
                    <a:pt x="319" y="5"/>
                  </a:lnTo>
                  <a:lnTo>
                    <a:pt x="316" y="3"/>
                  </a:lnTo>
                  <a:lnTo>
                    <a:pt x="312" y="2"/>
                  </a:lnTo>
                  <a:lnTo>
                    <a:pt x="309" y="1"/>
                  </a:lnTo>
                  <a:lnTo>
                    <a:pt x="306" y="0"/>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21" name="Freeform 91"/>
            <p:cNvSpPr/>
            <p:nvPr>
              <p:custDataLst>
                <p:tags r:id="rId13"/>
              </p:custDataLst>
            </p:nvPr>
          </p:nvSpPr>
          <p:spPr bwMode="auto">
            <a:xfrm>
              <a:off x="6371431" y="2118122"/>
              <a:ext cx="128588" cy="14288"/>
            </a:xfrm>
            <a:custGeom>
              <a:avLst/>
              <a:gdLst>
                <a:gd name="T0" fmla="*/ 306 w 324"/>
                <a:gd name="T1" fmla="*/ 0 h 36"/>
                <a:gd name="T2" fmla="*/ 18 w 324"/>
                <a:gd name="T3" fmla="*/ 0 h 36"/>
                <a:gd name="T4" fmla="*/ 14 w 324"/>
                <a:gd name="T5" fmla="*/ 1 h 36"/>
                <a:gd name="T6" fmla="*/ 11 w 324"/>
                <a:gd name="T7" fmla="*/ 2 h 36"/>
                <a:gd name="T8" fmla="*/ 8 w 324"/>
                <a:gd name="T9" fmla="*/ 3 h 36"/>
                <a:gd name="T10" fmla="*/ 6 w 324"/>
                <a:gd name="T11" fmla="*/ 5 h 36"/>
                <a:gd name="T12" fmla="*/ 4 w 324"/>
                <a:gd name="T13" fmla="*/ 8 h 36"/>
                <a:gd name="T14" fmla="*/ 1 w 324"/>
                <a:gd name="T15" fmla="*/ 12 h 36"/>
                <a:gd name="T16" fmla="*/ 0 w 324"/>
                <a:gd name="T17" fmla="*/ 15 h 36"/>
                <a:gd name="T18" fmla="*/ 0 w 324"/>
                <a:gd name="T19" fmla="*/ 18 h 36"/>
                <a:gd name="T20" fmla="*/ 0 w 324"/>
                <a:gd name="T21" fmla="*/ 21 h 36"/>
                <a:gd name="T22" fmla="*/ 1 w 324"/>
                <a:gd name="T23" fmla="*/ 24 h 36"/>
                <a:gd name="T24" fmla="*/ 4 w 324"/>
                <a:gd name="T25" fmla="*/ 28 h 36"/>
                <a:gd name="T26" fmla="*/ 6 w 324"/>
                <a:gd name="T27" fmla="*/ 31 h 36"/>
                <a:gd name="T28" fmla="*/ 8 w 324"/>
                <a:gd name="T29" fmla="*/ 33 h 36"/>
                <a:gd name="T30" fmla="*/ 11 w 324"/>
                <a:gd name="T31" fmla="*/ 34 h 36"/>
                <a:gd name="T32" fmla="*/ 14 w 324"/>
                <a:gd name="T33" fmla="*/ 35 h 36"/>
                <a:gd name="T34" fmla="*/ 18 w 324"/>
                <a:gd name="T35" fmla="*/ 36 h 36"/>
                <a:gd name="T36" fmla="*/ 306 w 324"/>
                <a:gd name="T37" fmla="*/ 36 h 36"/>
                <a:gd name="T38" fmla="*/ 309 w 324"/>
                <a:gd name="T39" fmla="*/ 35 h 36"/>
                <a:gd name="T40" fmla="*/ 312 w 324"/>
                <a:gd name="T41" fmla="*/ 34 h 36"/>
                <a:gd name="T42" fmla="*/ 316 w 324"/>
                <a:gd name="T43" fmla="*/ 33 h 36"/>
                <a:gd name="T44" fmla="*/ 319 w 324"/>
                <a:gd name="T45" fmla="*/ 31 h 36"/>
                <a:gd name="T46" fmla="*/ 321 w 324"/>
                <a:gd name="T47" fmla="*/ 28 h 36"/>
                <a:gd name="T48" fmla="*/ 322 w 324"/>
                <a:gd name="T49" fmla="*/ 24 h 36"/>
                <a:gd name="T50" fmla="*/ 323 w 324"/>
                <a:gd name="T51" fmla="*/ 21 h 36"/>
                <a:gd name="T52" fmla="*/ 324 w 324"/>
                <a:gd name="T53" fmla="*/ 18 h 36"/>
                <a:gd name="T54" fmla="*/ 323 w 324"/>
                <a:gd name="T55" fmla="*/ 15 h 36"/>
                <a:gd name="T56" fmla="*/ 322 w 324"/>
                <a:gd name="T57" fmla="*/ 12 h 36"/>
                <a:gd name="T58" fmla="*/ 321 w 324"/>
                <a:gd name="T59" fmla="*/ 8 h 36"/>
                <a:gd name="T60" fmla="*/ 319 w 324"/>
                <a:gd name="T61" fmla="*/ 5 h 36"/>
                <a:gd name="T62" fmla="*/ 316 w 324"/>
                <a:gd name="T63" fmla="*/ 3 h 36"/>
                <a:gd name="T64" fmla="*/ 312 w 324"/>
                <a:gd name="T65" fmla="*/ 2 h 36"/>
                <a:gd name="T66" fmla="*/ 309 w 324"/>
                <a:gd name="T67" fmla="*/ 1 h 36"/>
                <a:gd name="T68" fmla="*/ 306 w 324"/>
                <a:gd name="T69"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4" h="36">
                  <a:moveTo>
                    <a:pt x="306" y="0"/>
                  </a:moveTo>
                  <a:lnTo>
                    <a:pt x="18" y="0"/>
                  </a:lnTo>
                  <a:lnTo>
                    <a:pt x="14" y="1"/>
                  </a:lnTo>
                  <a:lnTo>
                    <a:pt x="11" y="2"/>
                  </a:lnTo>
                  <a:lnTo>
                    <a:pt x="8" y="3"/>
                  </a:lnTo>
                  <a:lnTo>
                    <a:pt x="6" y="5"/>
                  </a:lnTo>
                  <a:lnTo>
                    <a:pt x="4" y="8"/>
                  </a:lnTo>
                  <a:lnTo>
                    <a:pt x="1" y="12"/>
                  </a:lnTo>
                  <a:lnTo>
                    <a:pt x="0" y="15"/>
                  </a:lnTo>
                  <a:lnTo>
                    <a:pt x="0" y="18"/>
                  </a:lnTo>
                  <a:lnTo>
                    <a:pt x="0" y="21"/>
                  </a:lnTo>
                  <a:lnTo>
                    <a:pt x="1" y="24"/>
                  </a:lnTo>
                  <a:lnTo>
                    <a:pt x="4" y="28"/>
                  </a:lnTo>
                  <a:lnTo>
                    <a:pt x="6" y="31"/>
                  </a:lnTo>
                  <a:lnTo>
                    <a:pt x="8" y="33"/>
                  </a:lnTo>
                  <a:lnTo>
                    <a:pt x="11" y="34"/>
                  </a:lnTo>
                  <a:lnTo>
                    <a:pt x="14" y="35"/>
                  </a:lnTo>
                  <a:lnTo>
                    <a:pt x="18" y="36"/>
                  </a:lnTo>
                  <a:lnTo>
                    <a:pt x="306" y="36"/>
                  </a:lnTo>
                  <a:lnTo>
                    <a:pt x="309" y="35"/>
                  </a:lnTo>
                  <a:lnTo>
                    <a:pt x="312" y="34"/>
                  </a:lnTo>
                  <a:lnTo>
                    <a:pt x="316" y="33"/>
                  </a:lnTo>
                  <a:lnTo>
                    <a:pt x="319" y="31"/>
                  </a:lnTo>
                  <a:lnTo>
                    <a:pt x="321" y="28"/>
                  </a:lnTo>
                  <a:lnTo>
                    <a:pt x="322" y="24"/>
                  </a:lnTo>
                  <a:lnTo>
                    <a:pt x="323" y="21"/>
                  </a:lnTo>
                  <a:lnTo>
                    <a:pt x="324" y="18"/>
                  </a:lnTo>
                  <a:lnTo>
                    <a:pt x="323" y="15"/>
                  </a:lnTo>
                  <a:lnTo>
                    <a:pt x="322" y="12"/>
                  </a:lnTo>
                  <a:lnTo>
                    <a:pt x="321" y="8"/>
                  </a:lnTo>
                  <a:lnTo>
                    <a:pt x="319" y="5"/>
                  </a:lnTo>
                  <a:lnTo>
                    <a:pt x="316" y="3"/>
                  </a:lnTo>
                  <a:lnTo>
                    <a:pt x="312" y="2"/>
                  </a:lnTo>
                  <a:lnTo>
                    <a:pt x="309" y="1"/>
                  </a:lnTo>
                  <a:lnTo>
                    <a:pt x="306" y="0"/>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22" name="Freeform 92"/>
            <p:cNvSpPr/>
            <p:nvPr>
              <p:custDataLst>
                <p:tags r:id="rId14"/>
              </p:custDataLst>
            </p:nvPr>
          </p:nvSpPr>
          <p:spPr bwMode="auto">
            <a:xfrm>
              <a:off x="6528594" y="2203847"/>
              <a:ext cx="128588" cy="14288"/>
            </a:xfrm>
            <a:custGeom>
              <a:avLst/>
              <a:gdLst>
                <a:gd name="T0" fmla="*/ 306 w 324"/>
                <a:gd name="T1" fmla="*/ 0 h 36"/>
                <a:gd name="T2" fmla="*/ 18 w 324"/>
                <a:gd name="T3" fmla="*/ 0 h 36"/>
                <a:gd name="T4" fmla="*/ 15 w 324"/>
                <a:gd name="T5" fmla="*/ 1 h 36"/>
                <a:gd name="T6" fmla="*/ 10 w 324"/>
                <a:gd name="T7" fmla="*/ 2 h 36"/>
                <a:gd name="T8" fmla="*/ 8 w 324"/>
                <a:gd name="T9" fmla="*/ 3 h 36"/>
                <a:gd name="T10" fmla="*/ 5 w 324"/>
                <a:gd name="T11" fmla="*/ 5 h 36"/>
                <a:gd name="T12" fmla="*/ 3 w 324"/>
                <a:gd name="T13" fmla="*/ 8 h 36"/>
                <a:gd name="T14" fmla="*/ 2 w 324"/>
                <a:gd name="T15" fmla="*/ 10 h 36"/>
                <a:gd name="T16" fmla="*/ 1 w 324"/>
                <a:gd name="T17" fmla="*/ 15 h 36"/>
                <a:gd name="T18" fmla="*/ 0 w 324"/>
                <a:gd name="T19" fmla="*/ 18 h 36"/>
                <a:gd name="T20" fmla="*/ 1 w 324"/>
                <a:gd name="T21" fmla="*/ 21 h 36"/>
                <a:gd name="T22" fmla="*/ 2 w 324"/>
                <a:gd name="T23" fmla="*/ 24 h 36"/>
                <a:gd name="T24" fmla="*/ 3 w 324"/>
                <a:gd name="T25" fmla="*/ 28 h 36"/>
                <a:gd name="T26" fmla="*/ 5 w 324"/>
                <a:gd name="T27" fmla="*/ 31 h 36"/>
                <a:gd name="T28" fmla="*/ 8 w 324"/>
                <a:gd name="T29" fmla="*/ 33 h 36"/>
                <a:gd name="T30" fmla="*/ 10 w 324"/>
                <a:gd name="T31" fmla="*/ 34 h 36"/>
                <a:gd name="T32" fmla="*/ 15 w 324"/>
                <a:gd name="T33" fmla="*/ 35 h 36"/>
                <a:gd name="T34" fmla="*/ 18 w 324"/>
                <a:gd name="T35" fmla="*/ 36 h 36"/>
                <a:gd name="T36" fmla="*/ 306 w 324"/>
                <a:gd name="T37" fmla="*/ 36 h 36"/>
                <a:gd name="T38" fmla="*/ 310 w 324"/>
                <a:gd name="T39" fmla="*/ 35 h 36"/>
                <a:gd name="T40" fmla="*/ 313 w 324"/>
                <a:gd name="T41" fmla="*/ 34 h 36"/>
                <a:gd name="T42" fmla="*/ 316 w 324"/>
                <a:gd name="T43" fmla="*/ 33 h 36"/>
                <a:gd name="T44" fmla="*/ 318 w 324"/>
                <a:gd name="T45" fmla="*/ 31 h 36"/>
                <a:gd name="T46" fmla="*/ 320 w 324"/>
                <a:gd name="T47" fmla="*/ 28 h 36"/>
                <a:gd name="T48" fmla="*/ 323 w 324"/>
                <a:gd name="T49" fmla="*/ 24 h 36"/>
                <a:gd name="T50" fmla="*/ 324 w 324"/>
                <a:gd name="T51" fmla="*/ 21 h 36"/>
                <a:gd name="T52" fmla="*/ 324 w 324"/>
                <a:gd name="T53" fmla="*/ 18 h 36"/>
                <a:gd name="T54" fmla="*/ 324 w 324"/>
                <a:gd name="T55" fmla="*/ 15 h 36"/>
                <a:gd name="T56" fmla="*/ 323 w 324"/>
                <a:gd name="T57" fmla="*/ 10 h 36"/>
                <a:gd name="T58" fmla="*/ 320 w 324"/>
                <a:gd name="T59" fmla="*/ 8 h 36"/>
                <a:gd name="T60" fmla="*/ 318 w 324"/>
                <a:gd name="T61" fmla="*/ 5 h 36"/>
                <a:gd name="T62" fmla="*/ 316 w 324"/>
                <a:gd name="T63" fmla="*/ 3 h 36"/>
                <a:gd name="T64" fmla="*/ 313 w 324"/>
                <a:gd name="T65" fmla="*/ 2 h 36"/>
                <a:gd name="T66" fmla="*/ 310 w 324"/>
                <a:gd name="T67" fmla="*/ 1 h 36"/>
                <a:gd name="T68" fmla="*/ 306 w 324"/>
                <a:gd name="T69"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4" h="36">
                  <a:moveTo>
                    <a:pt x="306" y="0"/>
                  </a:moveTo>
                  <a:lnTo>
                    <a:pt x="18" y="0"/>
                  </a:lnTo>
                  <a:lnTo>
                    <a:pt x="15" y="1"/>
                  </a:lnTo>
                  <a:lnTo>
                    <a:pt x="10" y="2"/>
                  </a:lnTo>
                  <a:lnTo>
                    <a:pt x="8" y="3"/>
                  </a:lnTo>
                  <a:lnTo>
                    <a:pt x="5" y="5"/>
                  </a:lnTo>
                  <a:lnTo>
                    <a:pt x="3" y="8"/>
                  </a:lnTo>
                  <a:lnTo>
                    <a:pt x="2" y="10"/>
                  </a:lnTo>
                  <a:lnTo>
                    <a:pt x="1" y="15"/>
                  </a:lnTo>
                  <a:lnTo>
                    <a:pt x="0" y="18"/>
                  </a:lnTo>
                  <a:lnTo>
                    <a:pt x="1" y="21"/>
                  </a:lnTo>
                  <a:lnTo>
                    <a:pt x="2" y="24"/>
                  </a:lnTo>
                  <a:lnTo>
                    <a:pt x="3" y="28"/>
                  </a:lnTo>
                  <a:lnTo>
                    <a:pt x="5" y="31"/>
                  </a:lnTo>
                  <a:lnTo>
                    <a:pt x="8" y="33"/>
                  </a:lnTo>
                  <a:lnTo>
                    <a:pt x="10" y="34"/>
                  </a:lnTo>
                  <a:lnTo>
                    <a:pt x="15" y="35"/>
                  </a:lnTo>
                  <a:lnTo>
                    <a:pt x="18" y="36"/>
                  </a:lnTo>
                  <a:lnTo>
                    <a:pt x="306" y="36"/>
                  </a:lnTo>
                  <a:lnTo>
                    <a:pt x="310" y="35"/>
                  </a:lnTo>
                  <a:lnTo>
                    <a:pt x="313" y="34"/>
                  </a:lnTo>
                  <a:lnTo>
                    <a:pt x="316" y="33"/>
                  </a:lnTo>
                  <a:lnTo>
                    <a:pt x="318" y="31"/>
                  </a:lnTo>
                  <a:lnTo>
                    <a:pt x="320" y="28"/>
                  </a:lnTo>
                  <a:lnTo>
                    <a:pt x="323" y="24"/>
                  </a:lnTo>
                  <a:lnTo>
                    <a:pt x="324" y="21"/>
                  </a:lnTo>
                  <a:lnTo>
                    <a:pt x="324" y="18"/>
                  </a:lnTo>
                  <a:lnTo>
                    <a:pt x="324" y="15"/>
                  </a:lnTo>
                  <a:lnTo>
                    <a:pt x="323" y="10"/>
                  </a:lnTo>
                  <a:lnTo>
                    <a:pt x="320" y="8"/>
                  </a:lnTo>
                  <a:lnTo>
                    <a:pt x="318" y="5"/>
                  </a:lnTo>
                  <a:lnTo>
                    <a:pt x="316" y="3"/>
                  </a:lnTo>
                  <a:lnTo>
                    <a:pt x="313" y="2"/>
                  </a:lnTo>
                  <a:lnTo>
                    <a:pt x="310" y="1"/>
                  </a:lnTo>
                  <a:lnTo>
                    <a:pt x="306" y="0"/>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23" name="Freeform 93"/>
            <p:cNvSpPr/>
            <p:nvPr>
              <p:custDataLst>
                <p:tags r:id="rId15"/>
              </p:custDataLst>
            </p:nvPr>
          </p:nvSpPr>
          <p:spPr bwMode="auto">
            <a:xfrm>
              <a:off x="6528594" y="2160984"/>
              <a:ext cx="128588" cy="14288"/>
            </a:xfrm>
            <a:custGeom>
              <a:avLst/>
              <a:gdLst>
                <a:gd name="T0" fmla="*/ 306 w 324"/>
                <a:gd name="T1" fmla="*/ 0 h 36"/>
                <a:gd name="T2" fmla="*/ 18 w 324"/>
                <a:gd name="T3" fmla="*/ 0 h 36"/>
                <a:gd name="T4" fmla="*/ 15 w 324"/>
                <a:gd name="T5" fmla="*/ 1 h 36"/>
                <a:gd name="T6" fmla="*/ 10 w 324"/>
                <a:gd name="T7" fmla="*/ 2 h 36"/>
                <a:gd name="T8" fmla="*/ 8 w 324"/>
                <a:gd name="T9" fmla="*/ 3 h 36"/>
                <a:gd name="T10" fmla="*/ 5 w 324"/>
                <a:gd name="T11" fmla="*/ 5 h 36"/>
                <a:gd name="T12" fmla="*/ 3 w 324"/>
                <a:gd name="T13" fmla="*/ 8 h 36"/>
                <a:gd name="T14" fmla="*/ 2 w 324"/>
                <a:gd name="T15" fmla="*/ 10 h 36"/>
                <a:gd name="T16" fmla="*/ 1 w 324"/>
                <a:gd name="T17" fmla="*/ 15 h 36"/>
                <a:gd name="T18" fmla="*/ 0 w 324"/>
                <a:gd name="T19" fmla="*/ 18 h 36"/>
                <a:gd name="T20" fmla="*/ 1 w 324"/>
                <a:gd name="T21" fmla="*/ 21 h 36"/>
                <a:gd name="T22" fmla="*/ 2 w 324"/>
                <a:gd name="T23" fmla="*/ 24 h 36"/>
                <a:gd name="T24" fmla="*/ 3 w 324"/>
                <a:gd name="T25" fmla="*/ 28 h 36"/>
                <a:gd name="T26" fmla="*/ 5 w 324"/>
                <a:gd name="T27" fmla="*/ 31 h 36"/>
                <a:gd name="T28" fmla="*/ 8 w 324"/>
                <a:gd name="T29" fmla="*/ 33 h 36"/>
                <a:gd name="T30" fmla="*/ 10 w 324"/>
                <a:gd name="T31" fmla="*/ 34 h 36"/>
                <a:gd name="T32" fmla="*/ 15 w 324"/>
                <a:gd name="T33" fmla="*/ 35 h 36"/>
                <a:gd name="T34" fmla="*/ 18 w 324"/>
                <a:gd name="T35" fmla="*/ 36 h 36"/>
                <a:gd name="T36" fmla="*/ 306 w 324"/>
                <a:gd name="T37" fmla="*/ 36 h 36"/>
                <a:gd name="T38" fmla="*/ 310 w 324"/>
                <a:gd name="T39" fmla="*/ 35 h 36"/>
                <a:gd name="T40" fmla="*/ 313 w 324"/>
                <a:gd name="T41" fmla="*/ 34 h 36"/>
                <a:gd name="T42" fmla="*/ 316 w 324"/>
                <a:gd name="T43" fmla="*/ 33 h 36"/>
                <a:gd name="T44" fmla="*/ 318 w 324"/>
                <a:gd name="T45" fmla="*/ 31 h 36"/>
                <a:gd name="T46" fmla="*/ 320 w 324"/>
                <a:gd name="T47" fmla="*/ 28 h 36"/>
                <a:gd name="T48" fmla="*/ 323 w 324"/>
                <a:gd name="T49" fmla="*/ 24 h 36"/>
                <a:gd name="T50" fmla="*/ 324 w 324"/>
                <a:gd name="T51" fmla="*/ 21 h 36"/>
                <a:gd name="T52" fmla="*/ 324 w 324"/>
                <a:gd name="T53" fmla="*/ 18 h 36"/>
                <a:gd name="T54" fmla="*/ 324 w 324"/>
                <a:gd name="T55" fmla="*/ 15 h 36"/>
                <a:gd name="T56" fmla="*/ 323 w 324"/>
                <a:gd name="T57" fmla="*/ 10 h 36"/>
                <a:gd name="T58" fmla="*/ 320 w 324"/>
                <a:gd name="T59" fmla="*/ 8 h 36"/>
                <a:gd name="T60" fmla="*/ 318 w 324"/>
                <a:gd name="T61" fmla="*/ 5 h 36"/>
                <a:gd name="T62" fmla="*/ 316 w 324"/>
                <a:gd name="T63" fmla="*/ 3 h 36"/>
                <a:gd name="T64" fmla="*/ 313 w 324"/>
                <a:gd name="T65" fmla="*/ 2 h 36"/>
                <a:gd name="T66" fmla="*/ 310 w 324"/>
                <a:gd name="T67" fmla="*/ 1 h 36"/>
                <a:gd name="T68" fmla="*/ 306 w 324"/>
                <a:gd name="T69"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4" h="36">
                  <a:moveTo>
                    <a:pt x="306" y="0"/>
                  </a:moveTo>
                  <a:lnTo>
                    <a:pt x="18" y="0"/>
                  </a:lnTo>
                  <a:lnTo>
                    <a:pt x="15" y="1"/>
                  </a:lnTo>
                  <a:lnTo>
                    <a:pt x="10" y="2"/>
                  </a:lnTo>
                  <a:lnTo>
                    <a:pt x="8" y="3"/>
                  </a:lnTo>
                  <a:lnTo>
                    <a:pt x="5" y="5"/>
                  </a:lnTo>
                  <a:lnTo>
                    <a:pt x="3" y="8"/>
                  </a:lnTo>
                  <a:lnTo>
                    <a:pt x="2" y="10"/>
                  </a:lnTo>
                  <a:lnTo>
                    <a:pt x="1" y="15"/>
                  </a:lnTo>
                  <a:lnTo>
                    <a:pt x="0" y="18"/>
                  </a:lnTo>
                  <a:lnTo>
                    <a:pt x="1" y="21"/>
                  </a:lnTo>
                  <a:lnTo>
                    <a:pt x="2" y="24"/>
                  </a:lnTo>
                  <a:lnTo>
                    <a:pt x="3" y="28"/>
                  </a:lnTo>
                  <a:lnTo>
                    <a:pt x="5" y="31"/>
                  </a:lnTo>
                  <a:lnTo>
                    <a:pt x="8" y="33"/>
                  </a:lnTo>
                  <a:lnTo>
                    <a:pt x="10" y="34"/>
                  </a:lnTo>
                  <a:lnTo>
                    <a:pt x="15" y="35"/>
                  </a:lnTo>
                  <a:lnTo>
                    <a:pt x="18" y="36"/>
                  </a:lnTo>
                  <a:lnTo>
                    <a:pt x="306" y="36"/>
                  </a:lnTo>
                  <a:lnTo>
                    <a:pt x="310" y="35"/>
                  </a:lnTo>
                  <a:lnTo>
                    <a:pt x="313" y="34"/>
                  </a:lnTo>
                  <a:lnTo>
                    <a:pt x="316" y="33"/>
                  </a:lnTo>
                  <a:lnTo>
                    <a:pt x="318" y="31"/>
                  </a:lnTo>
                  <a:lnTo>
                    <a:pt x="320" y="28"/>
                  </a:lnTo>
                  <a:lnTo>
                    <a:pt x="323" y="24"/>
                  </a:lnTo>
                  <a:lnTo>
                    <a:pt x="324" y="21"/>
                  </a:lnTo>
                  <a:lnTo>
                    <a:pt x="324" y="18"/>
                  </a:lnTo>
                  <a:lnTo>
                    <a:pt x="324" y="15"/>
                  </a:lnTo>
                  <a:lnTo>
                    <a:pt x="323" y="10"/>
                  </a:lnTo>
                  <a:lnTo>
                    <a:pt x="320" y="8"/>
                  </a:lnTo>
                  <a:lnTo>
                    <a:pt x="318" y="5"/>
                  </a:lnTo>
                  <a:lnTo>
                    <a:pt x="316" y="3"/>
                  </a:lnTo>
                  <a:lnTo>
                    <a:pt x="313" y="2"/>
                  </a:lnTo>
                  <a:lnTo>
                    <a:pt x="310" y="1"/>
                  </a:lnTo>
                  <a:lnTo>
                    <a:pt x="306" y="0"/>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24" name="Freeform 94"/>
            <p:cNvSpPr/>
            <p:nvPr>
              <p:custDataLst>
                <p:tags r:id="rId16"/>
              </p:custDataLst>
            </p:nvPr>
          </p:nvSpPr>
          <p:spPr bwMode="auto">
            <a:xfrm>
              <a:off x="6528594" y="2118122"/>
              <a:ext cx="128588" cy="14288"/>
            </a:xfrm>
            <a:custGeom>
              <a:avLst/>
              <a:gdLst>
                <a:gd name="T0" fmla="*/ 306 w 324"/>
                <a:gd name="T1" fmla="*/ 0 h 36"/>
                <a:gd name="T2" fmla="*/ 18 w 324"/>
                <a:gd name="T3" fmla="*/ 0 h 36"/>
                <a:gd name="T4" fmla="*/ 15 w 324"/>
                <a:gd name="T5" fmla="*/ 1 h 36"/>
                <a:gd name="T6" fmla="*/ 10 w 324"/>
                <a:gd name="T7" fmla="*/ 2 h 36"/>
                <a:gd name="T8" fmla="*/ 8 w 324"/>
                <a:gd name="T9" fmla="*/ 3 h 36"/>
                <a:gd name="T10" fmla="*/ 5 w 324"/>
                <a:gd name="T11" fmla="*/ 5 h 36"/>
                <a:gd name="T12" fmla="*/ 3 w 324"/>
                <a:gd name="T13" fmla="*/ 8 h 36"/>
                <a:gd name="T14" fmla="*/ 2 w 324"/>
                <a:gd name="T15" fmla="*/ 12 h 36"/>
                <a:gd name="T16" fmla="*/ 1 w 324"/>
                <a:gd name="T17" fmla="*/ 15 h 36"/>
                <a:gd name="T18" fmla="*/ 0 w 324"/>
                <a:gd name="T19" fmla="*/ 18 h 36"/>
                <a:gd name="T20" fmla="*/ 1 w 324"/>
                <a:gd name="T21" fmla="*/ 21 h 36"/>
                <a:gd name="T22" fmla="*/ 2 w 324"/>
                <a:gd name="T23" fmla="*/ 24 h 36"/>
                <a:gd name="T24" fmla="*/ 3 w 324"/>
                <a:gd name="T25" fmla="*/ 28 h 36"/>
                <a:gd name="T26" fmla="*/ 5 w 324"/>
                <a:gd name="T27" fmla="*/ 31 h 36"/>
                <a:gd name="T28" fmla="*/ 8 w 324"/>
                <a:gd name="T29" fmla="*/ 33 h 36"/>
                <a:gd name="T30" fmla="*/ 10 w 324"/>
                <a:gd name="T31" fmla="*/ 34 h 36"/>
                <a:gd name="T32" fmla="*/ 15 w 324"/>
                <a:gd name="T33" fmla="*/ 35 h 36"/>
                <a:gd name="T34" fmla="*/ 18 w 324"/>
                <a:gd name="T35" fmla="*/ 36 h 36"/>
                <a:gd name="T36" fmla="*/ 306 w 324"/>
                <a:gd name="T37" fmla="*/ 36 h 36"/>
                <a:gd name="T38" fmla="*/ 310 w 324"/>
                <a:gd name="T39" fmla="*/ 35 h 36"/>
                <a:gd name="T40" fmla="*/ 313 w 324"/>
                <a:gd name="T41" fmla="*/ 34 h 36"/>
                <a:gd name="T42" fmla="*/ 316 w 324"/>
                <a:gd name="T43" fmla="*/ 33 h 36"/>
                <a:gd name="T44" fmla="*/ 318 w 324"/>
                <a:gd name="T45" fmla="*/ 31 h 36"/>
                <a:gd name="T46" fmla="*/ 320 w 324"/>
                <a:gd name="T47" fmla="*/ 28 h 36"/>
                <a:gd name="T48" fmla="*/ 323 w 324"/>
                <a:gd name="T49" fmla="*/ 24 h 36"/>
                <a:gd name="T50" fmla="*/ 324 w 324"/>
                <a:gd name="T51" fmla="*/ 21 h 36"/>
                <a:gd name="T52" fmla="*/ 324 w 324"/>
                <a:gd name="T53" fmla="*/ 18 h 36"/>
                <a:gd name="T54" fmla="*/ 324 w 324"/>
                <a:gd name="T55" fmla="*/ 15 h 36"/>
                <a:gd name="T56" fmla="*/ 323 w 324"/>
                <a:gd name="T57" fmla="*/ 12 h 36"/>
                <a:gd name="T58" fmla="*/ 320 w 324"/>
                <a:gd name="T59" fmla="*/ 8 h 36"/>
                <a:gd name="T60" fmla="*/ 318 w 324"/>
                <a:gd name="T61" fmla="*/ 5 h 36"/>
                <a:gd name="T62" fmla="*/ 316 w 324"/>
                <a:gd name="T63" fmla="*/ 3 h 36"/>
                <a:gd name="T64" fmla="*/ 313 w 324"/>
                <a:gd name="T65" fmla="*/ 2 h 36"/>
                <a:gd name="T66" fmla="*/ 310 w 324"/>
                <a:gd name="T67" fmla="*/ 1 h 36"/>
                <a:gd name="T68" fmla="*/ 306 w 324"/>
                <a:gd name="T69"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4" h="36">
                  <a:moveTo>
                    <a:pt x="306" y="0"/>
                  </a:moveTo>
                  <a:lnTo>
                    <a:pt x="18" y="0"/>
                  </a:lnTo>
                  <a:lnTo>
                    <a:pt x="15" y="1"/>
                  </a:lnTo>
                  <a:lnTo>
                    <a:pt x="10" y="2"/>
                  </a:lnTo>
                  <a:lnTo>
                    <a:pt x="8" y="3"/>
                  </a:lnTo>
                  <a:lnTo>
                    <a:pt x="5" y="5"/>
                  </a:lnTo>
                  <a:lnTo>
                    <a:pt x="3" y="8"/>
                  </a:lnTo>
                  <a:lnTo>
                    <a:pt x="2" y="12"/>
                  </a:lnTo>
                  <a:lnTo>
                    <a:pt x="1" y="15"/>
                  </a:lnTo>
                  <a:lnTo>
                    <a:pt x="0" y="18"/>
                  </a:lnTo>
                  <a:lnTo>
                    <a:pt x="1" y="21"/>
                  </a:lnTo>
                  <a:lnTo>
                    <a:pt x="2" y="24"/>
                  </a:lnTo>
                  <a:lnTo>
                    <a:pt x="3" y="28"/>
                  </a:lnTo>
                  <a:lnTo>
                    <a:pt x="5" y="31"/>
                  </a:lnTo>
                  <a:lnTo>
                    <a:pt x="8" y="33"/>
                  </a:lnTo>
                  <a:lnTo>
                    <a:pt x="10" y="34"/>
                  </a:lnTo>
                  <a:lnTo>
                    <a:pt x="15" y="35"/>
                  </a:lnTo>
                  <a:lnTo>
                    <a:pt x="18" y="36"/>
                  </a:lnTo>
                  <a:lnTo>
                    <a:pt x="306" y="36"/>
                  </a:lnTo>
                  <a:lnTo>
                    <a:pt x="310" y="35"/>
                  </a:lnTo>
                  <a:lnTo>
                    <a:pt x="313" y="34"/>
                  </a:lnTo>
                  <a:lnTo>
                    <a:pt x="316" y="33"/>
                  </a:lnTo>
                  <a:lnTo>
                    <a:pt x="318" y="31"/>
                  </a:lnTo>
                  <a:lnTo>
                    <a:pt x="320" y="28"/>
                  </a:lnTo>
                  <a:lnTo>
                    <a:pt x="323" y="24"/>
                  </a:lnTo>
                  <a:lnTo>
                    <a:pt x="324" y="21"/>
                  </a:lnTo>
                  <a:lnTo>
                    <a:pt x="324" y="18"/>
                  </a:lnTo>
                  <a:lnTo>
                    <a:pt x="324" y="15"/>
                  </a:lnTo>
                  <a:lnTo>
                    <a:pt x="323" y="12"/>
                  </a:lnTo>
                  <a:lnTo>
                    <a:pt x="320" y="8"/>
                  </a:lnTo>
                  <a:lnTo>
                    <a:pt x="318" y="5"/>
                  </a:lnTo>
                  <a:lnTo>
                    <a:pt x="316" y="3"/>
                  </a:lnTo>
                  <a:lnTo>
                    <a:pt x="313" y="2"/>
                  </a:lnTo>
                  <a:lnTo>
                    <a:pt x="310" y="1"/>
                  </a:lnTo>
                  <a:lnTo>
                    <a:pt x="306" y="0"/>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25" name="Freeform 95"/>
            <p:cNvSpPr/>
            <p:nvPr>
              <p:custDataLst>
                <p:tags r:id="rId17"/>
              </p:custDataLst>
            </p:nvPr>
          </p:nvSpPr>
          <p:spPr bwMode="auto">
            <a:xfrm>
              <a:off x="6371431" y="2032397"/>
              <a:ext cx="285750" cy="14288"/>
            </a:xfrm>
            <a:custGeom>
              <a:avLst/>
              <a:gdLst>
                <a:gd name="T0" fmla="*/ 702 w 720"/>
                <a:gd name="T1" fmla="*/ 0 h 36"/>
                <a:gd name="T2" fmla="*/ 18 w 720"/>
                <a:gd name="T3" fmla="*/ 0 h 36"/>
                <a:gd name="T4" fmla="*/ 14 w 720"/>
                <a:gd name="T5" fmla="*/ 1 h 36"/>
                <a:gd name="T6" fmla="*/ 11 w 720"/>
                <a:gd name="T7" fmla="*/ 2 h 36"/>
                <a:gd name="T8" fmla="*/ 8 w 720"/>
                <a:gd name="T9" fmla="*/ 3 h 36"/>
                <a:gd name="T10" fmla="*/ 6 w 720"/>
                <a:gd name="T11" fmla="*/ 5 h 36"/>
                <a:gd name="T12" fmla="*/ 4 w 720"/>
                <a:gd name="T13" fmla="*/ 8 h 36"/>
                <a:gd name="T14" fmla="*/ 1 w 720"/>
                <a:gd name="T15" fmla="*/ 10 h 36"/>
                <a:gd name="T16" fmla="*/ 0 w 720"/>
                <a:gd name="T17" fmla="*/ 15 h 36"/>
                <a:gd name="T18" fmla="*/ 0 w 720"/>
                <a:gd name="T19" fmla="*/ 18 h 36"/>
                <a:gd name="T20" fmla="*/ 0 w 720"/>
                <a:gd name="T21" fmla="*/ 21 h 36"/>
                <a:gd name="T22" fmla="*/ 1 w 720"/>
                <a:gd name="T23" fmla="*/ 24 h 36"/>
                <a:gd name="T24" fmla="*/ 4 w 720"/>
                <a:gd name="T25" fmla="*/ 28 h 36"/>
                <a:gd name="T26" fmla="*/ 6 w 720"/>
                <a:gd name="T27" fmla="*/ 31 h 36"/>
                <a:gd name="T28" fmla="*/ 8 w 720"/>
                <a:gd name="T29" fmla="*/ 33 h 36"/>
                <a:gd name="T30" fmla="*/ 11 w 720"/>
                <a:gd name="T31" fmla="*/ 34 h 36"/>
                <a:gd name="T32" fmla="*/ 14 w 720"/>
                <a:gd name="T33" fmla="*/ 35 h 36"/>
                <a:gd name="T34" fmla="*/ 18 w 720"/>
                <a:gd name="T35" fmla="*/ 36 h 36"/>
                <a:gd name="T36" fmla="*/ 702 w 720"/>
                <a:gd name="T37" fmla="*/ 36 h 36"/>
                <a:gd name="T38" fmla="*/ 706 w 720"/>
                <a:gd name="T39" fmla="*/ 35 h 36"/>
                <a:gd name="T40" fmla="*/ 709 w 720"/>
                <a:gd name="T41" fmla="*/ 34 h 36"/>
                <a:gd name="T42" fmla="*/ 712 w 720"/>
                <a:gd name="T43" fmla="*/ 33 h 36"/>
                <a:gd name="T44" fmla="*/ 714 w 720"/>
                <a:gd name="T45" fmla="*/ 31 h 36"/>
                <a:gd name="T46" fmla="*/ 716 w 720"/>
                <a:gd name="T47" fmla="*/ 28 h 36"/>
                <a:gd name="T48" fmla="*/ 719 w 720"/>
                <a:gd name="T49" fmla="*/ 24 h 36"/>
                <a:gd name="T50" fmla="*/ 720 w 720"/>
                <a:gd name="T51" fmla="*/ 21 h 36"/>
                <a:gd name="T52" fmla="*/ 720 w 720"/>
                <a:gd name="T53" fmla="*/ 18 h 36"/>
                <a:gd name="T54" fmla="*/ 720 w 720"/>
                <a:gd name="T55" fmla="*/ 15 h 36"/>
                <a:gd name="T56" fmla="*/ 719 w 720"/>
                <a:gd name="T57" fmla="*/ 10 h 36"/>
                <a:gd name="T58" fmla="*/ 716 w 720"/>
                <a:gd name="T59" fmla="*/ 8 h 36"/>
                <a:gd name="T60" fmla="*/ 714 w 720"/>
                <a:gd name="T61" fmla="*/ 5 h 36"/>
                <a:gd name="T62" fmla="*/ 712 w 720"/>
                <a:gd name="T63" fmla="*/ 3 h 36"/>
                <a:gd name="T64" fmla="*/ 709 w 720"/>
                <a:gd name="T65" fmla="*/ 2 h 36"/>
                <a:gd name="T66" fmla="*/ 706 w 720"/>
                <a:gd name="T67" fmla="*/ 1 h 36"/>
                <a:gd name="T68" fmla="*/ 702 w 720"/>
                <a:gd name="T69"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20" h="36">
                  <a:moveTo>
                    <a:pt x="702" y="0"/>
                  </a:moveTo>
                  <a:lnTo>
                    <a:pt x="18" y="0"/>
                  </a:lnTo>
                  <a:lnTo>
                    <a:pt x="14" y="1"/>
                  </a:lnTo>
                  <a:lnTo>
                    <a:pt x="11" y="2"/>
                  </a:lnTo>
                  <a:lnTo>
                    <a:pt x="8" y="3"/>
                  </a:lnTo>
                  <a:lnTo>
                    <a:pt x="6" y="5"/>
                  </a:lnTo>
                  <a:lnTo>
                    <a:pt x="4" y="8"/>
                  </a:lnTo>
                  <a:lnTo>
                    <a:pt x="1" y="10"/>
                  </a:lnTo>
                  <a:lnTo>
                    <a:pt x="0" y="15"/>
                  </a:lnTo>
                  <a:lnTo>
                    <a:pt x="0" y="18"/>
                  </a:lnTo>
                  <a:lnTo>
                    <a:pt x="0" y="21"/>
                  </a:lnTo>
                  <a:lnTo>
                    <a:pt x="1" y="24"/>
                  </a:lnTo>
                  <a:lnTo>
                    <a:pt x="4" y="28"/>
                  </a:lnTo>
                  <a:lnTo>
                    <a:pt x="6" y="31"/>
                  </a:lnTo>
                  <a:lnTo>
                    <a:pt x="8" y="33"/>
                  </a:lnTo>
                  <a:lnTo>
                    <a:pt x="11" y="34"/>
                  </a:lnTo>
                  <a:lnTo>
                    <a:pt x="14" y="35"/>
                  </a:lnTo>
                  <a:lnTo>
                    <a:pt x="18" y="36"/>
                  </a:lnTo>
                  <a:lnTo>
                    <a:pt x="702" y="36"/>
                  </a:lnTo>
                  <a:lnTo>
                    <a:pt x="706" y="35"/>
                  </a:lnTo>
                  <a:lnTo>
                    <a:pt x="709" y="34"/>
                  </a:lnTo>
                  <a:lnTo>
                    <a:pt x="712" y="33"/>
                  </a:lnTo>
                  <a:lnTo>
                    <a:pt x="714" y="31"/>
                  </a:lnTo>
                  <a:lnTo>
                    <a:pt x="716" y="28"/>
                  </a:lnTo>
                  <a:lnTo>
                    <a:pt x="719" y="24"/>
                  </a:lnTo>
                  <a:lnTo>
                    <a:pt x="720" y="21"/>
                  </a:lnTo>
                  <a:lnTo>
                    <a:pt x="720" y="18"/>
                  </a:lnTo>
                  <a:lnTo>
                    <a:pt x="720" y="15"/>
                  </a:lnTo>
                  <a:lnTo>
                    <a:pt x="719" y="10"/>
                  </a:lnTo>
                  <a:lnTo>
                    <a:pt x="716" y="8"/>
                  </a:lnTo>
                  <a:lnTo>
                    <a:pt x="714" y="5"/>
                  </a:lnTo>
                  <a:lnTo>
                    <a:pt x="712" y="3"/>
                  </a:lnTo>
                  <a:lnTo>
                    <a:pt x="709" y="2"/>
                  </a:lnTo>
                  <a:lnTo>
                    <a:pt x="706" y="1"/>
                  </a:lnTo>
                  <a:lnTo>
                    <a:pt x="702" y="0"/>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26" name="Freeform 96"/>
            <p:cNvSpPr/>
            <p:nvPr>
              <p:custDataLst>
                <p:tags r:id="rId18"/>
              </p:custDataLst>
            </p:nvPr>
          </p:nvSpPr>
          <p:spPr bwMode="auto">
            <a:xfrm>
              <a:off x="6371431" y="2075259"/>
              <a:ext cx="285750" cy="14288"/>
            </a:xfrm>
            <a:custGeom>
              <a:avLst/>
              <a:gdLst>
                <a:gd name="T0" fmla="*/ 702 w 720"/>
                <a:gd name="T1" fmla="*/ 0 h 36"/>
                <a:gd name="T2" fmla="*/ 18 w 720"/>
                <a:gd name="T3" fmla="*/ 0 h 36"/>
                <a:gd name="T4" fmla="*/ 14 w 720"/>
                <a:gd name="T5" fmla="*/ 1 h 36"/>
                <a:gd name="T6" fmla="*/ 11 w 720"/>
                <a:gd name="T7" fmla="*/ 2 h 36"/>
                <a:gd name="T8" fmla="*/ 8 w 720"/>
                <a:gd name="T9" fmla="*/ 3 h 36"/>
                <a:gd name="T10" fmla="*/ 6 w 720"/>
                <a:gd name="T11" fmla="*/ 5 h 36"/>
                <a:gd name="T12" fmla="*/ 4 w 720"/>
                <a:gd name="T13" fmla="*/ 8 h 36"/>
                <a:gd name="T14" fmla="*/ 1 w 720"/>
                <a:gd name="T15" fmla="*/ 10 h 36"/>
                <a:gd name="T16" fmla="*/ 0 w 720"/>
                <a:gd name="T17" fmla="*/ 15 h 36"/>
                <a:gd name="T18" fmla="*/ 0 w 720"/>
                <a:gd name="T19" fmla="*/ 18 h 36"/>
                <a:gd name="T20" fmla="*/ 0 w 720"/>
                <a:gd name="T21" fmla="*/ 21 h 36"/>
                <a:gd name="T22" fmla="*/ 1 w 720"/>
                <a:gd name="T23" fmla="*/ 24 h 36"/>
                <a:gd name="T24" fmla="*/ 4 w 720"/>
                <a:gd name="T25" fmla="*/ 28 h 36"/>
                <a:gd name="T26" fmla="*/ 6 w 720"/>
                <a:gd name="T27" fmla="*/ 31 h 36"/>
                <a:gd name="T28" fmla="*/ 8 w 720"/>
                <a:gd name="T29" fmla="*/ 33 h 36"/>
                <a:gd name="T30" fmla="*/ 11 w 720"/>
                <a:gd name="T31" fmla="*/ 34 h 36"/>
                <a:gd name="T32" fmla="*/ 14 w 720"/>
                <a:gd name="T33" fmla="*/ 35 h 36"/>
                <a:gd name="T34" fmla="*/ 18 w 720"/>
                <a:gd name="T35" fmla="*/ 36 h 36"/>
                <a:gd name="T36" fmla="*/ 702 w 720"/>
                <a:gd name="T37" fmla="*/ 36 h 36"/>
                <a:gd name="T38" fmla="*/ 706 w 720"/>
                <a:gd name="T39" fmla="*/ 35 h 36"/>
                <a:gd name="T40" fmla="*/ 709 w 720"/>
                <a:gd name="T41" fmla="*/ 34 h 36"/>
                <a:gd name="T42" fmla="*/ 712 w 720"/>
                <a:gd name="T43" fmla="*/ 33 h 36"/>
                <a:gd name="T44" fmla="*/ 714 w 720"/>
                <a:gd name="T45" fmla="*/ 31 h 36"/>
                <a:gd name="T46" fmla="*/ 716 w 720"/>
                <a:gd name="T47" fmla="*/ 28 h 36"/>
                <a:gd name="T48" fmla="*/ 719 w 720"/>
                <a:gd name="T49" fmla="*/ 24 h 36"/>
                <a:gd name="T50" fmla="*/ 720 w 720"/>
                <a:gd name="T51" fmla="*/ 21 h 36"/>
                <a:gd name="T52" fmla="*/ 720 w 720"/>
                <a:gd name="T53" fmla="*/ 18 h 36"/>
                <a:gd name="T54" fmla="*/ 720 w 720"/>
                <a:gd name="T55" fmla="*/ 15 h 36"/>
                <a:gd name="T56" fmla="*/ 719 w 720"/>
                <a:gd name="T57" fmla="*/ 10 h 36"/>
                <a:gd name="T58" fmla="*/ 716 w 720"/>
                <a:gd name="T59" fmla="*/ 8 h 36"/>
                <a:gd name="T60" fmla="*/ 714 w 720"/>
                <a:gd name="T61" fmla="*/ 5 h 36"/>
                <a:gd name="T62" fmla="*/ 712 w 720"/>
                <a:gd name="T63" fmla="*/ 3 h 36"/>
                <a:gd name="T64" fmla="*/ 709 w 720"/>
                <a:gd name="T65" fmla="*/ 2 h 36"/>
                <a:gd name="T66" fmla="*/ 706 w 720"/>
                <a:gd name="T67" fmla="*/ 1 h 36"/>
                <a:gd name="T68" fmla="*/ 702 w 720"/>
                <a:gd name="T69"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20" h="36">
                  <a:moveTo>
                    <a:pt x="702" y="0"/>
                  </a:moveTo>
                  <a:lnTo>
                    <a:pt x="18" y="0"/>
                  </a:lnTo>
                  <a:lnTo>
                    <a:pt x="14" y="1"/>
                  </a:lnTo>
                  <a:lnTo>
                    <a:pt x="11" y="2"/>
                  </a:lnTo>
                  <a:lnTo>
                    <a:pt x="8" y="3"/>
                  </a:lnTo>
                  <a:lnTo>
                    <a:pt x="6" y="5"/>
                  </a:lnTo>
                  <a:lnTo>
                    <a:pt x="4" y="8"/>
                  </a:lnTo>
                  <a:lnTo>
                    <a:pt x="1" y="10"/>
                  </a:lnTo>
                  <a:lnTo>
                    <a:pt x="0" y="15"/>
                  </a:lnTo>
                  <a:lnTo>
                    <a:pt x="0" y="18"/>
                  </a:lnTo>
                  <a:lnTo>
                    <a:pt x="0" y="21"/>
                  </a:lnTo>
                  <a:lnTo>
                    <a:pt x="1" y="24"/>
                  </a:lnTo>
                  <a:lnTo>
                    <a:pt x="4" y="28"/>
                  </a:lnTo>
                  <a:lnTo>
                    <a:pt x="6" y="31"/>
                  </a:lnTo>
                  <a:lnTo>
                    <a:pt x="8" y="33"/>
                  </a:lnTo>
                  <a:lnTo>
                    <a:pt x="11" y="34"/>
                  </a:lnTo>
                  <a:lnTo>
                    <a:pt x="14" y="35"/>
                  </a:lnTo>
                  <a:lnTo>
                    <a:pt x="18" y="36"/>
                  </a:lnTo>
                  <a:lnTo>
                    <a:pt x="702" y="36"/>
                  </a:lnTo>
                  <a:lnTo>
                    <a:pt x="706" y="35"/>
                  </a:lnTo>
                  <a:lnTo>
                    <a:pt x="709" y="34"/>
                  </a:lnTo>
                  <a:lnTo>
                    <a:pt x="712" y="33"/>
                  </a:lnTo>
                  <a:lnTo>
                    <a:pt x="714" y="31"/>
                  </a:lnTo>
                  <a:lnTo>
                    <a:pt x="716" y="28"/>
                  </a:lnTo>
                  <a:lnTo>
                    <a:pt x="719" y="24"/>
                  </a:lnTo>
                  <a:lnTo>
                    <a:pt x="720" y="21"/>
                  </a:lnTo>
                  <a:lnTo>
                    <a:pt x="720" y="18"/>
                  </a:lnTo>
                  <a:lnTo>
                    <a:pt x="720" y="15"/>
                  </a:lnTo>
                  <a:lnTo>
                    <a:pt x="719" y="10"/>
                  </a:lnTo>
                  <a:lnTo>
                    <a:pt x="716" y="8"/>
                  </a:lnTo>
                  <a:lnTo>
                    <a:pt x="714" y="5"/>
                  </a:lnTo>
                  <a:lnTo>
                    <a:pt x="712" y="3"/>
                  </a:lnTo>
                  <a:lnTo>
                    <a:pt x="709" y="2"/>
                  </a:lnTo>
                  <a:lnTo>
                    <a:pt x="706" y="1"/>
                  </a:lnTo>
                  <a:lnTo>
                    <a:pt x="702" y="0"/>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sp>
          <p:nvSpPr>
            <p:cNvPr id="27" name="Freeform 97"/>
            <p:cNvSpPr>
              <a:spLocks noEditPoints="1"/>
            </p:cNvSpPr>
            <p:nvPr>
              <p:custDataLst>
                <p:tags r:id="rId19"/>
              </p:custDataLst>
            </p:nvPr>
          </p:nvSpPr>
          <p:spPr bwMode="auto">
            <a:xfrm>
              <a:off x="6371431" y="1875234"/>
              <a:ext cx="128588" cy="128588"/>
            </a:xfrm>
            <a:custGeom>
              <a:avLst/>
              <a:gdLst>
                <a:gd name="T0" fmla="*/ 72 w 324"/>
                <a:gd name="T1" fmla="*/ 72 h 324"/>
                <a:gd name="T2" fmla="*/ 252 w 324"/>
                <a:gd name="T3" fmla="*/ 72 h 324"/>
                <a:gd name="T4" fmla="*/ 252 w 324"/>
                <a:gd name="T5" fmla="*/ 252 h 324"/>
                <a:gd name="T6" fmla="*/ 72 w 324"/>
                <a:gd name="T7" fmla="*/ 252 h 324"/>
                <a:gd name="T8" fmla="*/ 72 w 324"/>
                <a:gd name="T9" fmla="*/ 72 h 324"/>
                <a:gd name="T10" fmla="*/ 36 w 324"/>
                <a:gd name="T11" fmla="*/ 324 h 324"/>
                <a:gd name="T12" fmla="*/ 288 w 324"/>
                <a:gd name="T13" fmla="*/ 324 h 324"/>
                <a:gd name="T14" fmla="*/ 295 w 324"/>
                <a:gd name="T15" fmla="*/ 323 h 324"/>
                <a:gd name="T16" fmla="*/ 302 w 324"/>
                <a:gd name="T17" fmla="*/ 321 h 324"/>
                <a:gd name="T18" fmla="*/ 308 w 324"/>
                <a:gd name="T19" fmla="*/ 318 h 324"/>
                <a:gd name="T20" fmla="*/ 314 w 324"/>
                <a:gd name="T21" fmla="*/ 314 h 324"/>
                <a:gd name="T22" fmla="*/ 318 w 324"/>
                <a:gd name="T23" fmla="*/ 308 h 324"/>
                <a:gd name="T24" fmla="*/ 321 w 324"/>
                <a:gd name="T25" fmla="*/ 302 h 324"/>
                <a:gd name="T26" fmla="*/ 323 w 324"/>
                <a:gd name="T27" fmla="*/ 295 h 324"/>
                <a:gd name="T28" fmla="*/ 324 w 324"/>
                <a:gd name="T29" fmla="*/ 288 h 324"/>
                <a:gd name="T30" fmla="*/ 324 w 324"/>
                <a:gd name="T31" fmla="*/ 36 h 324"/>
                <a:gd name="T32" fmla="*/ 323 w 324"/>
                <a:gd name="T33" fmla="*/ 28 h 324"/>
                <a:gd name="T34" fmla="*/ 321 w 324"/>
                <a:gd name="T35" fmla="*/ 22 h 324"/>
                <a:gd name="T36" fmla="*/ 318 w 324"/>
                <a:gd name="T37" fmla="*/ 15 h 324"/>
                <a:gd name="T38" fmla="*/ 314 w 324"/>
                <a:gd name="T39" fmla="*/ 10 h 324"/>
                <a:gd name="T40" fmla="*/ 308 w 324"/>
                <a:gd name="T41" fmla="*/ 6 h 324"/>
                <a:gd name="T42" fmla="*/ 302 w 324"/>
                <a:gd name="T43" fmla="*/ 3 h 324"/>
                <a:gd name="T44" fmla="*/ 295 w 324"/>
                <a:gd name="T45" fmla="*/ 0 h 324"/>
                <a:gd name="T46" fmla="*/ 288 w 324"/>
                <a:gd name="T47" fmla="*/ 0 h 324"/>
                <a:gd name="T48" fmla="*/ 36 w 324"/>
                <a:gd name="T49" fmla="*/ 0 h 324"/>
                <a:gd name="T50" fmla="*/ 28 w 324"/>
                <a:gd name="T51" fmla="*/ 0 h 324"/>
                <a:gd name="T52" fmla="*/ 22 w 324"/>
                <a:gd name="T53" fmla="*/ 3 h 324"/>
                <a:gd name="T54" fmla="*/ 15 w 324"/>
                <a:gd name="T55" fmla="*/ 6 h 324"/>
                <a:gd name="T56" fmla="*/ 10 w 324"/>
                <a:gd name="T57" fmla="*/ 10 h 324"/>
                <a:gd name="T58" fmla="*/ 6 w 324"/>
                <a:gd name="T59" fmla="*/ 15 h 324"/>
                <a:gd name="T60" fmla="*/ 3 w 324"/>
                <a:gd name="T61" fmla="*/ 22 h 324"/>
                <a:gd name="T62" fmla="*/ 0 w 324"/>
                <a:gd name="T63" fmla="*/ 28 h 324"/>
                <a:gd name="T64" fmla="*/ 0 w 324"/>
                <a:gd name="T65" fmla="*/ 36 h 324"/>
                <a:gd name="T66" fmla="*/ 0 w 324"/>
                <a:gd name="T67" fmla="*/ 288 h 324"/>
                <a:gd name="T68" fmla="*/ 0 w 324"/>
                <a:gd name="T69" fmla="*/ 295 h 324"/>
                <a:gd name="T70" fmla="*/ 3 w 324"/>
                <a:gd name="T71" fmla="*/ 302 h 324"/>
                <a:gd name="T72" fmla="*/ 6 w 324"/>
                <a:gd name="T73" fmla="*/ 308 h 324"/>
                <a:gd name="T74" fmla="*/ 10 w 324"/>
                <a:gd name="T75" fmla="*/ 314 h 324"/>
                <a:gd name="T76" fmla="*/ 15 w 324"/>
                <a:gd name="T77" fmla="*/ 318 h 324"/>
                <a:gd name="T78" fmla="*/ 22 w 324"/>
                <a:gd name="T79" fmla="*/ 321 h 324"/>
                <a:gd name="T80" fmla="*/ 28 w 324"/>
                <a:gd name="T81" fmla="*/ 323 h 324"/>
                <a:gd name="T82" fmla="*/ 36 w 324"/>
                <a:gd name="T83" fmla="*/ 32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24" h="324">
                  <a:moveTo>
                    <a:pt x="72" y="72"/>
                  </a:moveTo>
                  <a:lnTo>
                    <a:pt x="252" y="72"/>
                  </a:lnTo>
                  <a:lnTo>
                    <a:pt x="252" y="252"/>
                  </a:lnTo>
                  <a:lnTo>
                    <a:pt x="72" y="252"/>
                  </a:lnTo>
                  <a:lnTo>
                    <a:pt x="72" y="72"/>
                  </a:lnTo>
                  <a:close/>
                  <a:moveTo>
                    <a:pt x="36" y="324"/>
                  </a:moveTo>
                  <a:lnTo>
                    <a:pt x="288" y="324"/>
                  </a:lnTo>
                  <a:lnTo>
                    <a:pt x="295" y="323"/>
                  </a:lnTo>
                  <a:lnTo>
                    <a:pt x="302" y="321"/>
                  </a:lnTo>
                  <a:lnTo>
                    <a:pt x="308" y="318"/>
                  </a:lnTo>
                  <a:lnTo>
                    <a:pt x="314" y="314"/>
                  </a:lnTo>
                  <a:lnTo>
                    <a:pt x="318" y="308"/>
                  </a:lnTo>
                  <a:lnTo>
                    <a:pt x="321" y="302"/>
                  </a:lnTo>
                  <a:lnTo>
                    <a:pt x="323" y="295"/>
                  </a:lnTo>
                  <a:lnTo>
                    <a:pt x="324" y="288"/>
                  </a:lnTo>
                  <a:lnTo>
                    <a:pt x="324" y="36"/>
                  </a:lnTo>
                  <a:lnTo>
                    <a:pt x="323" y="28"/>
                  </a:lnTo>
                  <a:lnTo>
                    <a:pt x="321" y="22"/>
                  </a:lnTo>
                  <a:lnTo>
                    <a:pt x="318" y="15"/>
                  </a:lnTo>
                  <a:lnTo>
                    <a:pt x="314" y="10"/>
                  </a:lnTo>
                  <a:lnTo>
                    <a:pt x="308" y="6"/>
                  </a:lnTo>
                  <a:lnTo>
                    <a:pt x="302" y="3"/>
                  </a:lnTo>
                  <a:lnTo>
                    <a:pt x="295" y="0"/>
                  </a:lnTo>
                  <a:lnTo>
                    <a:pt x="288" y="0"/>
                  </a:lnTo>
                  <a:lnTo>
                    <a:pt x="36" y="0"/>
                  </a:lnTo>
                  <a:lnTo>
                    <a:pt x="28" y="0"/>
                  </a:lnTo>
                  <a:lnTo>
                    <a:pt x="22" y="3"/>
                  </a:lnTo>
                  <a:lnTo>
                    <a:pt x="15" y="6"/>
                  </a:lnTo>
                  <a:lnTo>
                    <a:pt x="10" y="10"/>
                  </a:lnTo>
                  <a:lnTo>
                    <a:pt x="6" y="15"/>
                  </a:lnTo>
                  <a:lnTo>
                    <a:pt x="3" y="22"/>
                  </a:lnTo>
                  <a:lnTo>
                    <a:pt x="0" y="28"/>
                  </a:lnTo>
                  <a:lnTo>
                    <a:pt x="0" y="36"/>
                  </a:lnTo>
                  <a:lnTo>
                    <a:pt x="0" y="288"/>
                  </a:lnTo>
                  <a:lnTo>
                    <a:pt x="0" y="295"/>
                  </a:lnTo>
                  <a:lnTo>
                    <a:pt x="3" y="302"/>
                  </a:lnTo>
                  <a:lnTo>
                    <a:pt x="6" y="308"/>
                  </a:lnTo>
                  <a:lnTo>
                    <a:pt x="10" y="314"/>
                  </a:lnTo>
                  <a:lnTo>
                    <a:pt x="15" y="318"/>
                  </a:lnTo>
                  <a:lnTo>
                    <a:pt x="22" y="321"/>
                  </a:lnTo>
                  <a:lnTo>
                    <a:pt x="28" y="323"/>
                  </a:lnTo>
                  <a:lnTo>
                    <a:pt x="36" y="324"/>
                  </a:lnTo>
                  <a:close/>
                </a:path>
              </a:pathLst>
            </a:custGeom>
            <a:grpFill/>
            <a:ln>
              <a:noFill/>
            </a:ln>
          </p:spPr>
          <p:txBody>
            <a:bodyPr vert="horz" wrap="square" lIns="182880" tIns="91440" rIns="182880" bIns="9144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0" rtl="0"/>
              <a:endParaRPr lang="en-US" sz="3600" kern="1200">
                <a:solidFill>
                  <a:schemeClr val="tx1">
                    <a:lumMod val="75000"/>
                    <a:lumOff val="25000"/>
                  </a:schemeClr>
                </a:solidFill>
                <a:latin typeface="汉仪君黑-45简" panose="020B0604020202020204" charset="-122"/>
                <a:ea typeface="汉仪君黑-45简" panose="020B0604020202020204" charset="-122"/>
              </a:endParaRPr>
            </a:p>
          </p:txBody>
        </p:sp>
      </p:grpSp>
      <p:cxnSp>
        <p:nvCxnSpPr>
          <p:cNvPr id="14" name="Straight Connector 36"/>
          <p:cNvCxnSpPr/>
          <p:nvPr>
            <p:custDataLst>
              <p:tags r:id="rId20"/>
            </p:custDataLst>
          </p:nvPr>
        </p:nvCxnSpPr>
        <p:spPr>
          <a:xfrm flipH="1">
            <a:off x="7958396" y="2186671"/>
            <a:ext cx="5080" cy="3624580"/>
          </a:xfrm>
          <a:prstGeom prst="line">
            <a:avLst/>
          </a:prstGeom>
          <a:ln>
            <a:solidFill>
              <a:srgbClr val="6696B6"/>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a:spLocks noChangeArrowheads="1"/>
          </p:cNvSpPr>
          <p:nvPr>
            <p:custDataLst>
              <p:tags r:id="rId21"/>
            </p:custDataLst>
          </p:nvPr>
        </p:nvSpPr>
        <p:spPr bwMode="auto">
          <a:xfrm>
            <a:off x="576072" y="3464773"/>
            <a:ext cx="277663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solidFill>
                  <a:srgbClr val="6696B6"/>
                </a:solidFill>
                <a:latin typeface="汉仪君黑-45简" panose="020B0604020202020204" charset="-122"/>
                <a:ea typeface="汉仪君黑-45简" panose="020B0604020202020204" charset="-122"/>
                <a:cs typeface="+mn-ea"/>
                <a:sym typeface="+mn-lt"/>
              </a:rPr>
              <a:t>P2TAG</a:t>
            </a:r>
            <a:endParaRPr lang="en-US" altLang="zh-CN" sz="2000" dirty="0">
              <a:solidFill>
                <a:srgbClr val="6696B6"/>
              </a:solidFill>
              <a:latin typeface="汉仪君黑-45简" panose="020B0604020202020204" charset="-122"/>
              <a:ea typeface="汉仪君黑-45简" panose="020B0604020202020204" charset="-122"/>
              <a:cs typeface="+mn-ea"/>
              <a:sym typeface="+mn-lt"/>
            </a:endParaRPr>
          </a:p>
        </p:txBody>
      </p:sp>
      <p:sp>
        <p:nvSpPr>
          <p:cNvPr id="34" name="文本框 33"/>
          <p:cNvSpPr txBox="1">
            <a:spLocks noChangeArrowheads="1"/>
          </p:cNvSpPr>
          <p:nvPr>
            <p:custDataLst>
              <p:tags r:id="rId22"/>
            </p:custDataLst>
          </p:nvPr>
        </p:nvSpPr>
        <p:spPr bwMode="auto">
          <a:xfrm>
            <a:off x="576074" y="3929505"/>
            <a:ext cx="3334692"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1400" dirty="0">
                <a:solidFill>
                  <a:srgbClr val="0D0D0D"/>
                </a:solidFill>
                <a:latin typeface="汉仪君黑-45简" panose="020B0604020202020204" charset="-122"/>
                <a:ea typeface="汉仪君黑-45简" panose="020B0604020202020204" charset="-122"/>
                <a:cs typeface="+mn-ea"/>
                <a:sym typeface="+mn-lt"/>
              </a:rPr>
              <a:t>- 让文字模型真正理解节点文本；</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a:p>
            <a:pPr>
              <a:lnSpc>
                <a:spcPct val="150000"/>
              </a:lnSpc>
            </a:pPr>
            <a:r>
              <a:rPr lang="zh-CN" altLang="en-US" sz="1400" dirty="0">
                <a:solidFill>
                  <a:srgbClr val="0D0D0D"/>
                </a:solidFill>
                <a:latin typeface="汉仪君黑-45简" panose="020B0604020202020204" charset="-122"/>
                <a:ea typeface="汉仪君黑-45简" panose="020B0604020202020204" charset="-122"/>
                <a:cs typeface="+mn-ea"/>
                <a:sym typeface="+mn-lt"/>
              </a:rPr>
              <a:t>- 让图模型理解节点之间的结构关系；</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a:p>
            <a:pPr>
              <a:lnSpc>
                <a:spcPct val="150000"/>
              </a:lnSpc>
            </a:pPr>
            <a:r>
              <a:rPr lang="zh-CN" altLang="en-US" sz="1400" dirty="0">
                <a:solidFill>
                  <a:srgbClr val="0D0D0D"/>
                </a:solidFill>
                <a:latin typeface="汉仪君黑-45简" panose="020B0604020202020204" charset="-122"/>
                <a:ea typeface="汉仪君黑-45简" panose="020B0604020202020204" charset="-122"/>
                <a:cs typeface="+mn-ea"/>
                <a:sym typeface="+mn-lt"/>
              </a:rPr>
              <a:t>- 在标签很少的情况下，把两类信息用于节点分类。</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35" name="文本框 34"/>
          <p:cNvSpPr txBox="1">
            <a:spLocks noChangeArrowheads="1"/>
          </p:cNvSpPr>
          <p:nvPr>
            <p:custDataLst>
              <p:tags r:id="rId23"/>
            </p:custDataLst>
          </p:nvPr>
        </p:nvSpPr>
        <p:spPr bwMode="auto">
          <a:xfrm>
            <a:off x="4481462" y="3445870"/>
            <a:ext cx="277663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solidFill>
                  <a:srgbClr val="6696B6"/>
                </a:solidFill>
                <a:latin typeface="汉仪君黑-45简" panose="020B0604020202020204" charset="-122"/>
                <a:ea typeface="汉仪君黑-45简" panose="020B0604020202020204" charset="-122"/>
                <a:cs typeface="+mn-ea"/>
                <a:sym typeface="+mn-lt"/>
              </a:rPr>
              <a:t>TSA</a:t>
            </a:r>
            <a:endParaRPr lang="en-US" altLang="zh-CN" sz="2000" dirty="0">
              <a:solidFill>
                <a:srgbClr val="6696B6"/>
              </a:solidFill>
              <a:latin typeface="汉仪君黑-45简" panose="020B0604020202020204" charset="-122"/>
              <a:ea typeface="汉仪君黑-45简" panose="020B0604020202020204" charset="-122"/>
              <a:cs typeface="+mn-ea"/>
              <a:sym typeface="+mn-lt"/>
            </a:endParaRPr>
          </a:p>
        </p:txBody>
      </p:sp>
      <p:sp>
        <p:nvSpPr>
          <p:cNvPr id="36" name="文本框 35"/>
          <p:cNvSpPr txBox="1">
            <a:spLocks noChangeArrowheads="1"/>
          </p:cNvSpPr>
          <p:nvPr>
            <p:custDataLst>
              <p:tags r:id="rId24"/>
            </p:custDataLst>
          </p:nvPr>
        </p:nvSpPr>
        <p:spPr bwMode="auto">
          <a:xfrm>
            <a:off x="4481464" y="3910602"/>
            <a:ext cx="3334692"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1400" dirty="0">
                <a:solidFill>
                  <a:srgbClr val="0D0D0D"/>
                </a:solidFill>
                <a:latin typeface="汉仪君黑-45简" panose="020B0604020202020204" charset="-122"/>
                <a:ea typeface="汉仪君黑-45简" panose="020B0604020202020204" charset="-122"/>
                <a:cs typeface="+mn-ea"/>
                <a:sym typeface="+mn-lt"/>
              </a:rPr>
              <a:t>如果给模型更多“语义相近”和“语义相反”的文字监督，是否可以提升少样本和零样本节点分类？</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a:p>
            <a:pPr>
              <a:lnSpc>
                <a:spcPct val="150000"/>
              </a:lnSpc>
            </a:pP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37" name="文本框 36"/>
          <p:cNvSpPr txBox="1">
            <a:spLocks noChangeArrowheads="1"/>
          </p:cNvSpPr>
          <p:nvPr>
            <p:custDataLst>
              <p:tags r:id="rId25"/>
            </p:custDataLst>
          </p:nvPr>
        </p:nvSpPr>
        <p:spPr bwMode="auto">
          <a:xfrm>
            <a:off x="8349306" y="3445870"/>
            <a:ext cx="277663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solidFill>
                  <a:srgbClr val="6696B6"/>
                </a:solidFill>
                <a:latin typeface="汉仪君黑-45简" panose="020B0604020202020204" charset="-122"/>
                <a:ea typeface="汉仪君黑-45简" panose="020B0604020202020204" charset="-122"/>
                <a:cs typeface="+mn-ea"/>
                <a:sym typeface="+mn-lt"/>
              </a:rPr>
              <a:t>PKD</a:t>
            </a:r>
            <a:endParaRPr lang="en-US" altLang="zh-CN" sz="2000" dirty="0">
              <a:solidFill>
                <a:srgbClr val="6696B6"/>
              </a:solidFill>
              <a:latin typeface="汉仪君黑-45简" panose="020B0604020202020204" charset="-122"/>
              <a:ea typeface="汉仪君黑-45简" panose="020B0604020202020204" charset="-122"/>
              <a:cs typeface="+mn-ea"/>
              <a:sym typeface="+mn-lt"/>
            </a:endParaRPr>
          </a:p>
        </p:txBody>
      </p:sp>
      <p:sp>
        <p:nvSpPr>
          <p:cNvPr id="38" name="文本框 37"/>
          <p:cNvSpPr txBox="1">
            <a:spLocks noChangeArrowheads="1"/>
          </p:cNvSpPr>
          <p:nvPr>
            <p:custDataLst>
              <p:tags r:id="rId26"/>
            </p:custDataLst>
          </p:nvPr>
        </p:nvSpPr>
        <p:spPr bwMode="auto">
          <a:xfrm>
            <a:off x="8349308" y="3910602"/>
            <a:ext cx="3334692" cy="170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1400" dirty="0">
                <a:solidFill>
                  <a:srgbClr val="0D0D0D"/>
                </a:solidFill>
                <a:latin typeface="汉仪君黑-45简" panose="020B0604020202020204" charset="-122"/>
                <a:ea typeface="汉仪君黑-45简" panose="020B0604020202020204" charset="-122"/>
                <a:cs typeface="+mn-ea"/>
                <a:sym typeface="+mn-lt"/>
              </a:rPr>
              <a:t>作者希望把大语言模型的文字理解能力和多个图模型的结构处理能力结合起来，并且针对不同节点选择更合适的图模型教师。</a:t>
            </a:r>
            <a:endParaRPr lang="en-US" altLang="zh-CN" sz="1400" dirty="0">
              <a:solidFill>
                <a:srgbClr val="0D0D0D"/>
              </a:solidFill>
              <a:latin typeface="汉仪君黑-45简" panose="020B0604020202020204" charset="-122"/>
              <a:ea typeface="汉仪君黑-45简" panose="020B0604020202020204" charset="-122"/>
              <a:cs typeface="+mn-ea"/>
              <a:sym typeface="+mn-lt"/>
            </a:endParaRPr>
          </a:p>
          <a:p>
            <a:pPr>
              <a:lnSpc>
                <a:spcPct val="150000"/>
              </a:lnSpc>
            </a:pP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39" name="任意多边形: 形状 38"/>
          <p:cNvSpPr/>
          <p:nvPr/>
        </p:nvSpPr>
        <p:spPr>
          <a:xfrm>
            <a:off x="11206264" y="6230570"/>
            <a:ext cx="992707" cy="627430"/>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40" name="任意多边形: 形状 39"/>
          <p:cNvSpPr/>
          <p:nvPr/>
        </p:nvSpPr>
        <p:spPr>
          <a:xfrm flipH="1">
            <a:off x="0" y="-1"/>
            <a:ext cx="1424610" cy="777930"/>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41" name="任意多边形: 形状 40"/>
          <p:cNvSpPr/>
          <p:nvPr/>
        </p:nvSpPr>
        <p:spPr>
          <a:xfrm flipH="1">
            <a:off x="1819" y="-1"/>
            <a:ext cx="1457330" cy="808547"/>
          </a:xfrm>
          <a:custGeom>
            <a:avLst/>
            <a:gdLst>
              <a:gd name="connsiteX0" fmla="*/ 0 w 5585422"/>
              <a:gd name="connsiteY0" fmla="*/ 0 h 3098871"/>
              <a:gd name="connsiteX1" fmla="*/ 5585422 w 5585422"/>
              <a:gd name="connsiteY1" fmla="*/ 0 h 3098871"/>
              <a:gd name="connsiteX2" fmla="*/ 5585422 w 5585422"/>
              <a:gd name="connsiteY2" fmla="*/ 1079106 h 3098871"/>
              <a:gd name="connsiteX3" fmla="*/ 3710012 w 5585422"/>
              <a:gd name="connsiteY3" fmla="*/ 2931810 h 3098871"/>
              <a:gd name="connsiteX4" fmla="*/ 2891388 w 5585422"/>
              <a:gd name="connsiteY4" fmla="*/ 2926824 h 309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5422" h="3098871">
                <a:moveTo>
                  <a:pt x="0" y="0"/>
                </a:moveTo>
                <a:lnTo>
                  <a:pt x="5585422" y="0"/>
                </a:lnTo>
                <a:lnTo>
                  <a:pt x="5585422" y="1079106"/>
                </a:lnTo>
                <a:lnTo>
                  <a:pt x="3710012" y="2931810"/>
                </a:lnTo>
                <a:cubicBezTo>
                  <a:pt x="3482580" y="3156491"/>
                  <a:pt x="3116069" y="3154260"/>
                  <a:pt x="2891388" y="2926824"/>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42" name="文本框 24"/>
          <p:cNvSpPr txBox="1"/>
          <p:nvPr/>
        </p:nvSpPr>
        <p:spPr>
          <a:xfrm>
            <a:off x="4274417" y="354567"/>
            <a:ext cx="3643166"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该领域</a:t>
            </a:r>
            <a:r>
              <a:rPr lang="en-US" altLang="zh-CN"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SOTA</a:t>
            </a:r>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选择</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文档 4"/>
          <p:cNvSpPr/>
          <p:nvPr>
            <p:custDataLst>
              <p:tags r:id="rId1"/>
            </p:custDataLst>
          </p:nvPr>
        </p:nvSpPr>
        <p:spPr>
          <a:xfrm>
            <a:off x="530225" y="1510665"/>
            <a:ext cx="3352800" cy="4554855"/>
          </a:xfrm>
          <a:prstGeom prst="flowChartDocument">
            <a:avLst/>
          </a:prstGeom>
          <a:solidFill>
            <a:srgbClr val="669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6" name="流程图: 文档 5"/>
          <p:cNvSpPr/>
          <p:nvPr>
            <p:custDataLst>
              <p:tags r:id="rId2"/>
            </p:custDataLst>
          </p:nvPr>
        </p:nvSpPr>
        <p:spPr>
          <a:xfrm>
            <a:off x="4419600" y="1510665"/>
            <a:ext cx="3352800" cy="4554855"/>
          </a:xfrm>
          <a:prstGeom prst="flowChartDocument">
            <a:avLst/>
          </a:prstGeom>
          <a:solidFill>
            <a:srgbClr val="669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7" name="流程图: 文档 6"/>
          <p:cNvSpPr/>
          <p:nvPr>
            <p:custDataLst>
              <p:tags r:id="rId3"/>
            </p:custDataLst>
          </p:nvPr>
        </p:nvSpPr>
        <p:spPr>
          <a:xfrm>
            <a:off x="8308975" y="1510665"/>
            <a:ext cx="3352800" cy="4554855"/>
          </a:xfrm>
          <a:prstGeom prst="flowChartDocument">
            <a:avLst/>
          </a:prstGeom>
          <a:solidFill>
            <a:srgbClr val="669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9" name="文本框 8"/>
          <p:cNvSpPr txBox="1"/>
          <p:nvPr>
            <p:custDataLst>
              <p:tags r:id="rId4"/>
            </p:custDataLst>
          </p:nvPr>
        </p:nvSpPr>
        <p:spPr>
          <a:xfrm>
            <a:off x="1182756" y="2007706"/>
            <a:ext cx="2047461" cy="706755"/>
          </a:xfrm>
          <a:prstGeom prst="rect">
            <a:avLst/>
          </a:prstGeom>
          <a:noFill/>
        </p:spPr>
        <p:txBody>
          <a:bodyPr wrap="square" rtlCol="0">
            <a:spAutoFit/>
          </a:bodyPr>
          <a:lstStyle/>
          <a:p>
            <a:pPr algn="dist"/>
            <a:r>
              <a:rPr lang="en-US" altLang="zh-CN" sz="4000" dirty="0">
                <a:solidFill>
                  <a:schemeClr val="bg1"/>
                </a:solidFill>
                <a:latin typeface="汉仪君黑-45简" panose="020B0604020202020204" charset="-122"/>
                <a:ea typeface="汉仪君黑-45简" panose="020B0604020202020204" charset="-122"/>
              </a:rPr>
              <a:t>TSA</a:t>
            </a:r>
            <a:endParaRPr lang="en-US" altLang="zh-CN" sz="4000" dirty="0">
              <a:solidFill>
                <a:schemeClr val="bg1"/>
              </a:solidFill>
              <a:latin typeface="汉仪君黑-45简" panose="020B0604020202020204" charset="-122"/>
              <a:ea typeface="汉仪君黑-45简" panose="020B0604020202020204" charset="-122"/>
            </a:endParaRPr>
          </a:p>
        </p:txBody>
      </p:sp>
      <p:sp>
        <p:nvSpPr>
          <p:cNvPr id="10" name="文本框 9"/>
          <p:cNvSpPr txBox="1"/>
          <p:nvPr>
            <p:custDataLst>
              <p:tags r:id="rId5"/>
            </p:custDataLst>
          </p:nvPr>
        </p:nvSpPr>
        <p:spPr>
          <a:xfrm>
            <a:off x="5072270" y="1896168"/>
            <a:ext cx="2047461" cy="706755"/>
          </a:xfrm>
          <a:prstGeom prst="rect">
            <a:avLst/>
          </a:prstGeom>
          <a:noFill/>
        </p:spPr>
        <p:txBody>
          <a:bodyPr wrap="square" rtlCol="0">
            <a:spAutoFit/>
          </a:bodyPr>
          <a:lstStyle/>
          <a:p>
            <a:pPr algn="dist"/>
            <a:r>
              <a:rPr lang="en-US" altLang="zh-CN" sz="4000" dirty="0">
                <a:solidFill>
                  <a:schemeClr val="bg1"/>
                </a:solidFill>
                <a:latin typeface="汉仪君黑-45简" panose="020B0604020202020204" charset="-122"/>
                <a:ea typeface="汉仪君黑-45简" panose="020B0604020202020204" charset="-122"/>
              </a:rPr>
              <a:t>P2TAG</a:t>
            </a:r>
            <a:endParaRPr lang="en-US" altLang="zh-CN" sz="4000" dirty="0">
              <a:solidFill>
                <a:schemeClr val="bg1"/>
              </a:solidFill>
              <a:latin typeface="汉仪君黑-45简" panose="020B0604020202020204" charset="-122"/>
              <a:ea typeface="汉仪君黑-45简" panose="020B0604020202020204" charset="-122"/>
            </a:endParaRPr>
          </a:p>
        </p:txBody>
      </p:sp>
      <p:sp>
        <p:nvSpPr>
          <p:cNvPr id="11" name="文本框 10"/>
          <p:cNvSpPr txBox="1"/>
          <p:nvPr>
            <p:custDataLst>
              <p:tags r:id="rId6"/>
            </p:custDataLst>
          </p:nvPr>
        </p:nvSpPr>
        <p:spPr>
          <a:xfrm>
            <a:off x="8961783" y="1886229"/>
            <a:ext cx="2047461" cy="706755"/>
          </a:xfrm>
          <a:prstGeom prst="rect">
            <a:avLst/>
          </a:prstGeom>
          <a:noFill/>
        </p:spPr>
        <p:txBody>
          <a:bodyPr wrap="square" rtlCol="0">
            <a:spAutoFit/>
          </a:bodyPr>
          <a:lstStyle/>
          <a:p>
            <a:pPr algn="dist"/>
            <a:r>
              <a:rPr lang="en-US" altLang="zh-CN" sz="4000" dirty="0">
                <a:solidFill>
                  <a:schemeClr val="bg1"/>
                </a:solidFill>
                <a:latin typeface="汉仪君黑-45简" panose="020B0604020202020204" charset="-122"/>
                <a:ea typeface="汉仪君黑-45简" panose="020B0604020202020204" charset="-122"/>
              </a:rPr>
              <a:t>PKD</a:t>
            </a:r>
            <a:endParaRPr lang="en-US" altLang="zh-CN" sz="4000" dirty="0">
              <a:solidFill>
                <a:schemeClr val="bg1"/>
              </a:solidFill>
              <a:latin typeface="汉仪君黑-45简" panose="020B0604020202020204" charset="-122"/>
              <a:ea typeface="汉仪君黑-45简" panose="020B0604020202020204" charset="-122"/>
            </a:endParaRPr>
          </a:p>
        </p:txBody>
      </p:sp>
      <p:sp>
        <p:nvSpPr>
          <p:cNvPr id="12" name="文本框 11"/>
          <p:cNvSpPr txBox="1">
            <a:spLocks noChangeArrowheads="1"/>
          </p:cNvSpPr>
          <p:nvPr/>
        </p:nvSpPr>
        <p:spPr bwMode="auto">
          <a:xfrm>
            <a:off x="530085" y="6141710"/>
            <a:ext cx="11131827"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1400" dirty="0">
                <a:solidFill>
                  <a:srgbClr val="0D0D0D"/>
                </a:solidFill>
                <a:latin typeface="汉仪君黑-45简" panose="020B0604020202020204" charset="-122"/>
                <a:ea typeface="汉仪君黑-45简" panose="020B0604020202020204" charset="-122"/>
                <a:cs typeface="+mn-ea"/>
                <a:sym typeface="+mn-lt"/>
              </a:rPr>
              <a:t>TSA</a:t>
            </a:r>
            <a:r>
              <a:rPr lang="zh-CN" altLang="en-US" sz="1400" dirty="0">
                <a:solidFill>
                  <a:srgbClr val="0D0D0D"/>
                </a:solidFill>
                <a:latin typeface="汉仪君黑-45简" panose="020B0604020202020204" charset="-122"/>
                <a:ea typeface="汉仪君黑-45简" panose="020B0604020202020204" charset="-122"/>
                <a:cs typeface="+mn-ea"/>
                <a:sym typeface="+mn-lt"/>
              </a:rPr>
              <a:t>的优势是文本语义处理强，</a:t>
            </a:r>
            <a:r>
              <a:rPr lang="en-US" altLang="zh-CN" sz="1400" dirty="0">
                <a:solidFill>
                  <a:srgbClr val="0D0D0D"/>
                </a:solidFill>
                <a:latin typeface="汉仪君黑-45简" panose="020B0604020202020204" charset="-122"/>
                <a:ea typeface="汉仪君黑-45简" panose="020B0604020202020204" charset="-122"/>
                <a:cs typeface="+mn-ea"/>
                <a:sym typeface="+mn-lt"/>
              </a:rPr>
              <a:t>P2TAG</a:t>
            </a:r>
            <a:r>
              <a:rPr lang="zh-CN" altLang="en-US" sz="1400" dirty="0">
                <a:solidFill>
                  <a:srgbClr val="0D0D0D"/>
                </a:solidFill>
                <a:latin typeface="汉仪君黑-45简" panose="020B0604020202020204" charset="-122"/>
                <a:ea typeface="汉仪君黑-45简" panose="020B0604020202020204" charset="-122"/>
                <a:cs typeface="+mn-ea"/>
                <a:sym typeface="+mn-lt"/>
              </a:rPr>
              <a:t>的优势是文本与图结构融合稳定，</a:t>
            </a:r>
            <a:r>
              <a:rPr lang="en-US" altLang="zh-CN" sz="1400" dirty="0">
                <a:solidFill>
                  <a:srgbClr val="0D0D0D"/>
                </a:solidFill>
                <a:latin typeface="汉仪君黑-45简" panose="020B0604020202020204" charset="-122"/>
                <a:ea typeface="汉仪君黑-45简" panose="020B0604020202020204" charset="-122"/>
                <a:cs typeface="+mn-ea"/>
                <a:sym typeface="+mn-lt"/>
              </a:rPr>
              <a:t>PKD</a:t>
            </a:r>
            <a:r>
              <a:rPr lang="zh-CN" altLang="en-US" sz="1400" dirty="0">
                <a:solidFill>
                  <a:srgbClr val="0D0D0D"/>
                </a:solidFill>
                <a:latin typeface="汉仪君黑-45简" panose="020B0604020202020204" charset="-122"/>
                <a:ea typeface="汉仪君黑-45简" panose="020B0604020202020204" charset="-122"/>
                <a:cs typeface="+mn-ea"/>
                <a:sym typeface="+mn-lt"/>
              </a:rPr>
              <a:t>的优势是模型复杂度和适应能力更强。</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13" name="文本框 12"/>
          <p:cNvSpPr txBox="1">
            <a:spLocks noChangeArrowheads="1"/>
          </p:cNvSpPr>
          <p:nvPr>
            <p:custDataLst>
              <p:tags r:id="rId7"/>
            </p:custDataLst>
          </p:nvPr>
        </p:nvSpPr>
        <p:spPr bwMode="auto">
          <a:xfrm>
            <a:off x="720209" y="2773149"/>
            <a:ext cx="2972555"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1400" dirty="0">
                <a:solidFill>
                  <a:schemeClr val="bg1"/>
                </a:solidFill>
                <a:latin typeface="汉仪君黑-45简" panose="020B0604020202020204" charset="-122"/>
                <a:ea typeface="汉仪君黑-45简" panose="020B0604020202020204" charset="-122"/>
                <a:cs typeface="+mn-ea"/>
                <a:sym typeface="+mn-lt"/>
              </a:rPr>
              <a:t>优势： 文本语义处理强，正负语义对比增强，零/少样本文本侧表现猛。</a:t>
            </a:r>
            <a:endParaRPr lang="zh-CN" altLang="en-US" sz="1400" dirty="0">
              <a:solidFill>
                <a:schemeClr val="bg1"/>
              </a:solidFill>
              <a:latin typeface="汉仪君黑-45简" panose="020B0604020202020204" charset="-122"/>
              <a:ea typeface="汉仪君黑-45简" panose="020B0604020202020204" charset="-122"/>
              <a:cs typeface="+mn-ea"/>
              <a:sym typeface="+mn-lt"/>
            </a:endParaRPr>
          </a:p>
          <a:p>
            <a:pPr>
              <a:lnSpc>
                <a:spcPct val="150000"/>
              </a:lnSpc>
            </a:pPr>
            <a:endParaRPr lang="en-US" altLang="zh-CN" sz="1400" dirty="0">
              <a:solidFill>
                <a:schemeClr val="bg1"/>
              </a:solidFill>
              <a:latin typeface="汉仪君黑-45简" panose="020B0604020202020204" charset="-122"/>
              <a:ea typeface="汉仪君黑-45简" panose="020B0604020202020204" charset="-122"/>
              <a:cs typeface="+mn-ea"/>
              <a:sym typeface="+mn-lt"/>
            </a:endParaRPr>
          </a:p>
          <a:p>
            <a:pPr>
              <a:lnSpc>
                <a:spcPct val="150000"/>
              </a:lnSpc>
            </a:pPr>
            <a:r>
              <a:rPr lang="zh-CN" altLang="en-US" sz="1400" dirty="0">
                <a:solidFill>
                  <a:schemeClr val="bg1"/>
                </a:solidFill>
                <a:latin typeface="汉仪君黑-45简" panose="020B0604020202020204" charset="-122"/>
                <a:ea typeface="汉仪君黑-45简" panose="020B0604020202020204" charset="-122"/>
                <a:cs typeface="+mn-ea"/>
                <a:sym typeface="+mn-lt"/>
              </a:rPr>
              <a:t>劣势： 偏科文本，图结构融合弱于</a:t>
            </a:r>
            <a:r>
              <a:rPr lang="en-US" altLang="zh-CN" sz="1400" dirty="0">
                <a:solidFill>
                  <a:schemeClr val="bg1"/>
                </a:solidFill>
                <a:latin typeface="汉仪君黑-45简" panose="020B0604020202020204" charset="-122"/>
                <a:ea typeface="汉仪君黑-45简" panose="020B0604020202020204" charset="-122"/>
                <a:cs typeface="+mn-ea"/>
                <a:sym typeface="+mn-lt"/>
              </a:rPr>
              <a:t>P2TAG；</a:t>
            </a:r>
            <a:r>
              <a:rPr lang="zh-CN" altLang="en-US" sz="1400" dirty="0">
                <a:solidFill>
                  <a:schemeClr val="bg1"/>
                </a:solidFill>
                <a:latin typeface="汉仪君黑-45简" panose="020B0604020202020204" charset="-122"/>
                <a:ea typeface="汉仪君黑-45简" panose="020B0604020202020204" charset="-122"/>
                <a:cs typeface="+mn-ea"/>
                <a:sym typeface="+mn-lt"/>
              </a:rPr>
              <a:t>原型建模不如</a:t>
            </a:r>
            <a:r>
              <a:rPr lang="en-US" altLang="zh-CN" sz="1400" dirty="0">
                <a:solidFill>
                  <a:schemeClr val="bg1"/>
                </a:solidFill>
                <a:latin typeface="汉仪君黑-45简" panose="020B0604020202020204" charset="-122"/>
                <a:ea typeface="汉仪君黑-45简" panose="020B0604020202020204" charset="-122"/>
                <a:cs typeface="+mn-ea"/>
                <a:sym typeface="+mn-lt"/>
              </a:rPr>
              <a:t>PKD，</a:t>
            </a:r>
            <a:r>
              <a:rPr lang="zh-CN" altLang="en-US" sz="1400" dirty="0">
                <a:solidFill>
                  <a:schemeClr val="bg1"/>
                </a:solidFill>
                <a:latin typeface="汉仪君黑-45简" panose="020B0604020202020204" charset="-122"/>
                <a:ea typeface="汉仪君黑-45简" panose="020B0604020202020204" charset="-122"/>
                <a:cs typeface="+mn-ea"/>
                <a:sym typeface="+mn-lt"/>
              </a:rPr>
              <a:t>单视图强但双视图不完整。</a:t>
            </a:r>
            <a:endParaRPr lang="zh-CN" altLang="en-US" sz="1400" dirty="0">
              <a:solidFill>
                <a:schemeClr val="bg1"/>
              </a:solidFill>
              <a:latin typeface="汉仪君黑-45简" panose="020B0604020202020204" charset="-122"/>
              <a:ea typeface="汉仪君黑-45简" panose="020B0604020202020204" charset="-122"/>
              <a:cs typeface="+mn-ea"/>
              <a:sym typeface="+mn-lt"/>
            </a:endParaRPr>
          </a:p>
        </p:txBody>
      </p:sp>
      <p:sp>
        <p:nvSpPr>
          <p:cNvPr id="14" name="文本框 13"/>
          <p:cNvSpPr txBox="1">
            <a:spLocks noChangeArrowheads="1"/>
          </p:cNvSpPr>
          <p:nvPr>
            <p:custDataLst>
              <p:tags r:id="rId8"/>
            </p:custDataLst>
          </p:nvPr>
        </p:nvSpPr>
        <p:spPr bwMode="auto">
          <a:xfrm>
            <a:off x="4610358" y="2603088"/>
            <a:ext cx="297255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1400" dirty="0">
                <a:solidFill>
                  <a:schemeClr val="bg1"/>
                </a:solidFill>
                <a:latin typeface="汉仪君黑-45简" panose="020B0604020202020204" charset="-122"/>
                <a:ea typeface="汉仪君黑-45简" panose="020B0604020202020204" charset="-122"/>
                <a:cs typeface="+mn-ea"/>
                <a:sym typeface="+mn-lt"/>
              </a:rPr>
              <a:t>优势： 文本与图结构融合稳定，预训练+</a:t>
            </a:r>
            <a:r>
              <a:rPr lang="en-US" altLang="zh-CN" sz="1400" dirty="0">
                <a:solidFill>
                  <a:schemeClr val="bg1"/>
                </a:solidFill>
                <a:latin typeface="汉仪君黑-45简" panose="020B0604020202020204" charset="-122"/>
                <a:ea typeface="汉仪君黑-45简" panose="020B0604020202020204" charset="-122"/>
                <a:cs typeface="+mn-ea"/>
                <a:sym typeface="+mn-lt"/>
              </a:rPr>
              <a:t>Prompt</a:t>
            </a:r>
            <a:r>
              <a:rPr lang="zh-CN" altLang="en-US" sz="1400" dirty="0">
                <a:solidFill>
                  <a:schemeClr val="bg1"/>
                </a:solidFill>
                <a:latin typeface="汉仪君黑-45简" panose="020B0604020202020204" charset="-122"/>
                <a:ea typeface="汉仪君黑-45简" panose="020B0604020202020204" charset="-122"/>
                <a:cs typeface="+mn-ea"/>
                <a:sym typeface="+mn-lt"/>
              </a:rPr>
              <a:t>少样本</a:t>
            </a:r>
            <a:r>
              <a:rPr lang="en-US" altLang="zh-CN" sz="1400" dirty="0">
                <a:solidFill>
                  <a:schemeClr val="bg1"/>
                </a:solidFill>
                <a:latin typeface="汉仪君黑-45简" panose="020B0604020202020204" charset="-122"/>
                <a:ea typeface="汉仪君黑-45简" panose="020B0604020202020204" charset="-122"/>
                <a:cs typeface="+mn-ea"/>
                <a:sym typeface="+mn-lt"/>
              </a:rPr>
              <a:t>TAG</a:t>
            </a:r>
            <a:r>
              <a:rPr lang="zh-CN" altLang="en-US" sz="1400" dirty="0">
                <a:solidFill>
                  <a:schemeClr val="bg1"/>
                </a:solidFill>
                <a:latin typeface="汉仪君黑-45简" panose="020B0604020202020204" charset="-122"/>
                <a:ea typeface="汉仪君黑-45简" panose="020B0604020202020204" charset="-122"/>
                <a:cs typeface="+mn-ea"/>
                <a:sym typeface="+mn-lt"/>
              </a:rPr>
              <a:t>标杆，综合最稳。</a:t>
            </a:r>
            <a:endParaRPr lang="zh-CN" altLang="en-US" sz="1400" dirty="0">
              <a:solidFill>
                <a:schemeClr val="bg1"/>
              </a:solidFill>
              <a:latin typeface="汉仪君黑-45简" panose="020B0604020202020204" charset="-122"/>
              <a:ea typeface="汉仪君黑-45简" panose="020B0604020202020204" charset="-122"/>
              <a:cs typeface="+mn-ea"/>
              <a:sym typeface="+mn-lt"/>
            </a:endParaRPr>
          </a:p>
          <a:p>
            <a:pPr>
              <a:lnSpc>
                <a:spcPct val="150000"/>
              </a:lnSpc>
            </a:pPr>
            <a:endParaRPr lang="en-US" altLang="zh-CN" sz="1400" dirty="0">
              <a:solidFill>
                <a:schemeClr val="bg1"/>
              </a:solidFill>
              <a:latin typeface="汉仪君黑-45简" panose="020B0604020202020204" charset="-122"/>
              <a:ea typeface="汉仪君黑-45简" panose="020B0604020202020204" charset="-122"/>
              <a:cs typeface="+mn-ea"/>
              <a:sym typeface="+mn-lt"/>
            </a:endParaRPr>
          </a:p>
          <a:p>
            <a:pPr>
              <a:lnSpc>
                <a:spcPct val="150000"/>
              </a:lnSpc>
            </a:pPr>
            <a:r>
              <a:rPr lang="zh-CN" altLang="en-US" sz="1400" dirty="0">
                <a:solidFill>
                  <a:schemeClr val="bg1"/>
                </a:solidFill>
                <a:latin typeface="汉仪君黑-45简" panose="020B0604020202020204" charset="-122"/>
                <a:ea typeface="汉仪君黑-45简" panose="020B0604020202020204" charset="-122"/>
                <a:cs typeface="+mn-ea"/>
                <a:sym typeface="+mn-lt"/>
              </a:rPr>
              <a:t>劣势： 文本语义细度不如</a:t>
            </a:r>
            <a:r>
              <a:rPr lang="en-US" altLang="zh-CN" sz="1400" dirty="0">
                <a:solidFill>
                  <a:schemeClr val="bg1"/>
                </a:solidFill>
                <a:latin typeface="汉仪君黑-45简" panose="020B0604020202020204" charset="-122"/>
                <a:ea typeface="汉仪君黑-45简" panose="020B0604020202020204" charset="-122"/>
                <a:cs typeface="+mn-ea"/>
                <a:sym typeface="+mn-lt"/>
              </a:rPr>
              <a:t>TSA（</a:t>
            </a:r>
            <a:r>
              <a:rPr lang="zh-CN" altLang="en-US" sz="1400" dirty="0">
                <a:solidFill>
                  <a:schemeClr val="bg1"/>
                </a:solidFill>
                <a:latin typeface="汉仪君黑-45简" panose="020B0604020202020204" charset="-122"/>
                <a:ea typeface="汉仪君黑-45简" panose="020B0604020202020204" charset="-122"/>
                <a:cs typeface="+mn-ea"/>
                <a:sym typeface="+mn-lt"/>
              </a:rPr>
              <a:t>无显式正负对比）；原型/蒸馏灵活性不如</a:t>
            </a:r>
            <a:r>
              <a:rPr lang="en-US" altLang="zh-CN" sz="1400" dirty="0">
                <a:solidFill>
                  <a:schemeClr val="bg1"/>
                </a:solidFill>
                <a:latin typeface="汉仪君黑-45简" panose="020B0604020202020204" charset="-122"/>
                <a:ea typeface="汉仪君黑-45简" panose="020B0604020202020204" charset="-122"/>
                <a:cs typeface="+mn-ea"/>
                <a:sym typeface="+mn-lt"/>
              </a:rPr>
              <a:t>PKD，</a:t>
            </a:r>
            <a:r>
              <a:rPr lang="zh-CN" altLang="en-US" sz="1400" dirty="0">
                <a:solidFill>
                  <a:schemeClr val="bg1"/>
                </a:solidFill>
                <a:latin typeface="汉仪君黑-45简" panose="020B0604020202020204" charset="-122"/>
                <a:ea typeface="汉仪君黑-45简" panose="020B0604020202020204" charset="-122"/>
                <a:cs typeface="+mn-ea"/>
                <a:sym typeface="+mn-lt"/>
              </a:rPr>
              <a:t>融合偏“一刀切”。</a:t>
            </a:r>
            <a:endParaRPr lang="zh-CN" altLang="en-US" sz="1400" dirty="0">
              <a:solidFill>
                <a:schemeClr val="bg1"/>
              </a:solidFill>
              <a:latin typeface="汉仪君黑-45简" panose="020B0604020202020204" charset="-122"/>
              <a:ea typeface="汉仪君黑-45简" panose="020B0604020202020204" charset="-122"/>
              <a:cs typeface="+mn-ea"/>
              <a:sym typeface="+mn-lt"/>
            </a:endParaRPr>
          </a:p>
          <a:p>
            <a:pPr>
              <a:lnSpc>
                <a:spcPct val="150000"/>
              </a:lnSpc>
            </a:pPr>
            <a:endParaRPr lang="zh-CN" altLang="en-US" sz="1400" dirty="0">
              <a:solidFill>
                <a:schemeClr val="bg1"/>
              </a:solidFill>
              <a:latin typeface="汉仪君黑-45简" panose="020B0604020202020204" charset="-122"/>
              <a:ea typeface="汉仪君黑-45简" panose="020B0604020202020204" charset="-122"/>
              <a:cs typeface="+mn-ea"/>
              <a:sym typeface="+mn-lt"/>
            </a:endParaRPr>
          </a:p>
        </p:txBody>
      </p:sp>
      <p:sp>
        <p:nvSpPr>
          <p:cNvPr id="15" name="文本框 14"/>
          <p:cNvSpPr txBox="1">
            <a:spLocks noChangeArrowheads="1"/>
          </p:cNvSpPr>
          <p:nvPr>
            <p:custDataLst>
              <p:tags r:id="rId9"/>
            </p:custDataLst>
          </p:nvPr>
        </p:nvSpPr>
        <p:spPr bwMode="auto">
          <a:xfrm>
            <a:off x="8500506" y="2603088"/>
            <a:ext cx="2972555"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1400" dirty="0">
                <a:solidFill>
                  <a:schemeClr val="bg1"/>
                </a:solidFill>
                <a:latin typeface="汉仪君黑-45简" panose="020B0604020202020204" charset="-122"/>
                <a:ea typeface="汉仪君黑-45简" panose="020B0604020202020204" charset="-122"/>
                <a:cs typeface="+mn-ea"/>
                <a:sym typeface="+mn-lt"/>
              </a:rPr>
              <a:t>优势： 模型复杂度与适应能力强，原型蒸馏灵活，跨场景泛化好。</a:t>
            </a:r>
            <a:endParaRPr lang="zh-CN" altLang="en-US" sz="1400" dirty="0">
              <a:solidFill>
                <a:schemeClr val="bg1"/>
              </a:solidFill>
              <a:latin typeface="汉仪君黑-45简" panose="020B0604020202020204" charset="-122"/>
              <a:ea typeface="汉仪君黑-45简" panose="020B0604020202020204" charset="-122"/>
              <a:cs typeface="+mn-ea"/>
              <a:sym typeface="+mn-lt"/>
            </a:endParaRPr>
          </a:p>
          <a:p>
            <a:pPr>
              <a:lnSpc>
                <a:spcPct val="150000"/>
              </a:lnSpc>
            </a:pPr>
            <a:endParaRPr lang="en-US" altLang="zh-CN" sz="1400" dirty="0">
              <a:solidFill>
                <a:schemeClr val="bg1"/>
              </a:solidFill>
              <a:latin typeface="汉仪君黑-45简" panose="020B0604020202020204" charset="-122"/>
              <a:ea typeface="汉仪君黑-45简" panose="020B0604020202020204" charset="-122"/>
              <a:cs typeface="+mn-ea"/>
              <a:sym typeface="+mn-lt"/>
            </a:endParaRPr>
          </a:p>
          <a:p>
            <a:pPr>
              <a:lnSpc>
                <a:spcPct val="150000"/>
              </a:lnSpc>
            </a:pPr>
            <a:r>
              <a:rPr lang="zh-CN" altLang="en-US" sz="1400" dirty="0">
                <a:solidFill>
                  <a:schemeClr val="bg1"/>
                </a:solidFill>
                <a:latin typeface="汉仪君黑-45简" panose="020B0604020202020204" charset="-122"/>
                <a:ea typeface="汉仪君黑-45简" panose="020B0604020202020204" charset="-122"/>
                <a:cs typeface="+mn-ea"/>
                <a:sym typeface="+mn-lt"/>
              </a:rPr>
              <a:t>劣势： </a:t>
            </a:r>
            <a:r>
              <a:rPr lang="en-US" altLang="zh-CN" sz="1400" dirty="0">
                <a:solidFill>
                  <a:schemeClr val="bg1"/>
                </a:solidFill>
                <a:latin typeface="汉仪君黑-45简" panose="020B0604020202020204" charset="-122"/>
                <a:ea typeface="汉仪君黑-45简" panose="020B0604020202020204" charset="-122"/>
                <a:cs typeface="+mn-ea"/>
                <a:sym typeface="+mn-lt"/>
              </a:rPr>
              <a:t>TAG</a:t>
            </a:r>
            <a:r>
              <a:rPr lang="zh-CN" altLang="en-US" sz="1400" dirty="0">
                <a:solidFill>
                  <a:schemeClr val="bg1"/>
                </a:solidFill>
                <a:latin typeface="汉仪君黑-45简" panose="020B0604020202020204" charset="-122"/>
                <a:ea typeface="汉仪君黑-45简" panose="020B0604020202020204" charset="-122"/>
                <a:cs typeface="+mn-ea"/>
                <a:sym typeface="+mn-lt"/>
              </a:rPr>
              <a:t>专属融合不如</a:t>
            </a:r>
            <a:r>
              <a:rPr lang="en-US" altLang="zh-CN" sz="1400" dirty="0">
                <a:solidFill>
                  <a:schemeClr val="bg1"/>
                </a:solidFill>
                <a:latin typeface="汉仪君黑-45简" panose="020B0604020202020204" charset="-122"/>
                <a:ea typeface="汉仪君黑-45简" panose="020B0604020202020204" charset="-122"/>
                <a:cs typeface="+mn-ea"/>
                <a:sym typeface="+mn-lt"/>
              </a:rPr>
              <a:t>P2TAG</a:t>
            </a:r>
            <a:r>
              <a:rPr lang="zh-CN" altLang="en-US" sz="1400" dirty="0">
                <a:solidFill>
                  <a:schemeClr val="bg1"/>
                </a:solidFill>
                <a:latin typeface="汉仪君黑-45简" panose="020B0604020202020204" charset="-122"/>
                <a:ea typeface="汉仪君黑-45简" panose="020B0604020202020204" charset="-122"/>
                <a:cs typeface="+mn-ea"/>
                <a:sym typeface="+mn-lt"/>
              </a:rPr>
              <a:t>稳；文本语义增强不如</a:t>
            </a:r>
            <a:r>
              <a:rPr lang="en-US" altLang="zh-CN" sz="1400" dirty="0">
                <a:solidFill>
                  <a:schemeClr val="bg1"/>
                </a:solidFill>
                <a:latin typeface="汉仪君黑-45简" panose="020B0604020202020204" charset="-122"/>
                <a:ea typeface="汉仪君黑-45简" panose="020B0604020202020204" charset="-122"/>
                <a:cs typeface="+mn-ea"/>
                <a:sym typeface="+mn-lt"/>
              </a:rPr>
              <a:t>TSA，</a:t>
            </a:r>
            <a:r>
              <a:rPr lang="zh-CN" altLang="en-US" sz="1400" dirty="0">
                <a:solidFill>
                  <a:schemeClr val="bg1"/>
                </a:solidFill>
                <a:latin typeface="汉仪君黑-45简" panose="020B0604020202020204" charset="-122"/>
                <a:ea typeface="汉仪君黑-45简" panose="020B0604020202020204" charset="-122"/>
                <a:cs typeface="+mn-ea"/>
                <a:sym typeface="+mn-lt"/>
              </a:rPr>
              <a:t>缺预训练-</a:t>
            </a:r>
            <a:r>
              <a:rPr lang="en-US" altLang="zh-CN" sz="1400" dirty="0">
                <a:solidFill>
                  <a:schemeClr val="bg1"/>
                </a:solidFill>
                <a:latin typeface="汉仪君黑-45简" panose="020B0604020202020204" charset="-122"/>
                <a:ea typeface="汉仪君黑-45简" panose="020B0604020202020204" charset="-122"/>
                <a:cs typeface="+mn-ea"/>
                <a:sym typeface="+mn-lt"/>
              </a:rPr>
              <a:t>Prompt</a:t>
            </a:r>
            <a:r>
              <a:rPr lang="zh-CN" altLang="en-US" sz="1400" dirty="0">
                <a:solidFill>
                  <a:schemeClr val="bg1"/>
                </a:solidFill>
                <a:latin typeface="汉仪君黑-45简" panose="020B0604020202020204" charset="-122"/>
                <a:ea typeface="汉仪君黑-45简" panose="020B0604020202020204" charset="-122"/>
                <a:cs typeface="+mn-ea"/>
                <a:sym typeface="+mn-lt"/>
              </a:rPr>
              <a:t>体系，少样本直接分类偏弱。</a:t>
            </a:r>
            <a:endParaRPr lang="zh-CN" altLang="en-US" sz="1400" dirty="0">
              <a:solidFill>
                <a:schemeClr val="bg1"/>
              </a:solidFill>
              <a:latin typeface="汉仪君黑-45简" panose="020B0604020202020204" charset="-122"/>
              <a:ea typeface="汉仪君黑-45简" panose="020B0604020202020204" charset="-122"/>
              <a:cs typeface="+mn-ea"/>
              <a:sym typeface="+mn-lt"/>
            </a:endParaRPr>
          </a:p>
        </p:txBody>
      </p:sp>
      <p:sp>
        <p:nvSpPr>
          <p:cNvPr id="16" name="任意多边形: 形状 15"/>
          <p:cNvSpPr/>
          <p:nvPr/>
        </p:nvSpPr>
        <p:spPr>
          <a:xfrm>
            <a:off x="11206264" y="6230570"/>
            <a:ext cx="992707" cy="627430"/>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7" name="任意多边形: 形状 16"/>
          <p:cNvSpPr/>
          <p:nvPr/>
        </p:nvSpPr>
        <p:spPr>
          <a:xfrm flipH="1">
            <a:off x="0" y="-1"/>
            <a:ext cx="1424610" cy="777930"/>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8" name="任意多边形: 形状 17"/>
          <p:cNvSpPr/>
          <p:nvPr/>
        </p:nvSpPr>
        <p:spPr>
          <a:xfrm flipH="1">
            <a:off x="1819" y="-1"/>
            <a:ext cx="1457330" cy="808547"/>
          </a:xfrm>
          <a:custGeom>
            <a:avLst/>
            <a:gdLst>
              <a:gd name="connsiteX0" fmla="*/ 0 w 5585422"/>
              <a:gd name="connsiteY0" fmla="*/ 0 h 3098871"/>
              <a:gd name="connsiteX1" fmla="*/ 5585422 w 5585422"/>
              <a:gd name="connsiteY1" fmla="*/ 0 h 3098871"/>
              <a:gd name="connsiteX2" fmla="*/ 5585422 w 5585422"/>
              <a:gd name="connsiteY2" fmla="*/ 1079106 h 3098871"/>
              <a:gd name="connsiteX3" fmla="*/ 3710012 w 5585422"/>
              <a:gd name="connsiteY3" fmla="*/ 2931810 h 3098871"/>
              <a:gd name="connsiteX4" fmla="*/ 2891388 w 5585422"/>
              <a:gd name="connsiteY4" fmla="*/ 2926824 h 309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5422" h="3098871">
                <a:moveTo>
                  <a:pt x="0" y="0"/>
                </a:moveTo>
                <a:lnTo>
                  <a:pt x="5585422" y="0"/>
                </a:lnTo>
                <a:lnTo>
                  <a:pt x="5585422" y="1079106"/>
                </a:lnTo>
                <a:lnTo>
                  <a:pt x="3710012" y="2931810"/>
                </a:lnTo>
                <a:cubicBezTo>
                  <a:pt x="3482580" y="3156491"/>
                  <a:pt x="3116069" y="3154260"/>
                  <a:pt x="2891388" y="2926824"/>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9" name="文本框 24"/>
          <p:cNvSpPr txBox="1"/>
          <p:nvPr/>
        </p:nvSpPr>
        <p:spPr>
          <a:xfrm>
            <a:off x="4274417" y="354567"/>
            <a:ext cx="3643166"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该领域</a:t>
            </a:r>
            <a:r>
              <a:rPr lang="en-US" altLang="zh-CN"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SOTA</a:t>
            </a:r>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选择</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61435" y="1974215"/>
            <a:ext cx="4468495" cy="3239770"/>
            <a:chOff x="5719" y="2292"/>
            <a:chExt cx="7037" cy="5102"/>
          </a:xfrm>
        </p:grpSpPr>
        <p:sp>
          <p:nvSpPr>
            <p:cNvPr id="10" name="椭圆 1"/>
            <p:cNvSpPr/>
            <p:nvPr/>
          </p:nvSpPr>
          <p:spPr>
            <a:xfrm>
              <a:off x="7786" y="2377"/>
              <a:ext cx="2892" cy="3355"/>
            </a:xfrm>
            <a:custGeom>
              <a:avLst/>
              <a:gdLst/>
              <a:ahLst/>
              <a:cxnLst/>
              <a:rect l="l" t="t" r="r" b="b"/>
              <a:pathLst>
                <a:path w="3240360" h="3757972">
                  <a:moveTo>
                    <a:pt x="1620180" y="0"/>
                  </a:moveTo>
                  <a:cubicBezTo>
                    <a:pt x="2514981" y="0"/>
                    <a:pt x="3240360" y="725379"/>
                    <a:pt x="3240360" y="1620180"/>
                  </a:cubicBezTo>
                  <a:cubicBezTo>
                    <a:pt x="3240360" y="2212023"/>
                    <a:pt x="2923020" y="2729746"/>
                    <a:pt x="2448272" y="3010903"/>
                  </a:cubicBezTo>
                  <a:lnTo>
                    <a:pt x="2448272" y="3511913"/>
                  </a:lnTo>
                  <a:cubicBezTo>
                    <a:pt x="2448272" y="3647808"/>
                    <a:pt x="2338108" y="3757972"/>
                    <a:pt x="2202213" y="3757972"/>
                  </a:cubicBezTo>
                  <a:lnTo>
                    <a:pt x="1038147" y="3757972"/>
                  </a:lnTo>
                  <a:cubicBezTo>
                    <a:pt x="902252" y="3757972"/>
                    <a:pt x="792088" y="3647808"/>
                    <a:pt x="792088" y="3511913"/>
                  </a:cubicBezTo>
                  <a:lnTo>
                    <a:pt x="792088" y="3010903"/>
                  </a:lnTo>
                  <a:cubicBezTo>
                    <a:pt x="317340" y="2729746"/>
                    <a:pt x="0" y="2212023"/>
                    <a:pt x="0" y="1620180"/>
                  </a:cubicBezTo>
                  <a:cubicBezTo>
                    <a:pt x="0" y="725379"/>
                    <a:pt x="725379" y="0"/>
                    <a:pt x="1620180" y="0"/>
                  </a:cubicBezTo>
                  <a:close/>
                </a:path>
              </a:pathLst>
            </a:custGeom>
            <a:noFill/>
            <a:ln w="203200" cap="flat" cmpd="sng" algn="ctr">
              <a:solidFill>
                <a:srgbClr val="6696B6"/>
              </a:solidFill>
              <a:prstDash val="solid"/>
            </a:ln>
            <a:effectLst/>
          </p:spPr>
          <p:txBody>
            <a:bodyPr lIns="91412" tIns="45707" rIns="91412" bIns="45707" anchor="ctr"/>
            <a:lstStyle/>
            <a:p>
              <a:pPr algn="ctr">
                <a:defRPr/>
              </a:pPr>
              <a:endParaRPr lang="zh-CN" altLang="en-US" sz="2000" kern="0" dirty="0">
                <a:solidFill>
                  <a:srgbClr val="6696B6"/>
                </a:solidFill>
                <a:latin typeface="汉仪君黑-45简" panose="020B0604020202020204" charset="-122"/>
                <a:ea typeface="汉仪君黑-45简" panose="020B0604020202020204" charset="-122"/>
                <a:sym typeface="字魂36号-正文宋楷" panose="02000000000000000000" pitchFamily="2" charset="-122"/>
              </a:endParaRPr>
            </a:p>
          </p:txBody>
        </p:sp>
        <p:sp>
          <p:nvSpPr>
            <p:cNvPr id="11" name="圆角矩形 28"/>
            <p:cNvSpPr>
              <a:spLocks noChangeArrowheads="1"/>
            </p:cNvSpPr>
            <p:nvPr/>
          </p:nvSpPr>
          <p:spPr bwMode="auto">
            <a:xfrm>
              <a:off x="8568" y="5969"/>
              <a:ext cx="1352" cy="280"/>
            </a:xfrm>
            <a:prstGeom prst="roundRect">
              <a:avLst>
                <a:gd name="adj" fmla="val 50000"/>
              </a:avLst>
            </a:prstGeom>
            <a:solidFill>
              <a:srgbClr val="BFBFBF"/>
            </a:solidFill>
            <a:ln>
              <a:noFill/>
            </a:ln>
            <a:extLst>
              <a:ext uri="{91240B29-F687-4F45-9708-019B960494DF}">
                <a14:hiddenLine xmlns:a14="http://schemas.microsoft.com/office/drawing/2010/main" w="25400">
                  <a:solidFill>
                    <a:srgbClr val="000000"/>
                  </a:solidFill>
                  <a:round/>
                </a14:hiddenLine>
              </a:ext>
            </a:extLst>
          </p:spPr>
          <p:txBody>
            <a:bodyPr lIns="91412" tIns="45707" rIns="91412" bIns="45707"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endParaRPr lang="en-US" altLang="zh-CN" sz="1335" dirty="0">
                <a:solidFill>
                  <a:srgbClr val="3C72A4"/>
                </a:solidFill>
                <a:latin typeface="汉仪君黑-45简" panose="020B0604020202020204" charset="-122"/>
                <a:ea typeface="汉仪君黑-45简" panose="020B0604020202020204" charset="-122"/>
                <a:sym typeface="字魂36号-正文宋楷" panose="02000000000000000000" pitchFamily="2" charset="-122"/>
              </a:endParaRPr>
            </a:p>
          </p:txBody>
        </p:sp>
        <p:sp>
          <p:nvSpPr>
            <p:cNvPr id="12" name="圆角矩形 29"/>
            <p:cNvSpPr>
              <a:spLocks noChangeArrowheads="1"/>
            </p:cNvSpPr>
            <p:nvPr/>
          </p:nvSpPr>
          <p:spPr bwMode="auto">
            <a:xfrm>
              <a:off x="8686" y="6372"/>
              <a:ext cx="1117" cy="283"/>
            </a:xfrm>
            <a:prstGeom prst="roundRect">
              <a:avLst>
                <a:gd name="adj" fmla="val 50000"/>
              </a:avLst>
            </a:prstGeom>
            <a:solidFill>
              <a:srgbClr val="6696B6"/>
            </a:solidFill>
            <a:ln>
              <a:noFill/>
            </a:ln>
          </p:spPr>
          <p:txBody>
            <a:bodyPr lIns="91412" tIns="45707" rIns="91412" bIns="45707"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endParaRPr lang="en-US" altLang="zh-CN" sz="1335" dirty="0">
                <a:solidFill>
                  <a:srgbClr val="3C72A4"/>
                </a:solidFill>
                <a:latin typeface="汉仪君黑-45简" panose="020B0604020202020204" charset="-122"/>
                <a:ea typeface="汉仪君黑-45简" panose="020B0604020202020204" charset="-122"/>
                <a:sym typeface="字魂36号-正文宋楷" panose="02000000000000000000" pitchFamily="2" charset="-122"/>
              </a:endParaRPr>
            </a:p>
          </p:txBody>
        </p:sp>
        <p:sp>
          <p:nvSpPr>
            <p:cNvPr id="13" name="圆角矩形 30"/>
            <p:cNvSpPr>
              <a:spLocks noChangeArrowheads="1"/>
            </p:cNvSpPr>
            <p:nvPr/>
          </p:nvSpPr>
          <p:spPr bwMode="auto">
            <a:xfrm>
              <a:off x="8568" y="6777"/>
              <a:ext cx="1352" cy="280"/>
            </a:xfrm>
            <a:prstGeom prst="roundRect">
              <a:avLst>
                <a:gd name="adj" fmla="val 50000"/>
              </a:avLst>
            </a:prstGeom>
            <a:solidFill>
              <a:srgbClr val="BFBFBF"/>
            </a:solidFill>
            <a:ln>
              <a:noFill/>
            </a:ln>
            <a:extLst>
              <a:ext uri="{91240B29-F687-4F45-9708-019B960494DF}">
                <a14:hiddenLine xmlns:a14="http://schemas.microsoft.com/office/drawing/2010/main" w="25400">
                  <a:solidFill>
                    <a:srgbClr val="000000"/>
                  </a:solidFill>
                  <a:round/>
                </a14:hiddenLine>
              </a:ext>
            </a:extLst>
          </p:spPr>
          <p:txBody>
            <a:bodyPr lIns="91412" tIns="45707" rIns="91412" bIns="45707"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endParaRPr lang="en-US" altLang="zh-CN" sz="1335" dirty="0">
                <a:solidFill>
                  <a:srgbClr val="3C72A4"/>
                </a:solidFill>
                <a:latin typeface="汉仪君黑-45简" panose="020B0604020202020204" charset="-122"/>
                <a:ea typeface="汉仪君黑-45简" panose="020B0604020202020204" charset="-122"/>
                <a:sym typeface="字魂36号-正文宋楷" panose="02000000000000000000" pitchFamily="2" charset="-122"/>
              </a:endParaRPr>
            </a:p>
          </p:txBody>
        </p:sp>
        <p:sp>
          <p:nvSpPr>
            <p:cNvPr id="14" name="圆角矩形 31"/>
            <p:cNvSpPr>
              <a:spLocks noChangeArrowheads="1"/>
            </p:cNvSpPr>
            <p:nvPr/>
          </p:nvSpPr>
          <p:spPr bwMode="auto">
            <a:xfrm>
              <a:off x="8818" y="7182"/>
              <a:ext cx="852" cy="213"/>
            </a:xfrm>
            <a:prstGeom prst="roundRect">
              <a:avLst>
                <a:gd name="adj" fmla="val 50000"/>
              </a:avLst>
            </a:prstGeom>
            <a:solidFill>
              <a:srgbClr val="6696B6"/>
            </a:solidFill>
            <a:ln>
              <a:noFill/>
            </a:ln>
          </p:spPr>
          <p:txBody>
            <a:bodyPr lIns="91412" tIns="45707" rIns="91412" bIns="45707"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endParaRPr lang="en-US" altLang="zh-CN" sz="1335" dirty="0">
                <a:solidFill>
                  <a:srgbClr val="FFFFFF"/>
                </a:solidFill>
                <a:latin typeface="汉仪君黑-45简" panose="020B0604020202020204" charset="-122"/>
                <a:ea typeface="汉仪君黑-45简" panose="020B0604020202020204" charset="-122"/>
                <a:sym typeface="字魂36号-正文宋楷" panose="02000000000000000000" pitchFamily="2" charset="-122"/>
              </a:endParaRPr>
            </a:p>
          </p:txBody>
        </p:sp>
        <p:sp>
          <p:nvSpPr>
            <p:cNvPr id="15" name="椭圆 32"/>
            <p:cNvSpPr>
              <a:spLocks noChangeArrowheads="1"/>
            </p:cNvSpPr>
            <p:nvPr/>
          </p:nvSpPr>
          <p:spPr bwMode="auto">
            <a:xfrm>
              <a:off x="5719" y="2292"/>
              <a:ext cx="765" cy="765"/>
            </a:xfrm>
            <a:prstGeom prst="ellipse">
              <a:avLst/>
            </a:prstGeom>
            <a:noFill/>
            <a:ln w="57150" algn="ctr">
              <a:solidFill>
                <a:srgbClr val="6696B6"/>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2000" b="1" dirty="0">
                  <a:solidFill>
                    <a:srgbClr val="6696B6"/>
                  </a:solidFill>
                  <a:latin typeface="汉仪君黑-45简" panose="020B0604020202020204" charset="-122"/>
                  <a:ea typeface="汉仪君黑-45简" panose="020B0604020202020204" charset="-122"/>
                  <a:cs typeface="Times New Roman" panose="02020603050405020304" pitchFamily="18" charset="0"/>
                  <a:sym typeface="字魂36号-正文宋楷" panose="02000000000000000000" pitchFamily="2" charset="-122"/>
                </a:rPr>
                <a:t>01</a:t>
              </a:r>
              <a:endParaRPr lang="en-US" altLang="zh-CN" sz="2000" b="1" dirty="0">
                <a:solidFill>
                  <a:srgbClr val="6696B6"/>
                </a:solidFill>
                <a:latin typeface="汉仪君黑-45简" panose="020B0604020202020204" charset="-122"/>
                <a:ea typeface="汉仪君黑-45简" panose="020B0604020202020204" charset="-122"/>
                <a:cs typeface="Times New Roman" panose="02020603050405020304" pitchFamily="18" charset="0"/>
                <a:sym typeface="字魂36号-正文宋楷" panose="02000000000000000000" pitchFamily="2" charset="-122"/>
              </a:endParaRPr>
            </a:p>
          </p:txBody>
        </p:sp>
        <p:cxnSp>
          <p:nvCxnSpPr>
            <p:cNvPr id="16" name="直接连接符 33"/>
            <p:cNvCxnSpPr>
              <a:cxnSpLocks noChangeShapeType="1"/>
            </p:cNvCxnSpPr>
            <p:nvPr/>
          </p:nvCxnSpPr>
          <p:spPr bwMode="auto">
            <a:xfrm>
              <a:off x="6597" y="2772"/>
              <a:ext cx="1020" cy="428"/>
            </a:xfrm>
            <a:prstGeom prst="line">
              <a:avLst/>
            </a:prstGeom>
            <a:noFill/>
            <a:ln w="38100" algn="ctr">
              <a:solidFill>
                <a:srgbClr val="6696B6"/>
              </a:solidFill>
              <a:round/>
            </a:ln>
            <a:extLst>
              <a:ext uri="{909E8E84-426E-40DD-AFC4-6F175D3DCCD1}">
                <a14:hiddenFill xmlns:a14="http://schemas.microsoft.com/office/drawing/2010/main">
                  <a:noFill/>
                </a14:hiddenFill>
              </a:ext>
            </a:extLst>
          </p:spPr>
        </p:cxnSp>
        <p:sp>
          <p:nvSpPr>
            <p:cNvPr id="17" name="椭圆 34"/>
            <p:cNvSpPr>
              <a:spLocks noChangeArrowheads="1"/>
            </p:cNvSpPr>
            <p:nvPr/>
          </p:nvSpPr>
          <p:spPr bwMode="auto">
            <a:xfrm>
              <a:off x="11992" y="2292"/>
              <a:ext cx="765" cy="765"/>
            </a:xfrm>
            <a:prstGeom prst="ellipse">
              <a:avLst/>
            </a:prstGeom>
            <a:noFill/>
            <a:ln w="57150" algn="ctr">
              <a:solidFill>
                <a:srgbClr val="6696B6"/>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2000" b="1" dirty="0">
                  <a:solidFill>
                    <a:srgbClr val="6696B6"/>
                  </a:solidFill>
                  <a:latin typeface="汉仪君黑-45简" panose="020B0604020202020204" charset="-122"/>
                  <a:ea typeface="汉仪君黑-45简" panose="020B0604020202020204" charset="-122"/>
                  <a:cs typeface="Times New Roman" panose="02020603050405020304" pitchFamily="18" charset="0"/>
                  <a:sym typeface="字魂36号-正文宋楷" panose="02000000000000000000" pitchFamily="2" charset="-122"/>
                </a:rPr>
                <a:t>02</a:t>
              </a:r>
              <a:endParaRPr lang="en-US" altLang="zh-CN" sz="2000" b="1" dirty="0">
                <a:solidFill>
                  <a:srgbClr val="6696B6"/>
                </a:solidFill>
                <a:latin typeface="汉仪君黑-45简" panose="020B0604020202020204" charset="-122"/>
                <a:ea typeface="汉仪君黑-45简" panose="020B0604020202020204" charset="-122"/>
                <a:cs typeface="Times New Roman" panose="02020603050405020304" pitchFamily="18" charset="0"/>
                <a:sym typeface="字魂36号-正文宋楷" panose="02000000000000000000" pitchFamily="2" charset="-122"/>
              </a:endParaRPr>
            </a:p>
          </p:txBody>
        </p:sp>
        <p:cxnSp>
          <p:nvCxnSpPr>
            <p:cNvPr id="18" name="直接连接符 35"/>
            <p:cNvCxnSpPr>
              <a:cxnSpLocks noChangeShapeType="1"/>
            </p:cNvCxnSpPr>
            <p:nvPr/>
          </p:nvCxnSpPr>
          <p:spPr bwMode="auto">
            <a:xfrm rot="8309691">
              <a:off x="10868" y="2749"/>
              <a:ext cx="1020" cy="425"/>
            </a:xfrm>
            <a:prstGeom prst="line">
              <a:avLst/>
            </a:prstGeom>
            <a:noFill/>
            <a:ln w="38100" algn="ctr">
              <a:solidFill>
                <a:srgbClr val="6696B6"/>
              </a:solidFill>
              <a:round/>
            </a:ln>
            <a:extLst>
              <a:ext uri="{909E8E84-426E-40DD-AFC4-6F175D3DCCD1}">
                <a14:hiddenFill xmlns:a14="http://schemas.microsoft.com/office/drawing/2010/main">
                  <a:noFill/>
                </a14:hiddenFill>
              </a:ext>
            </a:extLst>
          </p:spPr>
        </p:cxnSp>
        <p:sp>
          <p:nvSpPr>
            <p:cNvPr id="19" name="椭圆 36"/>
            <p:cNvSpPr>
              <a:spLocks noChangeArrowheads="1"/>
            </p:cNvSpPr>
            <p:nvPr/>
          </p:nvSpPr>
          <p:spPr bwMode="auto">
            <a:xfrm>
              <a:off x="6714" y="6367"/>
              <a:ext cx="765" cy="765"/>
            </a:xfrm>
            <a:prstGeom prst="ellipse">
              <a:avLst/>
            </a:prstGeom>
            <a:noFill/>
            <a:ln w="57150" algn="ctr">
              <a:solidFill>
                <a:srgbClr val="6696B6"/>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2000" b="1" dirty="0">
                  <a:solidFill>
                    <a:srgbClr val="6696B6"/>
                  </a:solidFill>
                  <a:latin typeface="汉仪君黑-45简" panose="020B0604020202020204" charset="-122"/>
                  <a:ea typeface="汉仪君黑-45简" panose="020B0604020202020204" charset="-122"/>
                  <a:cs typeface="Times New Roman" panose="02020603050405020304" pitchFamily="18" charset="0"/>
                  <a:sym typeface="字魂36号-正文宋楷" panose="02000000000000000000" pitchFamily="2" charset="-122"/>
                </a:rPr>
                <a:t>03</a:t>
              </a:r>
              <a:endParaRPr lang="en-US" altLang="zh-CN" sz="2000" b="1" dirty="0">
                <a:solidFill>
                  <a:srgbClr val="6696B6"/>
                </a:solidFill>
                <a:latin typeface="汉仪君黑-45简" panose="020B0604020202020204" charset="-122"/>
                <a:ea typeface="汉仪君黑-45简" panose="020B0604020202020204" charset="-122"/>
                <a:cs typeface="Times New Roman" panose="02020603050405020304" pitchFamily="18" charset="0"/>
                <a:sym typeface="字魂36号-正文宋楷" panose="02000000000000000000" pitchFamily="2" charset="-122"/>
              </a:endParaRPr>
            </a:p>
          </p:txBody>
        </p:sp>
        <p:cxnSp>
          <p:nvCxnSpPr>
            <p:cNvPr id="20" name="直接连接符 37"/>
            <p:cNvCxnSpPr>
              <a:cxnSpLocks noChangeShapeType="1"/>
            </p:cNvCxnSpPr>
            <p:nvPr/>
          </p:nvCxnSpPr>
          <p:spPr bwMode="auto">
            <a:xfrm rot="-3781756">
              <a:off x="7341" y="5865"/>
              <a:ext cx="1020" cy="425"/>
            </a:xfrm>
            <a:prstGeom prst="line">
              <a:avLst/>
            </a:prstGeom>
            <a:noFill/>
            <a:ln w="38100" algn="ctr">
              <a:solidFill>
                <a:srgbClr val="6696B6"/>
              </a:solidFill>
              <a:round/>
            </a:ln>
            <a:extLst>
              <a:ext uri="{909E8E84-426E-40DD-AFC4-6F175D3DCCD1}">
                <a14:hiddenFill xmlns:a14="http://schemas.microsoft.com/office/drawing/2010/main">
                  <a:noFill/>
                </a14:hiddenFill>
              </a:ext>
            </a:extLst>
          </p:spPr>
        </p:cxnSp>
        <p:sp>
          <p:nvSpPr>
            <p:cNvPr id="21" name="椭圆 38"/>
            <p:cNvSpPr>
              <a:spLocks noChangeArrowheads="1"/>
            </p:cNvSpPr>
            <p:nvPr/>
          </p:nvSpPr>
          <p:spPr bwMode="auto">
            <a:xfrm>
              <a:off x="11050" y="6367"/>
              <a:ext cx="765" cy="765"/>
            </a:xfrm>
            <a:prstGeom prst="ellipse">
              <a:avLst/>
            </a:prstGeom>
            <a:noFill/>
            <a:ln w="57150" algn="ctr">
              <a:solidFill>
                <a:srgbClr val="6696B6"/>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2000" b="1" dirty="0">
                  <a:solidFill>
                    <a:srgbClr val="6696B6"/>
                  </a:solidFill>
                  <a:latin typeface="汉仪君黑-45简" panose="020B0604020202020204" charset="-122"/>
                  <a:ea typeface="汉仪君黑-45简" panose="020B0604020202020204" charset="-122"/>
                  <a:cs typeface="Times New Roman" panose="02020603050405020304" pitchFamily="18" charset="0"/>
                  <a:sym typeface="字魂36号-正文宋楷" panose="02000000000000000000" pitchFamily="2" charset="-122"/>
                </a:rPr>
                <a:t>04</a:t>
              </a:r>
              <a:endParaRPr lang="en-US" altLang="zh-CN" sz="2000" b="1" dirty="0">
                <a:solidFill>
                  <a:srgbClr val="6696B6"/>
                </a:solidFill>
                <a:latin typeface="汉仪君黑-45简" panose="020B0604020202020204" charset="-122"/>
                <a:ea typeface="汉仪君黑-45简" panose="020B0604020202020204" charset="-122"/>
                <a:cs typeface="Times New Roman" panose="02020603050405020304" pitchFamily="18" charset="0"/>
                <a:sym typeface="字魂36号-正文宋楷" panose="02000000000000000000" pitchFamily="2" charset="-122"/>
              </a:endParaRPr>
            </a:p>
          </p:txBody>
        </p:sp>
        <p:cxnSp>
          <p:nvCxnSpPr>
            <p:cNvPr id="22" name="直接连接符 39"/>
            <p:cNvCxnSpPr>
              <a:cxnSpLocks noChangeShapeType="1"/>
            </p:cNvCxnSpPr>
            <p:nvPr/>
          </p:nvCxnSpPr>
          <p:spPr bwMode="auto">
            <a:xfrm flipH="1" flipV="1">
              <a:off x="10213" y="5717"/>
              <a:ext cx="877" cy="690"/>
            </a:xfrm>
            <a:prstGeom prst="line">
              <a:avLst/>
            </a:prstGeom>
            <a:noFill/>
            <a:ln w="38100" algn="ctr">
              <a:solidFill>
                <a:srgbClr val="6696B6"/>
              </a:solidFill>
              <a:round/>
            </a:ln>
            <a:extLst>
              <a:ext uri="{909E8E84-426E-40DD-AFC4-6F175D3DCCD1}">
                <a14:hiddenFill xmlns:a14="http://schemas.microsoft.com/office/drawing/2010/main">
                  <a:noFill/>
                </a14:hiddenFill>
              </a:ext>
            </a:extLst>
          </p:spPr>
        </p:cxnSp>
      </p:grpSp>
      <p:sp>
        <p:nvSpPr>
          <p:cNvPr id="134" name="文本框 36"/>
          <p:cNvSpPr txBox="1">
            <a:spLocks noChangeArrowheads="1"/>
          </p:cNvSpPr>
          <p:nvPr/>
        </p:nvSpPr>
        <p:spPr bwMode="auto">
          <a:xfrm>
            <a:off x="8372785" y="1895196"/>
            <a:ext cx="23178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公平可比性</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135" name="文本框 37"/>
          <p:cNvSpPr txBox="1">
            <a:spLocks noChangeArrowheads="1"/>
          </p:cNvSpPr>
          <p:nvPr/>
        </p:nvSpPr>
        <p:spPr bwMode="auto">
          <a:xfrm>
            <a:off x="8388661" y="2315845"/>
            <a:ext cx="2797327"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400" dirty="0">
                <a:solidFill>
                  <a:srgbClr val="0D0D0D"/>
                </a:solidFill>
                <a:latin typeface="汉仪君黑-45简" panose="020B0604020202020204" charset="-122"/>
                <a:ea typeface="汉仪君黑-45简" panose="020B0604020202020204" charset="-122"/>
                <a:cs typeface="+mn-ea"/>
                <a:sym typeface="+mn-lt"/>
              </a:rPr>
              <a:t>P2TAG</a:t>
            </a:r>
            <a:r>
              <a:rPr lang="zh-CN" altLang="en-US" sz="1400" dirty="0">
                <a:solidFill>
                  <a:srgbClr val="0D0D0D"/>
                </a:solidFill>
                <a:latin typeface="汉仪君黑-45简" panose="020B0604020202020204" charset="-122"/>
                <a:ea typeface="汉仪君黑-45简" panose="020B0604020202020204" charset="-122"/>
                <a:cs typeface="+mn-ea"/>
                <a:sym typeface="+mn-lt"/>
              </a:rPr>
              <a:t>与我们的输入信息和标签设置较接近，比较最公平；</a:t>
            </a:r>
            <a:r>
              <a:rPr lang="en-US" altLang="zh-CN" sz="1400" dirty="0">
                <a:solidFill>
                  <a:srgbClr val="0D0D0D"/>
                </a:solidFill>
                <a:latin typeface="汉仪君黑-45简" panose="020B0604020202020204" charset="-122"/>
                <a:ea typeface="汉仪君黑-45简" panose="020B0604020202020204" charset="-122"/>
                <a:cs typeface="+mn-ea"/>
                <a:sym typeface="+mn-lt"/>
              </a:rPr>
              <a:t>TSA</a:t>
            </a:r>
            <a:r>
              <a:rPr lang="zh-CN" altLang="en-US" sz="1400" dirty="0">
                <a:solidFill>
                  <a:srgbClr val="0D0D0D"/>
                </a:solidFill>
                <a:latin typeface="汉仪君黑-45简" panose="020B0604020202020204" charset="-122"/>
                <a:ea typeface="汉仪君黑-45简" panose="020B0604020202020204" charset="-122"/>
                <a:cs typeface="+mn-ea"/>
                <a:sym typeface="+mn-lt"/>
              </a:rPr>
              <a:t>侧重文本增强；</a:t>
            </a:r>
            <a:r>
              <a:rPr lang="en-US" altLang="zh-CN" sz="1400" dirty="0">
                <a:solidFill>
                  <a:srgbClr val="0D0D0D"/>
                </a:solidFill>
                <a:latin typeface="汉仪君黑-45简" panose="020B0604020202020204" charset="-122"/>
                <a:ea typeface="汉仪君黑-45简" panose="020B0604020202020204" charset="-122"/>
                <a:cs typeface="+mn-ea"/>
                <a:sym typeface="+mn-lt"/>
              </a:rPr>
              <a:t>PKD</a:t>
            </a:r>
            <a:r>
              <a:rPr lang="zh-CN" altLang="en-US" sz="1400" dirty="0">
                <a:solidFill>
                  <a:srgbClr val="0D0D0D"/>
                </a:solidFill>
                <a:latin typeface="汉仪君黑-45简" panose="020B0604020202020204" charset="-122"/>
                <a:ea typeface="汉仪君黑-45简" panose="020B0604020202020204" charset="-122"/>
                <a:cs typeface="+mn-ea"/>
                <a:sym typeface="+mn-lt"/>
              </a:rPr>
              <a:t>使用更多模型和资源，因此更适合作为补充参照。</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137" name="文本框 36"/>
          <p:cNvSpPr txBox="1">
            <a:spLocks noChangeArrowheads="1"/>
          </p:cNvSpPr>
          <p:nvPr/>
        </p:nvSpPr>
        <p:spPr bwMode="auto">
          <a:xfrm>
            <a:off x="786193" y="1858366"/>
            <a:ext cx="233273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任务匹配度</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138" name="文本框 37"/>
          <p:cNvSpPr txBox="1">
            <a:spLocks noChangeArrowheads="1"/>
          </p:cNvSpPr>
          <p:nvPr/>
        </p:nvSpPr>
        <p:spPr bwMode="auto">
          <a:xfrm>
            <a:off x="786130" y="2315845"/>
            <a:ext cx="3295015"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400" dirty="0">
                <a:solidFill>
                  <a:srgbClr val="0D0D0D"/>
                </a:solidFill>
                <a:latin typeface="汉仪君黑-45简" panose="020B0604020202020204" charset="-122"/>
                <a:ea typeface="汉仪君黑-45简" panose="020B0604020202020204" charset="-122"/>
                <a:cs typeface="+mn-ea"/>
                <a:sym typeface="+mn-lt"/>
              </a:rPr>
              <a:t>P2TAG</a:t>
            </a:r>
            <a:r>
              <a:rPr lang="zh-CN" altLang="en-US" sz="1400" dirty="0">
                <a:solidFill>
                  <a:srgbClr val="0D0D0D"/>
                </a:solidFill>
                <a:latin typeface="汉仪君黑-45简" panose="020B0604020202020204" charset="-122"/>
                <a:ea typeface="汉仪君黑-45简" panose="020B0604020202020204" charset="-122"/>
                <a:cs typeface="+mn-ea"/>
                <a:sym typeface="+mn-lt"/>
              </a:rPr>
              <a:t>适合作为主要对比，因为它与我们的任务最接近；</a:t>
            </a:r>
            <a:r>
              <a:rPr lang="en-US" altLang="zh-CN" sz="1400" dirty="0">
                <a:solidFill>
                  <a:srgbClr val="0D0D0D"/>
                </a:solidFill>
                <a:latin typeface="汉仪君黑-45简" panose="020B0604020202020204" charset="-122"/>
                <a:ea typeface="汉仪君黑-45简" panose="020B0604020202020204" charset="-122"/>
                <a:cs typeface="+mn-ea"/>
                <a:sym typeface="+mn-lt"/>
              </a:rPr>
              <a:t>TSA</a:t>
            </a:r>
            <a:r>
              <a:rPr lang="zh-CN" altLang="en-US" sz="1400" dirty="0">
                <a:solidFill>
                  <a:srgbClr val="0D0D0D"/>
                </a:solidFill>
                <a:latin typeface="汉仪君黑-45简" panose="020B0604020202020204" charset="-122"/>
                <a:ea typeface="汉仪君黑-45简" panose="020B0604020202020204" charset="-122"/>
                <a:cs typeface="+mn-ea"/>
                <a:sym typeface="+mn-lt"/>
              </a:rPr>
              <a:t>用于比较文本语义处理能力；</a:t>
            </a:r>
            <a:r>
              <a:rPr lang="en-US" altLang="zh-CN" sz="1400" dirty="0">
                <a:solidFill>
                  <a:srgbClr val="0D0D0D"/>
                </a:solidFill>
                <a:latin typeface="汉仪君黑-45简" panose="020B0604020202020204" charset="-122"/>
                <a:ea typeface="汉仪君黑-45简" panose="020B0604020202020204" charset="-122"/>
                <a:cs typeface="+mn-ea"/>
                <a:sym typeface="+mn-lt"/>
              </a:rPr>
              <a:t>PKD</a:t>
            </a:r>
            <a:r>
              <a:rPr lang="zh-CN" altLang="en-US" sz="1400" dirty="0">
                <a:solidFill>
                  <a:srgbClr val="0D0D0D"/>
                </a:solidFill>
                <a:latin typeface="汉仪君黑-45简" panose="020B0604020202020204" charset="-122"/>
                <a:ea typeface="汉仪君黑-45简" panose="020B0604020202020204" charset="-122"/>
                <a:cs typeface="+mn-ea"/>
                <a:sym typeface="+mn-lt"/>
              </a:rPr>
              <a:t>用于比较复杂图模型和大语言模型的综合能力。</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143" name="文本框 36"/>
          <p:cNvSpPr txBox="1">
            <a:spLocks noChangeArrowheads="1"/>
          </p:cNvSpPr>
          <p:nvPr/>
        </p:nvSpPr>
        <p:spPr bwMode="auto">
          <a:xfrm>
            <a:off x="796353" y="4140556"/>
            <a:ext cx="233273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可复现性</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144" name="文本框 37"/>
          <p:cNvSpPr txBox="1">
            <a:spLocks noChangeArrowheads="1"/>
          </p:cNvSpPr>
          <p:nvPr/>
        </p:nvSpPr>
        <p:spPr bwMode="auto">
          <a:xfrm>
            <a:off x="817308" y="4561205"/>
            <a:ext cx="2784856"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400" dirty="0">
                <a:solidFill>
                  <a:srgbClr val="0D0D0D"/>
                </a:solidFill>
                <a:latin typeface="汉仪君黑-45简" panose="020B0604020202020204" charset="-122"/>
                <a:ea typeface="汉仪君黑-45简" panose="020B0604020202020204" charset="-122"/>
                <a:cs typeface="+mn-ea"/>
                <a:sym typeface="+mn-lt"/>
              </a:rPr>
              <a:t>P2TAG</a:t>
            </a:r>
            <a:r>
              <a:rPr lang="zh-CN" altLang="en-US" sz="1400" dirty="0">
                <a:solidFill>
                  <a:srgbClr val="0D0D0D"/>
                </a:solidFill>
                <a:latin typeface="汉仪君黑-45简" panose="020B0604020202020204" charset="-122"/>
                <a:ea typeface="汉仪君黑-45简" panose="020B0604020202020204" charset="-122"/>
                <a:cs typeface="+mn-ea"/>
                <a:sym typeface="+mn-lt"/>
              </a:rPr>
              <a:t>有官方代码和脚本，最方便复现；</a:t>
            </a:r>
            <a:r>
              <a:rPr lang="en-US" altLang="zh-CN" sz="1400" dirty="0">
                <a:solidFill>
                  <a:srgbClr val="0D0D0D"/>
                </a:solidFill>
                <a:latin typeface="汉仪君黑-45简" panose="020B0604020202020204" charset="-122"/>
                <a:ea typeface="汉仪君黑-45简" panose="020B0604020202020204" charset="-122"/>
                <a:cs typeface="+mn-ea"/>
                <a:sym typeface="+mn-lt"/>
              </a:rPr>
              <a:t>TSA</a:t>
            </a:r>
            <a:r>
              <a:rPr lang="zh-CN" altLang="en-US" sz="1400" dirty="0">
                <a:solidFill>
                  <a:srgbClr val="0D0D0D"/>
                </a:solidFill>
                <a:latin typeface="汉仪君黑-45简" panose="020B0604020202020204" charset="-122"/>
                <a:ea typeface="汉仪君黑-45简" panose="020B0604020202020204" charset="-122"/>
                <a:cs typeface="+mn-ea"/>
                <a:sym typeface="+mn-lt"/>
              </a:rPr>
              <a:t>可用于验证语义模块；</a:t>
            </a:r>
            <a:r>
              <a:rPr lang="en-US" altLang="zh-CN" sz="1400" dirty="0">
                <a:solidFill>
                  <a:srgbClr val="0D0D0D"/>
                </a:solidFill>
                <a:latin typeface="汉仪君黑-45简" panose="020B0604020202020204" charset="-122"/>
                <a:ea typeface="汉仪君黑-45简" panose="020B0604020202020204" charset="-122"/>
                <a:cs typeface="+mn-ea"/>
                <a:sym typeface="+mn-lt"/>
              </a:rPr>
              <a:t>PKD</a:t>
            </a:r>
            <a:r>
              <a:rPr lang="zh-CN" altLang="en-US" sz="1400" dirty="0">
                <a:solidFill>
                  <a:srgbClr val="0D0D0D"/>
                </a:solidFill>
                <a:latin typeface="汉仪君黑-45简" panose="020B0604020202020204" charset="-122"/>
                <a:ea typeface="汉仪君黑-45简" panose="020B0604020202020204" charset="-122"/>
                <a:cs typeface="+mn-ea"/>
                <a:sym typeface="+mn-lt"/>
              </a:rPr>
              <a:t>流程复杂、资源要求高，适合后续扩展实验。</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26" name="文本框 36"/>
          <p:cNvSpPr txBox="1">
            <a:spLocks noChangeArrowheads="1"/>
          </p:cNvSpPr>
          <p:nvPr/>
        </p:nvSpPr>
        <p:spPr bwMode="auto">
          <a:xfrm>
            <a:off x="8372785" y="4140556"/>
            <a:ext cx="23178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rgbClr val="6696B6"/>
                </a:solidFill>
                <a:latin typeface="汉仪君黑-45简" panose="020B0604020202020204" charset="-122"/>
                <a:ea typeface="汉仪君黑-45简" panose="020B0604020202020204" charset="-122"/>
                <a:cs typeface="+mn-ea"/>
                <a:sym typeface="+mn-lt"/>
              </a:rPr>
              <a:t>学术代表性</a:t>
            </a:r>
            <a:endParaRPr lang="zh-CN" altLang="en-US" sz="2000" dirty="0">
              <a:solidFill>
                <a:srgbClr val="6696B6"/>
              </a:solidFill>
              <a:latin typeface="汉仪君黑-45简" panose="020B0604020202020204" charset="-122"/>
              <a:ea typeface="汉仪君黑-45简" panose="020B0604020202020204" charset="-122"/>
              <a:cs typeface="+mn-ea"/>
              <a:sym typeface="+mn-lt"/>
            </a:endParaRPr>
          </a:p>
        </p:txBody>
      </p:sp>
      <p:sp>
        <p:nvSpPr>
          <p:cNvPr id="27" name="文本框 37"/>
          <p:cNvSpPr txBox="1">
            <a:spLocks noChangeArrowheads="1"/>
          </p:cNvSpPr>
          <p:nvPr/>
        </p:nvSpPr>
        <p:spPr bwMode="auto">
          <a:xfrm>
            <a:off x="8379771" y="4561205"/>
            <a:ext cx="2797327"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400" dirty="0">
                <a:solidFill>
                  <a:srgbClr val="0D0D0D"/>
                </a:solidFill>
                <a:latin typeface="汉仪君黑-45简" panose="020B0604020202020204" charset="-122"/>
                <a:ea typeface="汉仪君黑-45简" panose="020B0604020202020204" charset="-122"/>
                <a:cs typeface="+mn-ea"/>
                <a:sym typeface="+mn-lt"/>
              </a:rPr>
              <a:t>P2TAG</a:t>
            </a:r>
            <a:r>
              <a:rPr lang="zh-CN" altLang="en-US" sz="1400" dirty="0">
                <a:solidFill>
                  <a:srgbClr val="0D0D0D"/>
                </a:solidFill>
                <a:latin typeface="汉仪君黑-45简" panose="020B0604020202020204" charset="-122"/>
                <a:ea typeface="汉仪君黑-45简" panose="020B0604020202020204" charset="-122"/>
                <a:cs typeface="+mn-ea"/>
                <a:sym typeface="+mn-lt"/>
              </a:rPr>
              <a:t>代表文本属性图少样本学习方法；</a:t>
            </a:r>
            <a:r>
              <a:rPr lang="en-US" altLang="zh-CN" sz="1400" dirty="0">
                <a:solidFill>
                  <a:srgbClr val="0D0D0D"/>
                </a:solidFill>
                <a:latin typeface="汉仪君黑-45简" panose="020B0604020202020204" charset="-122"/>
                <a:ea typeface="汉仪君黑-45简" panose="020B0604020202020204" charset="-122"/>
                <a:cs typeface="+mn-ea"/>
                <a:sym typeface="+mn-lt"/>
              </a:rPr>
              <a:t>TSA</a:t>
            </a:r>
            <a:r>
              <a:rPr lang="zh-CN" altLang="en-US" sz="1400" dirty="0">
                <a:solidFill>
                  <a:srgbClr val="0D0D0D"/>
                </a:solidFill>
                <a:latin typeface="汉仪君黑-45简" panose="020B0604020202020204" charset="-122"/>
                <a:ea typeface="汉仪君黑-45简" panose="020B0604020202020204" charset="-122"/>
                <a:cs typeface="+mn-ea"/>
                <a:sym typeface="+mn-lt"/>
              </a:rPr>
              <a:t>代表文本语义增强方法；</a:t>
            </a:r>
            <a:r>
              <a:rPr lang="en-US" altLang="zh-CN" sz="1400" dirty="0">
                <a:solidFill>
                  <a:srgbClr val="0D0D0D"/>
                </a:solidFill>
                <a:latin typeface="汉仪君黑-45简" panose="020B0604020202020204" charset="-122"/>
                <a:ea typeface="汉仪君黑-45简" panose="020B0604020202020204" charset="-122"/>
                <a:cs typeface="+mn-ea"/>
                <a:sym typeface="+mn-lt"/>
              </a:rPr>
              <a:t>PKD</a:t>
            </a:r>
            <a:r>
              <a:rPr lang="zh-CN" altLang="en-US" sz="1400" dirty="0">
                <a:solidFill>
                  <a:srgbClr val="0D0D0D"/>
                </a:solidFill>
                <a:latin typeface="汉仪君黑-45简" panose="020B0604020202020204" charset="-122"/>
                <a:ea typeface="汉仪君黑-45简" panose="020B0604020202020204" charset="-122"/>
                <a:cs typeface="+mn-ea"/>
                <a:sym typeface="+mn-lt"/>
              </a:rPr>
              <a:t>代表较新的大模型与多图模型融合方法。</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24" name="任意多边形: 形状 23"/>
          <p:cNvSpPr/>
          <p:nvPr/>
        </p:nvSpPr>
        <p:spPr>
          <a:xfrm>
            <a:off x="11206264" y="6230570"/>
            <a:ext cx="992707" cy="627430"/>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5" name="任意多边形: 形状 24"/>
          <p:cNvSpPr/>
          <p:nvPr/>
        </p:nvSpPr>
        <p:spPr>
          <a:xfrm flipH="1">
            <a:off x="0" y="-1"/>
            <a:ext cx="1424610" cy="777930"/>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8" name="任意多边形: 形状 27"/>
          <p:cNvSpPr/>
          <p:nvPr/>
        </p:nvSpPr>
        <p:spPr>
          <a:xfrm flipH="1">
            <a:off x="1819" y="-1"/>
            <a:ext cx="1457330" cy="808547"/>
          </a:xfrm>
          <a:custGeom>
            <a:avLst/>
            <a:gdLst>
              <a:gd name="connsiteX0" fmla="*/ 0 w 5585422"/>
              <a:gd name="connsiteY0" fmla="*/ 0 h 3098871"/>
              <a:gd name="connsiteX1" fmla="*/ 5585422 w 5585422"/>
              <a:gd name="connsiteY1" fmla="*/ 0 h 3098871"/>
              <a:gd name="connsiteX2" fmla="*/ 5585422 w 5585422"/>
              <a:gd name="connsiteY2" fmla="*/ 1079106 h 3098871"/>
              <a:gd name="connsiteX3" fmla="*/ 3710012 w 5585422"/>
              <a:gd name="connsiteY3" fmla="*/ 2931810 h 3098871"/>
              <a:gd name="connsiteX4" fmla="*/ 2891388 w 5585422"/>
              <a:gd name="connsiteY4" fmla="*/ 2926824 h 309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5422" h="3098871">
                <a:moveTo>
                  <a:pt x="0" y="0"/>
                </a:moveTo>
                <a:lnTo>
                  <a:pt x="5585422" y="0"/>
                </a:lnTo>
                <a:lnTo>
                  <a:pt x="5585422" y="1079106"/>
                </a:lnTo>
                <a:lnTo>
                  <a:pt x="3710012" y="2931810"/>
                </a:lnTo>
                <a:cubicBezTo>
                  <a:pt x="3482580" y="3156491"/>
                  <a:pt x="3116069" y="3154260"/>
                  <a:pt x="2891388" y="2926824"/>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9" name="文本框 24"/>
          <p:cNvSpPr txBox="1"/>
          <p:nvPr/>
        </p:nvSpPr>
        <p:spPr>
          <a:xfrm>
            <a:off x="4274417" y="354567"/>
            <a:ext cx="3643166"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该领域</a:t>
            </a:r>
            <a:r>
              <a:rPr lang="en-US" altLang="zh-CN"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SOTA</a:t>
            </a:r>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选择</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7403" y="-2"/>
            <a:ext cx="12221827" cy="6861177"/>
            <a:chOff x="-7403" y="-2"/>
            <a:chExt cx="12221827" cy="6861177"/>
          </a:xfrm>
        </p:grpSpPr>
        <p:sp>
          <p:nvSpPr>
            <p:cNvPr id="17" name="任意多边形: 形状 16"/>
            <p:cNvSpPr/>
            <p:nvPr/>
          </p:nvSpPr>
          <p:spPr>
            <a:xfrm>
              <a:off x="-7403" y="2508015"/>
              <a:ext cx="4391298" cy="4353160"/>
            </a:xfrm>
            <a:custGeom>
              <a:avLst/>
              <a:gdLst>
                <a:gd name="connsiteX0" fmla="*/ 0 w 3918711"/>
                <a:gd name="connsiteY0" fmla="*/ 0 h 3884677"/>
                <a:gd name="connsiteX1" fmla="*/ 127100 w 3918711"/>
                <a:gd name="connsiteY1" fmla="*/ 67876 h 3884677"/>
                <a:gd name="connsiteX2" fmla="*/ 241996 w 3918711"/>
                <a:gd name="connsiteY2" fmla="*/ 162901 h 3884677"/>
                <a:gd name="connsiteX3" fmla="*/ 3918711 w 3918711"/>
                <a:gd name="connsiteY3" fmla="*/ 3884677 h 3884677"/>
                <a:gd name="connsiteX4" fmla="*/ 0 w 3918711"/>
                <a:gd name="connsiteY4" fmla="*/ 3884677 h 3884677"/>
                <a:gd name="connsiteX5" fmla="*/ 0 w 3918711"/>
                <a:gd name="connsiteY5" fmla="*/ 0 h 38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8711" h="3884677">
                  <a:moveTo>
                    <a:pt x="0" y="0"/>
                  </a:moveTo>
                  <a:lnTo>
                    <a:pt x="127100" y="67876"/>
                  </a:lnTo>
                  <a:cubicBezTo>
                    <a:pt x="167752" y="95074"/>
                    <a:pt x="206283" y="126750"/>
                    <a:pt x="241996" y="162901"/>
                  </a:cubicBezTo>
                  <a:lnTo>
                    <a:pt x="3918711" y="3884677"/>
                  </a:lnTo>
                  <a:lnTo>
                    <a:pt x="0" y="3884677"/>
                  </a:lnTo>
                  <a:lnTo>
                    <a:pt x="0" y="0"/>
                  </a:lnTo>
                  <a:close/>
                </a:path>
              </a:pathLst>
            </a:custGeom>
            <a:noFill/>
            <a:ln>
              <a:solidFill>
                <a:srgbClr val="6696B6">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0" name="任意多边形: 形状 19"/>
            <p:cNvSpPr/>
            <p:nvPr/>
          </p:nvSpPr>
          <p:spPr>
            <a:xfrm>
              <a:off x="1703876" y="-2"/>
              <a:ext cx="8784250" cy="6858002"/>
            </a:xfrm>
            <a:custGeom>
              <a:avLst/>
              <a:gdLst>
                <a:gd name="connsiteX0" fmla="*/ 3325627 w 8784250"/>
                <a:gd name="connsiteY0" fmla="*/ 0 h 6858002"/>
                <a:gd name="connsiteX1" fmla="*/ 5488675 w 8784250"/>
                <a:gd name="connsiteY1" fmla="*/ 0 h 6858002"/>
                <a:gd name="connsiteX2" fmla="*/ 8618482 w 8784250"/>
                <a:gd name="connsiteY2" fmla="*/ 3168164 h 6858002"/>
                <a:gd name="connsiteX3" fmla="*/ 8613534 w 8784250"/>
                <a:gd name="connsiteY3" fmla="*/ 3980458 h 6858002"/>
                <a:gd name="connsiteX4" fmla="*/ 5700725 w 8784250"/>
                <a:gd name="connsiteY4" fmla="*/ 6858002 h 6858002"/>
                <a:gd name="connsiteX5" fmla="*/ 3059304 w 8784250"/>
                <a:gd name="connsiteY5" fmla="*/ 6858002 h 6858002"/>
                <a:gd name="connsiteX6" fmla="*/ 165769 w 8784250"/>
                <a:gd name="connsiteY6" fmla="*/ 3929008 h 6858002"/>
                <a:gd name="connsiteX7" fmla="*/ 170717 w 8784250"/>
                <a:gd name="connsiteY7" fmla="*/ 3116714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84250" h="6858002">
                  <a:moveTo>
                    <a:pt x="3325627" y="0"/>
                  </a:moveTo>
                  <a:lnTo>
                    <a:pt x="5488675" y="0"/>
                  </a:lnTo>
                  <a:lnTo>
                    <a:pt x="8618482" y="3168164"/>
                  </a:lnTo>
                  <a:cubicBezTo>
                    <a:pt x="8841425" y="3393839"/>
                    <a:pt x="8839209" y="3757515"/>
                    <a:pt x="8613534" y="3980458"/>
                  </a:cubicBezTo>
                  <a:lnTo>
                    <a:pt x="5700725" y="6858002"/>
                  </a:lnTo>
                  <a:lnTo>
                    <a:pt x="3059304" y="6858002"/>
                  </a:lnTo>
                  <a:lnTo>
                    <a:pt x="165769" y="3929008"/>
                  </a:lnTo>
                  <a:cubicBezTo>
                    <a:pt x="-57174" y="3703333"/>
                    <a:pt x="-54957" y="3339657"/>
                    <a:pt x="170717" y="3116714"/>
                  </a:cubicBezTo>
                  <a:close/>
                </a:path>
              </a:pathLst>
            </a:custGeom>
            <a:solidFill>
              <a:srgbClr val="6696B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7" name="任意多边形: 形状 6"/>
            <p:cNvSpPr/>
            <p:nvPr/>
          </p:nvSpPr>
          <p:spPr>
            <a:xfrm>
              <a:off x="7888406" y="4142179"/>
              <a:ext cx="4296918" cy="2715822"/>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9" name="任意多边形: 形状 8"/>
            <p:cNvSpPr/>
            <p:nvPr/>
          </p:nvSpPr>
          <p:spPr>
            <a:xfrm flipH="1">
              <a:off x="0" y="-1"/>
              <a:ext cx="4592885" cy="2508015"/>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2" name="任意多边形: 形状 21"/>
            <p:cNvSpPr/>
            <p:nvPr/>
          </p:nvSpPr>
          <p:spPr>
            <a:xfrm>
              <a:off x="7671541" y="1"/>
              <a:ext cx="4542883" cy="3754877"/>
            </a:xfrm>
            <a:custGeom>
              <a:avLst/>
              <a:gdLst>
                <a:gd name="connsiteX0" fmla="*/ 0 w 4542883"/>
                <a:gd name="connsiteY0" fmla="*/ 0 h 3754877"/>
                <a:gd name="connsiteX1" fmla="*/ 4542883 w 4542883"/>
                <a:gd name="connsiteY1" fmla="*/ 0 h 3754877"/>
                <a:gd name="connsiteX2" fmla="*/ 4542883 w 4542883"/>
                <a:gd name="connsiteY2" fmla="*/ 3505533 h 3754877"/>
                <a:gd name="connsiteX3" fmla="*/ 4495391 w 4542883"/>
                <a:gd name="connsiteY3" fmla="*/ 3552450 h 3754877"/>
                <a:gd name="connsiteX4" fmla="*/ 3503471 w 4542883"/>
                <a:gd name="connsiteY4" fmla="*/ 3546408 h 3754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883" h="3754877">
                  <a:moveTo>
                    <a:pt x="0" y="0"/>
                  </a:moveTo>
                  <a:lnTo>
                    <a:pt x="4542883" y="0"/>
                  </a:lnTo>
                  <a:lnTo>
                    <a:pt x="4542883" y="3505533"/>
                  </a:lnTo>
                  <a:lnTo>
                    <a:pt x="4495391" y="3552450"/>
                  </a:lnTo>
                  <a:cubicBezTo>
                    <a:pt x="4219813" y="3824694"/>
                    <a:pt x="3775715" y="3821991"/>
                    <a:pt x="3503471" y="3546408"/>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4" name="菱形"/>
          <p:cNvSpPr/>
          <p:nvPr/>
        </p:nvSpPr>
        <p:spPr bwMode="auto">
          <a:xfrm>
            <a:off x="5300759" y="1727190"/>
            <a:ext cx="1590482" cy="1590482"/>
          </a:xfrm>
          <a:custGeom>
            <a:avLst/>
            <a:gdLst>
              <a:gd name="T0" fmla="*/ 7569 w 16599"/>
              <a:gd name="T1" fmla="*/ 403 h 16599"/>
              <a:gd name="T2" fmla="*/ 9030 w 16599"/>
              <a:gd name="T3" fmla="*/ 403 h 16599"/>
              <a:gd name="T4" fmla="*/ 16195 w 16599"/>
              <a:gd name="T5" fmla="*/ 7569 h 16599"/>
              <a:gd name="T6" fmla="*/ 16195 w 16599"/>
              <a:gd name="T7" fmla="*/ 9030 h 16599"/>
              <a:gd name="T8" fmla="*/ 9030 w 16599"/>
              <a:gd name="T9" fmla="*/ 16195 h 16599"/>
              <a:gd name="T10" fmla="*/ 7569 w 16599"/>
              <a:gd name="T11" fmla="*/ 16195 h 16599"/>
              <a:gd name="T12" fmla="*/ 403 w 16599"/>
              <a:gd name="T13" fmla="*/ 9030 h 16599"/>
              <a:gd name="T14" fmla="*/ 403 w 16599"/>
              <a:gd name="T15" fmla="*/ 7569 h 16599"/>
              <a:gd name="T16" fmla="*/ 7569 w 16599"/>
              <a:gd name="T17" fmla="*/ 403 h 16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99" h="16599">
                <a:moveTo>
                  <a:pt x="7569" y="403"/>
                </a:moveTo>
                <a:cubicBezTo>
                  <a:pt x="7972" y="0"/>
                  <a:pt x="8627" y="0"/>
                  <a:pt x="9030" y="403"/>
                </a:cubicBezTo>
                <a:lnTo>
                  <a:pt x="16195" y="7569"/>
                </a:lnTo>
                <a:cubicBezTo>
                  <a:pt x="16599" y="7972"/>
                  <a:pt x="16599" y="8627"/>
                  <a:pt x="16195" y="9030"/>
                </a:cubicBezTo>
                <a:lnTo>
                  <a:pt x="9030" y="16195"/>
                </a:lnTo>
                <a:cubicBezTo>
                  <a:pt x="8627" y="16599"/>
                  <a:pt x="7972" y="16599"/>
                  <a:pt x="7569" y="16195"/>
                </a:cubicBezTo>
                <a:lnTo>
                  <a:pt x="403" y="9030"/>
                </a:lnTo>
                <a:cubicBezTo>
                  <a:pt x="0" y="8627"/>
                  <a:pt x="0" y="7972"/>
                  <a:pt x="403" y="7569"/>
                </a:cubicBezTo>
                <a:lnTo>
                  <a:pt x="7569" y="403"/>
                </a:lnTo>
                <a:close/>
              </a:path>
            </a:pathLst>
          </a:custGeom>
          <a:solidFill>
            <a:srgbClr val="6696B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5400" dirty="0">
                <a:solidFill>
                  <a:prstClr val="white"/>
                </a:solidFill>
                <a:latin typeface="汉仪君黑-45简" panose="020B0604020202020204" charset="-122"/>
                <a:ea typeface="汉仪君黑-45简" panose="020B0604020202020204" charset="-122"/>
                <a:cs typeface="+mn-ea"/>
                <a:sym typeface="+mn-lt"/>
              </a:rPr>
              <a:t>04</a:t>
            </a:r>
            <a:endParaRPr lang="en-US" altLang="zh-CN" sz="5400" dirty="0">
              <a:solidFill>
                <a:prstClr val="white"/>
              </a:solidFill>
              <a:latin typeface="汉仪君黑-45简" panose="020B0604020202020204" charset="-122"/>
              <a:ea typeface="汉仪君黑-45简" panose="020B0604020202020204" charset="-122"/>
              <a:cs typeface="+mn-ea"/>
              <a:sym typeface="+mn-lt"/>
            </a:endParaRPr>
          </a:p>
        </p:txBody>
      </p:sp>
      <p:sp>
        <p:nvSpPr>
          <p:cNvPr id="35" name="文本框 24"/>
          <p:cNvSpPr txBox="1"/>
          <p:nvPr/>
        </p:nvSpPr>
        <p:spPr>
          <a:xfrm>
            <a:off x="3419116" y="3537092"/>
            <a:ext cx="5353769"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800" dirty="0">
                <a:solidFill>
                  <a:schemeClr val="tx1">
                    <a:lumMod val="75000"/>
                    <a:lumOff val="25000"/>
                  </a:schemeClr>
                </a:solidFill>
                <a:latin typeface="汉仪君黑-45简" panose="020B0604020202020204" charset="-122"/>
                <a:ea typeface="汉仪君黑-45简" panose="020B0604020202020204" charset="-122"/>
                <a:cs typeface="+mn-ea"/>
                <a:sym typeface="+mn-lt"/>
              </a:rPr>
              <a:t>后期工作计划</a:t>
            </a:r>
            <a:endParaRPr lang="zh-CN" altLang="en-US" sz="4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36" name="矩形 35"/>
          <p:cNvSpPr/>
          <p:nvPr/>
        </p:nvSpPr>
        <p:spPr>
          <a:xfrm>
            <a:off x="2977324" y="4341684"/>
            <a:ext cx="6237352" cy="4603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endParaRPr lang="en-US" altLang="zh-CN" sz="16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3"/>
          <p:cNvSpPr/>
          <p:nvPr>
            <p:custDataLst>
              <p:tags r:id="rId1"/>
            </p:custDataLst>
          </p:nvPr>
        </p:nvSpPr>
        <p:spPr>
          <a:xfrm>
            <a:off x="1901669" y="2016637"/>
            <a:ext cx="8236560" cy="1556037"/>
          </a:xfrm>
          <a:custGeom>
            <a:avLst/>
            <a:gdLst>
              <a:gd name="connsiteX0" fmla="*/ 0 w 5688632"/>
              <a:gd name="connsiteY0" fmla="*/ 0 h 2053062"/>
              <a:gd name="connsiteX1" fmla="*/ 5688632 w 5688632"/>
              <a:gd name="connsiteY1" fmla="*/ 0 h 2053062"/>
              <a:gd name="connsiteX2" fmla="*/ 5688632 w 5688632"/>
              <a:gd name="connsiteY2" fmla="*/ 2053062 h 2053062"/>
              <a:gd name="connsiteX3" fmla="*/ 0 w 5688632"/>
              <a:gd name="connsiteY3" fmla="*/ 2053062 h 2053062"/>
              <a:gd name="connsiteX4" fmla="*/ 0 w 5688632"/>
              <a:gd name="connsiteY4" fmla="*/ 0 h 2053062"/>
              <a:gd name="connsiteX0-1" fmla="*/ 433137 w 5688632"/>
              <a:gd name="connsiteY0-2" fmla="*/ 12032 h 2053062"/>
              <a:gd name="connsiteX1-3" fmla="*/ 5688632 w 5688632"/>
              <a:gd name="connsiteY1-4" fmla="*/ 0 h 2053062"/>
              <a:gd name="connsiteX2-5" fmla="*/ 5688632 w 5688632"/>
              <a:gd name="connsiteY2-6" fmla="*/ 2053062 h 2053062"/>
              <a:gd name="connsiteX3-7" fmla="*/ 0 w 5688632"/>
              <a:gd name="connsiteY3-8" fmla="*/ 2053062 h 2053062"/>
              <a:gd name="connsiteX4-9" fmla="*/ 433137 w 5688632"/>
              <a:gd name="connsiteY4-10" fmla="*/ 12032 h 20530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688632" h="2053062">
                <a:moveTo>
                  <a:pt x="433137" y="12032"/>
                </a:moveTo>
                <a:lnTo>
                  <a:pt x="5688632" y="0"/>
                </a:lnTo>
                <a:lnTo>
                  <a:pt x="5688632" y="2053062"/>
                </a:lnTo>
                <a:lnTo>
                  <a:pt x="0" y="2053062"/>
                </a:lnTo>
                <a:lnTo>
                  <a:pt x="433137" y="12032"/>
                </a:lnTo>
                <a:close/>
              </a:path>
            </a:pathLst>
          </a:custGeom>
          <a:solidFill>
            <a:srgbClr val="6696B6">
              <a:alpha val="70000"/>
            </a:srgbClr>
          </a:solidFill>
          <a:ln w="25400" cap="flat" cmpd="sng" algn="ctr">
            <a:noFill/>
            <a:prstDash val="solid"/>
          </a:ln>
          <a:effectLst/>
        </p:spPr>
        <p:txBody>
          <a:bodyPr lIns="1620000" tIns="46800" rIns="72000" bIns="468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488950" rtl="0" eaLnBrk="1" fontAlgn="auto" latinLnBrk="0" hangingPunct="1">
              <a:lnSpc>
                <a:spcPct val="130000"/>
              </a:lnSpc>
              <a:spcAft>
                <a:spcPct val="0"/>
              </a:spcAft>
              <a:buClrTx/>
              <a:buSzTx/>
              <a:buFontTx/>
              <a:buNone/>
              <a:defRPr/>
            </a:pPr>
            <a:endParaRPr kumimoji="0" lang="zh-CN" altLang="en-US" sz="1100" b="0" i="0" u="none" strike="noStrike" kern="1200" cap="none" spc="0" normalizeH="0" baseline="0" noProof="0" dirty="0">
              <a:solidFill>
                <a:schemeClr val="bg2">
                  <a:lumMod val="50000"/>
                </a:schemeClr>
              </a:solidFill>
              <a:effectLst/>
              <a:uLnTx/>
              <a:uFillTx/>
              <a:latin typeface="汉仪君黑-45简" panose="020B0604020202020204" charset="-122"/>
              <a:ea typeface="汉仪君黑-45简" panose="020B0604020202020204" charset="-122"/>
              <a:cs typeface="+mn-ea"/>
              <a:sym typeface="+mn-lt"/>
            </a:endParaRPr>
          </a:p>
        </p:txBody>
      </p:sp>
      <p:sp>
        <p:nvSpPr>
          <p:cNvPr id="3" name="直角三角形 2"/>
          <p:cNvSpPr/>
          <p:nvPr>
            <p:custDataLst>
              <p:tags r:id="rId2"/>
            </p:custDataLst>
          </p:nvPr>
        </p:nvSpPr>
        <p:spPr>
          <a:xfrm rot="17117050" flipH="1">
            <a:off x="2275152" y="2250173"/>
            <a:ext cx="1107331" cy="1905030"/>
          </a:xfrm>
          <a:custGeom>
            <a:avLst/>
            <a:gdLst>
              <a:gd name="connsiteX0" fmla="*/ 0 w 2088232"/>
              <a:gd name="connsiteY0" fmla="*/ 1842558 h 1842558"/>
              <a:gd name="connsiteX1" fmla="*/ 0 w 2088232"/>
              <a:gd name="connsiteY1" fmla="*/ 0 h 1842558"/>
              <a:gd name="connsiteX2" fmla="*/ 2088232 w 2088232"/>
              <a:gd name="connsiteY2" fmla="*/ 1842558 h 1842558"/>
              <a:gd name="connsiteX3" fmla="*/ 0 w 2088232"/>
              <a:gd name="connsiteY3" fmla="*/ 1842558 h 1842558"/>
              <a:gd name="connsiteX0-1" fmla="*/ 0 w 1625488"/>
              <a:gd name="connsiteY0-2" fmla="*/ 1842558 h 1842558"/>
              <a:gd name="connsiteX1-3" fmla="*/ 0 w 1625488"/>
              <a:gd name="connsiteY1-4" fmla="*/ 0 h 1842558"/>
              <a:gd name="connsiteX2-5" fmla="*/ 1625488 w 1625488"/>
              <a:gd name="connsiteY2-6" fmla="*/ 843012 h 1842558"/>
              <a:gd name="connsiteX3-7" fmla="*/ 0 w 1625488"/>
              <a:gd name="connsiteY3-8" fmla="*/ 1842558 h 1842558"/>
              <a:gd name="connsiteX0-9" fmla="*/ 0 w 1690209"/>
              <a:gd name="connsiteY0-10" fmla="*/ 1842558 h 1842558"/>
              <a:gd name="connsiteX1-11" fmla="*/ 0 w 1690209"/>
              <a:gd name="connsiteY1-12" fmla="*/ 0 h 1842558"/>
              <a:gd name="connsiteX2-13" fmla="*/ 1690209 w 1690209"/>
              <a:gd name="connsiteY2-14" fmla="*/ 149753 h 1842558"/>
              <a:gd name="connsiteX3-15" fmla="*/ 0 w 1690209"/>
              <a:gd name="connsiteY3-16" fmla="*/ 1842558 h 1842558"/>
            </a:gdLst>
            <a:ahLst/>
            <a:cxnLst>
              <a:cxn ang="0">
                <a:pos x="connsiteX0-1" y="connsiteY0-2"/>
              </a:cxn>
              <a:cxn ang="0">
                <a:pos x="connsiteX1-3" y="connsiteY1-4"/>
              </a:cxn>
              <a:cxn ang="0">
                <a:pos x="connsiteX2-5" y="connsiteY2-6"/>
              </a:cxn>
              <a:cxn ang="0">
                <a:pos x="connsiteX3-7" y="connsiteY3-8"/>
              </a:cxn>
            </a:cxnLst>
            <a:rect l="l" t="t" r="r" b="b"/>
            <a:pathLst>
              <a:path w="1690209" h="1842558">
                <a:moveTo>
                  <a:pt x="0" y="1842558"/>
                </a:moveTo>
                <a:lnTo>
                  <a:pt x="0" y="0"/>
                </a:lnTo>
                <a:lnTo>
                  <a:pt x="1690209" y="149753"/>
                </a:lnTo>
                <a:lnTo>
                  <a:pt x="0" y="1842558"/>
                </a:lnTo>
                <a:close/>
              </a:path>
            </a:pathLst>
          </a:custGeom>
          <a:solidFill>
            <a:srgbClr val="6696B6">
              <a:alpha val="50000"/>
            </a:srgbClr>
          </a:solidFill>
          <a:ln w="25400" cap="flat" cmpd="sng" algn="ctr">
            <a:noFill/>
            <a:prstDash val="solid"/>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buClrTx/>
              <a:buSzTx/>
              <a:buFontTx/>
              <a:buNone/>
              <a:defRPr/>
            </a:pPr>
            <a:endParaRPr kumimoji="0" lang="zh-CN" altLang="en-US" sz="1350" b="0" i="0" u="none" strike="noStrike" kern="0" cap="none" spc="0" normalizeH="0" baseline="0" noProof="0" dirty="0">
              <a:ln>
                <a:noFill/>
              </a:ln>
              <a:solidFill>
                <a:sysClr val="window" lastClr="FFFFFF"/>
              </a:solidFill>
              <a:effectLst/>
              <a:uLnTx/>
              <a:uFillTx/>
              <a:latin typeface="汉仪君黑-45简" panose="020B0604020202020204" charset="-122"/>
              <a:ea typeface="汉仪君黑-45简" panose="020B0604020202020204" charset="-122"/>
              <a:cs typeface="+mn-ea"/>
              <a:sym typeface="+mn-lt"/>
            </a:endParaRPr>
          </a:p>
        </p:txBody>
      </p:sp>
      <p:sp>
        <p:nvSpPr>
          <p:cNvPr id="4" name="任意多边形 3"/>
          <p:cNvSpPr/>
          <p:nvPr>
            <p:custDataLst>
              <p:tags r:id="rId3"/>
            </p:custDataLst>
          </p:nvPr>
        </p:nvSpPr>
        <p:spPr>
          <a:xfrm>
            <a:off x="834572" y="1508454"/>
            <a:ext cx="3188170" cy="1415215"/>
          </a:xfrm>
          <a:custGeom>
            <a:avLst/>
            <a:gdLst>
              <a:gd name="connsiteX0" fmla="*/ 271763 w 2315387"/>
              <a:gd name="connsiteY0" fmla="*/ 0 h 1620180"/>
              <a:gd name="connsiteX1" fmla="*/ 1824103 w 2315387"/>
              <a:gd name="connsiteY1" fmla="*/ 232317 h 1620180"/>
              <a:gd name="connsiteX2" fmla="*/ 2315387 w 2315387"/>
              <a:gd name="connsiteY2" fmla="*/ 1620180 h 1620180"/>
              <a:gd name="connsiteX3" fmla="*/ 0 w 2315387"/>
              <a:gd name="connsiteY3" fmla="*/ 1528412 h 1620180"/>
            </a:gdLst>
            <a:ahLst/>
            <a:cxnLst>
              <a:cxn ang="0">
                <a:pos x="connsiteX0" y="connsiteY0"/>
              </a:cxn>
              <a:cxn ang="0">
                <a:pos x="connsiteX1" y="connsiteY1"/>
              </a:cxn>
              <a:cxn ang="0">
                <a:pos x="connsiteX2" y="connsiteY2"/>
              </a:cxn>
              <a:cxn ang="0">
                <a:pos x="connsiteX3" y="connsiteY3"/>
              </a:cxn>
            </a:cxnLst>
            <a:rect l="l" t="t" r="r" b="b"/>
            <a:pathLst>
              <a:path w="2315387" h="1620180">
                <a:moveTo>
                  <a:pt x="271763" y="0"/>
                </a:moveTo>
                <a:lnTo>
                  <a:pt x="1824103" y="232317"/>
                </a:lnTo>
                <a:lnTo>
                  <a:pt x="2315387" y="1620180"/>
                </a:lnTo>
                <a:lnTo>
                  <a:pt x="0" y="1528412"/>
                </a:lnTo>
                <a:close/>
              </a:path>
            </a:pathLst>
          </a:custGeom>
          <a:solidFill>
            <a:srgbClr val="6696B6"/>
          </a:solidFill>
          <a:ln w="25400" cap="flat" cmpd="sng" algn="ctr">
            <a:solidFill>
              <a:srgbClr val="6696B6"/>
            </a:solidFill>
            <a:prstDash val="solid"/>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汉仪君黑-45简" panose="020B0604020202020204" charset="-122"/>
              <a:ea typeface="汉仪君黑-45简" panose="020B0604020202020204" charset="-122"/>
              <a:cs typeface="+mn-ea"/>
              <a:sym typeface="+mn-lt"/>
            </a:endParaRPr>
          </a:p>
        </p:txBody>
      </p:sp>
      <p:sp>
        <p:nvSpPr>
          <p:cNvPr id="5" name="矩形 3"/>
          <p:cNvSpPr/>
          <p:nvPr>
            <p:custDataLst>
              <p:tags r:id="rId4"/>
            </p:custDataLst>
          </p:nvPr>
        </p:nvSpPr>
        <p:spPr>
          <a:xfrm>
            <a:off x="3450706" y="4373030"/>
            <a:ext cx="7906723" cy="1556037"/>
          </a:xfrm>
          <a:custGeom>
            <a:avLst/>
            <a:gdLst>
              <a:gd name="connsiteX0" fmla="*/ 0 w 5688632"/>
              <a:gd name="connsiteY0" fmla="*/ 0 h 2053062"/>
              <a:gd name="connsiteX1" fmla="*/ 5688632 w 5688632"/>
              <a:gd name="connsiteY1" fmla="*/ 0 h 2053062"/>
              <a:gd name="connsiteX2" fmla="*/ 5688632 w 5688632"/>
              <a:gd name="connsiteY2" fmla="*/ 2053062 h 2053062"/>
              <a:gd name="connsiteX3" fmla="*/ 0 w 5688632"/>
              <a:gd name="connsiteY3" fmla="*/ 2053062 h 2053062"/>
              <a:gd name="connsiteX4" fmla="*/ 0 w 5688632"/>
              <a:gd name="connsiteY4" fmla="*/ 0 h 2053062"/>
              <a:gd name="connsiteX0-1" fmla="*/ 433137 w 5688632"/>
              <a:gd name="connsiteY0-2" fmla="*/ 12032 h 2053062"/>
              <a:gd name="connsiteX1-3" fmla="*/ 5688632 w 5688632"/>
              <a:gd name="connsiteY1-4" fmla="*/ 0 h 2053062"/>
              <a:gd name="connsiteX2-5" fmla="*/ 5688632 w 5688632"/>
              <a:gd name="connsiteY2-6" fmla="*/ 2053062 h 2053062"/>
              <a:gd name="connsiteX3-7" fmla="*/ 0 w 5688632"/>
              <a:gd name="connsiteY3-8" fmla="*/ 2053062 h 2053062"/>
              <a:gd name="connsiteX4-9" fmla="*/ 433137 w 5688632"/>
              <a:gd name="connsiteY4-10" fmla="*/ 12032 h 20530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688632" h="2053062">
                <a:moveTo>
                  <a:pt x="433137" y="12032"/>
                </a:moveTo>
                <a:lnTo>
                  <a:pt x="5688632" y="0"/>
                </a:lnTo>
                <a:lnTo>
                  <a:pt x="5688632" y="2053062"/>
                </a:lnTo>
                <a:lnTo>
                  <a:pt x="0" y="2053062"/>
                </a:lnTo>
                <a:lnTo>
                  <a:pt x="433137" y="12032"/>
                </a:lnTo>
                <a:close/>
              </a:path>
            </a:pathLst>
          </a:custGeom>
          <a:solidFill>
            <a:srgbClr val="6696B6">
              <a:alpha val="70000"/>
            </a:srgbClr>
          </a:solidFill>
          <a:ln w="25400" cap="flat" cmpd="sng" algn="ctr">
            <a:noFill/>
            <a:prstDash val="solid"/>
          </a:ln>
          <a:effectLst/>
        </p:spPr>
        <p:txBody>
          <a:bodyPr lIns="1620000" tIns="46800" rIns="72000" bIns="468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488950" rtl="0" eaLnBrk="1" fontAlgn="auto" latinLnBrk="0" hangingPunct="1">
              <a:lnSpc>
                <a:spcPct val="130000"/>
              </a:lnSpc>
              <a:spcAft>
                <a:spcPct val="0"/>
              </a:spcAft>
              <a:buClrTx/>
              <a:buSzTx/>
              <a:buFontTx/>
              <a:buNone/>
              <a:defRPr/>
            </a:pPr>
            <a:endParaRPr kumimoji="0" lang="zh-CN" altLang="en-US" sz="1100" b="0" i="0" u="none" strike="noStrike" kern="1200" cap="none" spc="0" normalizeH="0" baseline="0" noProof="0" dirty="0">
              <a:solidFill>
                <a:schemeClr val="bg2">
                  <a:lumMod val="50000"/>
                </a:schemeClr>
              </a:solidFill>
              <a:effectLst/>
              <a:uLnTx/>
              <a:uFillTx/>
              <a:latin typeface="汉仪君黑-45简" panose="020B0604020202020204" charset="-122"/>
              <a:ea typeface="汉仪君黑-45简" panose="020B0604020202020204" charset="-122"/>
              <a:cs typeface="+mn-ea"/>
              <a:sym typeface="+mn-lt"/>
            </a:endParaRPr>
          </a:p>
        </p:txBody>
      </p:sp>
      <p:sp>
        <p:nvSpPr>
          <p:cNvPr id="6" name="直角三角形 2"/>
          <p:cNvSpPr/>
          <p:nvPr>
            <p:custDataLst>
              <p:tags r:id="rId5"/>
            </p:custDataLst>
          </p:nvPr>
        </p:nvSpPr>
        <p:spPr>
          <a:xfrm rot="17117050" flipH="1">
            <a:off x="3824189" y="4606566"/>
            <a:ext cx="1107331" cy="1905030"/>
          </a:xfrm>
          <a:custGeom>
            <a:avLst/>
            <a:gdLst>
              <a:gd name="connsiteX0" fmla="*/ 0 w 2088232"/>
              <a:gd name="connsiteY0" fmla="*/ 1842558 h 1842558"/>
              <a:gd name="connsiteX1" fmla="*/ 0 w 2088232"/>
              <a:gd name="connsiteY1" fmla="*/ 0 h 1842558"/>
              <a:gd name="connsiteX2" fmla="*/ 2088232 w 2088232"/>
              <a:gd name="connsiteY2" fmla="*/ 1842558 h 1842558"/>
              <a:gd name="connsiteX3" fmla="*/ 0 w 2088232"/>
              <a:gd name="connsiteY3" fmla="*/ 1842558 h 1842558"/>
              <a:gd name="connsiteX0-1" fmla="*/ 0 w 1625488"/>
              <a:gd name="connsiteY0-2" fmla="*/ 1842558 h 1842558"/>
              <a:gd name="connsiteX1-3" fmla="*/ 0 w 1625488"/>
              <a:gd name="connsiteY1-4" fmla="*/ 0 h 1842558"/>
              <a:gd name="connsiteX2-5" fmla="*/ 1625488 w 1625488"/>
              <a:gd name="connsiteY2-6" fmla="*/ 843012 h 1842558"/>
              <a:gd name="connsiteX3-7" fmla="*/ 0 w 1625488"/>
              <a:gd name="connsiteY3-8" fmla="*/ 1842558 h 1842558"/>
              <a:gd name="connsiteX0-9" fmla="*/ 0 w 1690209"/>
              <a:gd name="connsiteY0-10" fmla="*/ 1842558 h 1842558"/>
              <a:gd name="connsiteX1-11" fmla="*/ 0 w 1690209"/>
              <a:gd name="connsiteY1-12" fmla="*/ 0 h 1842558"/>
              <a:gd name="connsiteX2-13" fmla="*/ 1690209 w 1690209"/>
              <a:gd name="connsiteY2-14" fmla="*/ 149753 h 1842558"/>
              <a:gd name="connsiteX3-15" fmla="*/ 0 w 1690209"/>
              <a:gd name="connsiteY3-16" fmla="*/ 1842558 h 1842558"/>
            </a:gdLst>
            <a:ahLst/>
            <a:cxnLst>
              <a:cxn ang="0">
                <a:pos x="connsiteX0-1" y="connsiteY0-2"/>
              </a:cxn>
              <a:cxn ang="0">
                <a:pos x="connsiteX1-3" y="connsiteY1-4"/>
              </a:cxn>
              <a:cxn ang="0">
                <a:pos x="connsiteX2-5" y="connsiteY2-6"/>
              </a:cxn>
              <a:cxn ang="0">
                <a:pos x="connsiteX3-7" y="connsiteY3-8"/>
              </a:cxn>
            </a:cxnLst>
            <a:rect l="l" t="t" r="r" b="b"/>
            <a:pathLst>
              <a:path w="1690209" h="1842558">
                <a:moveTo>
                  <a:pt x="0" y="1842558"/>
                </a:moveTo>
                <a:lnTo>
                  <a:pt x="0" y="0"/>
                </a:lnTo>
                <a:lnTo>
                  <a:pt x="1690209" y="149753"/>
                </a:lnTo>
                <a:lnTo>
                  <a:pt x="0" y="1842558"/>
                </a:lnTo>
                <a:close/>
              </a:path>
            </a:pathLst>
          </a:custGeom>
          <a:solidFill>
            <a:srgbClr val="6696B6">
              <a:alpha val="50000"/>
            </a:srgbClr>
          </a:solidFill>
          <a:ln w="25400" cap="flat" cmpd="sng" algn="ctr">
            <a:noFill/>
            <a:prstDash val="solid"/>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buClrTx/>
              <a:buSzTx/>
              <a:buFontTx/>
              <a:buNone/>
              <a:defRPr/>
            </a:pPr>
            <a:endParaRPr kumimoji="0" lang="zh-CN" altLang="en-US" sz="1350" b="0" i="0" u="none" strike="noStrike" kern="0" cap="none" spc="0" normalizeH="0" baseline="0" noProof="0" dirty="0">
              <a:ln>
                <a:noFill/>
              </a:ln>
              <a:solidFill>
                <a:sysClr val="window" lastClr="FFFFFF"/>
              </a:solidFill>
              <a:effectLst/>
              <a:uLnTx/>
              <a:uFillTx/>
              <a:latin typeface="汉仪君黑-45简" panose="020B0604020202020204" charset="-122"/>
              <a:ea typeface="汉仪君黑-45简" panose="020B0604020202020204" charset="-122"/>
              <a:cs typeface="+mn-ea"/>
              <a:sym typeface="+mn-lt"/>
            </a:endParaRPr>
          </a:p>
        </p:txBody>
      </p:sp>
      <p:sp>
        <p:nvSpPr>
          <p:cNvPr id="7" name="任意多边形 6"/>
          <p:cNvSpPr/>
          <p:nvPr>
            <p:custDataLst>
              <p:tags r:id="rId6"/>
            </p:custDataLst>
          </p:nvPr>
        </p:nvSpPr>
        <p:spPr>
          <a:xfrm>
            <a:off x="2383609" y="3864847"/>
            <a:ext cx="3188170" cy="1415215"/>
          </a:xfrm>
          <a:custGeom>
            <a:avLst/>
            <a:gdLst>
              <a:gd name="connsiteX0" fmla="*/ 271763 w 2315387"/>
              <a:gd name="connsiteY0" fmla="*/ 0 h 1620180"/>
              <a:gd name="connsiteX1" fmla="*/ 1824103 w 2315387"/>
              <a:gd name="connsiteY1" fmla="*/ 232317 h 1620180"/>
              <a:gd name="connsiteX2" fmla="*/ 2315387 w 2315387"/>
              <a:gd name="connsiteY2" fmla="*/ 1620180 h 1620180"/>
              <a:gd name="connsiteX3" fmla="*/ 0 w 2315387"/>
              <a:gd name="connsiteY3" fmla="*/ 1528412 h 1620180"/>
            </a:gdLst>
            <a:ahLst/>
            <a:cxnLst>
              <a:cxn ang="0">
                <a:pos x="connsiteX0" y="connsiteY0"/>
              </a:cxn>
              <a:cxn ang="0">
                <a:pos x="connsiteX1" y="connsiteY1"/>
              </a:cxn>
              <a:cxn ang="0">
                <a:pos x="connsiteX2" y="connsiteY2"/>
              </a:cxn>
              <a:cxn ang="0">
                <a:pos x="connsiteX3" y="connsiteY3"/>
              </a:cxn>
            </a:cxnLst>
            <a:rect l="l" t="t" r="r" b="b"/>
            <a:pathLst>
              <a:path w="2315387" h="1620180">
                <a:moveTo>
                  <a:pt x="271763" y="0"/>
                </a:moveTo>
                <a:lnTo>
                  <a:pt x="1824103" y="232317"/>
                </a:lnTo>
                <a:lnTo>
                  <a:pt x="2315387" y="1620180"/>
                </a:lnTo>
                <a:lnTo>
                  <a:pt x="0" y="1528412"/>
                </a:lnTo>
                <a:close/>
              </a:path>
            </a:pathLst>
          </a:custGeom>
          <a:solidFill>
            <a:srgbClr val="6696B6"/>
          </a:solidFill>
          <a:ln w="25400" cap="flat" cmpd="sng" algn="ctr">
            <a:solidFill>
              <a:srgbClr val="6696B6"/>
            </a:solidFill>
            <a:prstDash val="solid"/>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汉仪君黑-45简" panose="020B0604020202020204" charset="-122"/>
              <a:ea typeface="汉仪君黑-45简" panose="020B0604020202020204" charset="-122"/>
              <a:cs typeface="+mn-ea"/>
              <a:sym typeface="+mn-lt"/>
            </a:endParaRPr>
          </a:p>
        </p:txBody>
      </p:sp>
      <p:sp>
        <p:nvSpPr>
          <p:cNvPr id="18" name="文本框 36"/>
          <p:cNvSpPr txBox="1">
            <a:spLocks noChangeArrowheads="1"/>
          </p:cNvSpPr>
          <p:nvPr>
            <p:custDataLst>
              <p:tags r:id="rId7"/>
            </p:custDataLst>
          </p:nvPr>
        </p:nvSpPr>
        <p:spPr bwMode="auto">
          <a:xfrm>
            <a:off x="1183929" y="2017845"/>
            <a:ext cx="2129551"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eaLnBrk="1" hangingPunct="1"/>
            <a:r>
              <a:rPr lang="zh-CN" altLang="en-US" sz="2000" dirty="0">
                <a:solidFill>
                  <a:schemeClr val="bg1"/>
                </a:solidFill>
                <a:latin typeface="汉仪君黑-45简" panose="020B0604020202020204" charset="-122"/>
                <a:ea typeface="汉仪君黑-45简" panose="020B0604020202020204" charset="-122"/>
                <a:cs typeface="+mn-ea"/>
                <a:sym typeface="+mn-lt"/>
              </a:rPr>
              <a:t>修改掉与原文方法不同的地方</a:t>
            </a:r>
            <a:endParaRPr lang="zh-CN" altLang="en-US" sz="2000" dirty="0">
              <a:solidFill>
                <a:schemeClr val="bg1"/>
              </a:solidFill>
              <a:latin typeface="汉仪君黑-45简" panose="020B0604020202020204" charset="-122"/>
              <a:ea typeface="汉仪君黑-45简" panose="020B0604020202020204" charset="-122"/>
              <a:cs typeface="+mn-ea"/>
              <a:sym typeface="+mn-lt"/>
            </a:endParaRPr>
          </a:p>
        </p:txBody>
      </p:sp>
      <p:sp>
        <p:nvSpPr>
          <p:cNvPr id="19" name="文本框 37"/>
          <p:cNvSpPr txBox="1">
            <a:spLocks noChangeArrowheads="1"/>
          </p:cNvSpPr>
          <p:nvPr>
            <p:custDataLst>
              <p:tags r:id="rId8"/>
            </p:custDataLst>
          </p:nvPr>
        </p:nvSpPr>
        <p:spPr bwMode="auto">
          <a:xfrm>
            <a:off x="4208054" y="2169478"/>
            <a:ext cx="5600337"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dirty="0">
                <a:solidFill>
                  <a:schemeClr val="bg1"/>
                </a:solidFill>
                <a:latin typeface="汉仪君黑-45简" panose="020B0604020202020204" charset="-122"/>
                <a:ea typeface="汉仪君黑-45简" panose="020B0604020202020204" charset="-122"/>
                <a:cs typeface="+mn-ea"/>
                <a:sym typeface="+mn-lt"/>
              </a:rPr>
              <a:t>双视图编码 | </a:t>
            </a:r>
            <a:r>
              <a:rPr lang="en-US" altLang="zh-CN" sz="1400" dirty="0">
                <a:solidFill>
                  <a:schemeClr val="bg1"/>
                </a:solidFill>
                <a:latin typeface="汉仪君黑-45简" panose="020B0604020202020204" charset="-122"/>
                <a:ea typeface="汉仪君黑-45简" panose="020B0604020202020204" charset="-122"/>
                <a:cs typeface="+mn-ea"/>
                <a:sym typeface="+mn-lt"/>
              </a:rPr>
              <a:t>h,p = F_T/F_G | data.py + training.py:140-141 | </a:t>
            </a:r>
            <a:r>
              <a:rPr lang="zh-CN" altLang="en-US" sz="1400" dirty="0">
                <a:solidFill>
                  <a:schemeClr val="bg1"/>
                </a:solidFill>
                <a:latin typeface="汉仪君黑-45简" panose="020B0604020202020204" charset="-122"/>
                <a:ea typeface="汉仪君黑-45简" panose="020B0604020202020204" charset="-122"/>
                <a:cs typeface="+mn-ea"/>
                <a:sym typeface="+mn-lt"/>
              </a:rPr>
              <a:t>工程近似</a:t>
            </a:r>
            <a:endParaRPr lang="zh-CN" altLang="en-US" sz="1400" dirty="0">
              <a:solidFill>
                <a:schemeClr val="bg1"/>
              </a:solidFill>
              <a:latin typeface="汉仪君黑-45简" panose="020B0604020202020204" charset="-122"/>
              <a:ea typeface="汉仪君黑-45简" panose="020B0604020202020204" charset="-122"/>
              <a:cs typeface="+mn-ea"/>
              <a:sym typeface="+mn-lt"/>
            </a:endParaRPr>
          </a:p>
          <a:p>
            <a:pPr>
              <a:lnSpc>
                <a:spcPct val="150000"/>
              </a:lnSpc>
            </a:pPr>
            <a:r>
              <a:rPr lang="zh-CN" altLang="en-US" sz="1400" dirty="0">
                <a:solidFill>
                  <a:schemeClr val="bg1"/>
                </a:solidFill>
                <a:latin typeface="汉仪君黑-45简" panose="020B0604020202020204" charset="-122"/>
                <a:ea typeface="汉仪君黑-45简" panose="020B0604020202020204" charset="-122"/>
                <a:cs typeface="+mn-ea"/>
                <a:sym typeface="+mn-lt"/>
              </a:rPr>
              <a:t>监督预热 | </a:t>
            </a:r>
            <a:r>
              <a:rPr lang="en-US" altLang="zh-CN" sz="1400" dirty="0">
                <a:solidFill>
                  <a:schemeClr val="bg1"/>
                </a:solidFill>
                <a:latin typeface="汉仪君黑-45简" panose="020B0604020202020204" charset="-122"/>
                <a:ea typeface="汉仪君黑-45简" panose="020B0604020202020204" charset="-122"/>
                <a:cs typeface="+mn-ea"/>
                <a:sym typeface="+mn-lt"/>
              </a:rPr>
              <a:t>L_sup | training.py:145-150 | </a:t>
            </a:r>
            <a:r>
              <a:rPr lang="zh-CN" altLang="en-US" sz="1400" dirty="0">
                <a:solidFill>
                  <a:schemeClr val="bg1"/>
                </a:solidFill>
                <a:latin typeface="汉仪君黑-45简" panose="020B0604020202020204" charset="-122"/>
                <a:ea typeface="汉仪君黑-45简" panose="020B0604020202020204" charset="-122"/>
                <a:cs typeface="+mn-ea"/>
                <a:sym typeface="+mn-lt"/>
              </a:rPr>
              <a:t>结构对应、尺度不同</a:t>
            </a:r>
            <a:endParaRPr lang="zh-CN" altLang="en-US" sz="1400" dirty="0">
              <a:solidFill>
                <a:schemeClr val="bg1"/>
              </a:solidFill>
              <a:latin typeface="汉仪君黑-45简" panose="020B0604020202020204" charset="-122"/>
              <a:ea typeface="汉仪君黑-45简" panose="020B0604020202020204" charset="-122"/>
              <a:cs typeface="+mn-ea"/>
              <a:sym typeface="+mn-lt"/>
            </a:endParaRPr>
          </a:p>
        </p:txBody>
      </p:sp>
      <p:sp>
        <p:nvSpPr>
          <p:cNvPr id="20" name="文本框 37"/>
          <p:cNvSpPr txBox="1">
            <a:spLocks noChangeArrowheads="1"/>
          </p:cNvSpPr>
          <p:nvPr>
            <p:custDataLst>
              <p:tags r:id="rId9"/>
            </p:custDataLst>
          </p:nvPr>
        </p:nvSpPr>
        <p:spPr bwMode="auto">
          <a:xfrm>
            <a:off x="5633799" y="4563278"/>
            <a:ext cx="5393793"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dirty="0">
                <a:solidFill>
                  <a:schemeClr val="bg1"/>
                </a:solidFill>
                <a:latin typeface="汉仪君黑-45简" panose="020B0604020202020204" charset="-122"/>
                <a:ea typeface="汉仪君黑-45简" panose="020B0604020202020204" charset="-122"/>
                <a:cs typeface="+mn-ea"/>
                <a:sym typeface="+mn-lt"/>
              </a:rPr>
              <a:t>关键词摘要 | 关键词、过滤、摘要 | 无 | 未实现</a:t>
            </a:r>
            <a:endParaRPr lang="zh-CN" altLang="en-US" sz="1400" dirty="0">
              <a:solidFill>
                <a:schemeClr val="bg1"/>
              </a:solidFill>
              <a:latin typeface="汉仪君黑-45简" panose="020B0604020202020204" charset="-122"/>
              <a:ea typeface="汉仪君黑-45简" panose="020B0604020202020204" charset="-122"/>
              <a:cs typeface="+mn-ea"/>
              <a:sym typeface="+mn-lt"/>
            </a:endParaRPr>
          </a:p>
          <a:p>
            <a:pPr>
              <a:lnSpc>
                <a:spcPct val="150000"/>
              </a:lnSpc>
            </a:pPr>
            <a:r>
              <a:rPr lang="zh-CN" altLang="en-US" sz="1400" dirty="0">
                <a:solidFill>
                  <a:schemeClr val="bg1"/>
                </a:solidFill>
                <a:latin typeface="汉仪君黑-45简" panose="020B0604020202020204" charset="-122"/>
                <a:ea typeface="汉仪君黑-45简" panose="020B0604020202020204" charset="-122"/>
                <a:cs typeface="+mn-ea"/>
                <a:sym typeface="+mn-lt"/>
              </a:rPr>
              <a:t>解释输出 | 四类解释 | 无 | 未实现</a:t>
            </a:r>
            <a:endParaRPr lang="zh-CN" altLang="en-US" sz="1400" dirty="0">
              <a:solidFill>
                <a:schemeClr val="bg1"/>
              </a:solidFill>
              <a:latin typeface="汉仪君黑-45简" panose="020B0604020202020204" charset="-122"/>
              <a:ea typeface="汉仪君黑-45简" panose="020B0604020202020204" charset="-122"/>
              <a:cs typeface="+mn-ea"/>
              <a:sym typeface="+mn-lt"/>
            </a:endParaRPr>
          </a:p>
        </p:txBody>
      </p:sp>
      <p:sp>
        <p:nvSpPr>
          <p:cNvPr id="21" name="文本框 36"/>
          <p:cNvSpPr txBox="1">
            <a:spLocks noChangeArrowheads="1"/>
          </p:cNvSpPr>
          <p:nvPr>
            <p:custDataLst>
              <p:tags r:id="rId10"/>
            </p:custDataLst>
          </p:nvPr>
        </p:nvSpPr>
        <p:spPr bwMode="auto">
          <a:xfrm>
            <a:off x="2790751" y="4312021"/>
            <a:ext cx="2129551"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eaLnBrk="1" hangingPunct="1"/>
            <a:r>
              <a:rPr lang="zh-CN" altLang="en-US" sz="2000" dirty="0">
                <a:solidFill>
                  <a:schemeClr val="bg1"/>
                </a:solidFill>
                <a:latin typeface="汉仪君黑-45简" panose="020B0604020202020204" charset="-122"/>
                <a:ea typeface="汉仪君黑-45简" panose="020B0604020202020204" charset="-122"/>
                <a:cs typeface="+mn-ea"/>
                <a:sym typeface="+mn-lt"/>
              </a:rPr>
              <a:t>补充还未完成的代码</a:t>
            </a:r>
            <a:endParaRPr lang="zh-CN" altLang="en-US" sz="2000" dirty="0">
              <a:solidFill>
                <a:schemeClr val="bg1"/>
              </a:solidFill>
              <a:latin typeface="汉仪君黑-45简" panose="020B0604020202020204" charset="-122"/>
              <a:ea typeface="汉仪君黑-45简" panose="020B0604020202020204" charset="-122"/>
              <a:cs typeface="+mn-ea"/>
              <a:sym typeface="+mn-lt"/>
            </a:endParaRPr>
          </a:p>
        </p:txBody>
      </p:sp>
      <p:sp>
        <p:nvSpPr>
          <p:cNvPr id="12" name="任意多边形: 形状 11"/>
          <p:cNvSpPr/>
          <p:nvPr/>
        </p:nvSpPr>
        <p:spPr>
          <a:xfrm>
            <a:off x="11206264" y="6230570"/>
            <a:ext cx="992707" cy="627430"/>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3" name="任意多边形: 形状 12"/>
          <p:cNvSpPr/>
          <p:nvPr/>
        </p:nvSpPr>
        <p:spPr>
          <a:xfrm flipH="1">
            <a:off x="0" y="-1"/>
            <a:ext cx="1424610" cy="777930"/>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4" name="任意多边形: 形状 13"/>
          <p:cNvSpPr/>
          <p:nvPr/>
        </p:nvSpPr>
        <p:spPr>
          <a:xfrm flipH="1">
            <a:off x="1819" y="-1"/>
            <a:ext cx="1457330" cy="808547"/>
          </a:xfrm>
          <a:custGeom>
            <a:avLst/>
            <a:gdLst>
              <a:gd name="connsiteX0" fmla="*/ 0 w 5585422"/>
              <a:gd name="connsiteY0" fmla="*/ 0 h 3098871"/>
              <a:gd name="connsiteX1" fmla="*/ 5585422 w 5585422"/>
              <a:gd name="connsiteY1" fmla="*/ 0 h 3098871"/>
              <a:gd name="connsiteX2" fmla="*/ 5585422 w 5585422"/>
              <a:gd name="connsiteY2" fmla="*/ 1079106 h 3098871"/>
              <a:gd name="connsiteX3" fmla="*/ 3710012 w 5585422"/>
              <a:gd name="connsiteY3" fmla="*/ 2931810 h 3098871"/>
              <a:gd name="connsiteX4" fmla="*/ 2891388 w 5585422"/>
              <a:gd name="connsiteY4" fmla="*/ 2926824 h 309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5422" h="3098871">
                <a:moveTo>
                  <a:pt x="0" y="0"/>
                </a:moveTo>
                <a:lnTo>
                  <a:pt x="5585422" y="0"/>
                </a:lnTo>
                <a:lnTo>
                  <a:pt x="5585422" y="1079106"/>
                </a:lnTo>
                <a:lnTo>
                  <a:pt x="3710012" y="2931810"/>
                </a:lnTo>
                <a:cubicBezTo>
                  <a:pt x="3482580" y="3156491"/>
                  <a:pt x="3116069" y="3154260"/>
                  <a:pt x="2891388" y="2926824"/>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5" name="文本框 24"/>
          <p:cNvSpPr txBox="1"/>
          <p:nvPr/>
        </p:nvSpPr>
        <p:spPr>
          <a:xfrm>
            <a:off x="4274417" y="354567"/>
            <a:ext cx="3643166"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进一步完善代码</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边界"/>
          <p:cNvSpPr/>
          <p:nvPr>
            <p:custDataLst>
              <p:tags r:id="rId1"/>
            </p:custDataLst>
          </p:nvPr>
        </p:nvSpPr>
        <p:spPr>
          <a:xfrm>
            <a:off x="610235" y="1576070"/>
            <a:ext cx="10972800" cy="4179570"/>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7" name="标题 16"/>
          <p:cNvSpPr>
            <a:spLocks noGrp="1"/>
          </p:cNvSpPr>
          <p:nvPr>
            <p:ph type="title"/>
            <p:custDataLst>
              <p:tags r:id="rId2"/>
            </p:custDataLst>
          </p:nvPr>
        </p:nvSpPr>
        <p:spPr/>
        <p:txBody>
          <a:bodyPr/>
          <a:lstStyle/>
          <a:p>
            <a:r>
              <a:rPr lang="zh-CN" altLang="en-US" dirty="0">
                <a:solidFill>
                  <a:schemeClr val="tx1">
                    <a:lumMod val="75000"/>
                    <a:lumOff val="25000"/>
                  </a:schemeClr>
                </a:solidFill>
                <a:latin typeface="汉仪君黑-45简" panose="020B0604020202020204" charset="-122"/>
                <a:ea typeface="汉仪君黑-45简" panose="020B0604020202020204" charset="-122"/>
                <a:cs typeface="+mn-ea"/>
                <a:sym typeface="+mn-lt"/>
              </a:rPr>
              <a:t>选好</a:t>
            </a:r>
            <a:r>
              <a:rPr lang="en-US" altLang="zh-CN" dirty="0">
                <a:solidFill>
                  <a:schemeClr val="tx1">
                    <a:lumMod val="75000"/>
                    <a:lumOff val="25000"/>
                  </a:schemeClr>
                </a:solidFill>
                <a:latin typeface="汉仪君黑-45简" panose="020B0604020202020204" charset="-122"/>
                <a:ea typeface="汉仪君黑-45简" panose="020B0604020202020204" charset="-122"/>
                <a:cs typeface="+mn-ea"/>
                <a:sym typeface="+mn-lt"/>
              </a:rPr>
              <a:t>SOTA</a:t>
            </a:r>
            <a:r>
              <a:rPr lang="zh-CN" altLang="en-US" dirty="0">
                <a:solidFill>
                  <a:schemeClr val="tx1">
                    <a:lumMod val="75000"/>
                    <a:lumOff val="25000"/>
                  </a:schemeClr>
                </a:solidFill>
                <a:latin typeface="汉仪君黑-45简" panose="020B0604020202020204" charset="-122"/>
                <a:ea typeface="汉仪君黑-45简" panose="020B0604020202020204" charset="-122"/>
                <a:cs typeface="+mn-ea"/>
                <a:sym typeface="+mn-lt"/>
              </a:rPr>
              <a:t>并且进行对照实验</a:t>
            </a:r>
            <a:endParaRPr lang="zh-CN" altLang="en-US"/>
          </a:p>
        </p:txBody>
      </p:sp>
      <p:sp>
        <p:nvSpPr>
          <p:cNvPr id="2" name="矩形 1"/>
          <p:cNvSpPr/>
          <p:nvPr>
            <p:custDataLst>
              <p:tags r:id="rId3"/>
            </p:custDataLst>
          </p:nvPr>
        </p:nvSpPr>
        <p:spPr>
          <a:xfrm>
            <a:off x="7431405" y="4243705"/>
            <a:ext cx="3608705" cy="510540"/>
          </a:xfrm>
          <a:prstGeom prst="rect">
            <a:avLst/>
          </a:prstGeom>
          <a:noFill/>
        </p:spPr>
        <p:txBody>
          <a:bodyPr wrap="square" lIns="0" tIns="0" rIns="0" bIns="0" rtlCol="0" anchor="b" anchorCtr="0">
            <a:noAutofit/>
          </a:bodyPr>
          <a:lstStyle/>
          <a:p>
            <a:pPr algn="just">
              <a:spcBef>
                <a:spcPct val="0"/>
              </a:spcBef>
              <a:spcAft>
                <a:spcPct val="0"/>
              </a:spcAft>
            </a:pPr>
            <a:r>
              <a:rPr lang="zh-CN" altLang="en-US" sz="2000" b="1" dirty="0">
                <a:solidFill>
                  <a:schemeClr val="accent2"/>
                </a:solidFill>
                <a:latin typeface="+mn-ea"/>
                <a:cs typeface="+mn-ea"/>
                <a:sym typeface="+mn-ea"/>
              </a:rPr>
              <a:t>设计公平的对照实验</a:t>
            </a:r>
            <a:endParaRPr lang="zh-CN" altLang="en-US" sz="2000" b="1" dirty="0">
              <a:solidFill>
                <a:schemeClr val="accent2"/>
              </a:solidFill>
              <a:latin typeface="+mn-ea"/>
              <a:cs typeface="+mn-ea"/>
              <a:sym typeface="+mn-ea"/>
            </a:endParaRPr>
          </a:p>
        </p:txBody>
      </p:sp>
      <p:sp>
        <p:nvSpPr>
          <p:cNvPr id="5" name="矩形 4"/>
          <p:cNvSpPr/>
          <p:nvPr>
            <p:custDataLst>
              <p:tags r:id="rId4"/>
            </p:custDataLst>
          </p:nvPr>
        </p:nvSpPr>
        <p:spPr>
          <a:xfrm>
            <a:off x="7214235" y="4761865"/>
            <a:ext cx="4366895" cy="1002665"/>
          </a:xfrm>
          <a:prstGeom prst="rect">
            <a:avLst/>
          </a:prstGeom>
          <a:noFill/>
        </p:spPr>
        <p:txBody>
          <a:bodyPr wrap="square" lIns="0" tIns="0" rIns="0" bIns="0" rtlCol="0" anchor="t" anchorCtr="0">
            <a:noAutofit/>
          </a:bodyPr>
          <a:lstStyle/>
          <a:p>
            <a:pPr algn="just">
              <a:lnSpc>
                <a:spcPct val="130000"/>
              </a:lnSpc>
              <a:spcBef>
                <a:spcPct val="0"/>
              </a:spcBef>
              <a:spcAft>
                <a:spcPct val="0"/>
              </a:spcAft>
            </a:pPr>
            <a:r>
              <a:rPr lang="zh-CN" altLang="en-US" sz="1600" dirty="0">
                <a:solidFill>
                  <a:schemeClr val="tx1">
                    <a:lumMod val="85000"/>
                    <a:lumOff val="15000"/>
                  </a:schemeClr>
                </a:solidFill>
                <a:latin typeface="+mn-ea"/>
                <a:cs typeface="+mn-ea"/>
                <a:sym typeface="+mn-ea"/>
              </a:rPr>
              <a:t>为了保证实验结果可信，我会统一数据集、数据划分、标签数量、评价指标和随机种子。实验过程中不随意调整测试集结果，也不使用额外的标注数据，确保最后的性能差异主要来自模型方法本身，而不是实验条件不同。</a:t>
            </a:r>
            <a:endParaRPr lang="zh-CN" altLang="en-US" sz="1600" dirty="0">
              <a:solidFill>
                <a:schemeClr val="tx1">
                  <a:lumMod val="85000"/>
                  <a:lumOff val="15000"/>
                </a:schemeClr>
              </a:solidFill>
              <a:latin typeface="+mn-ea"/>
              <a:cs typeface="+mn-ea"/>
              <a:sym typeface="+mn-ea"/>
            </a:endParaRPr>
          </a:p>
        </p:txBody>
      </p:sp>
      <p:sp>
        <p:nvSpPr>
          <p:cNvPr id="6" name="矩形 5"/>
          <p:cNvSpPr/>
          <p:nvPr>
            <p:custDataLst>
              <p:tags r:id="rId5"/>
            </p:custDataLst>
          </p:nvPr>
        </p:nvSpPr>
        <p:spPr>
          <a:xfrm>
            <a:off x="608965" y="3580765"/>
            <a:ext cx="3484880" cy="510540"/>
          </a:xfrm>
          <a:prstGeom prst="rect">
            <a:avLst/>
          </a:prstGeom>
          <a:noFill/>
        </p:spPr>
        <p:txBody>
          <a:bodyPr wrap="square" lIns="0" tIns="0" rIns="0" bIns="0" rtlCol="0" anchor="b" anchorCtr="0">
            <a:noAutofit/>
          </a:bodyPr>
          <a:lstStyle/>
          <a:p>
            <a:pPr algn="r">
              <a:spcBef>
                <a:spcPct val="0"/>
              </a:spcBef>
              <a:spcAft>
                <a:spcPct val="0"/>
              </a:spcAft>
            </a:pPr>
            <a:r>
              <a:rPr lang="zh-CN" altLang="en-US" sz="2000" b="1">
                <a:solidFill>
                  <a:schemeClr val="accent1"/>
                </a:solidFill>
                <a:latin typeface="+mn-ea"/>
                <a:cs typeface="+mn-ea"/>
                <a:sym typeface="+mn-ea"/>
              </a:rPr>
              <a:t>先确定选择标准</a:t>
            </a:r>
            <a:endParaRPr lang="zh-CN" altLang="en-US" sz="2000" b="1">
              <a:solidFill>
                <a:schemeClr val="accent1"/>
              </a:solidFill>
              <a:latin typeface="+mn-ea"/>
              <a:cs typeface="+mn-ea"/>
              <a:sym typeface="+mn-ea"/>
            </a:endParaRPr>
          </a:p>
        </p:txBody>
      </p:sp>
      <p:sp>
        <p:nvSpPr>
          <p:cNvPr id="7" name="矩形 6"/>
          <p:cNvSpPr/>
          <p:nvPr>
            <p:custDataLst>
              <p:tags r:id="rId6"/>
            </p:custDataLst>
          </p:nvPr>
        </p:nvSpPr>
        <p:spPr>
          <a:xfrm>
            <a:off x="403860" y="4091305"/>
            <a:ext cx="4083685" cy="1002665"/>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600" dirty="0">
                <a:solidFill>
                  <a:schemeClr val="tx1">
                    <a:lumMod val="85000"/>
                    <a:lumOff val="15000"/>
                  </a:schemeClr>
                </a:solidFill>
                <a:latin typeface="+mn-ea"/>
                <a:cs typeface="+mn-ea"/>
                <a:sym typeface="+mn-ea"/>
              </a:rPr>
              <a:t>选择</a:t>
            </a:r>
            <a:r>
              <a:rPr lang="en-US" altLang="zh-CN" sz="1600" dirty="0">
                <a:solidFill>
                  <a:schemeClr val="tx1">
                    <a:lumMod val="85000"/>
                    <a:lumOff val="15000"/>
                  </a:schemeClr>
                </a:solidFill>
                <a:latin typeface="+mn-ea"/>
                <a:cs typeface="+mn-ea"/>
                <a:sym typeface="+mn-ea"/>
              </a:rPr>
              <a:t>SOTA</a:t>
            </a:r>
            <a:r>
              <a:rPr lang="zh-CN" altLang="en-US" sz="1600" dirty="0">
                <a:solidFill>
                  <a:schemeClr val="tx1">
                    <a:lumMod val="85000"/>
                    <a:lumOff val="15000"/>
                  </a:schemeClr>
                </a:solidFill>
                <a:latin typeface="+mn-ea"/>
                <a:cs typeface="+mn-ea"/>
                <a:sym typeface="+mn-ea"/>
              </a:rPr>
              <a:t>时，要看它和本研究的问题是否一致、实验条件是否公平，以及代码是否能够正常复现。只有这些条件都比较接近，最后的对比结果才有说服力。</a:t>
            </a:r>
            <a:endParaRPr lang="zh-CN" altLang="en-US" sz="1600" dirty="0">
              <a:solidFill>
                <a:schemeClr val="tx1">
                  <a:lumMod val="85000"/>
                  <a:lumOff val="15000"/>
                </a:schemeClr>
              </a:solidFill>
              <a:latin typeface="+mn-ea"/>
              <a:cs typeface="+mn-ea"/>
              <a:sym typeface="+mn-ea"/>
            </a:endParaRPr>
          </a:p>
        </p:txBody>
      </p:sp>
      <p:sp>
        <p:nvSpPr>
          <p:cNvPr id="8" name="矩形 7"/>
          <p:cNvSpPr/>
          <p:nvPr>
            <p:custDataLst>
              <p:tags r:id="rId7"/>
            </p:custDataLst>
          </p:nvPr>
        </p:nvSpPr>
        <p:spPr>
          <a:xfrm>
            <a:off x="7974330" y="2352040"/>
            <a:ext cx="3608705" cy="510540"/>
          </a:xfrm>
          <a:prstGeom prst="rect">
            <a:avLst/>
          </a:prstGeom>
          <a:noFill/>
        </p:spPr>
        <p:txBody>
          <a:bodyPr wrap="square" lIns="0" tIns="0" rIns="0" bIns="0" rtlCol="0" anchor="b" anchorCtr="0">
            <a:noAutofit/>
          </a:bodyPr>
          <a:lstStyle/>
          <a:p>
            <a:pPr algn="just">
              <a:spcBef>
                <a:spcPct val="0"/>
              </a:spcBef>
              <a:spcAft>
                <a:spcPct val="0"/>
              </a:spcAft>
            </a:pPr>
            <a:r>
              <a:rPr lang="zh-CN" altLang="en-US" sz="2000" b="1" dirty="0">
                <a:solidFill>
                  <a:schemeClr val="accent3"/>
                </a:solidFill>
                <a:latin typeface="+mn-ea"/>
                <a:cs typeface="+mn-ea"/>
                <a:sym typeface="+mn-ea"/>
              </a:rPr>
              <a:t>确定</a:t>
            </a:r>
            <a:r>
              <a:rPr lang="en-US" altLang="zh-CN" sz="2000" b="1" dirty="0">
                <a:solidFill>
                  <a:schemeClr val="accent3"/>
                </a:solidFill>
                <a:latin typeface="+mn-ea"/>
                <a:cs typeface="+mn-ea"/>
                <a:sym typeface="+mn-ea"/>
              </a:rPr>
              <a:t>SOTA</a:t>
            </a:r>
            <a:r>
              <a:rPr lang="zh-CN" altLang="en-US" sz="2000" b="1" dirty="0">
                <a:solidFill>
                  <a:schemeClr val="accent3"/>
                </a:solidFill>
                <a:latin typeface="+mn-ea"/>
                <a:cs typeface="+mn-ea"/>
                <a:sym typeface="+mn-ea"/>
              </a:rPr>
              <a:t>选谁</a:t>
            </a:r>
            <a:endParaRPr lang="zh-CN" altLang="en-US" sz="2000" b="1" dirty="0">
              <a:solidFill>
                <a:schemeClr val="accent3"/>
              </a:solidFill>
              <a:latin typeface="+mn-ea"/>
              <a:cs typeface="+mn-ea"/>
              <a:sym typeface="+mn-ea"/>
            </a:endParaRPr>
          </a:p>
        </p:txBody>
      </p:sp>
      <p:sp>
        <p:nvSpPr>
          <p:cNvPr id="3" name="任意多边形 2"/>
          <p:cNvSpPr/>
          <p:nvPr>
            <p:custDataLst>
              <p:tags r:id="rId8"/>
            </p:custDataLst>
          </p:nvPr>
        </p:nvSpPr>
        <p:spPr>
          <a:xfrm>
            <a:off x="4487545" y="4256405"/>
            <a:ext cx="1218565" cy="1218565"/>
          </a:xfrm>
          <a:custGeom>
            <a:avLst/>
            <a:gdLst/>
            <a:ahLst/>
            <a:cxnLst>
              <a:cxn ang="3">
                <a:pos x="hc" y="t"/>
              </a:cxn>
              <a:cxn ang="cd2">
                <a:pos x="l" y="vc"/>
              </a:cxn>
              <a:cxn ang="cd4">
                <a:pos x="hc" y="b"/>
              </a:cxn>
              <a:cxn ang="0">
                <a:pos x="r" y="vc"/>
              </a:cxn>
            </a:cxnLst>
            <a:rect l="l" t="t" r="r" b="b"/>
            <a:pathLst>
              <a:path w="1524" h="1524">
                <a:moveTo>
                  <a:pt x="762" y="0"/>
                </a:moveTo>
                <a:lnTo>
                  <a:pt x="1524" y="0"/>
                </a:lnTo>
                <a:lnTo>
                  <a:pt x="1524" y="1524"/>
                </a:lnTo>
                <a:lnTo>
                  <a:pt x="762" y="1524"/>
                </a:lnTo>
                <a:cubicBezTo>
                  <a:pt x="341" y="1524"/>
                  <a:pt x="0" y="1183"/>
                  <a:pt x="0" y="762"/>
                </a:cubicBezTo>
                <a:cubicBezTo>
                  <a:pt x="0" y="341"/>
                  <a:pt x="341" y="0"/>
                  <a:pt x="762" y="0"/>
                </a:cubicBezTo>
                <a:close/>
              </a:path>
            </a:pathLst>
          </a:custGeom>
          <a:gradFill>
            <a:gsLst>
              <a:gs pos="0">
                <a:schemeClr val="accent1">
                  <a:lumMod val="60000"/>
                  <a:lumOff val="40000"/>
                </a:schemeClr>
              </a:gs>
              <a:gs pos="100000">
                <a:schemeClr val="accent1">
                  <a:alpha val="100000"/>
                </a:schemeClr>
              </a:gs>
            </a:gsLst>
            <a:lin ang="2700000" scaled="0"/>
          </a:gradFill>
          <a:ln>
            <a:noFill/>
          </a:ln>
          <a:effectLst>
            <a:outerShdw blurRad="50800" dist="38100" dir="2700000" algn="tl"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71755" tIns="71755" rIns="36195" bIns="7175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b="1">
                <a:solidFill>
                  <a:srgbClr val="FFFFFF"/>
                </a:solidFill>
                <a:latin typeface="+mn-ea"/>
                <a:cs typeface="+mn-ea"/>
                <a:sym typeface="+mn-ea"/>
              </a:rPr>
              <a:t>01</a:t>
            </a:r>
            <a:endParaRPr lang="en-US" altLang="zh-CN" b="1">
              <a:solidFill>
                <a:srgbClr val="FFFFFF"/>
              </a:solidFill>
              <a:latin typeface="+mn-ea"/>
              <a:cs typeface="+mn-ea"/>
              <a:sym typeface="+mn-ea"/>
            </a:endParaRPr>
          </a:p>
        </p:txBody>
      </p:sp>
      <p:sp>
        <p:nvSpPr>
          <p:cNvPr id="13" name="任意多边形: 形状 21"/>
          <p:cNvSpPr/>
          <p:nvPr>
            <p:custDataLst>
              <p:tags r:id="rId9"/>
            </p:custDataLst>
          </p:nvPr>
        </p:nvSpPr>
        <p:spPr>
          <a:xfrm>
            <a:off x="5354954" y="2173605"/>
            <a:ext cx="2195831" cy="1917700"/>
          </a:xfrm>
          <a:custGeom>
            <a:avLst/>
            <a:gdLst>
              <a:gd name="connsiteX0" fmla="*/ 46929 w 1866264"/>
              <a:gd name="connsiteY0" fmla="*/ 1039931 h 1503956"/>
              <a:gd name="connsiteX1" fmla="*/ 57276 w 1866264"/>
              <a:gd name="connsiteY1" fmla="*/ 1050278 h 1503956"/>
              <a:gd name="connsiteX2" fmla="*/ 46929 w 1866264"/>
              <a:gd name="connsiteY2" fmla="*/ 1039931 h 1503956"/>
              <a:gd name="connsiteX3" fmla="*/ 1837147 w 1866264"/>
              <a:gd name="connsiteY3" fmla="*/ 1022108 h 1503956"/>
              <a:gd name="connsiteX4" fmla="*/ 1819353 w 1866264"/>
              <a:gd name="connsiteY4" fmla="*/ 1039901 h 1503956"/>
              <a:gd name="connsiteX5" fmla="*/ 1819449 w 1866264"/>
              <a:gd name="connsiteY5" fmla="*/ 1039763 h 1503956"/>
              <a:gd name="connsiteX6" fmla="*/ 1819588 w 1866264"/>
              <a:gd name="connsiteY6" fmla="*/ 1039667 h 1503956"/>
              <a:gd name="connsiteX7" fmla="*/ 1837147 w 1866264"/>
              <a:gd name="connsiteY7" fmla="*/ 1022108 h 1503956"/>
              <a:gd name="connsiteX8" fmla="*/ 27605 w 1866264"/>
              <a:gd name="connsiteY8" fmla="*/ 1020607 h 1503956"/>
              <a:gd name="connsiteX9" fmla="*/ 44890 w 1866264"/>
              <a:gd name="connsiteY9" fmla="*/ 1037892 h 1503956"/>
              <a:gd name="connsiteX10" fmla="*/ 46096 w 1866264"/>
              <a:gd name="connsiteY10" fmla="*/ 1038725 h 1503956"/>
              <a:gd name="connsiteX11" fmla="*/ 46929 w 1866264"/>
              <a:gd name="connsiteY11" fmla="*/ 1039931 h 1503956"/>
              <a:gd name="connsiteX12" fmla="*/ 45902 w 1866264"/>
              <a:gd name="connsiteY12" fmla="*/ 1038904 h 1503956"/>
              <a:gd name="connsiteX13" fmla="*/ 27605 w 1866264"/>
              <a:gd name="connsiteY13" fmla="*/ 1020607 h 1503956"/>
              <a:gd name="connsiteX14" fmla="*/ 933122 w 1866264"/>
              <a:gd name="connsiteY14" fmla="*/ 0 h 1503956"/>
              <a:gd name="connsiteX15" fmla="*/ 1039939 w 1866264"/>
              <a:gd name="connsiteY15" fmla="*/ 46921 h 1503956"/>
              <a:gd name="connsiteX16" fmla="*/ 1819340 w 1866264"/>
              <a:gd name="connsiteY16" fmla="*/ 826324 h 1503956"/>
              <a:gd name="connsiteX17" fmla="*/ 1854539 w 1866264"/>
              <a:gd name="connsiteY17" fmla="*/ 988936 h 1503956"/>
              <a:gd name="connsiteX18" fmla="*/ 1819449 w 1866264"/>
              <a:gd name="connsiteY18" fmla="*/ 1039763 h 1503956"/>
              <a:gd name="connsiteX19" fmla="*/ 1768617 w 1866264"/>
              <a:gd name="connsiteY19" fmla="*/ 1074862 h 1503956"/>
              <a:gd name="connsiteX20" fmla="*/ 1605976 w 1866264"/>
              <a:gd name="connsiteY20" fmla="*/ 1039695 h 1503956"/>
              <a:gd name="connsiteX21" fmla="*/ 1415332 w 1866264"/>
              <a:gd name="connsiteY21" fmla="*/ 849050 h 1503956"/>
              <a:gd name="connsiteX22" fmla="*/ 1414918 w 1866264"/>
              <a:gd name="connsiteY22" fmla="*/ 848636 h 1503956"/>
              <a:gd name="connsiteX23" fmla="*/ 1416367 w 1866264"/>
              <a:gd name="connsiteY23" fmla="*/ 1503956 h 1503956"/>
              <a:gd name="connsiteX24" fmla="*/ 449897 w 1866264"/>
              <a:gd name="connsiteY24" fmla="*/ 1503956 h 1503956"/>
              <a:gd name="connsiteX25" fmla="*/ 449897 w 1866264"/>
              <a:gd name="connsiteY25" fmla="*/ 846559 h 1503956"/>
              <a:gd name="connsiteX26" fmla="*/ 448636 w 1866264"/>
              <a:gd name="connsiteY26" fmla="*/ 847820 h 1503956"/>
              <a:gd name="connsiteX27" fmla="*/ 258549 w 1866264"/>
              <a:gd name="connsiteY27" fmla="*/ 1037907 h 1503956"/>
              <a:gd name="connsiteX28" fmla="*/ 95875 w 1866264"/>
              <a:gd name="connsiteY28" fmla="*/ 1073096 h 1503956"/>
              <a:gd name="connsiteX29" fmla="*/ 46096 w 1866264"/>
              <a:gd name="connsiteY29" fmla="*/ 1038725 h 1503956"/>
              <a:gd name="connsiteX30" fmla="*/ 11736 w 1866264"/>
              <a:gd name="connsiteY30" fmla="*/ 988960 h 1503956"/>
              <a:gd name="connsiteX31" fmla="*/ 46911 w 1866264"/>
              <a:gd name="connsiteY31" fmla="*/ 826325 h 1503956"/>
              <a:gd name="connsiteX32" fmla="*/ 826302 w 1866264"/>
              <a:gd name="connsiteY32" fmla="*/ 46935 h 1503956"/>
              <a:gd name="connsiteX33" fmla="*/ 933122 w 1866264"/>
              <a:gd name="connsiteY33" fmla="*/ 0 h 1503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458" h="3020">
                <a:moveTo>
                  <a:pt x="87" y="1926"/>
                </a:moveTo>
                <a:lnTo>
                  <a:pt x="106" y="1946"/>
                </a:lnTo>
                <a:cubicBezTo>
                  <a:pt x="124" y="1964"/>
                  <a:pt x="130" y="1970"/>
                  <a:pt x="87" y="1926"/>
                </a:cubicBezTo>
                <a:close/>
                <a:moveTo>
                  <a:pt x="3372" y="1926"/>
                </a:moveTo>
                <a:lnTo>
                  <a:pt x="3366" y="1932"/>
                </a:lnTo>
                <a:cubicBezTo>
                  <a:pt x="3339" y="1959"/>
                  <a:pt x="3317" y="1981"/>
                  <a:pt x="3371" y="1926"/>
                </a:cubicBezTo>
                <a:lnTo>
                  <a:pt x="3371" y="1926"/>
                </a:lnTo>
                <a:lnTo>
                  <a:pt x="3372" y="1926"/>
                </a:lnTo>
                <a:close/>
                <a:moveTo>
                  <a:pt x="59" y="1898"/>
                </a:moveTo>
                <a:lnTo>
                  <a:pt x="59" y="1899"/>
                </a:lnTo>
                <a:cubicBezTo>
                  <a:pt x="65" y="1904"/>
                  <a:pt x="72" y="1912"/>
                  <a:pt x="83" y="1923"/>
                </a:cubicBezTo>
                <a:lnTo>
                  <a:pt x="85" y="1924"/>
                </a:lnTo>
                <a:lnTo>
                  <a:pt x="87" y="1926"/>
                </a:lnTo>
                <a:lnTo>
                  <a:pt x="85" y="1925"/>
                </a:lnTo>
                <a:cubicBezTo>
                  <a:pt x="76" y="1915"/>
                  <a:pt x="66" y="1906"/>
                  <a:pt x="60" y="1899"/>
                </a:cubicBezTo>
                <a:lnTo>
                  <a:pt x="59" y="1898"/>
                </a:lnTo>
                <a:close/>
                <a:moveTo>
                  <a:pt x="3405" y="1893"/>
                </a:moveTo>
                <a:cubicBezTo>
                  <a:pt x="3406" y="1892"/>
                  <a:pt x="3397" y="1901"/>
                  <a:pt x="3372" y="1926"/>
                </a:cubicBezTo>
                <a:lnTo>
                  <a:pt x="3372" y="1926"/>
                </a:lnTo>
                <a:lnTo>
                  <a:pt x="3374" y="1923"/>
                </a:lnTo>
                <a:cubicBezTo>
                  <a:pt x="3388" y="1910"/>
                  <a:pt x="3401" y="1897"/>
                  <a:pt x="3404" y="1893"/>
                </a:cubicBezTo>
                <a:cubicBezTo>
                  <a:pt x="3405" y="1893"/>
                  <a:pt x="3405" y="1893"/>
                  <a:pt x="3405" y="1893"/>
                </a:cubicBezTo>
                <a:close/>
                <a:moveTo>
                  <a:pt x="52" y="1891"/>
                </a:moveTo>
                <a:lnTo>
                  <a:pt x="53" y="1893"/>
                </a:lnTo>
                <a:cubicBezTo>
                  <a:pt x="54" y="1893"/>
                  <a:pt x="55" y="1894"/>
                  <a:pt x="56" y="1895"/>
                </a:cubicBezTo>
                <a:lnTo>
                  <a:pt x="59" y="1898"/>
                </a:lnTo>
                <a:lnTo>
                  <a:pt x="57" y="1896"/>
                </a:lnTo>
                <a:cubicBezTo>
                  <a:pt x="55" y="1894"/>
                  <a:pt x="53" y="1892"/>
                  <a:pt x="52" y="1891"/>
                </a:cubicBezTo>
                <a:lnTo>
                  <a:pt x="52" y="1891"/>
                </a:lnTo>
                <a:close/>
                <a:moveTo>
                  <a:pt x="50" y="1890"/>
                </a:moveTo>
                <a:cubicBezTo>
                  <a:pt x="50" y="1890"/>
                  <a:pt x="50" y="1890"/>
                  <a:pt x="50" y="1890"/>
                </a:cubicBezTo>
                <a:lnTo>
                  <a:pt x="52" y="1891"/>
                </a:lnTo>
                <a:lnTo>
                  <a:pt x="51" y="1891"/>
                </a:lnTo>
                <a:cubicBezTo>
                  <a:pt x="51" y="1890"/>
                  <a:pt x="50" y="1890"/>
                  <a:pt x="50" y="1890"/>
                </a:cubicBezTo>
                <a:close/>
                <a:moveTo>
                  <a:pt x="1729" y="0"/>
                </a:moveTo>
                <a:cubicBezTo>
                  <a:pt x="1799" y="0"/>
                  <a:pt x="1869" y="29"/>
                  <a:pt x="1927" y="87"/>
                </a:cubicBezTo>
                <a:cubicBezTo>
                  <a:pt x="2043" y="203"/>
                  <a:pt x="3255" y="1415"/>
                  <a:pt x="3371" y="1531"/>
                </a:cubicBezTo>
                <a:cubicBezTo>
                  <a:pt x="3458" y="1618"/>
                  <a:pt x="3480" y="1732"/>
                  <a:pt x="3436" y="1832"/>
                </a:cubicBezTo>
                <a:lnTo>
                  <a:pt x="3371" y="1926"/>
                </a:lnTo>
                <a:lnTo>
                  <a:pt x="3277" y="1991"/>
                </a:lnTo>
                <a:cubicBezTo>
                  <a:pt x="3177" y="2035"/>
                  <a:pt x="3063" y="2013"/>
                  <a:pt x="2976" y="1926"/>
                </a:cubicBezTo>
                <a:cubicBezTo>
                  <a:pt x="2932" y="1883"/>
                  <a:pt x="2790" y="1740"/>
                  <a:pt x="2622" y="1573"/>
                </a:cubicBezTo>
                <a:lnTo>
                  <a:pt x="2622" y="1572"/>
                </a:lnTo>
                <a:lnTo>
                  <a:pt x="2624" y="2786"/>
                </a:lnTo>
                <a:lnTo>
                  <a:pt x="2624" y="2786"/>
                </a:lnTo>
                <a:lnTo>
                  <a:pt x="2624" y="3020"/>
                </a:lnTo>
                <a:lnTo>
                  <a:pt x="834" y="3020"/>
                </a:lnTo>
                <a:lnTo>
                  <a:pt x="834" y="2267"/>
                </a:lnTo>
                <a:lnTo>
                  <a:pt x="834" y="2267"/>
                </a:lnTo>
                <a:lnTo>
                  <a:pt x="834" y="1568"/>
                </a:lnTo>
                <a:lnTo>
                  <a:pt x="831" y="1571"/>
                </a:lnTo>
                <a:cubicBezTo>
                  <a:pt x="665" y="1737"/>
                  <a:pt x="523" y="1879"/>
                  <a:pt x="479" y="1923"/>
                </a:cubicBezTo>
                <a:cubicBezTo>
                  <a:pt x="392" y="2010"/>
                  <a:pt x="278" y="2031"/>
                  <a:pt x="178" y="1988"/>
                </a:cubicBezTo>
                <a:lnTo>
                  <a:pt x="85" y="1924"/>
                </a:lnTo>
                <a:lnTo>
                  <a:pt x="22" y="1832"/>
                </a:lnTo>
                <a:cubicBezTo>
                  <a:pt x="-22" y="1732"/>
                  <a:pt x="0" y="1618"/>
                  <a:pt x="87" y="1531"/>
                </a:cubicBezTo>
                <a:cubicBezTo>
                  <a:pt x="203" y="1415"/>
                  <a:pt x="1415" y="203"/>
                  <a:pt x="1531" y="87"/>
                </a:cubicBezTo>
                <a:cubicBezTo>
                  <a:pt x="1589" y="29"/>
                  <a:pt x="1659" y="0"/>
                  <a:pt x="1729" y="0"/>
                </a:cubicBezTo>
                <a:close/>
              </a:path>
            </a:pathLst>
          </a:custGeom>
          <a:gradFill>
            <a:gsLst>
              <a:gs pos="90000">
                <a:schemeClr val="accent3">
                  <a:lumMod val="60000"/>
                  <a:lumOff val="40000"/>
                </a:schemeClr>
              </a:gs>
              <a:gs pos="37000">
                <a:schemeClr val="accent3"/>
              </a:gs>
            </a:gsLst>
            <a:lin ang="13500000" scaled="0"/>
          </a:gradFill>
          <a:ln>
            <a:noFill/>
          </a:ln>
          <a:effectLst>
            <a:outerShdw blurRad="50800" dist="38100" dir="2700000" algn="tl" rotWithShape="0">
              <a:schemeClr val="accent3">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1755" tIns="467995" rIns="71755" bIns="7175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b="1">
                <a:solidFill>
                  <a:srgbClr val="FFFFFF"/>
                </a:solidFill>
                <a:latin typeface="+mn-ea"/>
                <a:cs typeface="+mn-ea"/>
                <a:sym typeface="+mn-ea"/>
              </a:rPr>
              <a:t>03</a:t>
            </a:r>
            <a:endParaRPr lang="en-US" altLang="zh-CN" b="1">
              <a:solidFill>
                <a:srgbClr val="FFFFFF"/>
              </a:solidFill>
              <a:latin typeface="+mn-ea"/>
              <a:cs typeface="+mn-ea"/>
              <a:sym typeface="+mn-ea"/>
            </a:endParaRPr>
          </a:p>
        </p:txBody>
      </p:sp>
      <p:sp>
        <p:nvSpPr>
          <p:cNvPr id="15" name="任意多边形 14"/>
          <p:cNvSpPr/>
          <p:nvPr>
            <p:custDataLst>
              <p:tags r:id="rId10"/>
            </p:custDataLst>
          </p:nvPr>
        </p:nvSpPr>
        <p:spPr>
          <a:xfrm>
            <a:off x="5884545" y="4258945"/>
            <a:ext cx="1151255" cy="1207770"/>
          </a:xfrm>
          <a:custGeom>
            <a:avLst/>
            <a:gdLst/>
            <a:ahLst/>
            <a:cxnLst>
              <a:cxn ang="3">
                <a:pos x="hc" y="t"/>
              </a:cxn>
              <a:cxn ang="cd2">
                <a:pos x="l" y="vc"/>
              </a:cxn>
              <a:cxn ang="cd4">
                <a:pos x="hc" y="b"/>
              </a:cxn>
              <a:cxn ang="0">
                <a:pos x="r" y="vc"/>
              </a:cxn>
            </a:cxnLst>
            <a:rect l="l" t="t" r="r" b="b"/>
            <a:pathLst>
              <a:path w="1836" h="1926">
                <a:moveTo>
                  <a:pt x="0" y="0"/>
                </a:moveTo>
                <a:lnTo>
                  <a:pt x="1836" y="0"/>
                </a:lnTo>
                <a:lnTo>
                  <a:pt x="1836" y="146"/>
                </a:lnTo>
                <a:lnTo>
                  <a:pt x="1836" y="909"/>
                </a:lnTo>
                <a:lnTo>
                  <a:pt x="1836" y="1055"/>
                </a:lnTo>
                <a:cubicBezTo>
                  <a:pt x="1836" y="1537"/>
                  <a:pt x="1446" y="1926"/>
                  <a:pt x="965" y="1926"/>
                </a:cubicBezTo>
                <a:lnTo>
                  <a:pt x="0" y="1926"/>
                </a:lnTo>
                <a:lnTo>
                  <a:pt x="0" y="1780"/>
                </a:lnTo>
                <a:lnTo>
                  <a:pt x="0" y="146"/>
                </a:lnTo>
                <a:lnTo>
                  <a:pt x="0" y="0"/>
                </a:lnTo>
                <a:close/>
              </a:path>
            </a:pathLst>
          </a:custGeom>
          <a:gradFill>
            <a:gsLst>
              <a:gs pos="0">
                <a:schemeClr val="accent2">
                  <a:lumMod val="60000"/>
                  <a:lumOff val="40000"/>
                </a:schemeClr>
              </a:gs>
              <a:gs pos="100000">
                <a:schemeClr val="accent2"/>
              </a:gs>
            </a:gsLst>
            <a:lin ang="2700000" scaled="0"/>
          </a:gradFill>
          <a:ln>
            <a:noFill/>
          </a:ln>
          <a:effectLst>
            <a:outerShdw blurRad="50800" dist="38100" dir="2700000" algn="tl"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71755" tIns="71755" rIns="144145" bIns="7175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b="1">
                <a:solidFill>
                  <a:srgbClr val="FFFFFF"/>
                </a:solidFill>
                <a:latin typeface="+mn-ea"/>
                <a:cs typeface="+mn-ea"/>
                <a:sym typeface="+mn-ea"/>
              </a:rPr>
              <a:t>02</a:t>
            </a:r>
            <a:endParaRPr lang="en-US" altLang="zh-CN" b="1">
              <a:solidFill>
                <a:srgbClr val="FFFFFF"/>
              </a:solidFill>
              <a:latin typeface="+mn-ea"/>
              <a:cs typeface="+mn-ea"/>
              <a:sym typeface="+mn-ea"/>
            </a:endParaRPr>
          </a:p>
        </p:txBody>
      </p:sp>
    </p:spTree>
    <p:custDataLst>
      <p:tags r:id="rId1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优化实验结果</a:t>
            </a:r>
            <a:endParaRPr lang="zh-CN" altLang="en-US"/>
          </a:p>
        </p:txBody>
      </p:sp>
      <p:sp>
        <p:nvSpPr>
          <p:cNvPr id="10" name="椭圆 45"/>
          <p:cNvSpPr/>
          <p:nvPr>
            <p:custDataLst>
              <p:tags r:id="rId2"/>
            </p:custDataLst>
          </p:nvPr>
        </p:nvSpPr>
        <p:spPr>
          <a:xfrm rot="20825450">
            <a:off x="4493204" y="3332431"/>
            <a:ext cx="3208517" cy="935235"/>
          </a:xfrm>
          <a:prstGeom prst="ellipse">
            <a:avLst/>
          </a:prstGeom>
          <a:gradFill flip="none" rotWithShape="1">
            <a:gsLst>
              <a:gs pos="0">
                <a:schemeClr val="accent1">
                  <a:lumMod val="60000"/>
                  <a:lumOff val="40000"/>
                  <a:alpha val="40000"/>
                </a:schemeClr>
              </a:gs>
              <a:gs pos="100000">
                <a:schemeClr val="accent1">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sym typeface="微软雅黑 Light" panose="020B0502040204020203" pitchFamily="34" charset="-122"/>
            </a:endParaRPr>
          </a:p>
        </p:txBody>
      </p:sp>
      <p:sp>
        <p:nvSpPr>
          <p:cNvPr id="11" name="椭圆 33"/>
          <p:cNvSpPr/>
          <p:nvPr>
            <p:custDataLst>
              <p:tags r:id="rId3"/>
            </p:custDataLst>
          </p:nvPr>
        </p:nvSpPr>
        <p:spPr>
          <a:xfrm rot="20825450">
            <a:off x="3442259" y="2941229"/>
            <a:ext cx="5310407" cy="1717638"/>
          </a:xfrm>
          <a:prstGeom prst="ellipse">
            <a:avLst/>
          </a:prstGeom>
          <a:noFill/>
          <a:ln w="28575">
            <a:gradFill>
              <a:gsLst>
                <a:gs pos="43800">
                  <a:schemeClr val="accent1">
                    <a:alpha val="70000"/>
                  </a:schemeClr>
                </a:gs>
                <a:gs pos="0">
                  <a:schemeClr val="accent1">
                    <a:alpha val="0"/>
                  </a:schemeClr>
                </a:gs>
                <a:gs pos="100000">
                  <a:schemeClr val="accent1"/>
                </a:gs>
              </a:gsLst>
              <a:lin ang="4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sym typeface="微软雅黑 Light" panose="020B0502040204020203" pitchFamily="34" charset="-122"/>
            </a:endParaRPr>
          </a:p>
        </p:txBody>
      </p:sp>
      <p:sp>
        <p:nvSpPr>
          <p:cNvPr id="12" name="直接连接符 12"/>
          <p:cNvSpPr/>
          <p:nvPr>
            <p:custDataLst>
              <p:tags r:id="rId4"/>
            </p:custDataLst>
          </p:nvPr>
        </p:nvSpPr>
        <p:spPr>
          <a:xfrm rot="20825450">
            <a:off x="4073717" y="3210133"/>
            <a:ext cx="4047490" cy="1179830"/>
          </a:xfrm>
          <a:prstGeom prst="arc">
            <a:avLst>
              <a:gd name="adj1" fmla="val 20527655"/>
              <a:gd name="adj2" fmla="val 873588"/>
            </a:avLst>
          </a:prstGeom>
          <a:noFill/>
          <a:ln cap="rnd">
            <a:gradFill flip="none" rotWithShape="1">
              <a:gsLst>
                <a:gs pos="0">
                  <a:schemeClr val="accent1">
                    <a:alpha val="0"/>
                  </a:schemeClr>
                </a:gs>
                <a:gs pos="100000">
                  <a:schemeClr val="accent1"/>
                </a:gs>
              </a:gsLst>
              <a:lin ang="5400000" scaled="1"/>
              <a:tileRect/>
            </a:gradFill>
            <a:headEnd type="none"/>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sym typeface="微软雅黑 Light" panose="020B0502040204020203" pitchFamily="34" charset="-122"/>
            </a:endParaRPr>
          </a:p>
        </p:txBody>
      </p:sp>
      <p:sp>
        <p:nvSpPr>
          <p:cNvPr id="13" name="椭圆 1"/>
          <p:cNvSpPr/>
          <p:nvPr>
            <p:custDataLst>
              <p:tags r:id="rId5"/>
            </p:custDataLst>
          </p:nvPr>
        </p:nvSpPr>
        <p:spPr>
          <a:xfrm rot="20825450">
            <a:off x="3812004" y="3133870"/>
            <a:ext cx="4570917" cy="1332356"/>
          </a:xfrm>
          <a:prstGeom prst="arc">
            <a:avLst>
              <a:gd name="adj1" fmla="val 8633663"/>
              <a:gd name="adj2" fmla="val 11984035"/>
            </a:avLst>
          </a:prstGeom>
          <a:noFill/>
          <a:ln w="6350">
            <a:gradFill flip="none" rotWithShape="1">
              <a:gsLst>
                <a:gs pos="0">
                  <a:schemeClr val="accent1"/>
                </a:gs>
                <a:gs pos="46600">
                  <a:schemeClr val="accent1">
                    <a:alpha val="28000"/>
                  </a:schemeClr>
                </a:gs>
                <a:gs pos="100000">
                  <a:schemeClr val="accent1">
                    <a:alpha val="0"/>
                  </a:schemeClr>
                </a:gs>
              </a:gsLst>
              <a:lin ang="5400000" scaled="1"/>
              <a:tileRect/>
            </a:gradFill>
            <a:headEnd type="none"/>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sym typeface="微软雅黑 Light" panose="020B0502040204020203" pitchFamily="34" charset="-122"/>
            </a:endParaRPr>
          </a:p>
        </p:txBody>
      </p:sp>
      <p:sp>
        <p:nvSpPr>
          <p:cNvPr id="3" name="椭圆 2"/>
          <p:cNvSpPr/>
          <p:nvPr>
            <p:custDataLst>
              <p:tags r:id="rId6"/>
            </p:custDataLst>
          </p:nvPr>
        </p:nvSpPr>
        <p:spPr bwMode="auto">
          <a:xfrm>
            <a:off x="6554598" y="4298463"/>
            <a:ext cx="436567" cy="436567"/>
          </a:xfrm>
          <a:prstGeom prst="ellipse">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rtlCol="0" anchor="ctr">
            <a:normAutofit fontScale="87500" lnSpcReduction="20000"/>
          </a:bodyPr>
          <a:lstStyle/>
          <a:p>
            <a:pPr algn="ctr"/>
            <a:endParaRPr lang="zh-CN" altLang="en-US" dirty="0">
              <a:cs typeface="+mn-ea"/>
            </a:endParaRPr>
          </a:p>
        </p:txBody>
      </p:sp>
      <p:sp>
        <p:nvSpPr>
          <p:cNvPr id="4" name="Oval 41"/>
          <p:cNvSpPr/>
          <p:nvPr>
            <p:custDataLst>
              <p:tags r:id="rId7"/>
            </p:custDataLst>
          </p:nvPr>
        </p:nvSpPr>
        <p:spPr>
          <a:xfrm>
            <a:off x="6675232" y="4419244"/>
            <a:ext cx="195299" cy="195005"/>
          </a:xfrm>
          <a:custGeom>
            <a:avLst/>
            <a:gdLst>
              <a:gd name="connsiteX0" fmla="*/ 241805 w 609191"/>
              <a:gd name="connsiteY0" fmla="*/ 126251 h 608274"/>
              <a:gd name="connsiteX1" fmla="*/ 37679 w 609191"/>
              <a:gd name="connsiteY1" fmla="*/ 348029 h 608274"/>
              <a:gd name="connsiteX2" fmla="*/ 260645 w 609191"/>
              <a:gd name="connsiteY2" fmla="*/ 570653 h 608274"/>
              <a:gd name="connsiteX3" fmla="*/ 482764 w 609191"/>
              <a:gd name="connsiteY3" fmla="*/ 366839 h 608274"/>
              <a:gd name="connsiteX4" fmla="*/ 373117 w 609191"/>
              <a:gd name="connsiteY4" fmla="*/ 366839 h 608274"/>
              <a:gd name="connsiteX5" fmla="*/ 260645 w 609191"/>
              <a:gd name="connsiteY5" fmla="*/ 461927 h 608274"/>
              <a:gd name="connsiteX6" fmla="*/ 146571 w 609191"/>
              <a:gd name="connsiteY6" fmla="*/ 348029 h 608274"/>
              <a:gd name="connsiteX7" fmla="*/ 241805 w 609191"/>
              <a:gd name="connsiteY7" fmla="*/ 235635 h 608274"/>
              <a:gd name="connsiteX8" fmla="*/ 260645 w 609191"/>
              <a:gd name="connsiteY8" fmla="*/ 87783 h 608274"/>
              <a:gd name="connsiteX9" fmla="*/ 279484 w 609191"/>
              <a:gd name="connsiteY9" fmla="*/ 87783 h 608274"/>
              <a:gd name="connsiteX10" fmla="*/ 279484 w 609191"/>
              <a:gd name="connsiteY10" fmla="*/ 271752 h 608274"/>
              <a:gd name="connsiteX11" fmla="*/ 260645 w 609191"/>
              <a:gd name="connsiteY11" fmla="*/ 271752 h 608274"/>
              <a:gd name="connsiteX12" fmla="*/ 184251 w 609191"/>
              <a:gd name="connsiteY12" fmla="*/ 348029 h 608274"/>
              <a:gd name="connsiteX13" fmla="*/ 260645 w 609191"/>
              <a:gd name="connsiteY13" fmla="*/ 424306 h 608274"/>
              <a:gd name="connsiteX14" fmla="*/ 337040 w 609191"/>
              <a:gd name="connsiteY14" fmla="*/ 348029 h 608274"/>
              <a:gd name="connsiteX15" fmla="*/ 337040 w 609191"/>
              <a:gd name="connsiteY15" fmla="*/ 329218 h 608274"/>
              <a:gd name="connsiteX16" fmla="*/ 521196 w 609191"/>
              <a:gd name="connsiteY16" fmla="*/ 329218 h 608274"/>
              <a:gd name="connsiteX17" fmla="*/ 521196 w 609191"/>
              <a:gd name="connsiteY17" fmla="*/ 348029 h 608274"/>
              <a:gd name="connsiteX18" fmla="*/ 260645 w 609191"/>
              <a:gd name="connsiteY18" fmla="*/ 608274 h 608274"/>
              <a:gd name="connsiteX19" fmla="*/ 0 w 609191"/>
              <a:gd name="connsiteY19" fmla="*/ 348029 h 608274"/>
              <a:gd name="connsiteX20" fmla="*/ 260645 w 609191"/>
              <a:gd name="connsiteY20" fmla="*/ 87783 h 608274"/>
              <a:gd name="connsiteX21" fmla="*/ 367364 w 609191"/>
              <a:gd name="connsiteY21" fmla="*/ 38378 h 608274"/>
              <a:gd name="connsiteX22" fmla="*/ 367364 w 609191"/>
              <a:gd name="connsiteY22" fmla="*/ 147868 h 608274"/>
              <a:gd name="connsiteX23" fmla="*/ 461099 w 609191"/>
              <a:gd name="connsiteY23" fmla="*/ 241461 h 608274"/>
              <a:gd name="connsiteX24" fmla="*/ 570661 w 609191"/>
              <a:gd name="connsiteY24" fmla="*/ 241461 h 608274"/>
              <a:gd name="connsiteX25" fmla="*/ 367364 w 609191"/>
              <a:gd name="connsiteY25" fmla="*/ 38378 h 608274"/>
              <a:gd name="connsiteX26" fmla="*/ 329681 w 609191"/>
              <a:gd name="connsiteY26" fmla="*/ 0 h 608274"/>
              <a:gd name="connsiteX27" fmla="*/ 348523 w 609191"/>
              <a:gd name="connsiteY27" fmla="*/ 0 h 608274"/>
              <a:gd name="connsiteX28" fmla="*/ 609191 w 609191"/>
              <a:gd name="connsiteY28" fmla="*/ 260274 h 608274"/>
              <a:gd name="connsiteX29" fmla="*/ 609191 w 609191"/>
              <a:gd name="connsiteY29" fmla="*/ 279086 h 608274"/>
              <a:gd name="connsiteX30" fmla="*/ 424924 w 609191"/>
              <a:gd name="connsiteY30" fmla="*/ 279086 h 608274"/>
              <a:gd name="connsiteX31" fmla="*/ 424924 w 609191"/>
              <a:gd name="connsiteY31" fmla="*/ 260274 h 608274"/>
              <a:gd name="connsiteX32" fmla="*/ 348523 w 609191"/>
              <a:gd name="connsiteY32" fmla="*/ 183988 h 608274"/>
              <a:gd name="connsiteX33" fmla="*/ 329681 w 609191"/>
              <a:gd name="connsiteY33" fmla="*/ 183988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9191" h="608274">
                <a:moveTo>
                  <a:pt x="241805" y="126251"/>
                </a:moveTo>
                <a:cubicBezTo>
                  <a:pt x="127638" y="135844"/>
                  <a:pt x="37679" y="231591"/>
                  <a:pt x="37679" y="348029"/>
                </a:cubicBezTo>
                <a:cubicBezTo>
                  <a:pt x="37679" y="470768"/>
                  <a:pt x="137717" y="570653"/>
                  <a:pt x="260645" y="570653"/>
                </a:cubicBezTo>
                <a:cubicBezTo>
                  <a:pt x="377168" y="570653"/>
                  <a:pt x="473155" y="480832"/>
                  <a:pt x="482764" y="366839"/>
                </a:cubicBezTo>
                <a:lnTo>
                  <a:pt x="373117" y="366839"/>
                </a:lnTo>
                <a:cubicBezTo>
                  <a:pt x="364169" y="420732"/>
                  <a:pt x="317069" y="461927"/>
                  <a:pt x="260645" y="461927"/>
                </a:cubicBezTo>
                <a:cubicBezTo>
                  <a:pt x="197721" y="461927"/>
                  <a:pt x="146571" y="410856"/>
                  <a:pt x="146571" y="348029"/>
                </a:cubicBezTo>
                <a:cubicBezTo>
                  <a:pt x="146571" y="291597"/>
                  <a:pt x="187830" y="244664"/>
                  <a:pt x="241805" y="235635"/>
                </a:cubicBezTo>
                <a:close/>
                <a:moveTo>
                  <a:pt x="260645" y="87783"/>
                </a:moveTo>
                <a:lnTo>
                  <a:pt x="279484" y="87783"/>
                </a:lnTo>
                <a:lnTo>
                  <a:pt x="279484" y="271752"/>
                </a:lnTo>
                <a:lnTo>
                  <a:pt x="260645" y="271752"/>
                </a:lnTo>
                <a:cubicBezTo>
                  <a:pt x="218444" y="271752"/>
                  <a:pt x="184251" y="305987"/>
                  <a:pt x="184251" y="348029"/>
                </a:cubicBezTo>
                <a:cubicBezTo>
                  <a:pt x="184251" y="390071"/>
                  <a:pt x="218444" y="424306"/>
                  <a:pt x="260645" y="424306"/>
                </a:cubicBezTo>
                <a:cubicBezTo>
                  <a:pt x="302751" y="424306"/>
                  <a:pt x="337040" y="390071"/>
                  <a:pt x="337040" y="348029"/>
                </a:cubicBezTo>
                <a:lnTo>
                  <a:pt x="337040" y="329218"/>
                </a:lnTo>
                <a:lnTo>
                  <a:pt x="521196" y="329218"/>
                </a:lnTo>
                <a:lnTo>
                  <a:pt x="521196" y="348029"/>
                </a:lnTo>
                <a:cubicBezTo>
                  <a:pt x="521196" y="491554"/>
                  <a:pt x="404297" y="608274"/>
                  <a:pt x="260645" y="608274"/>
                </a:cubicBezTo>
                <a:cubicBezTo>
                  <a:pt x="116899" y="608274"/>
                  <a:pt x="0" y="491554"/>
                  <a:pt x="0" y="348029"/>
                </a:cubicBezTo>
                <a:cubicBezTo>
                  <a:pt x="0" y="204503"/>
                  <a:pt x="116899" y="87783"/>
                  <a:pt x="260645" y="87783"/>
                </a:cubicBezTo>
                <a:close/>
                <a:moveTo>
                  <a:pt x="367364" y="38378"/>
                </a:moveTo>
                <a:lnTo>
                  <a:pt x="367364" y="147868"/>
                </a:lnTo>
                <a:cubicBezTo>
                  <a:pt x="415221" y="155863"/>
                  <a:pt x="453091" y="193677"/>
                  <a:pt x="461099" y="241461"/>
                </a:cubicBezTo>
                <a:lnTo>
                  <a:pt x="570661" y="241461"/>
                </a:lnTo>
                <a:cubicBezTo>
                  <a:pt x="561617" y="133664"/>
                  <a:pt x="475324" y="47502"/>
                  <a:pt x="367364" y="38378"/>
                </a:cubicBezTo>
                <a:close/>
                <a:moveTo>
                  <a:pt x="329681" y="0"/>
                </a:moveTo>
                <a:lnTo>
                  <a:pt x="348523" y="0"/>
                </a:lnTo>
                <a:cubicBezTo>
                  <a:pt x="492281" y="0"/>
                  <a:pt x="609191" y="116733"/>
                  <a:pt x="609191" y="260274"/>
                </a:cubicBezTo>
                <a:lnTo>
                  <a:pt x="609191" y="279086"/>
                </a:lnTo>
                <a:lnTo>
                  <a:pt x="424924" y="279086"/>
                </a:lnTo>
                <a:lnTo>
                  <a:pt x="424924" y="260274"/>
                </a:lnTo>
                <a:cubicBezTo>
                  <a:pt x="424924" y="218133"/>
                  <a:pt x="390633" y="183988"/>
                  <a:pt x="348523" y="183988"/>
                </a:cubicBezTo>
                <a:lnTo>
                  <a:pt x="329681" y="183988"/>
                </a:lnTo>
                <a:close/>
              </a:path>
            </a:pathLst>
          </a:cu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p>
        </p:txBody>
      </p:sp>
      <p:sp>
        <p:nvSpPr>
          <p:cNvPr id="5" name="椭圆 4"/>
          <p:cNvSpPr/>
          <p:nvPr>
            <p:custDataLst>
              <p:tags r:id="rId8"/>
            </p:custDataLst>
          </p:nvPr>
        </p:nvSpPr>
        <p:spPr bwMode="auto">
          <a:xfrm>
            <a:off x="3337178" y="4242988"/>
            <a:ext cx="436567" cy="436567"/>
          </a:xfrm>
          <a:prstGeom prst="ellipse">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rtlCol="0" anchor="ctr">
            <a:normAutofit fontScale="87500" lnSpcReduction="20000"/>
          </a:bodyPr>
          <a:lstStyle/>
          <a:p>
            <a:pPr algn="ctr"/>
            <a:endParaRPr lang="zh-CN" altLang="en-US">
              <a:cs typeface="+mn-ea"/>
            </a:endParaRPr>
          </a:p>
        </p:txBody>
      </p:sp>
      <p:sp>
        <p:nvSpPr>
          <p:cNvPr id="6" name="Oval 42"/>
          <p:cNvSpPr/>
          <p:nvPr>
            <p:custDataLst>
              <p:tags r:id="rId9"/>
            </p:custDataLst>
          </p:nvPr>
        </p:nvSpPr>
        <p:spPr>
          <a:xfrm>
            <a:off x="3457812" y="4366885"/>
            <a:ext cx="195299" cy="188773"/>
          </a:xfrm>
          <a:custGeom>
            <a:avLst/>
            <a:gdLst>
              <a:gd name="T0" fmla="*/ 8000 w 9600"/>
              <a:gd name="T1" fmla="*/ 960 h 9280"/>
              <a:gd name="T2" fmla="*/ 7360 w 9600"/>
              <a:gd name="T3" fmla="*/ 960 h 9280"/>
              <a:gd name="T4" fmla="*/ 7360 w 9600"/>
              <a:gd name="T5" fmla="*/ 320 h 9280"/>
              <a:gd name="T6" fmla="*/ 7040 w 9600"/>
              <a:gd name="T7" fmla="*/ 0 h 9280"/>
              <a:gd name="T8" fmla="*/ 6720 w 9600"/>
              <a:gd name="T9" fmla="*/ 320 h 9280"/>
              <a:gd name="T10" fmla="*/ 6720 w 9600"/>
              <a:gd name="T11" fmla="*/ 960 h 9280"/>
              <a:gd name="T12" fmla="*/ 2880 w 9600"/>
              <a:gd name="T13" fmla="*/ 960 h 9280"/>
              <a:gd name="T14" fmla="*/ 2880 w 9600"/>
              <a:gd name="T15" fmla="*/ 320 h 9280"/>
              <a:gd name="T16" fmla="*/ 2560 w 9600"/>
              <a:gd name="T17" fmla="*/ 0 h 9280"/>
              <a:gd name="T18" fmla="*/ 2240 w 9600"/>
              <a:gd name="T19" fmla="*/ 320 h 9280"/>
              <a:gd name="T20" fmla="*/ 2240 w 9600"/>
              <a:gd name="T21" fmla="*/ 960 h 9280"/>
              <a:gd name="T22" fmla="*/ 1600 w 9600"/>
              <a:gd name="T23" fmla="*/ 960 h 9280"/>
              <a:gd name="T24" fmla="*/ 0 w 9600"/>
              <a:gd name="T25" fmla="*/ 2560 h 9280"/>
              <a:gd name="T26" fmla="*/ 0 w 9600"/>
              <a:gd name="T27" fmla="*/ 7680 h 9280"/>
              <a:gd name="T28" fmla="*/ 1600 w 9600"/>
              <a:gd name="T29" fmla="*/ 9280 h 9280"/>
              <a:gd name="T30" fmla="*/ 8000 w 9600"/>
              <a:gd name="T31" fmla="*/ 9280 h 9280"/>
              <a:gd name="T32" fmla="*/ 9600 w 9600"/>
              <a:gd name="T33" fmla="*/ 7680 h 9280"/>
              <a:gd name="T34" fmla="*/ 9600 w 9600"/>
              <a:gd name="T35" fmla="*/ 2560 h 9280"/>
              <a:gd name="T36" fmla="*/ 8000 w 9600"/>
              <a:gd name="T37" fmla="*/ 960 h 9280"/>
              <a:gd name="T38" fmla="*/ 640 w 9600"/>
              <a:gd name="T39" fmla="*/ 2560 h 9280"/>
              <a:gd name="T40" fmla="*/ 1600 w 9600"/>
              <a:gd name="T41" fmla="*/ 1600 h 9280"/>
              <a:gd name="T42" fmla="*/ 2240 w 9600"/>
              <a:gd name="T43" fmla="*/ 1600 h 9280"/>
              <a:gd name="T44" fmla="*/ 2240 w 9600"/>
              <a:gd name="T45" fmla="*/ 3520 h 9280"/>
              <a:gd name="T46" fmla="*/ 2560 w 9600"/>
              <a:gd name="T47" fmla="*/ 3840 h 9280"/>
              <a:gd name="T48" fmla="*/ 2880 w 9600"/>
              <a:gd name="T49" fmla="*/ 3520 h 9280"/>
              <a:gd name="T50" fmla="*/ 2880 w 9600"/>
              <a:gd name="T51" fmla="*/ 1600 h 9280"/>
              <a:gd name="T52" fmla="*/ 6720 w 9600"/>
              <a:gd name="T53" fmla="*/ 1600 h 9280"/>
              <a:gd name="T54" fmla="*/ 6720 w 9600"/>
              <a:gd name="T55" fmla="*/ 3520 h 9280"/>
              <a:gd name="T56" fmla="*/ 7040 w 9600"/>
              <a:gd name="T57" fmla="*/ 3840 h 9280"/>
              <a:gd name="T58" fmla="*/ 7360 w 9600"/>
              <a:gd name="T59" fmla="*/ 3520 h 9280"/>
              <a:gd name="T60" fmla="*/ 7360 w 9600"/>
              <a:gd name="T61" fmla="*/ 1600 h 9280"/>
              <a:gd name="T62" fmla="*/ 8000 w 9600"/>
              <a:gd name="T63" fmla="*/ 1600 h 9280"/>
              <a:gd name="T64" fmla="*/ 8960 w 9600"/>
              <a:gd name="T65" fmla="*/ 2560 h 9280"/>
              <a:gd name="T66" fmla="*/ 8960 w 9600"/>
              <a:gd name="T67" fmla="*/ 4480 h 9280"/>
              <a:gd name="T68" fmla="*/ 640 w 9600"/>
              <a:gd name="T69" fmla="*/ 4480 h 9280"/>
              <a:gd name="T70" fmla="*/ 640 w 9600"/>
              <a:gd name="T71" fmla="*/ 2560 h 9280"/>
              <a:gd name="T72" fmla="*/ 8960 w 9600"/>
              <a:gd name="T73" fmla="*/ 7680 h 9280"/>
              <a:gd name="T74" fmla="*/ 8000 w 9600"/>
              <a:gd name="T75" fmla="*/ 8640 h 9280"/>
              <a:gd name="T76" fmla="*/ 1600 w 9600"/>
              <a:gd name="T77" fmla="*/ 8640 h 9280"/>
              <a:gd name="T78" fmla="*/ 640 w 9600"/>
              <a:gd name="T79" fmla="*/ 7680 h 9280"/>
              <a:gd name="T80" fmla="*/ 640 w 9600"/>
              <a:gd name="T81" fmla="*/ 5120 h 9280"/>
              <a:gd name="T82" fmla="*/ 8960 w 9600"/>
              <a:gd name="T83" fmla="*/ 5120 h 9280"/>
              <a:gd name="T84" fmla="*/ 8960 w 9600"/>
              <a:gd name="T85" fmla="*/ 7680 h 9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600" h="9280">
                <a:moveTo>
                  <a:pt x="8000" y="960"/>
                </a:moveTo>
                <a:lnTo>
                  <a:pt x="7360" y="960"/>
                </a:lnTo>
                <a:lnTo>
                  <a:pt x="7360" y="320"/>
                </a:lnTo>
                <a:cubicBezTo>
                  <a:pt x="7360" y="144"/>
                  <a:pt x="7217" y="0"/>
                  <a:pt x="7040" y="0"/>
                </a:cubicBezTo>
                <a:cubicBezTo>
                  <a:pt x="6863" y="0"/>
                  <a:pt x="6720" y="144"/>
                  <a:pt x="6720" y="320"/>
                </a:cubicBezTo>
                <a:lnTo>
                  <a:pt x="6720" y="960"/>
                </a:lnTo>
                <a:lnTo>
                  <a:pt x="2880" y="960"/>
                </a:lnTo>
                <a:lnTo>
                  <a:pt x="2880" y="320"/>
                </a:lnTo>
                <a:cubicBezTo>
                  <a:pt x="2880" y="144"/>
                  <a:pt x="2737" y="0"/>
                  <a:pt x="2560" y="0"/>
                </a:cubicBezTo>
                <a:cubicBezTo>
                  <a:pt x="2383" y="0"/>
                  <a:pt x="2240" y="144"/>
                  <a:pt x="2240" y="320"/>
                </a:cubicBezTo>
                <a:lnTo>
                  <a:pt x="2240" y="960"/>
                </a:lnTo>
                <a:lnTo>
                  <a:pt x="1600" y="960"/>
                </a:lnTo>
                <a:cubicBezTo>
                  <a:pt x="716" y="960"/>
                  <a:pt x="0" y="1677"/>
                  <a:pt x="0" y="2560"/>
                </a:cubicBezTo>
                <a:lnTo>
                  <a:pt x="0" y="7680"/>
                </a:lnTo>
                <a:cubicBezTo>
                  <a:pt x="0" y="8564"/>
                  <a:pt x="716" y="9280"/>
                  <a:pt x="1600" y="9280"/>
                </a:cubicBezTo>
                <a:lnTo>
                  <a:pt x="8000" y="9280"/>
                </a:lnTo>
                <a:cubicBezTo>
                  <a:pt x="8884" y="9280"/>
                  <a:pt x="9600" y="8564"/>
                  <a:pt x="9600" y="7680"/>
                </a:cubicBezTo>
                <a:lnTo>
                  <a:pt x="9600" y="2560"/>
                </a:lnTo>
                <a:cubicBezTo>
                  <a:pt x="9600" y="1677"/>
                  <a:pt x="8884" y="960"/>
                  <a:pt x="8000" y="960"/>
                </a:cubicBezTo>
                <a:close/>
                <a:moveTo>
                  <a:pt x="640" y="2560"/>
                </a:moveTo>
                <a:cubicBezTo>
                  <a:pt x="640" y="2030"/>
                  <a:pt x="1070" y="1600"/>
                  <a:pt x="1600" y="1600"/>
                </a:cubicBezTo>
                <a:lnTo>
                  <a:pt x="2240" y="1600"/>
                </a:lnTo>
                <a:lnTo>
                  <a:pt x="2240" y="3520"/>
                </a:lnTo>
                <a:cubicBezTo>
                  <a:pt x="2240" y="3697"/>
                  <a:pt x="2383" y="3840"/>
                  <a:pt x="2560" y="3840"/>
                </a:cubicBezTo>
                <a:cubicBezTo>
                  <a:pt x="2737" y="3840"/>
                  <a:pt x="2880" y="3697"/>
                  <a:pt x="2880" y="3520"/>
                </a:cubicBezTo>
                <a:lnTo>
                  <a:pt x="2880" y="1600"/>
                </a:lnTo>
                <a:lnTo>
                  <a:pt x="6720" y="1600"/>
                </a:lnTo>
                <a:lnTo>
                  <a:pt x="6720" y="3520"/>
                </a:lnTo>
                <a:cubicBezTo>
                  <a:pt x="6720" y="3697"/>
                  <a:pt x="6863" y="3840"/>
                  <a:pt x="7040" y="3840"/>
                </a:cubicBezTo>
                <a:cubicBezTo>
                  <a:pt x="7217" y="3840"/>
                  <a:pt x="7360" y="3697"/>
                  <a:pt x="7360" y="3520"/>
                </a:cubicBezTo>
                <a:lnTo>
                  <a:pt x="7360" y="1600"/>
                </a:lnTo>
                <a:lnTo>
                  <a:pt x="8000" y="1600"/>
                </a:lnTo>
                <a:cubicBezTo>
                  <a:pt x="8530" y="1600"/>
                  <a:pt x="8960" y="2030"/>
                  <a:pt x="8960" y="2560"/>
                </a:cubicBezTo>
                <a:lnTo>
                  <a:pt x="8960" y="4480"/>
                </a:lnTo>
                <a:lnTo>
                  <a:pt x="640" y="4480"/>
                </a:lnTo>
                <a:lnTo>
                  <a:pt x="640" y="2560"/>
                </a:lnTo>
                <a:close/>
                <a:moveTo>
                  <a:pt x="8960" y="7680"/>
                </a:moveTo>
                <a:cubicBezTo>
                  <a:pt x="8960" y="8211"/>
                  <a:pt x="8530" y="8640"/>
                  <a:pt x="8000" y="8640"/>
                </a:cubicBezTo>
                <a:lnTo>
                  <a:pt x="1600" y="8640"/>
                </a:lnTo>
                <a:cubicBezTo>
                  <a:pt x="1070" y="8640"/>
                  <a:pt x="640" y="8211"/>
                  <a:pt x="640" y="7680"/>
                </a:cubicBezTo>
                <a:lnTo>
                  <a:pt x="640" y="5120"/>
                </a:lnTo>
                <a:lnTo>
                  <a:pt x="8960" y="5120"/>
                </a:lnTo>
                <a:lnTo>
                  <a:pt x="8960" y="7680"/>
                </a:lnTo>
                <a:close/>
              </a:path>
            </a:pathLst>
          </a:cu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p>
        </p:txBody>
      </p:sp>
      <p:sp>
        <p:nvSpPr>
          <p:cNvPr id="2" name="矩形 1"/>
          <p:cNvSpPr/>
          <p:nvPr>
            <p:custDataLst>
              <p:tags r:id="rId10"/>
            </p:custDataLst>
          </p:nvPr>
        </p:nvSpPr>
        <p:spPr>
          <a:xfrm>
            <a:off x="6096000" y="5271135"/>
            <a:ext cx="4753610" cy="655955"/>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600">
                <a:solidFill>
                  <a:schemeClr val="tx1">
                    <a:lumMod val="85000"/>
                    <a:lumOff val="15000"/>
                  </a:schemeClr>
                </a:solidFill>
                <a:latin typeface="+mn-ea"/>
                <a:cs typeface="+mn-ea"/>
              </a:rPr>
              <a:t>本轮实验的结果将用于筛选后续实验参数，而不是直接作为最终论文结果。下一步会在确定参数范围后，使用多个随机种子重复实验。</a:t>
            </a:r>
            <a:endParaRPr lang="zh-CN" altLang="en-US" sz="1600">
              <a:solidFill>
                <a:schemeClr val="tx1">
                  <a:lumMod val="85000"/>
                  <a:lumOff val="15000"/>
                </a:schemeClr>
              </a:solidFill>
              <a:latin typeface="+mn-ea"/>
              <a:cs typeface="+mn-ea"/>
            </a:endParaRPr>
          </a:p>
        </p:txBody>
      </p:sp>
      <p:sp>
        <p:nvSpPr>
          <p:cNvPr id="7" name="矩形 6"/>
          <p:cNvSpPr/>
          <p:nvPr>
            <p:custDataLst>
              <p:tags r:id="rId11"/>
            </p:custDataLst>
          </p:nvPr>
        </p:nvSpPr>
        <p:spPr>
          <a:xfrm>
            <a:off x="6991350" y="4767532"/>
            <a:ext cx="2475230" cy="457595"/>
          </a:xfrm>
          <a:prstGeom prst="rect">
            <a:avLst/>
          </a:prstGeom>
          <a:noFill/>
        </p:spPr>
        <p:txBody>
          <a:bodyPr wrap="square" lIns="0" tIns="0" rIns="0" bIns="0" rtlCol="0" anchor="b">
            <a:noAutofit/>
          </a:bodyPr>
          <a:lstStyle/>
          <a:p>
            <a:pPr>
              <a:spcBef>
                <a:spcPct val="0"/>
              </a:spcBef>
              <a:spcAft>
                <a:spcPct val="0"/>
              </a:spcAft>
            </a:pPr>
            <a:r>
              <a:rPr lang="zh-CN" altLang="en-US" sz="2200" b="1">
                <a:solidFill>
                  <a:schemeClr val="accent1"/>
                </a:solidFill>
                <a:latin typeface="+mn-ea"/>
                <a:cs typeface="+mn-ea"/>
              </a:rPr>
              <a:t>实验结论与下一步</a:t>
            </a:r>
            <a:endParaRPr lang="zh-CN" altLang="en-US" sz="2200" b="1">
              <a:solidFill>
                <a:schemeClr val="accent1"/>
              </a:solidFill>
              <a:latin typeface="+mn-ea"/>
              <a:cs typeface="+mn-ea"/>
            </a:endParaRPr>
          </a:p>
        </p:txBody>
      </p:sp>
      <p:sp>
        <p:nvSpPr>
          <p:cNvPr id="8" name="矩形 7"/>
          <p:cNvSpPr/>
          <p:nvPr>
            <p:custDataLst>
              <p:tags r:id="rId12"/>
            </p:custDataLst>
          </p:nvPr>
        </p:nvSpPr>
        <p:spPr>
          <a:xfrm>
            <a:off x="861695" y="5339080"/>
            <a:ext cx="3302000" cy="831215"/>
          </a:xfrm>
          <a:prstGeom prst="rect">
            <a:avLst/>
          </a:prstGeom>
          <a:noFill/>
        </p:spPr>
        <p:txBody>
          <a:bodyPr wrap="square" lIns="0" tIns="0" rIns="0" bIns="0" rtlCol="0" anchor="t" anchorCtr="0">
            <a:noAutofit/>
          </a:bodyPr>
          <a:lstStyle/>
          <a:p>
            <a:pPr algn="r">
              <a:lnSpc>
                <a:spcPct val="150000"/>
              </a:lnSpc>
              <a:spcBef>
                <a:spcPct val="0"/>
              </a:spcBef>
              <a:spcAft>
                <a:spcPct val="0"/>
              </a:spcAft>
            </a:pPr>
            <a:r>
              <a:rPr lang="zh-CN" altLang="en-US" sz="1600">
                <a:solidFill>
                  <a:schemeClr val="tx1">
                    <a:lumMod val="85000"/>
                    <a:lumOff val="15000"/>
                  </a:schemeClr>
                </a:solidFill>
                <a:latin typeface="+mn-ea"/>
                <a:cs typeface="+mn-ea"/>
              </a:rPr>
              <a:t>从实验曲线中重点观察训练损失、验证集准确率以及最终测试结果的变化。</a:t>
            </a:r>
            <a:endParaRPr lang="zh-CN" altLang="en-US" sz="1600">
              <a:solidFill>
                <a:schemeClr val="tx1">
                  <a:lumMod val="85000"/>
                  <a:lumOff val="15000"/>
                </a:schemeClr>
              </a:solidFill>
              <a:latin typeface="+mn-ea"/>
              <a:cs typeface="+mn-ea"/>
            </a:endParaRPr>
          </a:p>
        </p:txBody>
      </p:sp>
      <p:sp>
        <p:nvSpPr>
          <p:cNvPr id="9" name="矩形 8"/>
          <p:cNvSpPr/>
          <p:nvPr>
            <p:custDataLst>
              <p:tags r:id="rId13"/>
            </p:custDataLst>
          </p:nvPr>
        </p:nvSpPr>
        <p:spPr>
          <a:xfrm>
            <a:off x="861695" y="4780520"/>
            <a:ext cx="2475230" cy="457595"/>
          </a:xfrm>
          <a:prstGeom prst="rect">
            <a:avLst/>
          </a:prstGeom>
          <a:noFill/>
        </p:spPr>
        <p:txBody>
          <a:bodyPr wrap="square" lIns="0" tIns="0" rIns="0" bIns="0" rtlCol="0" anchor="b">
            <a:noAutofit/>
          </a:bodyPr>
          <a:lstStyle/>
          <a:p>
            <a:pPr algn="r">
              <a:spcBef>
                <a:spcPct val="0"/>
              </a:spcBef>
              <a:spcAft>
                <a:spcPct val="0"/>
              </a:spcAft>
            </a:pPr>
            <a:r>
              <a:rPr lang="zh-CN" altLang="en-US" sz="2200" b="1">
                <a:solidFill>
                  <a:schemeClr val="accent1"/>
                </a:solidFill>
                <a:latin typeface="+mn-ea"/>
                <a:cs typeface="+mn-ea"/>
              </a:rPr>
              <a:t>结果变化分析</a:t>
            </a:r>
            <a:endParaRPr lang="zh-CN" altLang="en-US" sz="2200" b="1">
              <a:solidFill>
                <a:schemeClr val="accent1"/>
              </a:solidFill>
              <a:latin typeface="+mn-ea"/>
              <a:cs typeface="+mn-ea"/>
            </a:endParaRPr>
          </a:p>
        </p:txBody>
      </p:sp>
      <p:sp>
        <p:nvSpPr>
          <p:cNvPr id="20" name="椭圆 19"/>
          <p:cNvSpPr/>
          <p:nvPr>
            <p:custDataLst>
              <p:tags r:id="rId14"/>
            </p:custDataLst>
          </p:nvPr>
        </p:nvSpPr>
        <p:spPr bwMode="auto">
          <a:xfrm>
            <a:off x="5877715" y="2716047"/>
            <a:ext cx="436567" cy="436567"/>
          </a:xfrm>
          <a:prstGeom prst="ellipse">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rtlCol="0" anchor="ctr">
            <a:normAutofit fontScale="87500" lnSpcReduction="20000"/>
          </a:bodyPr>
          <a:lstStyle/>
          <a:p>
            <a:pPr algn="ctr"/>
            <a:endParaRPr lang="zh-CN" altLang="en-US">
              <a:cs typeface="+mn-ea"/>
            </a:endParaRPr>
          </a:p>
        </p:txBody>
      </p:sp>
      <p:sp>
        <p:nvSpPr>
          <p:cNvPr id="21" name="Oval 47"/>
          <p:cNvSpPr/>
          <p:nvPr>
            <p:custDataLst>
              <p:tags r:id="rId15"/>
            </p:custDataLst>
          </p:nvPr>
        </p:nvSpPr>
        <p:spPr>
          <a:xfrm>
            <a:off x="6006223" y="2836681"/>
            <a:ext cx="179550" cy="195299"/>
          </a:xfrm>
          <a:custGeom>
            <a:avLst/>
            <a:gdLst>
              <a:gd name="T0" fmla="*/ 8640 w 10592"/>
              <a:gd name="T1" fmla="*/ 10880 h 11520"/>
              <a:gd name="T2" fmla="*/ 5600 w 10592"/>
              <a:gd name="T3" fmla="*/ 10880 h 11520"/>
              <a:gd name="T4" fmla="*/ 2560 w 10592"/>
              <a:gd name="T5" fmla="*/ 7840 h 11520"/>
              <a:gd name="T6" fmla="*/ 3520 w 10592"/>
              <a:gd name="T7" fmla="*/ 5632 h 11520"/>
              <a:gd name="T8" fmla="*/ 4000 w 10592"/>
              <a:gd name="T9" fmla="*/ 5760 h 11520"/>
              <a:gd name="T10" fmla="*/ 4384 w 10592"/>
              <a:gd name="T11" fmla="*/ 5696 h 11520"/>
              <a:gd name="T12" fmla="*/ 6176 w 10592"/>
              <a:gd name="T13" fmla="*/ 7488 h 11520"/>
              <a:gd name="T14" fmla="*/ 6624 w 10592"/>
              <a:gd name="T15" fmla="*/ 7680 h 11520"/>
              <a:gd name="T16" fmla="*/ 7072 w 10592"/>
              <a:gd name="T17" fmla="*/ 7488 h 11520"/>
              <a:gd name="T18" fmla="*/ 8768 w 10592"/>
              <a:gd name="T19" fmla="*/ 5792 h 11520"/>
              <a:gd name="T20" fmla="*/ 8960 w 10592"/>
              <a:gd name="T21" fmla="*/ 5344 h 11520"/>
              <a:gd name="T22" fmla="*/ 8768 w 10592"/>
              <a:gd name="T23" fmla="*/ 4896 h 11520"/>
              <a:gd name="T24" fmla="*/ 4384 w 10592"/>
              <a:gd name="T25" fmla="*/ 512 h 11520"/>
              <a:gd name="T26" fmla="*/ 3936 w 10592"/>
              <a:gd name="T27" fmla="*/ 320 h 11520"/>
              <a:gd name="T28" fmla="*/ 3488 w 10592"/>
              <a:gd name="T29" fmla="*/ 512 h 11520"/>
              <a:gd name="T30" fmla="*/ 1792 w 10592"/>
              <a:gd name="T31" fmla="*/ 2208 h 11520"/>
              <a:gd name="T32" fmla="*/ 1600 w 10592"/>
              <a:gd name="T33" fmla="*/ 2656 h 11520"/>
              <a:gd name="T34" fmla="*/ 1792 w 10592"/>
              <a:gd name="T35" fmla="*/ 3104 h 11520"/>
              <a:gd name="T36" fmla="*/ 2944 w 10592"/>
              <a:gd name="T37" fmla="*/ 4256 h 11520"/>
              <a:gd name="T38" fmla="*/ 2880 w 10592"/>
              <a:gd name="T39" fmla="*/ 4640 h 11520"/>
              <a:gd name="T40" fmla="*/ 3040 w 10592"/>
              <a:gd name="T41" fmla="*/ 5216 h 11520"/>
              <a:gd name="T42" fmla="*/ 1920 w 10592"/>
              <a:gd name="T43" fmla="*/ 7840 h 11520"/>
              <a:gd name="T44" fmla="*/ 3520 w 10592"/>
              <a:gd name="T45" fmla="*/ 10880 h 11520"/>
              <a:gd name="T46" fmla="*/ 320 w 10592"/>
              <a:gd name="T47" fmla="*/ 10880 h 11520"/>
              <a:gd name="T48" fmla="*/ 0 w 10592"/>
              <a:gd name="T49" fmla="*/ 11200 h 11520"/>
              <a:gd name="T50" fmla="*/ 320 w 10592"/>
              <a:gd name="T51" fmla="*/ 11520 h 11520"/>
              <a:gd name="T52" fmla="*/ 8640 w 10592"/>
              <a:gd name="T53" fmla="*/ 11520 h 11520"/>
              <a:gd name="T54" fmla="*/ 8960 w 10592"/>
              <a:gd name="T55" fmla="*/ 11200 h 11520"/>
              <a:gd name="T56" fmla="*/ 8640 w 10592"/>
              <a:gd name="T57" fmla="*/ 10880 h 11520"/>
              <a:gd name="T58" fmla="*/ 3520 w 10592"/>
              <a:gd name="T59" fmla="*/ 4640 h 11520"/>
              <a:gd name="T60" fmla="*/ 4000 w 10592"/>
              <a:gd name="T61" fmla="*/ 4160 h 11520"/>
              <a:gd name="T62" fmla="*/ 4480 w 10592"/>
              <a:gd name="T63" fmla="*/ 4640 h 11520"/>
              <a:gd name="T64" fmla="*/ 4000 w 10592"/>
              <a:gd name="T65" fmla="*/ 5120 h 11520"/>
              <a:gd name="T66" fmla="*/ 3520 w 10592"/>
              <a:gd name="T67" fmla="*/ 4640 h 11520"/>
              <a:gd name="T68" fmla="*/ 3936 w 10592"/>
              <a:gd name="T69" fmla="*/ 960 h 11520"/>
              <a:gd name="T70" fmla="*/ 8320 w 10592"/>
              <a:gd name="T71" fmla="*/ 5344 h 11520"/>
              <a:gd name="T72" fmla="*/ 6624 w 10592"/>
              <a:gd name="T73" fmla="*/ 7040 h 11520"/>
              <a:gd name="T74" fmla="*/ 4896 w 10592"/>
              <a:gd name="T75" fmla="*/ 5312 h 11520"/>
              <a:gd name="T76" fmla="*/ 5120 w 10592"/>
              <a:gd name="T77" fmla="*/ 4640 h 11520"/>
              <a:gd name="T78" fmla="*/ 4000 w 10592"/>
              <a:gd name="T79" fmla="*/ 3520 h 11520"/>
              <a:gd name="T80" fmla="*/ 3328 w 10592"/>
              <a:gd name="T81" fmla="*/ 3744 h 11520"/>
              <a:gd name="T82" fmla="*/ 2240 w 10592"/>
              <a:gd name="T83" fmla="*/ 2656 h 11520"/>
              <a:gd name="T84" fmla="*/ 3936 w 10592"/>
              <a:gd name="T85" fmla="*/ 960 h 11520"/>
              <a:gd name="T86" fmla="*/ 10464 w 10592"/>
              <a:gd name="T87" fmla="*/ 5216 h 11520"/>
              <a:gd name="T88" fmla="*/ 10240 w 10592"/>
              <a:gd name="T89" fmla="*/ 5120 h 11520"/>
              <a:gd name="T90" fmla="*/ 10016 w 10592"/>
              <a:gd name="T91" fmla="*/ 5216 h 11520"/>
              <a:gd name="T92" fmla="*/ 6496 w 10592"/>
              <a:gd name="T93" fmla="*/ 8736 h 11520"/>
              <a:gd name="T94" fmla="*/ 6496 w 10592"/>
              <a:gd name="T95" fmla="*/ 9184 h 11520"/>
              <a:gd name="T96" fmla="*/ 6720 w 10592"/>
              <a:gd name="T97" fmla="*/ 9280 h 11520"/>
              <a:gd name="T98" fmla="*/ 6944 w 10592"/>
              <a:gd name="T99" fmla="*/ 9184 h 11520"/>
              <a:gd name="T100" fmla="*/ 10464 w 10592"/>
              <a:gd name="T101" fmla="*/ 5664 h 11520"/>
              <a:gd name="T102" fmla="*/ 10464 w 10592"/>
              <a:gd name="T103" fmla="*/ 5216 h 11520"/>
              <a:gd name="T104" fmla="*/ 1600 w 10592"/>
              <a:gd name="T105" fmla="*/ 1600 h 11520"/>
              <a:gd name="T106" fmla="*/ 1824 w 10592"/>
              <a:gd name="T107" fmla="*/ 1504 h 11520"/>
              <a:gd name="T108" fmla="*/ 2784 w 10592"/>
              <a:gd name="T109" fmla="*/ 544 h 11520"/>
              <a:gd name="T110" fmla="*/ 2784 w 10592"/>
              <a:gd name="T111" fmla="*/ 96 h 11520"/>
              <a:gd name="T112" fmla="*/ 2560 w 10592"/>
              <a:gd name="T113" fmla="*/ 0 h 11520"/>
              <a:gd name="T114" fmla="*/ 2336 w 10592"/>
              <a:gd name="T115" fmla="*/ 96 h 11520"/>
              <a:gd name="T116" fmla="*/ 1376 w 10592"/>
              <a:gd name="T117" fmla="*/ 1056 h 11520"/>
              <a:gd name="T118" fmla="*/ 1376 w 10592"/>
              <a:gd name="T119" fmla="*/ 1504 h 11520"/>
              <a:gd name="T120" fmla="*/ 1600 w 10592"/>
              <a:gd name="T121" fmla="*/ 1600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592" h="11520">
                <a:moveTo>
                  <a:pt x="8640" y="10880"/>
                </a:moveTo>
                <a:lnTo>
                  <a:pt x="5600" y="10880"/>
                </a:lnTo>
                <a:cubicBezTo>
                  <a:pt x="3936" y="10880"/>
                  <a:pt x="2560" y="9504"/>
                  <a:pt x="2560" y="7840"/>
                </a:cubicBezTo>
                <a:cubicBezTo>
                  <a:pt x="2560" y="7008"/>
                  <a:pt x="2912" y="6208"/>
                  <a:pt x="3520" y="5632"/>
                </a:cubicBezTo>
                <a:cubicBezTo>
                  <a:pt x="3680" y="5696"/>
                  <a:pt x="3840" y="5760"/>
                  <a:pt x="4000" y="5760"/>
                </a:cubicBezTo>
                <a:cubicBezTo>
                  <a:pt x="4128" y="5760"/>
                  <a:pt x="4256" y="5728"/>
                  <a:pt x="4384" y="5696"/>
                </a:cubicBezTo>
                <a:lnTo>
                  <a:pt x="6176" y="7488"/>
                </a:lnTo>
                <a:cubicBezTo>
                  <a:pt x="6304" y="7616"/>
                  <a:pt x="6464" y="7680"/>
                  <a:pt x="6624" y="7680"/>
                </a:cubicBezTo>
                <a:cubicBezTo>
                  <a:pt x="6784" y="7680"/>
                  <a:pt x="6944" y="7616"/>
                  <a:pt x="7072" y="7488"/>
                </a:cubicBezTo>
                <a:lnTo>
                  <a:pt x="8768" y="5792"/>
                </a:lnTo>
                <a:cubicBezTo>
                  <a:pt x="8896" y="5664"/>
                  <a:pt x="8960" y="5504"/>
                  <a:pt x="8960" y="5344"/>
                </a:cubicBezTo>
                <a:cubicBezTo>
                  <a:pt x="8960" y="5184"/>
                  <a:pt x="8896" y="5024"/>
                  <a:pt x="8768" y="4896"/>
                </a:cubicBezTo>
                <a:lnTo>
                  <a:pt x="4384" y="512"/>
                </a:lnTo>
                <a:cubicBezTo>
                  <a:pt x="4256" y="384"/>
                  <a:pt x="4096" y="320"/>
                  <a:pt x="3936" y="320"/>
                </a:cubicBezTo>
                <a:cubicBezTo>
                  <a:pt x="3776" y="320"/>
                  <a:pt x="3616" y="384"/>
                  <a:pt x="3488" y="512"/>
                </a:cubicBezTo>
                <a:lnTo>
                  <a:pt x="1792" y="2208"/>
                </a:lnTo>
                <a:cubicBezTo>
                  <a:pt x="1664" y="2336"/>
                  <a:pt x="1600" y="2496"/>
                  <a:pt x="1600" y="2656"/>
                </a:cubicBezTo>
                <a:cubicBezTo>
                  <a:pt x="1600" y="2816"/>
                  <a:pt x="1664" y="2976"/>
                  <a:pt x="1792" y="3104"/>
                </a:cubicBezTo>
                <a:lnTo>
                  <a:pt x="2944" y="4256"/>
                </a:lnTo>
                <a:cubicBezTo>
                  <a:pt x="2912" y="4384"/>
                  <a:pt x="2880" y="4512"/>
                  <a:pt x="2880" y="4640"/>
                </a:cubicBezTo>
                <a:cubicBezTo>
                  <a:pt x="2880" y="4832"/>
                  <a:pt x="2944" y="5024"/>
                  <a:pt x="3040" y="5216"/>
                </a:cubicBezTo>
                <a:cubicBezTo>
                  <a:pt x="2336" y="5920"/>
                  <a:pt x="1920" y="6848"/>
                  <a:pt x="1920" y="7840"/>
                </a:cubicBezTo>
                <a:cubicBezTo>
                  <a:pt x="1920" y="9088"/>
                  <a:pt x="2560" y="10208"/>
                  <a:pt x="3520" y="10880"/>
                </a:cubicBezTo>
                <a:lnTo>
                  <a:pt x="320" y="10880"/>
                </a:lnTo>
                <a:cubicBezTo>
                  <a:pt x="160" y="10880"/>
                  <a:pt x="0" y="11040"/>
                  <a:pt x="0" y="11200"/>
                </a:cubicBezTo>
                <a:cubicBezTo>
                  <a:pt x="0" y="11360"/>
                  <a:pt x="160" y="11520"/>
                  <a:pt x="320" y="11520"/>
                </a:cubicBezTo>
                <a:lnTo>
                  <a:pt x="8640" y="11520"/>
                </a:lnTo>
                <a:cubicBezTo>
                  <a:pt x="8800" y="11520"/>
                  <a:pt x="8960" y="11360"/>
                  <a:pt x="8960" y="11200"/>
                </a:cubicBezTo>
                <a:cubicBezTo>
                  <a:pt x="8960" y="11040"/>
                  <a:pt x="8800" y="10880"/>
                  <a:pt x="8640" y="10880"/>
                </a:cubicBezTo>
                <a:close/>
                <a:moveTo>
                  <a:pt x="3520" y="4640"/>
                </a:moveTo>
                <a:cubicBezTo>
                  <a:pt x="3520" y="4384"/>
                  <a:pt x="3744" y="4160"/>
                  <a:pt x="4000" y="4160"/>
                </a:cubicBezTo>
                <a:cubicBezTo>
                  <a:pt x="4256" y="4160"/>
                  <a:pt x="4480" y="4384"/>
                  <a:pt x="4480" y="4640"/>
                </a:cubicBezTo>
                <a:cubicBezTo>
                  <a:pt x="4480" y="4896"/>
                  <a:pt x="4256" y="5120"/>
                  <a:pt x="4000" y="5120"/>
                </a:cubicBezTo>
                <a:cubicBezTo>
                  <a:pt x="3744" y="5120"/>
                  <a:pt x="3520" y="4896"/>
                  <a:pt x="3520" y="4640"/>
                </a:cubicBezTo>
                <a:close/>
                <a:moveTo>
                  <a:pt x="3936" y="960"/>
                </a:moveTo>
                <a:lnTo>
                  <a:pt x="8320" y="5344"/>
                </a:lnTo>
                <a:lnTo>
                  <a:pt x="6624" y="7040"/>
                </a:lnTo>
                <a:lnTo>
                  <a:pt x="4896" y="5312"/>
                </a:lnTo>
                <a:cubicBezTo>
                  <a:pt x="5024" y="5120"/>
                  <a:pt x="5120" y="4896"/>
                  <a:pt x="5120" y="4640"/>
                </a:cubicBezTo>
                <a:cubicBezTo>
                  <a:pt x="5120" y="4032"/>
                  <a:pt x="4608" y="3520"/>
                  <a:pt x="4000" y="3520"/>
                </a:cubicBezTo>
                <a:cubicBezTo>
                  <a:pt x="3744" y="3520"/>
                  <a:pt x="3520" y="3616"/>
                  <a:pt x="3328" y="3744"/>
                </a:cubicBezTo>
                <a:lnTo>
                  <a:pt x="2240" y="2656"/>
                </a:lnTo>
                <a:lnTo>
                  <a:pt x="3936" y="960"/>
                </a:lnTo>
                <a:close/>
                <a:moveTo>
                  <a:pt x="10464" y="5216"/>
                </a:moveTo>
                <a:cubicBezTo>
                  <a:pt x="10400" y="5152"/>
                  <a:pt x="10304" y="5120"/>
                  <a:pt x="10240" y="5120"/>
                </a:cubicBezTo>
                <a:cubicBezTo>
                  <a:pt x="10176" y="5120"/>
                  <a:pt x="10080" y="5152"/>
                  <a:pt x="10016" y="5216"/>
                </a:cubicBezTo>
                <a:lnTo>
                  <a:pt x="6496" y="8736"/>
                </a:lnTo>
                <a:cubicBezTo>
                  <a:pt x="6368" y="8864"/>
                  <a:pt x="6368" y="9056"/>
                  <a:pt x="6496" y="9184"/>
                </a:cubicBezTo>
                <a:cubicBezTo>
                  <a:pt x="6560" y="9248"/>
                  <a:pt x="6656" y="9280"/>
                  <a:pt x="6720" y="9280"/>
                </a:cubicBezTo>
                <a:cubicBezTo>
                  <a:pt x="6816" y="9280"/>
                  <a:pt x="6880" y="9248"/>
                  <a:pt x="6944" y="9184"/>
                </a:cubicBezTo>
                <a:lnTo>
                  <a:pt x="10464" y="5664"/>
                </a:lnTo>
                <a:cubicBezTo>
                  <a:pt x="10592" y="5536"/>
                  <a:pt x="10592" y="5344"/>
                  <a:pt x="10464" y="5216"/>
                </a:cubicBezTo>
                <a:close/>
                <a:moveTo>
                  <a:pt x="1600" y="1600"/>
                </a:moveTo>
                <a:cubicBezTo>
                  <a:pt x="1696" y="1600"/>
                  <a:pt x="1760" y="1568"/>
                  <a:pt x="1824" y="1504"/>
                </a:cubicBezTo>
                <a:lnTo>
                  <a:pt x="2784" y="544"/>
                </a:lnTo>
                <a:cubicBezTo>
                  <a:pt x="2912" y="416"/>
                  <a:pt x="2912" y="224"/>
                  <a:pt x="2784" y="96"/>
                </a:cubicBezTo>
                <a:cubicBezTo>
                  <a:pt x="2720" y="32"/>
                  <a:pt x="2624" y="0"/>
                  <a:pt x="2560" y="0"/>
                </a:cubicBezTo>
                <a:cubicBezTo>
                  <a:pt x="2496" y="0"/>
                  <a:pt x="2400" y="32"/>
                  <a:pt x="2336" y="96"/>
                </a:cubicBezTo>
                <a:lnTo>
                  <a:pt x="1376" y="1056"/>
                </a:lnTo>
                <a:cubicBezTo>
                  <a:pt x="1248" y="1184"/>
                  <a:pt x="1248" y="1376"/>
                  <a:pt x="1376" y="1504"/>
                </a:cubicBezTo>
                <a:cubicBezTo>
                  <a:pt x="1440" y="1568"/>
                  <a:pt x="1504" y="1600"/>
                  <a:pt x="1600" y="1600"/>
                </a:cubicBezTo>
                <a:close/>
              </a:path>
            </a:pathLst>
          </a:cu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p>
        </p:txBody>
      </p:sp>
      <p:sp>
        <p:nvSpPr>
          <p:cNvPr id="19" name="矩形 18"/>
          <p:cNvSpPr/>
          <p:nvPr>
            <p:custDataLst>
              <p:tags r:id="rId16"/>
            </p:custDataLst>
          </p:nvPr>
        </p:nvSpPr>
        <p:spPr>
          <a:xfrm>
            <a:off x="1553845" y="1920875"/>
            <a:ext cx="8552180" cy="737235"/>
          </a:xfrm>
          <a:prstGeom prst="rect">
            <a:avLst/>
          </a:prstGeom>
          <a:noFill/>
        </p:spPr>
        <p:txBody>
          <a:bodyPr wrap="square" lIns="0" tIns="0" rIns="0" bIns="0" rtlCol="0" anchor="t" anchorCtr="0">
            <a:noAutofit/>
          </a:bodyPr>
          <a:lstStyle/>
          <a:p>
            <a:pPr algn="r">
              <a:lnSpc>
                <a:spcPct val="150000"/>
              </a:lnSpc>
              <a:spcBef>
                <a:spcPct val="0"/>
              </a:spcBef>
              <a:spcAft>
                <a:spcPct val="0"/>
              </a:spcAft>
            </a:pPr>
            <a:r>
              <a:rPr lang="zh-CN" altLang="en-US" sz="1600">
                <a:solidFill>
                  <a:schemeClr val="tx1">
                    <a:lumMod val="85000"/>
                    <a:lumOff val="15000"/>
                  </a:schemeClr>
                </a:solidFill>
                <a:latin typeface="+mn-ea"/>
                <a:cs typeface="+mn-ea"/>
              </a:rPr>
              <a:t>本轮实验主要不是为了马上追求最高分，而是先观察模型在不同参数设置下是否能够稳定运行，并确定哪些参数会明显影响分类效果。通过这些结果，我们可以逐步找到更合理的参数范围。</a:t>
            </a:r>
            <a:endParaRPr lang="zh-CN" altLang="en-US" sz="1600">
              <a:solidFill>
                <a:schemeClr val="tx1">
                  <a:lumMod val="85000"/>
                  <a:lumOff val="15000"/>
                </a:schemeClr>
              </a:solidFill>
              <a:latin typeface="+mn-ea"/>
              <a:cs typeface="+mn-ea"/>
            </a:endParaRPr>
          </a:p>
        </p:txBody>
      </p:sp>
      <p:sp>
        <p:nvSpPr>
          <p:cNvPr id="24" name="矩形 23"/>
          <p:cNvSpPr/>
          <p:nvPr>
            <p:custDataLst>
              <p:tags r:id="rId17"/>
            </p:custDataLst>
          </p:nvPr>
        </p:nvSpPr>
        <p:spPr>
          <a:xfrm>
            <a:off x="3455919" y="1485000"/>
            <a:ext cx="2475230" cy="389600"/>
          </a:xfrm>
          <a:prstGeom prst="rect">
            <a:avLst/>
          </a:prstGeom>
          <a:noFill/>
        </p:spPr>
        <p:txBody>
          <a:bodyPr wrap="square" lIns="0" tIns="0" rIns="0" bIns="0" rtlCol="0" anchor="b">
            <a:noAutofit/>
          </a:bodyPr>
          <a:lstStyle/>
          <a:p>
            <a:pPr algn="r">
              <a:spcBef>
                <a:spcPct val="0"/>
              </a:spcBef>
              <a:spcAft>
                <a:spcPct val="0"/>
              </a:spcAft>
            </a:pPr>
            <a:r>
              <a:rPr lang="zh-CN" altLang="en-US" sz="2200" b="1">
                <a:solidFill>
                  <a:schemeClr val="accent1"/>
                </a:solidFill>
                <a:latin typeface="+mn-ea"/>
                <a:cs typeface="+mn-ea"/>
              </a:rPr>
              <a:t>实验目的</a:t>
            </a:r>
            <a:endParaRPr lang="zh-CN" altLang="en-US" sz="2200" b="1">
              <a:solidFill>
                <a:schemeClr val="accent1"/>
              </a:solidFill>
              <a:latin typeface="+mn-ea"/>
              <a:cs typeface="+mn-ea"/>
            </a:endParaRPr>
          </a:p>
        </p:txBody>
      </p:sp>
    </p:spTree>
    <p:custDataLst>
      <p:tags r:id="rId18"/>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组合 58"/>
          <p:cNvGrpSpPr/>
          <p:nvPr/>
        </p:nvGrpSpPr>
        <p:grpSpPr>
          <a:xfrm>
            <a:off x="142240" y="-1"/>
            <a:ext cx="12198973" cy="6858002"/>
            <a:chOff x="0" y="-1"/>
            <a:chExt cx="12198973" cy="6858002"/>
          </a:xfrm>
        </p:grpSpPr>
        <p:sp>
          <p:nvSpPr>
            <p:cNvPr id="41" name="任意多边形: 形状 40"/>
            <p:cNvSpPr/>
            <p:nvPr/>
          </p:nvSpPr>
          <p:spPr>
            <a:xfrm>
              <a:off x="6738950" y="-1"/>
              <a:ext cx="5460023" cy="2981527"/>
            </a:xfrm>
            <a:custGeom>
              <a:avLst/>
              <a:gdLst>
                <a:gd name="connsiteX0" fmla="*/ 0 w 5460023"/>
                <a:gd name="connsiteY0" fmla="*/ 0 h 2981527"/>
                <a:gd name="connsiteX1" fmla="*/ 5460023 w 5460023"/>
                <a:gd name="connsiteY1" fmla="*/ 0 h 2981527"/>
                <a:gd name="connsiteX2" fmla="*/ 5460023 w 5460023"/>
                <a:gd name="connsiteY2" fmla="*/ 940282 h 2981527"/>
                <a:gd name="connsiteX3" fmla="*/ 3551861 w 5460023"/>
                <a:gd name="connsiteY3" fmla="*/ 2825343 h 2981527"/>
                <a:gd name="connsiteX4" fmla="*/ 2786530 w 5460023"/>
                <a:gd name="connsiteY4" fmla="*/ 2820680 h 2981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0023" h="2981527">
                  <a:moveTo>
                    <a:pt x="0" y="0"/>
                  </a:moveTo>
                  <a:lnTo>
                    <a:pt x="5460023" y="0"/>
                  </a:lnTo>
                  <a:lnTo>
                    <a:pt x="5460023" y="940282"/>
                  </a:lnTo>
                  <a:lnTo>
                    <a:pt x="3551861" y="2825343"/>
                  </a:lnTo>
                  <a:cubicBezTo>
                    <a:pt x="3339234" y="3035396"/>
                    <a:pt x="2996584" y="3033310"/>
                    <a:pt x="2786530" y="2820680"/>
                  </a:cubicBezTo>
                  <a:close/>
                </a:path>
              </a:pathLst>
            </a:custGeom>
            <a:solidFill>
              <a:srgbClr val="6696B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5" name="任意多边形: 形状 34"/>
            <p:cNvSpPr/>
            <p:nvPr/>
          </p:nvSpPr>
          <p:spPr>
            <a:xfrm>
              <a:off x="6606578" y="0"/>
              <a:ext cx="5585422" cy="3098871"/>
            </a:xfrm>
            <a:custGeom>
              <a:avLst/>
              <a:gdLst>
                <a:gd name="connsiteX0" fmla="*/ 0 w 5585422"/>
                <a:gd name="connsiteY0" fmla="*/ 0 h 3098871"/>
                <a:gd name="connsiteX1" fmla="*/ 5585422 w 5585422"/>
                <a:gd name="connsiteY1" fmla="*/ 0 h 3098871"/>
                <a:gd name="connsiteX2" fmla="*/ 5585422 w 5585422"/>
                <a:gd name="connsiteY2" fmla="*/ 1079106 h 3098871"/>
                <a:gd name="connsiteX3" fmla="*/ 3710012 w 5585422"/>
                <a:gd name="connsiteY3" fmla="*/ 2931810 h 3098871"/>
                <a:gd name="connsiteX4" fmla="*/ 2891388 w 5585422"/>
                <a:gd name="connsiteY4" fmla="*/ 2926824 h 309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5422" h="3098871">
                  <a:moveTo>
                    <a:pt x="0" y="0"/>
                  </a:moveTo>
                  <a:lnTo>
                    <a:pt x="5585422" y="0"/>
                  </a:lnTo>
                  <a:lnTo>
                    <a:pt x="5585422" y="1079106"/>
                  </a:lnTo>
                  <a:lnTo>
                    <a:pt x="3710012" y="2931810"/>
                  </a:lnTo>
                  <a:cubicBezTo>
                    <a:pt x="3482580" y="3156491"/>
                    <a:pt x="3116069" y="3154260"/>
                    <a:pt x="2891388" y="2926824"/>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58" name="任意多边形: 形状 57"/>
            <p:cNvSpPr/>
            <p:nvPr/>
          </p:nvSpPr>
          <p:spPr>
            <a:xfrm>
              <a:off x="10936616" y="1861686"/>
              <a:ext cx="1262356" cy="2716515"/>
            </a:xfrm>
            <a:custGeom>
              <a:avLst/>
              <a:gdLst>
                <a:gd name="connsiteX0" fmla="*/ 1262356 w 1262356"/>
                <a:gd name="connsiteY0" fmla="*/ 0 h 2716515"/>
                <a:gd name="connsiteX1" fmla="*/ 1262356 w 1262356"/>
                <a:gd name="connsiteY1" fmla="*/ 2716515 h 2716515"/>
                <a:gd name="connsiteX2" fmla="*/ 66754 w 1262356"/>
                <a:gd name="connsiteY2" fmla="*/ 1506259 h 2716515"/>
                <a:gd name="connsiteX3" fmla="*/ 68747 w 1262356"/>
                <a:gd name="connsiteY3" fmla="*/ 1179158 h 2716515"/>
              </a:gdLst>
              <a:ahLst/>
              <a:cxnLst>
                <a:cxn ang="0">
                  <a:pos x="connsiteX0" y="connsiteY0"/>
                </a:cxn>
                <a:cxn ang="0">
                  <a:pos x="connsiteX1" y="connsiteY1"/>
                </a:cxn>
                <a:cxn ang="0">
                  <a:pos x="connsiteX2" y="connsiteY2"/>
                </a:cxn>
                <a:cxn ang="0">
                  <a:pos x="connsiteX3" y="connsiteY3"/>
                </a:cxn>
              </a:cxnLst>
              <a:rect l="l" t="t" r="r" b="b"/>
              <a:pathLst>
                <a:path w="1262356" h="2716515">
                  <a:moveTo>
                    <a:pt x="1262356" y="0"/>
                  </a:moveTo>
                  <a:lnTo>
                    <a:pt x="1262356" y="2716515"/>
                  </a:lnTo>
                  <a:lnTo>
                    <a:pt x="66754" y="1506259"/>
                  </a:lnTo>
                  <a:cubicBezTo>
                    <a:pt x="-23023" y="1415383"/>
                    <a:pt x="-22130" y="1268934"/>
                    <a:pt x="68747" y="1179158"/>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8" name="任意多边形: 形状 37"/>
            <p:cNvSpPr/>
            <p:nvPr/>
          </p:nvSpPr>
          <p:spPr>
            <a:xfrm>
              <a:off x="10827744" y="1774613"/>
              <a:ext cx="1344334" cy="2863980"/>
            </a:xfrm>
            <a:custGeom>
              <a:avLst/>
              <a:gdLst>
                <a:gd name="connsiteX0" fmla="*/ 1344334 w 1344334"/>
                <a:gd name="connsiteY0" fmla="*/ 0 h 2863980"/>
                <a:gd name="connsiteX1" fmla="*/ 1344334 w 1344334"/>
                <a:gd name="connsiteY1" fmla="*/ 2863980 h 2863980"/>
                <a:gd name="connsiteX2" fmla="*/ 61005 w 1344334"/>
                <a:gd name="connsiteY2" fmla="*/ 1564923 h 2863980"/>
                <a:gd name="connsiteX3" fmla="*/ 62826 w 1344334"/>
                <a:gd name="connsiteY3" fmla="*/ 1265993 h 2863980"/>
              </a:gdLst>
              <a:ahLst/>
              <a:cxnLst>
                <a:cxn ang="0">
                  <a:pos x="connsiteX0" y="connsiteY0"/>
                </a:cxn>
                <a:cxn ang="0">
                  <a:pos x="connsiteX1" y="connsiteY1"/>
                </a:cxn>
                <a:cxn ang="0">
                  <a:pos x="connsiteX2" y="connsiteY2"/>
                </a:cxn>
                <a:cxn ang="0">
                  <a:pos x="connsiteX3" y="connsiteY3"/>
                </a:cxn>
              </a:cxnLst>
              <a:rect l="l" t="t" r="r" b="b"/>
              <a:pathLst>
                <a:path w="1344334" h="2863980">
                  <a:moveTo>
                    <a:pt x="1344334" y="0"/>
                  </a:moveTo>
                  <a:lnTo>
                    <a:pt x="1344334" y="2863980"/>
                  </a:lnTo>
                  <a:lnTo>
                    <a:pt x="61005" y="1564923"/>
                  </a:lnTo>
                  <a:cubicBezTo>
                    <a:pt x="-21040" y="1481873"/>
                    <a:pt x="-20224" y="1348038"/>
                    <a:pt x="62826" y="1265993"/>
                  </a:cubicBezTo>
                  <a:close/>
                </a:path>
              </a:pathLst>
            </a:custGeom>
            <a:noFill/>
            <a:ln>
              <a:solidFill>
                <a:srgbClr val="6696B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1" name="任意多边形: 形状 20"/>
            <p:cNvSpPr/>
            <p:nvPr/>
          </p:nvSpPr>
          <p:spPr>
            <a:xfrm>
              <a:off x="0" y="0"/>
              <a:ext cx="9367156" cy="6858000"/>
            </a:xfrm>
            <a:custGeom>
              <a:avLst/>
              <a:gdLst>
                <a:gd name="connsiteX0" fmla="*/ 0 w 9367156"/>
                <a:gd name="connsiteY0" fmla="*/ 0 h 6858000"/>
                <a:gd name="connsiteX1" fmla="*/ 6021503 w 9367156"/>
                <a:gd name="connsiteY1" fmla="*/ 0 h 6858000"/>
                <a:gd name="connsiteX2" fmla="*/ 9119403 w 9367156"/>
                <a:gd name="connsiteY2" fmla="*/ 3135866 h 6858000"/>
                <a:gd name="connsiteX3" fmla="*/ 9112008 w 9367156"/>
                <a:gd name="connsiteY3" fmla="*/ 4349902 h 6858000"/>
                <a:gd name="connsiteX4" fmla="*/ 6573172 w 9367156"/>
                <a:gd name="connsiteY4" fmla="*/ 6858000 h 6858000"/>
                <a:gd name="connsiteX5" fmla="*/ 0 w 9367156"/>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7156" h="6858000">
                  <a:moveTo>
                    <a:pt x="0" y="0"/>
                  </a:moveTo>
                  <a:lnTo>
                    <a:pt x="6021503" y="0"/>
                  </a:lnTo>
                  <a:lnTo>
                    <a:pt x="9119403" y="3135866"/>
                  </a:lnTo>
                  <a:cubicBezTo>
                    <a:pt x="9452609" y="3473154"/>
                    <a:pt x="9449296" y="4016696"/>
                    <a:pt x="9112008" y="4349902"/>
                  </a:cubicBezTo>
                  <a:lnTo>
                    <a:pt x="6573172" y="6858000"/>
                  </a:lnTo>
                  <a:lnTo>
                    <a:pt x="0" y="6858000"/>
                  </a:lnTo>
                  <a:close/>
                </a:path>
              </a:pathLst>
            </a:custGeom>
            <a:solidFill>
              <a:srgbClr val="6696B6">
                <a:alpha val="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9" name="任意多边形: 形状 28"/>
            <p:cNvSpPr/>
            <p:nvPr/>
          </p:nvSpPr>
          <p:spPr>
            <a:xfrm>
              <a:off x="6962877" y="3548582"/>
              <a:ext cx="5236095" cy="3309419"/>
            </a:xfrm>
            <a:custGeom>
              <a:avLst/>
              <a:gdLst>
                <a:gd name="connsiteX0" fmla="*/ 3541507 w 5236095"/>
                <a:gd name="connsiteY0" fmla="*/ 9 h 3309419"/>
                <a:gd name="connsiteX1" fmla="*/ 3876511 w 5236095"/>
                <a:gd name="connsiteY1" fmla="*/ 141169 h 3309419"/>
                <a:gd name="connsiteX2" fmla="*/ 5236095 w 5236095"/>
                <a:gd name="connsiteY2" fmla="*/ 1517415 h 3309419"/>
                <a:gd name="connsiteX3" fmla="*/ 5236095 w 5236095"/>
                <a:gd name="connsiteY3" fmla="*/ 3309419 h 3309419"/>
                <a:gd name="connsiteX4" fmla="*/ 0 w 5236095"/>
                <a:gd name="connsiteY4" fmla="*/ 3309419 h 3309419"/>
                <a:gd name="connsiteX5" fmla="*/ 28620 w 5236095"/>
                <a:gd name="connsiteY5" fmla="*/ 3274813 h 3309419"/>
                <a:gd name="connsiteX6" fmla="*/ 3204809 w 5236095"/>
                <a:gd name="connsiteY6" fmla="*/ 137078 h 3309419"/>
                <a:gd name="connsiteX7" fmla="*/ 3541507 w 5236095"/>
                <a:gd name="connsiteY7" fmla="*/ 9 h 330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6095" h="3309419">
                  <a:moveTo>
                    <a:pt x="3541507" y="9"/>
                  </a:moveTo>
                  <a:cubicBezTo>
                    <a:pt x="3663061" y="749"/>
                    <a:pt x="3784333" y="47861"/>
                    <a:pt x="3876511" y="141169"/>
                  </a:cubicBezTo>
                  <a:lnTo>
                    <a:pt x="5236095" y="1517415"/>
                  </a:lnTo>
                  <a:lnTo>
                    <a:pt x="5236095" y="3309419"/>
                  </a:lnTo>
                  <a:lnTo>
                    <a:pt x="0" y="3309419"/>
                  </a:lnTo>
                  <a:lnTo>
                    <a:pt x="28620" y="3274813"/>
                  </a:lnTo>
                  <a:lnTo>
                    <a:pt x="3204809" y="137078"/>
                  </a:lnTo>
                  <a:cubicBezTo>
                    <a:pt x="3298118" y="44900"/>
                    <a:pt x="3419954" y="-732"/>
                    <a:pt x="3541507" y="9"/>
                  </a:cubicBezTo>
                  <a:close/>
                </a:path>
              </a:pathLst>
            </a:custGeom>
            <a:solidFill>
              <a:srgbClr val="6696B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43" name="文本框 42"/>
          <p:cNvSpPr txBox="1"/>
          <p:nvPr/>
        </p:nvSpPr>
        <p:spPr>
          <a:xfrm>
            <a:off x="620366" y="2626839"/>
            <a:ext cx="6725939" cy="923330"/>
          </a:xfrm>
          <a:prstGeom prst="rect">
            <a:avLst/>
          </a:prstGeom>
          <a:noFill/>
        </p:spPr>
        <p:txBody>
          <a:bodyPr wrap="square" rtlCol="0">
            <a:spAutoFit/>
          </a:bodyPr>
          <a:lstStyle/>
          <a:p>
            <a:pPr algn="dist"/>
            <a:r>
              <a:rPr lang="zh-CN" altLang="en-US" sz="5400" dirty="0">
                <a:solidFill>
                  <a:srgbClr val="6696B6"/>
                </a:solidFill>
                <a:latin typeface="汉仪君黑-45简" panose="020B0604020202020204" charset="-122"/>
                <a:ea typeface="汉仪君黑-45简" panose="020B0604020202020204" charset="-122"/>
              </a:rPr>
              <a:t>感谢您的观看</a:t>
            </a:r>
            <a:endParaRPr lang="zh-CN" altLang="en-US" sz="5400" dirty="0">
              <a:solidFill>
                <a:srgbClr val="6696B6"/>
              </a:solidFill>
              <a:latin typeface="汉仪君黑-45简" panose="020B0604020202020204" charset="-122"/>
              <a:ea typeface="汉仪君黑-45简" panose="020B0604020202020204" charset="-122"/>
            </a:endParaRPr>
          </a:p>
        </p:txBody>
      </p:sp>
      <p:sp>
        <p:nvSpPr>
          <p:cNvPr id="54" name="矩形: 圆角 53"/>
          <p:cNvSpPr/>
          <p:nvPr/>
        </p:nvSpPr>
        <p:spPr>
          <a:xfrm>
            <a:off x="661035" y="4742180"/>
            <a:ext cx="2218055" cy="430530"/>
          </a:xfrm>
          <a:prstGeom prst="roundRect">
            <a:avLst/>
          </a:prstGeom>
          <a:solidFill>
            <a:srgbClr val="669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汉仪君黑-45简" panose="020B0604020202020204" charset="-122"/>
                <a:ea typeface="汉仪君黑-45简" panose="020B0604020202020204" charset="-122"/>
                <a:cs typeface="+mn-ea"/>
                <a:sym typeface="+mn-lt"/>
              </a:rPr>
              <a:t>汇报人：武光耀</a:t>
            </a:r>
            <a:endParaRPr lang="zh-CN" altLang="en-US" sz="2000" dirty="0">
              <a:latin typeface="汉仪君黑-45简" panose="020B0604020202020204" charset="-122"/>
              <a:ea typeface="汉仪君黑-45简" panose="020B0604020202020204" charset="-122"/>
              <a:cs typeface="+mn-ea"/>
              <a:sym typeface="+mn-lt"/>
            </a:endParaRPr>
          </a:p>
        </p:txBody>
      </p:sp>
    </p:spTree>
  </p:cSld>
  <p:clrMapOvr>
    <a:masterClrMapping/>
  </p:clrMapOvr>
</p:sld>
</file>

<file path=ppt/tags/tag1.xml><?xml version="1.0" encoding="utf-8"?>
<p:tagLst xmlns:p="http://schemas.openxmlformats.org/presentationml/2006/main">
  <p:tag name="KSO_WM_DIAGRAM_VIRTUALLY_FRAME" val="{&quot;height&quot;:354.5596062992126,&quot;left&quot;:433.3835433070866,&quot;top&quot;:92.72015748031495,&quot;width&quot;:427.6748818897637}"/>
</p:tagLst>
</file>

<file path=ppt/tags/tag2.xml><?xml version="1.0" encoding="utf-8"?>
<p:tagLst xmlns:p="http://schemas.openxmlformats.org/presentationml/2006/main">
  <p:tag name="KSO_WM_DIAGRAM_VIRTUALLY_FRAME" val="{&quot;height&quot;:354.5596062992126,&quot;left&quot;:433.3835433070866,&quot;top&quot;:92.72015748031495,&quot;width&quot;:427.6748818897637}"/>
</p:tagLst>
</file>

<file path=ppt/tags/tag3.xml><?xml version="1.0" encoding="utf-8"?>
<p:tagLst xmlns:p="http://schemas.openxmlformats.org/presentationml/2006/main">
  <p:tag name="KSO_WM_DIAGRAM_VIRTUALLY_FRAME" val="{&quot;height&quot;:354.5596062992126,&quot;left&quot;:433.3835433070866,&quot;top&quot;:92.72015748031495,&quot;width&quot;:427.6748818897637}"/>
</p:tagLst>
</file>

<file path=ppt/tags/tag4.xml><?xml version="1.0" encoding="utf-8"?>
<p:tagLst xmlns:p="http://schemas.openxmlformats.org/presentationml/2006/main">
  <p:tag name="KSO_WM_DIAGRAM_VIRTUALLY_FRAME" val="{&quot;height&quot;:354.5596062992126,&quot;left&quot;:433.3835433070866,&quot;top&quot;:92.72015748031495,&quot;width&quot;:427.6748818897637}"/>
</p:tagLst>
</file>

<file path=ppt/tags/tag5.xml><?xml version="1.0" encoding="utf-8"?>
<p:tagLst xmlns:p="http://schemas.openxmlformats.org/presentationml/2006/main">
  <p:tag name="KSO_WM_DIAGRAM_VIRTUALLY_FRAME" val="{&quot;height&quot;:354.5596062992126,&quot;left&quot;:433.3835433070866,&quot;top&quot;:92.72015748031495,&quot;width&quot;:427.6748818897637}"/>
</p:tagLst>
</file>

<file path=ppt/tags/tag6.xml><?xml version="1.0" encoding="utf-8"?>
<p:tagLst xmlns:p="http://schemas.openxmlformats.org/presentationml/2006/main">
  <p:tag name="KSO_WM_DIAGRAM_VIRTUALLY_FRAME" val="{&quot;height&quot;:354.5596062992126,&quot;left&quot;:433.3835433070866,&quot;top&quot;:92.72015748031495,&quot;width&quot;:427.6748818897637}"/>
</p:tagLst>
</file>

<file path=ppt/tags/tag7.xml><?xml version="1.0" encoding="utf-8"?>
<p:tagLst xmlns:p="http://schemas.openxmlformats.org/presentationml/2006/main">
  <p:tag name="KSO_WM_DIAGRAM_VIRTUALLY_FRAME" val="{&quot;height&quot;:354.5596062992126,&quot;left&quot;:433.3835433070866,&quot;top&quot;:92.72015748031495,&quot;width&quot;:427.6748818897637}"/>
</p:tagLst>
</file>

<file path=ppt/tags/tag8.xml><?xml version="1.0" encoding="utf-8"?>
<p:tagLst xmlns:p="http://schemas.openxmlformats.org/presentationml/2006/main">
  <p:tag name="KSO_WM_DIAGRAM_VIRTUALLY_FRAME" val="{&quot;height&quot;:354.5596062992126,&quot;left&quot;:433.3835433070866,&quot;top&quot;:92.72015748031495,&quot;width&quot;:427.6748818897637}"/>
</p:tagLst>
</file>

<file path=ppt/tags/tag9.xml><?xml version="1.0" encoding="utf-8"?>
<p:tagLst xmlns:p="http://schemas.openxmlformats.org/presentationml/2006/main">
  <p:tag name="KSO_WM_DIAGRAM_VIRTUALLY_FRAME" val="{&quot;height&quot;:328.23645669291335,&quot;left&quot;:53.1343307086614,&quot;top&quot;:112.25,&quot;width&quot;:844.9156692913386}"/>
</p:tagLst>
</file>

<file path=ppt/tags/tag10.xml><?xml version="1.0" encoding="utf-8"?>
<p:tagLst xmlns:p="http://schemas.openxmlformats.org/presentationml/2006/main">
  <p:tag name="KSO_WM_DIAGRAM_VIRTUALLY_FRAME" val="{&quot;height&quot;:328.23645669291335,&quot;left&quot;:53.1343307086614,&quot;top&quot;:112.25,&quot;width&quot;:844.9156692913386}"/>
</p:tagLst>
</file>

<file path=ppt/tags/tag11.xml><?xml version="1.0" encoding="utf-8"?>
<p:tagLst xmlns:p="http://schemas.openxmlformats.org/presentationml/2006/main">
  <p:tag name="KSO_WM_DIAGRAM_VIRTUALLY_FRAME" val="{&quot;height&quot;:328.23645669291335,&quot;left&quot;:53.1343307086614,&quot;top&quot;:112.25,&quot;width&quot;:844.9156692913386}"/>
</p:tagLst>
</file>

<file path=ppt/tags/tag12.xml><?xml version="1.0" encoding="utf-8"?>
<p:tagLst xmlns:p="http://schemas.openxmlformats.org/presentationml/2006/main">
  <p:tag name="KSO_WM_DIAGRAM_VIRTUALLY_FRAME" val="{&quot;height&quot;:328.23645669291335,&quot;left&quot;:53.1343307086614,&quot;top&quot;:112.25,&quot;width&quot;:844.9156692913386}"/>
</p:tagLst>
</file>

<file path=ppt/tags/tag13.xml><?xml version="1.0" encoding="utf-8"?>
<p:tagLst xmlns:p="http://schemas.openxmlformats.org/presentationml/2006/main">
  <p:tag name="KSO_WM_DIAGRAM_VIRTUALLY_FRAME" val="{&quot;height&quot;:328.23645669291335,&quot;left&quot;:53.1343307086614,&quot;top&quot;:112.25,&quot;width&quot;:844.9156692913386}"/>
</p:tagLst>
</file>

<file path=ppt/tags/tag14.xml><?xml version="1.0" encoding="utf-8"?>
<p:tagLst xmlns:p="http://schemas.openxmlformats.org/presentationml/2006/main">
  <p:tag name="KSO_WM_DIAGRAM_VIRTUALLY_FRAME" val="{&quot;height&quot;:328.23645669291335,&quot;left&quot;:53.1343307086614,&quot;top&quot;:112.25,&quot;width&quot;:844.9156692913386}"/>
</p:tagLst>
</file>

<file path=ppt/tags/tag15.xml><?xml version="1.0" encoding="utf-8"?>
<p:tagLst xmlns:p="http://schemas.openxmlformats.org/presentationml/2006/main">
  <p:tag name="KSO_WM_DIAGRAM_VIRTUALLY_FRAME" val="{&quot;height&quot;:328.23645669291335,&quot;left&quot;:53.1343307086614,&quot;top&quot;:112.25,&quot;width&quot;:844.9156692913386}"/>
</p:tagLst>
</file>

<file path=ppt/tags/tag16.xml><?xml version="1.0" encoding="utf-8"?>
<p:tagLst xmlns:p="http://schemas.openxmlformats.org/presentationml/2006/main">
  <p:tag name="KSO_WM_DIAGRAM_VIRTUALLY_FRAME" val="{&quot;height&quot;:328.23645669291335,&quot;left&quot;:53.1343307086614,&quot;top&quot;:112.25,&quot;width&quot;:844.9156692913386}"/>
</p:tagLst>
</file>

<file path=ppt/tags/tag17.xml><?xml version="1.0" encoding="utf-8"?>
<p:tagLst xmlns:p="http://schemas.openxmlformats.org/presentationml/2006/main">
  <p:tag name="KSO_WM_DIAGRAM_VIRTUALLY_FRAME" val="{&quot;height&quot;:328.23645669291335,&quot;left&quot;:53.1343307086614,&quot;top&quot;:112.25,&quot;width&quot;:844.9156692913386}"/>
</p:tagLst>
</file>

<file path=ppt/tags/tag18.xml><?xml version="1.0" encoding="utf-8"?>
<p:tagLst xmlns:p="http://schemas.openxmlformats.org/presentationml/2006/main">
  <p:tag name="KSO_WM_DIAGRAM_VIRTUALLY_FRAME" val="{&quot;height&quot;:328.23645669291335,&quot;left&quot;:53.1343307086614,&quot;top&quot;:112.25,&quot;width&quot;:844.9156692913386}"/>
</p:tagLst>
</file>

<file path=ppt/tags/tag19.xml><?xml version="1.0" encoding="utf-8"?>
<p:tagLst xmlns:p="http://schemas.openxmlformats.org/presentationml/2006/main">
  <p:tag name="KSO_WM_DIAGRAM_VIRTUALLY_FRAME" val="{&quot;height&quot;:328.23645669291335,&quot;left&quot;:53.1343307086614,&quot;top&quot;:112.25,&quot;width&quot;:844.9156692913386}"/>
</p:tagLst>
</file>

<file path=ppt/tags/tag20.xml><?xml version="1.0" encoding="utf-8"?>
<p:tagLst xmlns:p="http://schemas.openxmlformats.org/presentationml/2006/main">
  <p:tag name="KSO_WM_DIAGRAM_VIRTUALLY_FRAME" val="{&quot;height&quot;:328.23645669291335,&quot;left&quot;:53.1343307086614,&quot;top&quot;:112.25,&quot;width&quot;:844.9156692913386}"/>
</p:tagLst>
</file>

<file path=ppt/tags/tag21.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22.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23.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24.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25.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26.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27.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28.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29.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30.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31.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32.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33.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34.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35.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36.xml><?xml version="1.0" encoding="utf-8"?>
<p:tagLst xmlns:p="http://schemas.openxmlformats.org/presentationml/2006/main">
  <p:tag name="KSO_WM_DIAGRAM_VIRTUALLY_FRAME" val="{&quot;height&quot;:348.96377952755904,&quot;left&quot;:28.57574803149606,&quot;top&quot;:121.01811023622047,&quot;width&quot;:902.8485039370078}"/>
</p:tagLst>
</file>

<file path=ppt/tags/tag37.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38.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39.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40.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41.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42.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43.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44.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45.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46.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47.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48.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49.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50.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51.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52.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53.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54.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55.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56.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57.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58.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59.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60.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61.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62.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63.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64.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65.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66.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67.xml><?xml version="1.0" encoding="utf-8"?>
<p:tagLst xmlns:p="http://schemas.openxmlformats.org/presentationml/2006/main">
  <p:tag name="KSO_WM_DIAGRAM_VIRTUALLY_FRAME" val="{&quot;height&quot;:405.8059842519685,&quot;left&quot;:57.33488188976378,&quot;top&quot;:68.98464566929133,&quot;width&quot;:845.33031496063}"/>
</p:tagLst>
</file>

<file path=ppt/tags/tag6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4873_1*a*1"/>
  <p:tag name="KSO_WM_TEMPLATE_CATEGORY" val="diagram"/>
  <p:tag name="KSO_WM_TEMPLATE_INDEX" val="20234873"/>
  <p:tag name="KSO_WM_UNIT_LAYERLEVEL" val="1"/>
  <p:tag name="KSO_WM_TAG_VERSION" val="3.0"/>
  <p:tag name="KSO_WM_BEAUTIFY_FLAG" val="#wm#"/>
  <p:tag name="KSO_WM_DIAGRAM_GROUP_CODE" val="m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6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34873_1*m_i*1_1"/>
  <p:tag name="KSO_WM_TEMPLATE_CATEGORY" val="diagram"/>
  <p:tag name="KSO_WM_TEMPLATE_INDEX" val="20234873"/>
  <p:tag name="KSO_WM_UNIT_LAYERLEVEL" val="1_1"/>
  <p:tag name="KSO_WM_TAG_VERSION" val="3.0"/>
  <p:tag name="KSO_WM_BEAUTIFY_FLAG" val="#wm#"/>
  <p:tag name="KSO_WM_UNIT_FILL_TYPE" val="1"/>
  <p:tag name="KSO_WM_UNIT_FILL_FORE_SCHEMECOLOR_INDEX" val="5"/>
  <p:tag name="KSO_WM_UNIT_FILL_FORE_SCHEMECOLOR_INDEX_BRIGHTNESS" val="1"/>
  <p:tag name="KSO_WM_UNIT_LINE_FORE_SCHEMECOLOR_INDEX" val="5"/>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2"/>
  <p:tag name="KSO_WM_UNIT_TEXT_FILL_TYPE" val="1"/>
  <p:tag name="KSO_WM_UNIT_USESOURCEFORMAT_APPLY" val="0"/>
</p:tagLst>
</file>

<file path=ppt/tags/tag70.xml><?xml version="1.0" encoding="utf-8"?>
<p:tagLst xmlns:p="http://schemas.openxmlformats.org/presentationml/2006/main">
  <p:tag name="KSO_WM_DIAGRAM_VIRTUALLY_FRAME" val="{&quot;height&quot;:436.5,&quot;left&quot;:0.049993896484375,&quot;top&quot;:107.125,&quot;width&quot;:959.9500122070312}"/>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34873_1*m_h_a*1_1_1"/>
  <p:tag name="KSO_WM_TEMPLATE_CATEGORY" val="diagram"/>
  <p:tag name="KSO_WM_TEMPLATE_INDEX" val="20234873"/>
  <p:tag name="KSO_WM_UNIT_LAYERLEVEL" val="1_1_1"/>
  <p:tag name="KSO_WM_TAG_VERSION" val="3.0"/>
  <p:tag name="KSO_WM_DIAGRAM_VERSION" val="3"/>
  <p:tag name="KSO_WM_DIAGRAM_COLOR_TRICK" val="1"/>
  <p:tag name="KSO_WM_DIAGRAM_COLOR_TEXT_CAN_REMOVE" val="n"/>
  <p:tag name="KSO_WM_UNIT_FILL_TYPE" val="3"/>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项标题"/>
  <p:tag name="KSO_WM_UNIT_LINE_FORE_SCHEMECOLOR_INDEX" val="-2"/>
  <p:tag name="KSO_WM_UNIT_TEXT_FILL_FORE_SCHEMECOLOR_INDEX" val="1"/>
  <p:tag name="KSO_WM_UNIT_TEXT_FILL_TYPE" val="1"/>
  <p:tag name="KSO_WM_UNIT_TEXT_TYPE" val="1"/>
  <p:tag name="KSO_WM_UNIT_USESOURCEFORMAT_APPLY" val="0"/>
</p:tagLst>
</file>

<file path=ppt/tags/tag71.xml><?xml version="1.0" encoding="utf-8"?>
<p:tagLst xmlns:p="http://schemas.openxmlformats.org/presentationml/2006/main">
  <p:tag name="KSO_WM_DIAGRAM_VIRTUALLY_FRAME" val="{&quot;height&quot;:436.5,&quot;left&quot;:0.049993896484375,&quot;top&quot;:107.125,&quot;width&quot;:959.9500122070312}"/>
  <p:tag name="KSO_WM_UNIT_SUBTYPE" val="a"/>
  <p:tag name="KSO_WM_UNIT_NOCLEAR" val="0"/>
  <p:tag name="KSO_WM_UNIT_VALUE" val="33"/>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34873_1*m_h_f*1_1_1"/>
  <p:tag name="KSO_WM_TEMPLATE_CATEGORY" val="diagram"/>
  <p:tag name="KSO_WM_TEMPLATE_INDEX" val="2023487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输入项正文，文字是您思想的提炼，请言简意赅的阐述观点。&#13;"/>
  <p:tag name="KSO_WM_UNIT_LINE_FORE_SCHEMECOLOR_INDEX" val="-2"/>
  <p:tag name="KSO_WM_UNIT_TEXT_FILL_FORE_SCHEMECOLOR_INDEX" val="1"/>
  <p:tag name="KSO_WM_UNIT_TEXT_FILL_TYPE" val="1"/>
  <p:tag name="KSO_WM_UNIT_TEXT_TYPE" val="1"/>
  <p:tag name="KSO_WM_UNIT_USESOURCEFORMAT_APPLY" val="0"/>
</p:tagLst>
</file>

<file path=ppt/tags/tag72.xml><?xml version="1.0" encoding="utf-8"?>
<p:tagLst xmlns:p="http://schemas.openxmlformats.org/presentationml/2006/main">
  <p:tag name="KSO_WM_DIAGRAM_VIRTUALLY_FRAME" val="{&quot;height&quot;:436.5,&quot;left&quot;:0.049993896484375,&quot;top&quot;:107.125,&quot;width&quot;:959.9500122070312}"/>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234873_1*m_h_a*1_2_1"/>
  <p:tag name="KSO_WM_TEMPLATE_CATEGORY" val="diagram"/>
  <p:tag name="KSO_WM_TEMPLATE_INDEX" val="20234873"/>
  <p:tag name="KSO_WM_UNIT_LAYERLEVEL" val="1_1_1"/>
  <p:tag name="KSO_WM_TAG_VERSION" val="3.0"/>
  <p:tag name="KSO_WM_DIAGRAM_VERSION" val="3"/>
  <p:tag name="KSO_WM_DIAGRAM_COLOR_TRICK" val="1"/>
  <p:tag name="KSO_WM_DIAGRAM_COLOR_TEXT_CAN_REMOVE" val="n"/>
  <p:tag name="KSO_WM_UNIT_FILL_TYPE" val="3"/>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项标题"/>
  <p:tag name="KSO_WM_UNIT_LINE_FORE_SCHEMECOLOR_INDEX" val="-2"/>
  <p:tag name="KSO_WM_UNIT_TEXT_FILL_FORE_SCHEMECOLOR_INDEX" val="1"/>
  <p:tag name="KSO_WM_UNIT_TEXT_FILL_TYPE" val="1"/>
  <p:tag name="KSO_WM_UNIT_TEXT_TYPE" val="1"/>
  <p:tag name="KSO_WM_UNIT_USESOURCEFORMAT_APPLY" val="0"/>
</p:tagLst>
</file>

<file path=ppt/tags/tag73.xml><?xml version="1.0" encoding="utf-8"?>
<p:tagLst xmlns:p="http://schemas.openxmlformats.org/presentationml/2006/main">
  <p:tag name="KSO_WM_DIAGRAM_VIRTUALLY_FRAME" val="{&quot;height&quot;:436.5,&quot;left&quot;:0.049993896484375,&quot;top&quot;:107.125,&quot;width&quot;:959.9500122070312}"/>
  <p:tag name="KSO_WM_UNIT_SUBTYPE" val="a"/>
  <p:tag name="KSO_WM_UNIT_NOCLEAR" val="0"/>
  <p:tag name="KSO_WM_UNIT_VALUE" val="33"/>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34873_1*m_h_f*1_2_1"/>
  <p:tag name="KSO_WM_TEMPLATE_CATEGORY" val="diagram"/>
  <p:tag name="KSO_WM_TEMPLATE_INDEX" val="2023487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输入项正文，文字是您思想的提炼，请言简意赅的阐述观点。&#13;"/>
  <p:tag name="KSO_WM_UNIT_LINE_FORE_SCHEMECOLOR_INDEX" val="-2"/>
  <p:tag name="KSO_WM_UNIT_TEXT_FILL_FORE_SCHEMECOLOR_INDEX" val="1"/>
  <p:tag name="KSO_WM_UNIT_TEXT_FILL_TYPE" val="1"/>
  <p:tag name="KSO_WM_UNIT_TEXT_TYPE" val="1"/>
  <p:tag name="KSO_WM_UNIT_USESOURCEFORMAT_APPLY" val="0"/>
</p:tagLst>
</file>

<file path=ppt/tags/tag74.xml><?xml version="1.0" encoding="utf-8"?>
<p:tagLst xmlns:p="http://schemas.openxmlformats.org/presentationml/2006/main">
  <p:tag name="KSO_WM_DIAGRAM_VIRTUALLY_FRAME" val="{&quot;height&quot;:436.5,&quot;left&quot;:0.049993896484375,&quot;top&quot;:107.125,&quot;width&quot;:959.9500122070312}"/>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34873_1*m_h_a*1_3_1"/>
  <p:tag name="KSO_WM_TEMPLATE_CATEGORY" val="diagram"/>
  <p:tag name="KSO_WM_TEMPLATE_INDEX" val="20234873"/>
  <p:tag name="KSO_WM_UNIT_LAYERLEVEL" val="1_1_1"/>
  <p:tag name="KSO_WM_TAG_VERSION" val="3.0"/>
  <p:tag name="KSO_WM_DIAGRAM_VERSION" val="3"/>
  <p:tag name="KSO_WM_DIAGRAM_COLOR_TRICK" val="1"/>
  <p:tag name="KSO_WM_DIAGRAM_COLOR_TEXT_CAN_REMOVE" val="n"/>
  <p:tag name="KSO_WM_UNIT_FILL_TYPE" val="3"/>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项标题"/>
  <p:tag name="KSO_WM_UNIT_LINE_FORE_SCHEMECOLOR_INDEX" val="-2"/>
  <p:tag name="KSO_WM_UNIT_TEXT_FILL_FORE_SCHEMECOLOR_INDEX" val="1"/>
  <p:tag name="KSO_WM_UNIT_TEXT_FILL_TYPE" val="1"/>
  <p:tag name="KSO_WM_UNIT_TEXT_TYPE" val="1"/>
  <p:tag name="KSO_WM_UNIT_USESOURCEFORMAT_APPLY" val="0"/>
</p:tagLst>
</file>

<file path=ppt/tags/tag75.xml><?xml version="1.0" encoding="utf-8"?>
<p:tagLst xmlns:p="http://schemas.openxmlformats.org/presentationml/2006/main">
  <p:tag name="KSO_WM_DIAGRAM_VIRTUALLY_FRAME" val="{&quot;height&quot;:436.5,&quot;left&quot;:0.049993896484375,&quot;top&quot;:107.125,&quot;width&quot;:959.9500122070312}"/>
  <p:tag name="KSO_WM_UNIT_SUBTYPE" val="a"/>
  <p:tag name="KSO_WM_UNIT_NOCLEAR" val="0"/>
  <p:tag name="KSO_WM_UNIT_VALUE" val="33"/>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34873_1*m_h_f*1_3_1"/>
  <p:tag name="KSO_WM_TEMPLATE_CATEGORY" val="diagram"/>
  <p:tag name="KSO_WM_TEMPLATE_INDEX" val="2023487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输入项正文，文字是您思想的提炼，请言简意赅的阐述观点。&#13;"/>
  <p:tag name="KSO_WM_UNIT_LINE_FORE_SCHEMECOLOR_INDEX" val="-2"/>
  <p:tag name="KSO_WM_UNIT_TEXT_FILL_FORE_SCHEMECOLOR_INDEX" val="1"/>
  <p:tag name="KSO_WM_UNIT_TEXT_FILL_TYPE" val="1"/>
  <p:tag name="KSO_WM_UNIT_TEXT_TYPE" val="1"/>
  <p:tag name="KSO_WM_UNIT_USESOURCEFORMAT_APPLY" val="0"/>
</p:tagLst>
</file>

<file path=ppt/tags/tag7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34873_1*m_h_i*1_1_4"/>
  <p:tag name="KSO_WM_TEMPLATE_CATEGORY" val="diagram"/>
  <p:tag name="KSO_WM_TEMPLATE_INDEX" val="20234873"/>
  <p:tag name="KSO_WM_UNIT_LAYERLEVEL" val="1_1_1"/>
  <p:tag name="KSO_WM_TAG_VERSION" val="3.0"/>
  <p:tag name="KSO_WM_BEAUTIFY_FLAG" val="#wm#"/>
  <p:tag name="KSO_WM_UNIT_LINE_FORE_SCHEMECOLOR_INDEX" val="5"/>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0"/>
</p:tagLst>
</file>

<file path=ppt/tags/tag7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4873_1*m_h_i*1_1_1"/>
  <p:tag name="KSO_WM_TEMPLATE_CATEGORY" val="diagram"/>
  <p:tag name="KSO_WM_TEMPLATE_INDEX" val="20234873"/>
  <p:tag name="KSO_WM_UNIT_LAYERLEVEL" val="1_1_1"/>
  <p:tag name="KSO_WM_TAG_VERSION" val="3.0"/>
  <p:tag name="KSO_WM_BEAUTIFY_FLAG" val="#wm#"/>
  <p:tag name="KSO_WM_UNIT_FILL_TYPE" val="3"/>
  <p:tag name="KSO_WM_UNIT_LINE_FORE_SCHEMECOLOR_INDEX" val="-2"/>
  <p:tag name="KSO_WM_UNIT_TEXT_FILL_FORE_SCHEMECOLOR_INDEX" val="1"/>
  <p:tag name="KSO_WM_UNIT_TEXT_FILL_TYPE" val="1"/>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gradient&quot;:[{&quot;brightness&quot;:0,&quot;colorType&quot;:1,&quot;foreColorIndex&quot;:5,&quot;pos&quot;:0,&quot;transparency&quot;:0},{&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7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5"/>
  <p:tag name="KSO_WM_UNIT_ID" val="diagram20234873_1*m_h_i*1_1_5"/>
  <p:tag name="KSO_WM_TEMPLATE_CATEGORY" val="diagram"/>
  <p:tag name="KSO_WM_TEMPLATE_INDEX" val="20234873"/>
  <p:tag name="KSO_WM_UNIT_LAYERLEVEL" val="1_1_1"/>
  <p:tag name="KSO_WM_TAG_VERSION" val="3.0"/>
  <p:tag name="KSO_WM_BEAUTIFY_FLAG" val="#wm#"/>
  <p:tag name="KSO_WM_UNIT_LINE_FORE_SCHEMECOLOR_INDEX" val="13"/>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type&quot;:0},&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2"/>
  <p:tag name="KSO_WM_UNIT_TEXT_FILL_TYPE" val="1"/>
  <p:tag name="KSO_WM_UNIT_USESOURCEFORMAT_APPLY" val="0"/>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4873_1*m_h_i*1_1_3"/>
  <p:tag name="KSO_WM_TEMPLATE_CATEGORY" val="diagram"/>
  <p:tag name="KSO_WM_TEMPLATE_INDEX" val="2023487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1"/>
  <p:tag name="KSO_WM_UNIT_LINE_FORE_SCHEMECOLOR_INDEX" val="-2"/>
  <p:tag name="KSO_WM_UNIT_TEXT_FILL_FORE_SCHEMECOLOR_INDEX" val="2"/>
  <p:tag name="KSO_WM_UNIT_TEXT_FILL_TYPE" val="1"/>
  <p:tag name="KSO_WM_UNIT_USESOURCEFORMAT_APPLY" val="0"/>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4873_1*m_h_i*1_1_2"/>
  <p:tag name="KSO_WM_TEMPLATE_CATEGORY" val="diagram"/>
  <p:tag name="KSO_WM_TEMPLATE_INDEX" val="2023487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type&quot;:0},&quot;glow&quot;:{&quot;colorType&quot;:0},&quot;line&quot;:{&quot;solidLine&quot;:{&quot;brightness&quot;:0,&quot;colorType&quot;:2,&quot;rgb&quot;:&quot;#4a4a4a&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0"/>
</p:tagLst>
</file>

<file path=ppt/tags/tag8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34873_1*m_h_i*1_2_4"/>
  <p:tag name="KSO_WM_TEMPLATE_CATEGORY" val="diagram"/>
  <p:tag name="KSO_WM_TEMPLATE_INDEX" val="20234873"/>
  <p:tag name="KSO_WM_UNIT_LAYERLEVEL" val="1_1_1"/>
  <p:tag name="KSO_WM_TAG_VERSION" val="3.0"/>
  <p:tag name="KSO_WM_BEAUTIFY_FLAG" val="#wm#"/>
  <p:tag name="KSO_WM_UNIT_LINE_FORE_SCHEMECOLOR_INDEX" val="5"/>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0"/>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4873_1*m_h_i*1_2_3"/>
  <p:tag name="KSO_WM_TEMPLATE_CATEGORY" val="diagram"/>
  <p:tag name="KSO_WM_TEMPLATE_INDEX" val="2023487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1"/>
  <p:tag name="KSO_WM_UNIT_LINE_FORE_SCHEMECOLOR_INDEX" val="-2"/>
  <p:tag name="KSO_WM_UNIT_TEXT_FILL_FORE_SCHEMECOLOR_INDEX" val="2"/>
  <p:tag name="KSO_WM_UNIT_TEXT_FILL_TYPE" val="1"/>
  <p:tag name="KSO_WM_UNIT_USESOURCEFORMAT_APPLY" val="0"/>
</p:tagLst>
</file>

<file path=ppt/tags/tag8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34873_1*m_h_i*1_2_1"/>
  <p:tag name="KSO_WM_TEMPLATE_CATEGORY" val="diagram"/>
  <p:tag name="KSO_WM_TEMPLATE_INDEX" val="20234873"/>
  <p:tag name="KSO_WM_UNIT_LAYERLEVEL" val="1_1_1"/>
  <p:tag name="KSO_WM_TAG_VERSION" val="3.0"/>
  <p:tag name="KSO_WM_BEAUTIFY_FLAG" val="#wm#"/>
  <p:tag name="KSO_WM_UNIT_FILL_TYPE" val="3"/>
  <p:tag name="KSO_WM_UNIT_LINE_FORE_SCHEMECOLOR_INDEX" val="-2"/>
  <p:tag name="KSO_WM_UNIT_TEXT_FILL_FORE_SCHEMECOLOR_INDEX" val="1"/>
  <p:tag name="KSO_WM_UNIT_TEXT_FILL_TYPE" val="1"/>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gradient&quot;:[{&quot;brightness&quot;:0,&quot;colorType&quot;:1,&quot;foreColorIndex&quot;:5,&quot;pos&quot;:0,&quot;transparency&quot;:0},{&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4873_1*m_h_i*1_2_2"/>
  <p:tag name="KSO_WM_TEMPLATE_CATEGORY" val="diagram"/>
  <p:tag name="KSO_WM_TEMPLATE_INDEX" val="2023487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type&quot;:0},&quot;glow&quot;:{&quot;colorType&quot;:0},&quot;line&quot;:{&quot;solidLine&quot;:{&quot;brightness&quot;:0,&quot;colorType&quot;:2,&quot;rgb&quot;:&quot;#4a4a4a&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0"/>
</p:tagLst>
</file>

<file path=ppt/tags/tag8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5"/>
  <p:tag name="KSO_WM_UNIT_ID" val="diagram20234873_1*m_h_i*1_2_5"/>
  <p:tag name="KSO_WM_TEMPLATE_CATEGORY" val="diagram"/>
  <p:tag name="KSO_WM_TEMPLATE_INDEX" val="20234873"/>
  <p:tag name="KSO_WM_UNIT_LAYERLEVEL" val="1_1_1"/>
  <p:tag name="KSO_WM_TAG_VERSION" val="3.0"/>
  <p:tag name="KSO_WM_BEAUTIFY_FLAG" val="#wm#"/>
  <p:tag name="KSO_WM_UNIT_LINE_FORE_SCHEMECOLOR_INDEX" val="13"/>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type&quot;:0},&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2"/>
  <p:tag name="KSO_WM_UNIT_TEXT_FILL_TYPE" val="1"/>
  <p:tag name="KSO_WM_UNIT_USESOURCEFORMAT_APPLY" val="0"/>
</p:tagLst>
</file>

<file path=ppt/tags/tag8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34873_1*m_h_i*1_3_4"/>
  <p:tag name="KSO_WM_TEMPLATE_CATEGORY" val="diagram"/>
  <p:tag name="KSO_WM_TEMPLATE_INDEX" val="20234873"/>
  <p:tag name="KSO_WM_UNIT_LAYERLEVEL" val="1_1_1"/>
  <p:tag name="KSO_WM_TAG_VERSION" val="3.0"/>
  <p:tag name="KSO_WM_BEAUTIFY_FLAG" val="#wm#"/>
  <p:tag name="KSO_WM_UNIT_LINE_FORE_SCHEMECOLOR_INDEX" val="5"/>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0"/>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34873_1*m_h_i*1_3_3"/>
  <p:tag name="KSO_WM_TEMPLATE_CATEGORY" val="diagram"/>
  <p:tag name="KSO_WM_TEMPLATE_INDEX" val="2023487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1"/>
  <p:tag name="KSO_WM_UNIT_LINE_FORE_SCHEMECOLOR_INDEX" val="-2"/>
  <p:tag name="KSO_WM_UNIT_TEXT_FILL_FORE_SCHEMECOLOR_INDEX" val="2"/>
  <p:tag name="KSO_WM_UNIT_TEXT_FILL_TYPE" val="1"/>
  <p:tag name="KSO_WM_UNIT_USESOURCEFORMAT_APPLY" val="0"/>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34873_1*m_h_i*1_3_2"/>
  <p:tag name="KSO_WM_TEMPLATE_CATEGORY" val="diagram"/>
  <p:tag name="KSO_WM_TEMPLATE_INDEX" val="2023487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type&quot;:0},&quot;glow&quot;:{&quot;colorType&quot;:0},&quot;line&quot;:{&quot;solidLine&quot;:{&quot;brightness&quot;:0,&quot;colorType&quot;:2,&quot;rgb&quot;:&quot;#4a4a4a&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0"/>
</p:tagLst>
</file>

<file path=ppt/tags/tag8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1"/>
  <p:tag name="KSO_WM_UNIT_ID" val="diagram20234873_1*m_h_i*1_3_1"/>
  <p:tag name="KSO_WM_TEMPLATE_CATEGORY" val="diagram"/>
  <p:tag name="KSO_WM_TEMPLATE_INDEX" val="20234873"/>
  <p:tag name="KSO_WM_UNIT_LAYERLEVEL" val="1_1_1"/>
  <p:tag name="KSO_WM_TAG_VERSION" val="3.0"/>
  <p:tag name="KSO_WM_BEAUTIFY_FLAG" val="#wm#"/>
  <p:tag name="KSO_WM_UNIT_FILL_TYPE" val="3"/>
  <p:tag name="KSO_WM_UNIT_LINE_FORE_SCHEMECOLOR_INDEX" val="-2"/>
  <p:tag name="KSO_WM_UNIT_TEXT_FILL_FORE_SCHEMECOLOR_INDEX" val="1"/>
  <p:tag name="KSO_WM_UNIT_TEXT_FILL_TYPE" val="1"/>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gradient&quot;:[{&quot;brightness&quot;:0,&quot;colorType&quot;:1,&quot;foreColorIndex&quot;:5,&quot;pos&quot;:0,&quot;transparency&quot;:0},{&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9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5"/>
  <p:tag name="KSO_WM_UNIT_ID" val="diagram20234873_1*m_h_i*1_3_5"/>
  <p:tag name="KSO_WM_TEMPLATE_CATEGORY" val="diagram"/>
  <p:tag name="KSO_WM_TEMPLATE_INDEX" val="20234873"/>
  <p:tag name="KSO_WM_UNIT_LAYERLEVEL" val="1_1_1"/>
  <p:tag name="KSO_WM_TAG_VERSION" val="3.0"/>
  <p:tag name="KSO_WM_BEAUTIFY_FLAG" val="#wm#"/>
  <p:tag name="KSO_WM_UNIT_LINE_FORE_SCHEMECOLOR_INDEX" val="13"/>
  <p:tag name="KSO_WM_DIAGRAM_MAX_ITEMCNT" val="4"/>
  <p:tag name="KSO_WM_DIAGRAM_MIN_ITEMCNT" val="3"/>
  <p:tag name="KSO_WM_DIAGRAM_VIRTUALLY_FRAME" val="{&quot;height&quot;:436.5,&quot;left&quot;:0.049993896484375,&quot;top&quot;:107.125,&quot;width&quot;:959.9500122070312}"/>
  <p:tag name="KSO_WM_DIAGRAM_COLOR_MATCH_VALUE" val="{&quot;shape&quot;:{&quot;fill&quot;:{&quot;type&quot;:0},&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2"/>
  <p:tag name="KSO_WM_UNIT_TEXT_FILL_TYPE" val="1"/>
  <p:tag name="KSO_WM_UNIT_USESOURCEFORMAT_APPLY" val="0"/>
</p:tagLst>
</file>

<file path=ppt/tags/tag91.xml><?xml version="1.0" encoding="utf-8"?>
<p:tagLst xmlns:p="http://schemas.openxmlformats.org/presentationml/2006/main">
  <p:tag name="KSO_WM_SLIDE_ID" val="diagram20234873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diagram"/>
  <p:tag name="KSO_WM_TEMPLATE_INDEX" val="20234873"/>
  <p:tag name="KSO_WM_SLIDE_TYPE" val="text"/>
  <p:tag name="KSO_WM_SLIDE_SUBTYPE" val="diag"/>
  <p:tag name="KSO_WM_SLIDE_SIZE" val="959.95*428.15"/>
  <p:tag name="KSO_WM_SLIDE_POSITION" val="0.05*111.3"/>
  <p:tag name="KSO_WM_SLIDE_LAYOUT" val="a_m"/>
  <p:tag name="KSO_WM_SLIDE_LAYOUT_CNT" val="1_1"/>
  <p:tag name="KSO_WM_SPECIAL_SOURCE" val="bdnull"/>
  <p:tag name="KSO_WM_DIAGRAM_GROUP_CODE" val="m1-1"/>
  <p:tag name="KSO_WM_SLIDE_DIAGTYPE" val="m"/>
</p:tagLst>
</file>

<file path=ppt/tags/tag92.xml><?xml version="1.0" encoding="utf-8"?>
<p:tagLst xmlns:p="http://schemas.openxmlformats.org/presentationml/2006/main">
  <p:tag name="KSO_WM_DIAGRAM_VIRTUALLY_FRAME" val="{&quot;height&quot;:300.6035433070866,&quot;left&quot;:45.35999999999999,&quot;top&quot;:156.97527559055118,&quot;width&quot;:874.64}"/>
</p:tagLst>
</file>

<file path=ppt/tags/tag93.xml><?xml version="1.0" encoding="utf-8"?>
<p:tagLst xmlns:p="http://schemas.openxmlformats.org/presentationml/2006/main">
  <p:tag name="KSO_WM_DIAGRAM_VIRTUALLY_FRAME" val="{&quot;height&quot;:300.6035433070866,&quot;left&quot;:45.35999999999999,&quot;top&quot;:156.97527559055118,&quot;width&quot;:874.64}"/>
</p:tagLst>
</file>

<file path=ppt/tags/tag94.xml><?xml version="1.0" encoding="utf-8"?>
<p:tagLst xmlns:p="http://schemas.openxmlformats.org/presentationml/2006/main">
  <p:tag name="KSO_WM_DIAGRAM_VIRTUALLY_FRAME" val="{&quot;height&quot;:300.6035433070866,&quot;left&quot;:45.35999999999999,&quot;top&quot;:156.97527559055118,&quot;width&quot;:874.64}"/>
</p:tagLst>
</file>

<file path=ppt/tags/tag95.xml><?xml version="1.0" encoding="utf-8"?>
<p:tagLst xmlns:p="http://schemas.openxmlformats.org/presentationml/2006/main">
  <p:tag name="KSO_WM_DIAGRAM_VIRTUALLY_FRAME" val="{&quot;height&quot;:300.6035433070866,&quot;left&quot;:45.35999999999999,&quot;top&quot;:156.97527559055118,&quot;width&quot;:874.64}"/>
</p:tagLst>
</file>

<file path=ppt/tags/tag96.xml><?xml version="1.0" encoding="utf-8"?>
<p:tagLst xmlns:p="http://schemas.openxmlformats.org/presentationml/2006/main">
  <p:tag name="KSO_WM_DIAGRAM_VIRTUALLY_FRAME" val="{&quot;height&quot;:300.6035433070866,&quot;left&quot;:45.35999999999999,&quot;top&quot;:156.97527559055118,&quot;width&quot;:874.64}"/>
</p:tagLst>
</file>

<file path=ppt/tags/tag97.xml><?xml version="1.0" encoding="utf-8"?>
<p:tagLst xmlns:p="http://schemas.openxmlformats.org/presentationml/2006/main">
  <p:tag name="KSO_WM_DIAGRAM_VIRTUALLY_FRAME" val="{&quot;height&quot;:300.6035433070866,&quot;left&quot;:45.35999999999999,&quot;top&quot;:156.97527559055118,&quot;width&quot;:874.64}"/>
</p:tagLst>
</file>

<file path=ppt/tags/tag98.xml><?xml version="1.0" encoding="utf-8"?>
<p:tagLst xmlns:p="http://schemas.openxmlformats.org/presentationml/2006/main">
  <p:tag name="KSO_WM_DIAGRAM_VIRTUALLY_FRAME" val="{&quot;height&quot;:300.6035433070866,&quot;left&quot;:45.35999999999999,&quot;top&quot;:156.97527559055118,&quot;width&quot;:874.64}"/>
</p:tagLst>
</file>

<file path=ppt/tags/tag99.xml><?xml version="1.0" encoding="utf-8"?>
<p:tagLst xmlns:p="http://schemas.openxmlformats.org/presentationml/2006/main">
  <p:tag name="KSO_WM_DIAGRAM_VIRTUALLY_FRAME" val="{&quot;height&quot;:300.6035433070866,&quot;left&quot;:45.35999999999999,&quot;top&quot;:156.97527559055118,&quot;width&quot;:874.64}"/>
</p:tagLst>
</file>

<file path=ppt/tags/tag100.xml><?xml version="1.0" encoding="utf-8"?>
<p:tagLst xmlns:p="http://schemas.openxmlformats.org/presentationml/2006/main">
  <p:tag name="KSO_WM_DIAGRAM_VIRTUALLY_FRAME" val="{&quot;height&quot;:300.6035433070866,&quot;left&quot;:45.35999999999999,&quot;top&quot;:156.97527559055118,&quot;width&quot;:874.64}"/>
</p:tagLst>
</file>

<file path=ppt/tags/tag101.xml><?xml version="1.0" encoding="utf-8"?>
<p:tagLst xmlns:p="http://schemas.openxmlformats.org/presentationml/2006/main">
  <p:tag name="KSO_WM_DIAGRAM_VIRTUALLY_FRAME" val="{&quot;height&quot;:300.6035433070866,&quot;left&quot;:45.35999999999999,&quot;top&quot;:156.97527559055118,&quot;width&quot;:874.64}"/>
</p:tagLst>
</file>

<file path=ppt/tags/tag102.xml><?xml version="1.0" encoding="utf-8"?>
<p:tagLst xmlns:p="http://schemas.openxmlformats.org/presentationml/2006/main">
  <p:tag name="KSO_WM_DIAGRAM_VIRTUALLY_FRAME" val="{&quot;height&quot;:300.6035433070866,&quot;left&quot;:45.35999999999999,&quot;top&quot;:156.97527559055118,&quot;width&quot;:874.64}"/>
</p:tagLst>
</file>

<file path=ppt/tags/tag103.xml><?xml version="1.0" encoding="utf-8"?>
<p:tagLst xmlns:p="http://schemas.openxmlformats.org/presentationml/2006/main">
  <p:tag name="KSO_WM_DIAGRAM_VIRTUALLY_FRAME" val="{&quot;height&quot;:300.6035433070866,&quot;left&quot;:45.35999999999999,&quot;top&quot;:156.97527559055118,&quot;width&quot;:874.64}"/>
</p:tagLst>
</file>

<file path=ppt/tags/tag104.xml><?xml version="1.0" encoding="utf-8"?>
<p:tagLst xmlns:p="http://schemas.openxmlformats.org/presentationml/2006/main">
  <p:tag name="KSO_WM_DIAGRAM_VIRTUALLY_FRAME" val="{&quot;height&quot;:300.6035433070866,&quot;left&quot;:45.35999999999999,&quot;top&quot;:156.97527559055118,&quot;width&quot;:874.64}"/>
</p:tagLst>
</file>

<file path=ppt/tags/tag105.xml><?xml version="1.0" encoding="utf-8"?>
<p:tagLst xmlns:p="http://schemas.openxmlformats.org/presentationml/2006/main">
  <p:tag name="KSO_WM_DIAGRAM_VIRTUALLY_FRAME" val="{&quot;height&quot;:300.6035433070866,&quot;left&quot;:45.35999999999999,&quot;top&quot;:156.97527559055118,&quot;width&quot;:874.64}"/>
</p:tagLst>
</file>

<file path=ppt/tags/tag106.xml><?xml version="1.0" encoding="utf-8"?>
<p:tagLst xmlns:p="http://schemas.openxmlformats.org/presentationml/2006/main">
  <p:tag name="KSO_WM_DIAGRAM_VIRTUALLY_FRAME" val="{&quot;height&quot;:300.6035433070866,&quot;left&quot;:45.35999999999999,&quot;top&quot;:156.97527559055118,&quot;width&quot;:874.64}"/>
</p:tagLst>
</file>

<file path=ppt/tags/tag107.xml><?xml version="1.0" encoding="utf-8"?>
<p:tagLst xmlns:p="http://schemas.openxmlformats.org/presentationml/2006/main">
  <p:tag name="KSO_WM_DIAGRAM_VIRTUALLY_FRAME" val="{&quot;height&quot;:300.6035433070866,&quot;left&quot;:45.35999999999999,&quot;top&quot;:156.97527559055118,&quot;width&quot;:874.64}"/>
</p:tagLst>
</file>

<file path=ppt/tags/tag108.xml><?xml version="1.0" encoding="utf-8"?>
<p:tagLst xmlns:p="http://schemas.openxmlformats.org/presentationml/2006/main">
  <p:tag name="KSO_WM_DIAGRAM_VIRTUALLY_FRAME" val="{&quot;height&quot;:300.6035433070866,&quot;left&quot;:45.35999999999999,&quot;top&quot;:156.97527559055118,&quot;width&quot;:874.64}"/>
</p:tagLst>
</file>

<file path=ppt/tags/tag109.xml><?xml version="1.0" encoding="utf-8"?>
<p:tagLst xmlns:p="http://schemas.openxmlformats.org/presentationml/2006/main">
  <p:tag name="KSO_WM_DIAGRAM_VIRTUALLY_FRAME" val="{&quot;height&quot;:300.6035433070866,&quot;left&quot;:45.35999999999999,&quot;top&quot;:156.97527559055118,&quot;width&quot;:874.64}"/>
</p:tagLst>
</file>

<file path=ppt/tags/tag110.xml><?xml version="1.0" encoding="utf-8"?>
<p:tagLst xmlns:p="http://schemas.openxmlformats.org/presentationml/2006/main">
  <p:tag name="KSO_WM_DIAGRAM_VIRTUALLY_FRAME" val="{&quot;height&quot;:300.6035433070866,&quot;left&quot;:45.35999999999999,&quot;top&quot;:156.97527559055118,&quot;width&quot;:874.64}"/>
</p:tagLst>
</file>

<file path=ppt/tags/tag111.xml><?xml version="1.0" encoding="utf-8"?>
<p:tagLst xmlns:p="http://schemas.openxmlformats.org/presentationml/2006/main">
  <p:tag name="KSO_WM_DIAGRAM_VIRTUALLY_FRAME" val="{&quot;height&quot;:300.6035433070866,&quot;left&quot;:45.35999999999999,&quot;top&quot;:156.97527559055118,&quot;width&quot;:874.64}"/>
</p:tagLst>
</file>

<file path=ppt/tags/tag112.xml><?xml version="1.0" encoding="utf-8"?>
<p:tagLst xmlns:p="http://schemas.openxmlformats.org/presentationml/2006/main">
  <p:tag name="KSO_WM_DIAGRAM_VIRTUALLY_FRAME" val="{&quot;height&quot;:300.6035433070866,&quot;left&quot;:45.35999999999999,&quot;top&quot;:156.97527559055118,&quot;width&quot;:874.64}"/>
</p:tagLst>
</file>

<file path=ppt/tags/tag113.xml><?xml version="1.0" encoding="utf-8"?>
<p:tagLst xmlns:p="http://schemas.openxmlformats.org/presentationml/2006/main">
  <p:tag name="KSO_WM_DIAGRAM_VIRTUALLY_FRAME" val="{&quot;height&quot;:300.6035433070866,&quot;left&quot;:45.35999999999999,&quot;top&quot;:156.97527559055118,&quot;width&quot;:874.64}"/>
</p:tagLst>
</file>

<file path=ppt/tags/tag114.xml><?xml version="1.0" encoding="utf-8"?>
<p:tagLst xmlns:p="http://schemas.openxmlformats.org/presentationml/2006/main">
  <p:tag name="KSO_WM_DIAGRAM_VIRTUALLY_FRAME" val="{&quot;height&quot;:300.6035433070866,&quot;left&quot;:45.35999999999999,&quot;top&quot;:156.97527559055118,&quot;width&quot;:874.64}"/>
</p:tagLst>
</file>

<file path=ppt/tags/tag115.xml><?xml version="1.0" encoding="utf-8"?>
<p:tagLst xmlns:p="http://schemas.openxmlformats.org/presentationml/2006/main">
  <p:tag name="KSO_WM_DIAGRAM_VIRTUALLY_FRAME" val="{&quot;height&quot;:300.6035433070866,&quot;left&quot;:45.35999999999999,&quot;top&quot;:156.97527559055118,&quot;width&quot;:874.64}"/>
</p:tagLst>
</file>

<file path=ppt/tags/tag116.xml><?xml version="1.0" encoding="utf-8"?>
<p:tagLst xmlns:p="http://schemas.openxmlformats.org/presentationml/2006/main">
  <p:tag name="KSO_WM_DIAGRAM_VIRTUALLY_FRAME" val="{&quot;height&quot;:300.6035433070866,&quot;left&quot;:45.35999999999999,&quot;top&quot;:156.97527559055118,&quot;width&quot;:874.64}"/>
</p:tagLst>
</file>

<file path=ppt/tags/tag117.xml><?xml version="1.0" encoding="utf-8"?>
<p:tagLst xmlns:p="http://schemas.openxmlformats.org/presentationml/2006/main">
  <p:tag name="KSO_WM_DIAGRAM_VIRTUALLY_FRAME" val="{&quot;height&quot;:300.6035433070866,&quot;left&quot;:45.35999999999999,&quot;top&quot;:156.97527559055118,&quot;width&quot;:874.64}"/>
</p:tagLst>
</file>

<file path=ppt/tags/tag118.xml><?xml version="1.0" encoding="utf-8"?>
<p:tagLst xmlns:p="http://schemas.openxmlformats.org/presentationml/2006/main">
  <p:tag name="KSO_WM_DIAGRAM_VIRTUALLY_FRAME" val="{&quot;height&quot;:358.65,&quot;left&quot;:41.73905511811024,&quot;top&quot;:118.95,&quot;width&quot;:876.5218110236219}"/>
</p:tagLst>
</file>

<file path=ppt/tags/tag119.xml><?xml version="1.0" encoding="utf-8"?>
<p:tagLst xmlns:p="http://schemas.openxmlformats.org/presentationml/2006/main">
  <p:tag name="KSO_WM_DIAGRAM_VIRTUALLY_FRAME" val="{&quot;height&quot;:358.65,&quot;left&quot;:41.73905511811024,&quot;top&quot;:118.95,&quot;width&quot;:876.5218110236219}"/>
</p:tagLst>
</file>

<file path=ppt/tags/tag120.xml><?xml version="1.0" encoding="utf-8"?>
<p:tagLst xmlns:p="http://schemas.openxmlformats.org/presentationml/2006/main">
  <p:tag name="KSO_WM_DIAGRAM_VIRTUALLY_FRAME" val="{&quot;height&quot;:358.65,&quot;left&quot;:41.73905511811024,&quot;top&quot;:118.95,&quot;width&quot;:876.5218110236219}"/>
</p:tagLst>
</file>

<file path=ppt/tags/tag121.xml><?xml version="1.0" encoding="utf-8"?>
<p:tagLst xmlns:p="http://schemas.openxmlformats.org/presentationml/2006/main">
  <p:tag name="KSO_WM_DIAGRAM_VIRTUALLY_FRAME" val="{&quot;height&quot;:358.65,&quot;left&quot;:41.73905511811024,&quot;top&quot;:118.95,&quot;width&quot;:876.5218110236219}"/>
</p:tagLst>
</file>

<file path=ppt/tags/tag122.xml><?xml version="1.0" encoding="utf-8"?>
<p:tagLst xmlns:p="http://schemas.openxmlformats.org/presentationml/2006/main">
  <p:tag name="KSO_WM_DIAGRAM_VIRTUALLY_FRAME" val="{&quot;height&quot;:358.65,&quot;left&quot;:41.73905511811024,&quot;top&quot;:118.95,&quot;width&quot;:876.5218110236219}"/>
</p:tagLst>
</file>

<file path=ppt/tags/tag123.xml><?xml version="1.0" encoding="utf-8"?>
<p:tagLst xmlns:p="http://schemas.openxmlformats.org/presentationml/2006/main">
  <p:tag name="KSO_WM_DIAGRAM_VIRTUALLY_FRAME" val="{&quot;height&quot;:358.65,&quot;left&quot;:41.73905511811024,&quot;top&quot;:118.95,&quot;width&quot;:876.5218110236219}"/>
</p:tagLst>
</file>

<file path=ppt/tags/tag124.xml><?xml version="1.0" encoding="utf-8"?>
<p:tagLst xmlns:p="http://schemas.openxmlformats.org/presentationml/2006/main">
  <p:tag name="KSO_WM_DIAGRAM_VIRTUALLY_FRAME" val="{&quot;height&quot;:358.65,&quot;left&quot;:41.73905511811024,&quot;top&quot;:118.95,&quot;width&quot;:876.5218110236219}"/>
</p:tagLst>
</file>

<file path=ppt/tags/tag125.xml><?xml version="1.0" encoding="utf-8"?>
<p:tagLst xmlns:p="http://schemas.openxmlformats.org/presentationml/2006/main">
  <p:tag name="KSO_WM_DIAGRAM_VIRTUALLY_FRAME" val="{&quot;height&quot;:358.65,&quot;left&quot;:41.73905511811024,&quot;top&quot;:118.95,&quot;width&quot;:876.5218110236219}"/>
</p:tagLst>
</file>

<file path=ppt/tags/tag126.xml><?xml version="1.0" encoding="utf-8"?>
<p:tagLst xmlns:p="http://schemas.openxmlformats.org/presentationml/2006/main">
  <p:tag name="KSO_WM_DIAGRAM_VIRTUALLY_FRAME" val="{&quot;height&quot;:358.65,&quot;left&quot;:41.73905511811024,&quot;top&quot;:118.95,&quot;width&quot;:876.5218110236219}"/>
</p:tagLst>
</file>

<file path=ppt/tags/tag127.xml><?xml version="1.0" encoding="utf-8"?>
<p:tagLst xmlns:p="http://schemas.openxmlformats.org/presentationml/2006/main">
  <p:tag name="KSO_WM_DIAGRAM_VIRTUALLY_FRAME" val="{&quot;height&quot;:380.771547584519,&quot;left&quot;:65.71433070866142,&quot;top&quot;:118.77590551181102,&quot;width&quot;:828.5714173228346}"/>
</p:tagLst>
</file>

<file path=ppt/tags/tag128.xml><?xml version="1.0" encoding="utf-8"?>
<p:tagLst xmlns:p="http://schemas.openxmlformats.org/presentationml/2006/main">
  <p:tag name="KSO_WM_DIAGRAM_VIRTUALLY_FRAME" val="{&quot;height&quot;:380.771547584519,&quot;left&quot;:65.71433070866142,&quot;top&quot;:118.77590551181102,&quot;width&quot;:828.5714173228346}"/>
</p:tagLst>
</file>

<file path=ppt/tags/tag129.xml><?xml version="1.0" encoding="utf-8"?>
<p:tagLst xmlns:p="http://schemas.openxmlformats.org/presentationml/2006/main">
  <p:tag name="KSO_WM_DIAGRAM_VIRTUALLY_FRAME" val="{&quot;height&quot;:380.771547584519,&quot;left&quot;:65.71433070866142,&quot;top&quot;:118.77590551181102,&quot;width&quot;:828.5714173228346}"/>
</p:tagLst>
</file>

<file path=ppt/tags/tag130.xml><?xml version="1.0" encoding="utf-8"?>
<p:tagLst xmlns:p="http://schemas.openxmlformats.org/presentationml/2006/main">
  <p:tag name="KSO_WM_DIAGRAM_VIRTUALLY_FRAME" val="{&quot;height&quot;:380.771547584519,&quot;left&quot;:65.71433070866142,&quot;top&quot;:118.77590551181102,&quot;width&quot;:828.5714173228346}"/>
</p:tagLst>
</file>

<file path=ppt/tags/tag131.xml><?xml version="1.0" encoding="utf-8"?>
<p:tagLst xmlns:p="http://schemas.openxmlformats.org/presentationml/2006/main">
  <p:tag name="KSO_WM_DIAGRAM_VIRTUALLY_FRAME" val="{&quot;height&quot;:380.771547584519,&quot;left&quot;:65.71433070866142,&quot;top&quot;:118.77590551181102,&quot;width&quot;:828.5714173228346}"/>
</p:tagLst>
</file>

<file path=ppt/tags/tag132.xml><?xml version="1.0" encoding="utf-8"?>
<p:tagLst xmlns:p="http://schemas.openxmlformats.org/presentationml/2006/main">
  <p:tag name="KSO_WM_DIAGRAM_VIRTUALLY_FRAME" val="{&quot;height&quot;:380.771547584519,&quot;left&quot;:65.71433070866142,&quot;top&quot;:118.77590551181102,&quot;width&quot;:828.5714173228346}"/>
</p:tagLst>
</file>

<file path=ppt/tags/tag133.xml><?xml version="1.0" encoding="utf-8"?>
<p:tagLst xmlns:p="http://schemas.openxmlformats.org/presentationml/2006/main">
  <p:tag name="KSO_WM_DIAGRAM_VIRTUALLY_FRAME" val="{&quot;height&quot;:380.771547584519,&quot;left&quot;:65.71433070866142,&quot;top&quot;:118.77590551181102,&quot;width&quot;:828.5714173228346}"/>
</p:tagLst>
</file>

<file path=ppt/tags/tag134.xml><?xml version="1.0" encoding="utf-8"?>
<p:tagLst xmlns:p="http://schemas.openxmlformats.org/presentationml/2006/main">
  <p:tag name="KSO_WM_DIAGRAM_VIRTUALLY_FRAME" val="{&quot;height&quot;:380.771547584519,&quot;left&quot;:65.71433070866142,&quot;top&quot;:118.77590551181102,&quot;width&quot;:828.5714173228346}"/>
</p:tagLst>
</file>

<file path=ppt/tags/tag135.xml><?xml version="1.0" encoding="utf-8"?>
<p:tagLst xmlns:p="http://schemas.openxmlformats.org/presentationml/2006/main">
  <p:tag name="KSO_WM_DIAGRAM_VIRTUALLY_FRAME" val="{&quot;height&quot;:380.771547584519,&quot;left&quot;:65.71433070866142,&quot;top&quot;:118.77590551181102,&quot;width&quot;:828.5714173228346}"/>
</p:tagLst>
</file>

<file path=ppt/tags/tag136.xml><?xml version="1.0" encoding="utf-8"?>
<p:tagLst xmlns:p="http://schemas.openxmlformats.org/presentationml/2006/main">
  <p:tag name="KSO_WM_DIAGRAM_VIRTUALLY_FRAME" val="{&quot;height&quot;:380.771547584519,&quot;left&quot;:65.71433070866142,&quot;top&quot;:118.77590551181102,&quot;width&quot;:828.5714173228346}"/>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m_i"/>
  <p:tag name="KSO_WM_UNIT_INDEX" val="1_1"/>
  <p:tag name="KSO_WM_UNIT_ID" val="diagram20231067_1*m_i*1_1"/>
  <p:tag name="KSO_WM_TEMPLATE_CATEGORY" val="diagram"/>
  <p:tag name="KSO_WM_TEMPLATE_INDEX" val="20231067"/>
  <p:tag name="KSO_WM_UNIT_LAYERLEVEL" val="1_1"/>
  <p:tag name="KSO_WM_TAG_VERSION" val="3.0"/>
  <p:tag name="KSO_WM_BEAUTIFY_FLAG" val="#wm#"/>
  <p:tag name="KSO_WM_DIAGRAM_VERSION" val="3"/>
  <p:tag name="KSO_WM_DIAGRAM_COLOR_TRICK" val="4"/>
  <p:tag name="KSO_WM_DIAGRAM_COLOR_TEXT_CAN_REMOVE" val="n"/>
  <p:tag name="KSO_WM_DIAGRAM_GROUP_CODE" val="m1-1"/>
  <p:tag name="KSO_WM_DIAGRAM_MAX_ITEMCNT" val="5"/>
  <p:tag name="KSO_WM_DIAGRAM_MIN_ITEMCNT" val="3"/>
  <p:tag name="KSO_WM_DIAGRAM_VIRTUALLY_FRAME" val="{&quot;height&quot;:359.4500030517578,&quot;left&quot;:31.8,&quot;top&quot;:117.1,&quot;width&quot;:880.25}"/>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0"/>
</p:tagLst>
</file>

<file path=ppt/tags/tag13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067_1*a*1"/>
  <p:tag name="KSO_WM_TEMPLATE_CATEGORY" val="diagram"/>
  <p:tag name="KSO_WM_TEMPLATE_INDEX" val="20231067"/>
  <p:tag name="KSO_WM_UNIT_LAYERLEVEL" val="1"/>
  <p:tag name="KSO_WM_TAG_VERSION" val="3.0"/>
  <p:tag name="KSO_WM_BEAUTIFY_FLAG" val="#wm#"/>
  <p:tag name="KSO_WM_DIAGRAM_GROUP_CODE" val="m1-1"/>
  <p:tag name="KSO_WM_UNIT_TEXT_TYPE" val="1"/>
  <p:tag name="KSO_WM_UNIT_PRESET_TEXT" val="单击此处添加标题"/>
  <p:tag name="KSO_WM_UNIT_TEXT_FILL_FORE_SCHEMECOLOR_INDEX" val="13"/>
  <p:tag name="KSO_WM_UNIT_TEXT_FILL_TYPE" val="1"/>
  <p:tag name="KSO_WM_UNIT_USESOURCEFORMAT_APPLY" val="0"/>
</p:tagLst>
</file>

<file path=ppt/tags/tag13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m_h_a"/>
  <p:tag name="KSO_WM_UNIT_INDEX" val="1_2_1"/>
  <p:tag name="KSO_WM_UNIT_ID" val="diagram20231067_1*m_h_a*1_2_1"/>
  <p:tag name="KSO_WM_TEMPLATE_CATEGORY" val="diagram"/>
  <p:tag name="KSO_WM_TEMPLATE_INDEX" val="20231067"/>
  <p:tag name="KSO_WM_UNIT_LAYERLEVEL" val="1_1_1"/>
  <p:tag name="KSO_WM_TAG_VERSION" val="3.0"/>
  <p:tag name="KSO_WM_DIAGRAM_GROUP_CODE" val="m1-1"/>
  <p:tag name="KSO_WM_DIAGRAM_VERSION" val="3"/>
  <p:tag name="KSO_WM_DIAGRAM_COLOR_TRICK" val="4"/>
  <p:tag name="KSO_WM_DIAGRAM_COLOR_TEXT_CAN_REMOVE" val="n"/>
  <p:tag name="KSO_WM_DIAGRAM_MAX_ITEMCNT" val="5"/>
  <p:tag name="KSO_WM_DIAGRAM_MIN_ITEMCNT" val="3"/>
  <p:tag name="KSO_WM_DIAGRAM_VIRTUALLY_FRAME" val="{&quot;height&quot;:359.4500030517578,&quot;left&quot;:31.8,&quot;top&quot;:117.1,&quot;width&quot;:880.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此处添加项标题"/>
  <p:tag name="KSO_WM_UNIT_TEXT_FILL_FORE_SCHEMECOLOR_INDEX" val="1"/>
  <p:tag name="KSO_WM_UNIT_TEXT_FILL_TYPE" val="1"/>
  <p:tag name="KSO_WM_UNIT_USESOURCEFORMAT_APPLY" val="0"/>
</p:tagLst>
</file>

<file path=ppt/tags/tag14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31067_1*m_h_f*1_2_1"/>
  <p:tag name="KSO_WM_TEMPLATE_CATEGORY" val="diagram"/>
  <p:tag name="KSO_WM_TEMPLATE_INDEX" val="20231067"/>
  <p:tag name="KSO_WM_UNIT_LAYERLEVEL" val="1_1_1"/>
  <p:tag name="KSO_WM_TAG_VERSION" val="3.0"/>
  <p:tag name="KSO_WM_DIAGRAM_VERSION" val="3"/>
  <p:tag name="KSO_WM_DIAGRAM_COLOR_TRICK" val="4"/>
  <p:tag name="KSO_WM_DIAGRAM_COLOR_TEXT_CAN_REMOVE" val="n"/>
  <p:tag name="KSO_WM_DIAGRAM_MAX_ITEMCNT" val="5"/>
  <p:tag name="KSO_WM_DIAGRAM_MIN_ITEMCNT" val="3"/>
  <p:tag name="KSO_WM_DIAGRAM_VIRTUALLY_FRAME" val="{&quot;height&quot;:359.4500030517578,&quot;left&quot;:31.8,&quot;top&quot;:117.1,&quot;width&quot;:880.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内容，请尽量言简意赅地阐述你的观点。"/>
  <p:tag name="KSO_WM_UNIT_TEXT_FILL_FORE_SCHEMECOLOR_INDEX" val="1"/>
  <p:tag name="KSO_WM_UNIT_TEXT_FILL_TYPE" val="1"/>
  <p:tag name="KSO_WM_UNIT_USESOURCEFORMAT_APPLY" val="0"/>
</p:tagLst>
</file>

<file path=ppt/tags/tag14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m_h_a"/>
  <p:tag name="KSO_WM_UNIT_INDEX" val="1_1_1"/>
  <p:tag name="KSO_WM_UNIT_ID" val="diagram20231067_1*m_h_a*1_1_1"/>
  <p:tag name="KSO_WM_TEMPLATE_CATEGORY" val="diagram"/>
  <p:tag name="KSO_WM_TEMPLATE_INDEX" val="20231067"/>
  <p:tag name="KSO_WM_UNIT_LAYERLEVEL" val="1_1_1"/>
  <p:tag name="KSO_WM_TAG_VERSION" val="3.0"/>
  <p:tag name="KSO_WM_DIAGRAM_GROUP_CODE" val="m1-1"/>
  <p:tag name="KSO_WM_DIAGRAM_VERSION" val="3"/>
  <p:tag name="KSO_WM_DIAGRAM_COLOR_TRICK" val="4"/>
  <p:tag name="KSO_WM_DIAGRAM_COLOR_TEXT_CAN_REMOVE" val="n"/>
  <p:tag name="KSO_WM_UNIT_VALUE" val="13"/>
  <p:tag name="KSO_WM_DIAGRAM_MAX_ITEMCNT" val="5"/>
  <p:tag name="KSO_WM_DIAGRAM_MIN_ITEMCNT" val="3"/>
  <p:tag name="KSO_WM_DIAGRAM_VIRTUALLY_FRAME" val="{&quot;height&quot;:359.4500030517578,&quot;left&quot;:31.8,&quot;top&quot;:117.1,&quot;width&quot;:880.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此处添加项标题"/>
  <p:tag name="KSO_WM_UNIT_TEXT_FILL_FORE_SCHEMECOLOR_INDEX" val="1"/>
  <p:tag name="KSO_WM_UNIT_TEXT_FILL_TYPE" val="1"/>
  <p:tag name="KSO_WM_UNIT_USESOURCEFORMAT_APPLY" val="0"/>
</p:tagLst>
</file>

<file path=ppt/tags/tag14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31067_1*m_h_f*1_1_1"/>
  <p:tag name="KSO_WM_TEMPLATE_CATEGORY" val="diagram"/>
  <p:tag name="KSO_WM_TEMPLATE_INDEX" val="20231067"/>
  <p:tag name="KSO_WM_UNIT_LAYERLEVEL" val="1_1_1"/>
  <p:tag name="KSO_WM_TAG_VERSION" val="3.0"/>
  <p:tag name="KSO_WM_DIAGRAM_VERSION" val="3"/>
  <p:tag name="KSO_WM_DIAGRAM_COLOR_TRICK" val="4"/>
  <p:tag name="KSO_WM_DIAGRAM_COLOR_TEXT_CAN_REMOVE" val="n"/>
  <p:tag name="KSO_WM_UNIT_VALUE" val="54"/>
  <p:tag name="KSO_WM_DIAGRAM_MAX_ITEMCNT" val="5"/>
  <p:tag name="KSO_WM_DIAGRAM_MIN_ITEMCNT" val="3"/>
  <p:tag name="KSO_WM_DIAGRAM_VIRTUALLY_FRAME" val="{&quot;height&quot;:359.4500030517578,&quot;left&quot;:31.8,&quot;top&quot;:117.1,&quot;width&quot;:880.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正文，文字是您思想的提炼为了最终演示的发布。"/>
  <p:tag name="KSO_WM_UNIT_TEXT_FILL_FORE_SCHEMECOLOR_INDEX" val="1"/>
  <p:tag name="KSO_WM_UNIT_TEXT_FILL_TYPE" val="1"/>
  <p:tag name="KSO_WM_UNIT_USESOURCEFORMAT_APPLY" val="0"/>
</p:tagLst>
</file>

<file path=ppt/tags/tag14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m_h_a"/>
  <p:tag name="KSO_WM_UNIT_INDEX" val="1_3_1"/>
  <p:tag name="KSO_WM_UNIT_ID" val="diagram20231067_1*m_h_a*1_3_1"/>
  <p:tag name="KSO_WM_TEMPLATE_CATEGORY" val="diagram"/>
  <p:tag name="KSO_WM_TEMPLATE_INDEX" val="20231067"/>
  <p:tag name="KSO_WM_UNIT_LAYERLEVEL" val="1_1_1"/>
  <p:tag name="KSO_WM_TAG_VERSION" val="3.0"/>
  <p:tag name="KSO_WM_DIAGRAM_GROUP_CODE" val="m1-1"/>
  <p:tag name="KSO_WM_DIAGRAM_VERSION" val="3"/>
  <p:tag name="KSO_WM_DIAGRAM_COLOR_TRICK" val="4"/>
  <p:tag name="KSO_WM_DIAGRAM_COLOR_TEXT_CAN_REMOVE" val="n"/>
  <p:tag name="KSO_WM_DIAGRAM_MAX_ITEMCNT" val="5"/>
  <p:tag name="KSO_WM_DIAGRAM_MIN_ITEMCNT" val="3"/>
  <p:tag name="KSO_WM_DIAGRAM_VIRTUALLY_FRAME" val="{&quot;height&quot;:359.4500030517578,&quot;left&quot;:31.8,&quot;top&quot;:117.1,&quot;width&quot;:880.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此处添加项标题"/>
  <p:tag name="KSO_WM_UNIT_TEXT_FILL_FORE_SCHEMECOLOR_INDEX" val="1"/>
  <p:tag name="KSO_WM_UNIT_TEXT_FILL_TYPE" val="1"/>
  <p:tag name="KSO_WM_UNIT_USESOURCEFORMAT_APPLY" val="0"/>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31067_1*m_h_i*1_1_1"/>
  <p:tag name="KSO_WM_TEMPLATE_CATEGORY" val="diagram"/>
  <p:tag name="KSO_WM_TEMPLATE_INDEX" val="20231067"/>
  <p:tag name="KSO_WM_UNIT_LAYERLEVEL" val="1_1_1"/>
  <p:tag name="KSO_WM_TAG_VERSION" val="3.0"/>
  <p:tag name="KSO_WM_DIAGRAM_VERSION" val="3"/>
  <p:tag name="KSO_WM_DIAGRAM_COLOR_TRICK" val="4"/>
  <p:tag name="KSO_WM_DIAGRAM_COLOR_TEXT_CAN_REMOVE" val="n"/>
  <p:tag name="KSO_WM_UNIT_SUBTYPE" val="d"/>
  <p:tag name="KSO_WM_DIAGRAM_MAX_ITEMCNT" val="5"/>
  <p:tag name="KSO_WM_DIAGRAM_MIN_ITEMCNT" val="3"/>
  <p:tag name="KSO_WM_DIAGRAM_VIRTUALLY_FRAME" val="{&quot;height&quot;:359.4500030517578,&quot;left&quot;:31.8,&quot;top&quot;:117.1,&quot;width&quot;:880.2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FILL_TYPE" val="3"/>
  <p:tag name="KSO_WM_UNIT_SHADOW_SCHEMECOLOR_INDEX" val="5"/>
  <p:tag name="KSO_WM_UNIT_USESOURCEFORMAT_APPLY" val="0"/>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31067_1*m_h_i*1_3_1"/>
  <p:tag name="KSO_WM_TEMPLATE_CATEGORY" val="diagram"/>
  <p:tag name="KSO_WM_TEMPLATE_INDEX" val="20231067"/>
  <p:tag name="KSO_WM_UNIT_LAYERLEVEL" val="1_1_1"/>
  <p:tag name="KSO_WM_TAG_VERSION" val="3.0"/>
  <p:tag name="KSO_WM_DIAGRAM_VERSION" val="3"/>
  <p:tag name="KSO_WM_DIAGRAM_COLOR_TRICK" val="4"/>
  <p:tag name="KSO_WM_DIAGRAM_COLOR_TEXT_CAN_REMOVE" val="n"/>
  <p:tag name="KSO_WM_UNIT_SUBTYPE" val="d"/>
  <p:tag name="KSO_WM_DIAGRAM_MAX_ITEMCNT" val="5"/>
  <p:tag name="KSO_WM_DIAGRAM_MIN_ITEMCNT" val="3"/>
  <p:tag name="KSO_WM_DIAGRAM_VIRTUALLY_FRAME" val="{&quot;height&quot;:359.4500030517578,&quot;left&quot;:31.8,&quot;top&quot;:117.1,&quot;width&quot;:880.25}"/>
  <p:tag name="KSO_WM_DIAGRAM_COLOR_MATCH_VALUE" val="{&quot;shape&quot;:{&quot;fill&quot;:{&quot;gradient&quot;:[{&quot;brightness&quot;:0.4000000059604645,&quot;colorType&quot;:1,&quot;foreColorIndex&quot;:7,&quot;pos&quot;:0.8999999761581421,&quot;transparency&quot;:0},{&quot;brightness&quot;:0,&quot;colorType&quot;:1,&quot;foreColorIndex&quot;:7,&quot;pos&quot;:0.3700000047683716,&quot;transparency&quot;:0}],&quot;type&quot;:3},&quot;glow&quot;:{&quot;colorType&quot;:0},&quot;line&quot;:{&quot;type&quot;:0},&quot;shadow&quot;:{&quot;brightness&quot;:0,&quot;colorType&quot;:1,&quot;foreColorIndex&quot;:7,&quot;transparency&quot;:0.699999988079071},&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FILL_TYPE" val="3"/>
  <p:tag name="KSO_WM_UNIT_SHADOW_SCHEMECOLOR_INDEX" val="7"/>
  <p:tag name="KSO_WM_UNIT_USESOURCEFORMAT_APPLY" val="0"/>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31067_1*m_h_i*1_2_1"/>
  <p:tag name="KSO_WM_TEMPLATE_CATEGORY" val="diagram"/>
  <p:tag name="KSO_WM_TEMPLATE_INDEX" val="20231067"/>
  <p:tag name="KSO_WM_UNIT_LAYERLEVEL" val="1_1_1"/>
  <p:tag name="KSO_WM_TAG_VERSION" val="3.0"/>
  <p:tag name="KSO_WM_DIAGRAM_VERSION" val="3"/>
  <p:tag name="KSO_WM_DIAGRAM_COLOR_TRICK" val="4"/>
  <p:tag name="KSO_WM_DIAGRAM_COLOR_TEXT_CAN_REMOVE" val="n"/>
  <p:tag name="KSO_WM_UNIT_SUBTYPE" val="d"/>
  <p:tag name="KSO_WM_DIAGRAM_MAX_ITEMCNT" val="5"/>
  <p:tag name="KSO_WM_DIAGRAM_MIN_ITEMCNT" val="3"/>
  <p:tag name="KSO_WM_DIAGRAM_VIRTUALLY_FRAME" val="{&quot;height&quot;:359.4500030517578,&quot;left&quot;:31.8,&quot;top&quot;:117.1,&quot;width&quot;:880.25}"/>
  <p:tag name="KSO_WM_DIAGRAM_COLOR_MATCH_VALUE" val="{&quot;shape&quot;:{&quot;fill&quot;:{&quot;gradient&quot;:[{&quot;brightness&quot;:0.4000000059604645,&quot;colorType&quot;:1,&quot;foreColorIndex&quot;:6,&quot;pos&quot;:0,&quot;transparency&quot;:0},{&quot;brightness&quot;:0,&quot;colorType&quot;:1,&quot;foreColorIndex&quot;:6,&quot;pos&quot;:1,&quot;transparency&quot;:0}],&quot;type&quot;:3},&quot;glow&quot;:{&quot;colorType&quot;:0},&quot;line&quot;:{&quot;type&quot;:0},&quot;shadow&quot;:{&quot;brightness&quot;:0,&quot;colorType&quot;:1,&quot;foreColorIndex&quot;:6,&quot;transparency&quot;:0.699999988079071},&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FILL_TYPE" val="3"/>
  <p:tag name="KSO_WM_UNIT_SHADOW_SCHEMECOLOR_INDEX" val="6"/>
  <p:tag name="KSO_WM_UNIT_USESOURCEFORMAT_APPLY" val="0"/>
</p:tagLst>
</file>

<file path=ppt/tags/tag147.xml><?xml version="1.0" encoding="utf-8"?>
<p:tagLst xmlns:p="http://schemas.openxmlformats.org/presentationml/2006/main">
  <p:tag name="KSO_WM_SLIDE_ID" val="diagram20231067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diagram"/>
  <p:tag name="KSO_WM_TEMPLATE_INDEX" val="20231067"/>
  <p:tag name="KSO_WM_SLIDE_TYPE" val="text"/>
  <p:tag name="KSO_WM_SLIDE_SUBTYPE" val="diag"/>
  <p:tag name="KSO_WM_SLIDE_SIZE" val="864.1*329.1"/>
  <p:tag name="KSO_WM_SLIDE_POSITION" val="47.95*147.45"/>
  <p:tag name="KSO_WM_SLIDE_LAYOUT" val="a_m"/>
  <p:tag name="KSO_WM_SLIDE_LAYOUT_CNT" val="1_1"/>
  <p:tag name="KSO_WM_SPECIAL_SOURCE" val="bdnull"/>
  <p:tag name="KSO_WM_DIAGRAM_GROUP_CODE" val="m1-1"/>
  <p:tag name="KSO_WM_SLIDE_DIAGTYPE" val="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2*a*1"/>
  <p:tag name="KSO_WM_TEMPLATE_CATEGORY" val="diagram"/>
  <p:tag name="KSO_WM_TEMPLATE_INDEX" val="20231660"/>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DIAGRAM_GROUP_CODE" val="q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2*q_i*1_4"/>
  <p:tag name="KSO_WM_TEMPLATE_CATEGORY" val="diagram"/>
  <p:tag name="KSO_WM_TEMPLATE_INDEX" val="20231660"/>
  <p:tag name="KSO_WM_UNIT_LAYERLEVEL" val="1_1"/>
  <p:tag name="KSO_WM_TAG_VERSION" val="3.0"/>
  <p:tag name="KSO_WM_BEAUTIFY_FLAG" val="#wm#"/>
  <p:tag name="KSO_WM_UNIT_TYPE" val="q_i"/>
  <p:tag name="KSO_WM_UNIT_INDEX" val="1_4"/>
  <p:tag name="KSO_WM_DIAGRAM_GROUP_CODE" val="q1-1"/>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gradient&quot;:[{&quot;brightness&quot;:0.4000000059604645,&quot;colorType&quot;:1,&quot;foreColorIndex&quot;:5,&quot;pos&quot;:0,&quot;transparency&quot;:0.6000000238418579},{&quot;brightness&quot;:0.4000000059604645,&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 name="KSO_WM_UNIT_USESOURCEFORMAT_APPLY" val="0"/>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2*q_i*1_3"/>
  <p:tag name="KSO_WM_TEMPLATE_CATEGORY" val="diagram"/>
  <p:tag name="KSO_WM_TEMPLATE_INDEX" val="20231660"/>
  <p:tag name="KSO_WM_UNIT_LAYERLEVEL" val="1_1"/>
  <p:tag name="KSO_WM_TAG_VERSION" val="3.0"/>
  <p:tag name="KSO_WM_BEAUTIFY_FLAG" val="#wm#"/>
  <p:tag name="KSO_WM_UNIT_TYPE" val="q_i"/>
  <p:tag name="KSO_WM_UNIT_INDEX" val="1_3"/>
  <p:tag name="KSO_WM_DIAGRAM_GROUP_CODE" val="q1-1"/>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type&quot;:0},&quot;glow&quot;:{&quot;colorType&quot;:0},&quot;line&quot;:{&quot;gradient&quot;:[{&quot;brightness&quot;:0,&quot;colorType&quot;:1,&quot;foreColorIndex&quot;:5,&quot;pos&quot;:0.43799999356269836,&quot;transparency&quot;:0.30000001192092896},{&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LINE_FORE_SCHEMECOLOR_INDEX" val="5"/>
  <p:tag name="KSO_WM_UNIT_USESOURCEFORMAT_APPLY" val="0"/>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2*q_i*1_2"/>
  <p:tag name="KSO_WM_TEMPLATE_CATEGORY" val="diagram"/>
  <p:tag name="KSO_WM_TEMPLATE_INDEX" val="20231660"/>
  <p:tag name="KSO_WM_UNIT_LAYERLEVEL" val="1_1"/>
  <p:tag name="KSO_WM_TAG_VERSION" val="3.0"/>
  <p:tag name="KSO_WM_BEAUTIFY_FLAG" val="#wm#"/>
  <p:tag name="KSO_WM_UNIT_TYPE" val="q_i"/>
  <p:tag name="KSO_WM_UNIT_INDEX" val="1_2"/>
  <p:tag name="KSO_WM_DIAGRAM_GROUP_CODE" val="q1-1"/>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LINE_FORE_SCHEMECOLOR_INDEX" val="5"/>
  <p:tag name="KSO_WM_UNIT_USESOURCEFORMAT_APPLY" val="0"/>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2*q_i*1_1"/>
  <p:tag name="KSO_WM_TEMPLATE_CATEGORY" val="diagram"/>
  <p:tag name="KSO_WM_TEMPLATE_INDEX" val="20231660"/>
  <p:tag name="KSO_WM_UNIT_LAYERLEVEL" val="1_1"/>
  <p:tag name="KSO_WM_TAG_VERSION" val="3.0"/>
  <p:tag name="KSO_WM_BEAUTIFY_FLAG" val="#wm#"/>
  <p:tag name="KSO_WM_UNIT_TYPE" val="q_i"/>
  <p:tag name="KSO_WM_UNIT_INDEX" val="1_1"/>
  <p:tag name="KSO_WM_DIAGRAM_GROUP_CODE" val="q1-1"/>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0.4659999907016754,&quot;transparency&quot;:0.720000028610229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LINE_FORE_SCHEMECOLOR_INDEX" val="5"/>
  <p:tag name="KSO_WM_UNIT_USESOURCEFORMAT_APPLY" val="0"/>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2*q_h_i*1_2_1"/>
  <p:tag name="KSO_WM_TEMPLATE_CATEGORY" val="diagram"/>
  <p:tag name="KSO_WM_TEMPLATE_INDEX" val="20231660"/>
  <p:tag name="KSO_WM_UNIT_LAYERLEVEL" val="1_1_1"/>
  <p:tag name="KSO_WM_TAG_VERSION" val="3.0"/>
  <p:tag name="KSO_WM_BEAUTIFY_FLAG" val="#wm#"/>
  <p:tag name="KSO_WM_DIAGRAM_GROUP_CODE" val="q1-1"/>
  <p:tag name="KSO_WM_UNIT_TYPE" val="q_h_i"/>
  <p:tag name="KSO_WM_UNIT_INDEX" val="1_2_1"/>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2*q_h_x*1_2_1"/>
  <p:tag name="KSO_WM_TEMPLATE_CATEGORY" val="diagram"/>
  <p:tag name="KSO_WM_TEMPLATE_INDEX" val="20231660"/>
  <p:tag name="KSO_WM_UNIT_LAYERLEVEL" val="1_1_1"/>
  <p:tag name="KSO_WM_TAG_VERSION" val="3.0"/>
  <p:tag name="KSO_WM_BEAUTIFY_FLAG" val="#wm#"/>
  <p:tag name="KSO_WM_UNIT_VALUE" val="54*54"/>
  <p:tag name="KSO_WM_DIAGRAM_GROUP_CODE" val="q1-1"/>
  <p:tag name="KSO_WM_UNIT_TYPE" val="q_h_x"/>
  <p:tag name="KSO_WM_UNIT_INDEX" val="1_2_1"/>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UNIT_TEXT_FILL_FORE_SCHEMECOLOR_INDEX" val="2"/>
  <p:tag name="KSO_WM_UNIT_TEXT_FILL_TYPE" val="1"/>
  <p:tag name="KSO_WM_UNIT_USESOURCEFORMAT_APPLY" val="0"/>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2*q_h_i*1_3_1"/>
  <p:tag name="KSO_WM_TEMPLATE_CATEGORY" val="diagram"/>
  <p:tag name="KSO_WM_TEMPLATE_INDEX" val="20231660"/>
  <p:tag name="KSO_WM_UNIT_LAYERLEVEL" val="1_1_1"/>
  <p:tag name="KSO_WM_TAG_VERSION" val="3.0"/>
  <p:tag name="KSO_WM_BEAUTIFY_FLAG" val="#wm#"/>
  <p:tag name="KSO_WM_DIAGRAM_GROUP_CODE" val="q1-1"/>
  <p:tag name="KSO_WM_UNIT_TYPE" val="q_h_i"/>
  <p:tag name="KSO_WM_UNIT_INDEX" val="1_3_1"/>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2*q_h_x*1_3_1"/>
  <p:tag name="KSO_WM_TEMPLATE_CATEGORY" val="diagram"/>
  <p:tag name="KSO_WM_TEMPLATE_INDEX" val="20231660"/>
  <p:tag name="KSO_WM_UNIT_LAYERLEVEL" val="1_1_1"/>
  <p:tag name="KSO_WM_TAG_VERSION" val="3.0"/>
  <p:tag name="KSO_WM_BEAUTIFY_FLAG" val="#wm#"/>
  <p:tag name="KSO_WM_UNIT_VALUE" val="52*54"/>
  <p:tag name="KSO_WM_DIAGRAM_GROUP_CODE" val="q1-1"/>
  <p:tag name="KSO_WM_UNIT_TYPE" val="q_h_x"/>
  <p:tag name="KSO_WM_UNIT_INDEX" val="1_3_1"/>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UNIT_TEXT_FILL_FORE_SCHEMECOLOR_INDEX" val="2"/>
  <p:tag name="KSO_WM_UNIT_TEXT_FILL_TYPE" val="1"/>
  <p:tag name="KSO_WM_UNIT_USESOURCEFORMAT_APPLY" val="0"/>
</p:tagLst>
</file>

<file path=ppt/tags/tag15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2_1"/>
  <p:tag name="KSO_WM_UNIT_ID" val="diagram20231660_2*q_h_f*1_2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单击此处输入您的项正文文字是您思想的提炼"/>
  <p:tag name="KSO_WM_UNIT_TEXT_TYPE" val="1"/>
  <p:tag name="KSO_WM_UNIT_USESOURCEFORMAT_APPLY" val="0"/>
</p:tagLst>
</file>

<file path=ppt/tags/tag15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2_1"/>
  <p:tag name="KSO_WM_UNIT_ID" val="diagram20231660_2*q_h_a*1_2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此处添加标题"/>
  <p:tag name="KSO_WM_UNIT_TEXT_TYPE" val="1"/>
  <p:tag name="KSO_WM_UNIT_USESOURCEFORMAT_APPLY" val="0"/>
</p:tagLst>
</file>

<file path=ppt/tags/tag15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3_1"/>
  <p:tag name="KSO_WM_UNIT_ID" val="diagram20231660_2*q_h_f*1_3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单击此处输入您的项正文文字是您思想的提炼"/>
  <p:tag name="KSO_WM_UNIT_TEXT_TYPE" val="1"/>
  <p:tag name="KSO_WM_UNIT_USESOURCEFORMAT_APPLY" val="0"/>
</p:tagLst>
</file>

<file path=ppt/tags/tag1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3_1"/>
  <p:tag name="KSO_WM_UNIT_ID" val="diagram20231660_2*q_h_a*1_3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此处添加标题"/>
  <p:tag name="KSO_WM_UNIT_TEXT_TYPE" val="1"/>
  <p:tag name="KSO_WM_UNIT_USESOURCEFORMAT_APPLY" val="0"/>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2*q_h_i*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x"/>
  <p:tag name="KSO_WM_UNIT_INDEX" val="1_1_1"/>
  <p:tag name="KSO_WM_UNIT_ID" val="diagram20231660_2*q_h_x*1_1_1"/>
  <p:tag name="KSO_WM_TEMPLATE_CATEGORY" val="diagram"/>
  <p:tag name="KSO_WM_TEMPLATE_INDEX" val="20231660"/>
  <p:tag name="KSO_WM_UNIT_LAYERLEVEL" val="1_1_1"/>
  <p:tag name="KSO_WM_TAG_VERSION" val="3.0"/>
  <p:tag name="KSO_WM_BEAUTIFY_FLAG" val="#wm#"/>
  <p:tag name="KSO_WM_UNIT_VALUE" val="54*5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TEXT_FILL_FORE_SCHEMECOLOR_INDEX" val="2"/>
  <p:tag name="KSO_WM_UNIT_TEXT_FILL_TYPE" val="1"/>
  <p:tag name="KSO_WM_UNIT_USESOURCEFORMAT_APPLY" val="0"/>
</p:tagLst>
</file>

<file path=ppt/tags/tag16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1660_2*q_h_f*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项正文文字是您思想的提炼"/>
  <p:tag name="KSO_WM_UNIT_TEXT_TYPE" val="1"/>
  <p:tag name="KSO_WM_UNIT_USESOURCEFORMAT_APPLY" val="0"/>
</p:tagLst>
</file>

<file path=ppt/tags/tag16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2*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4.4156735301581,&quot;left&quot;:-45.185302734375,&quot;top&quot;:101.43432646984192,&quot;width&quot;:903.62060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此处添加标题"/>
  <p:tag name="KSO_WM_UNIT_TEXT_TYPE" val="1"/>
  <p:tag name="KSO_WM_UNIT_USESOURCEFORMAT_APPLY" val="0"/>
</p:tagLst>
</file>

<file path=ppt/tags/tag165.xml><?xml version="1.0" encoding="utf-8"?>
<p:tagLst xmlns:p="http://schemas.openxmlformats.org/presentationml/2006/main">
  <p:tag name="KSO_WM_SLIDE_ID" val="diagram2023166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660"/>
  <p:tag name="KSO_WM_SLIDE_TYPE" val="text"/>
  <p:tag name="KSO_WM_SLIDE_SUBTYPE" val="diag"/>
  <p:tag name="KSO_WM_SLIDE_SIZE" val="677.55*316.384"/>
  <p:tag name="KSO_WM_SLIDE_POSITION" val="67.85*151.256"/>
  <p:tag name="KSO_WM_SLIDE_LAYOUT" val="a_q"/>
  <p:tag name="KSO_WM_SLIDE_LAYOUT_CNT" val="1_1"/>
  <p:tag name="KSO_WM_SPECIAL_SOURCE" val="bdnull"/>
  <p:tag name="ISLIDE.ICON" val="#369596;#136401;#391220;#405201;#369653;#370866;"/>
  <p:tag name="KSO_WM_DIAGRAM_GROUP_CODE" val="q1-1"/>
  <p:tag name="KSO_WM_SLIDE_DIAGTYPE" val="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2535</Words>
  <Application>WPS 演示</Application>
  <PresentationFormat>宽屏</PresentationFormat>
  <Paragraphs>254</Paragraphs>
  <Slides>18</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18</vt:i4>
      </vt:variant>
    </vt:vector>
  </HeadingPairs>
  <TitlesOfParts>
    <vt:vector size="38" baseType="lpstr">
      <vt:lpstr>Arial</vt:lpstr>
      <vt:lpstr>宋体</vt:lpstr>
      <vt:lpstr>Wingdings</vt:lpstr>
      <vt:lpstr>汉仪君黑-45简</vt:lpstr>
      <vt:lpstr>黑体</vt:lpstr>
      <vt:lpstr>微软雅黑</vt:lpstr>
      <vt:lpstr>Arial Unicode MS</vt:lpstr>
      <vt:lpstr>等线 Light</vt:lpstr>
      <vt:lpstr>等线</vt:lpstr>
      <vt:lpstr>Calibri</vt:lpstr>
      <vt:lpstr>字魂36号-正文宋楷</vt:lpstr>
      <vt:lpstr>Times New Roman</vt:lpstr>
      <vt:lpstr>字魂36号-正文宋楷</vt:lpstr>
      <vt:lpstr>汉仪君黑-45简</vt:lpstr>
      <vt:lpstr>Roboto Regular</vt:lpstr>
      <vt:lpstr>思源黑体 CN Regular</vt:lpstr>
      <vt:lpstr>Segoe Print</vt:lpstr>
      <vt:lpstr>汉仪粗圆简</vt:lpstr>
      <vt:lpstr>微软雅黑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单击此处添加标题</vt:lpstr>
      <vt:lpstr>PowerPoint 演示文稿</vt:lpstr>
      <vt:lpstr>PowerPoint 演示文稿</vt:lpstr>
      <vt:lpstr>PowerPoint 演示文稿</vt:lpstr>
      <vt:lpstr>PowerPoint 演示文稿</vt:lpstr>
      <vt:lpstr>PowerPoint 演示文稿</vt:lpstr>
      <vt:lpstr>PowerPoint 演示文稿</vt:lpstr>
      <vt:lpstr>单击此处添加标题</vt:lpstr>
      <vt:lpstr>单击此处添加标题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姚 慧娟</dc:creator>
  <cp:lastModifiedBy>武嘉婧（weixin）</cp:lastModifiedBy>
  <cp:revision>13</cp:revision>
  <dcterms:created xsi:type="dcterms:W3CDTF">2021-08-16T02:03:00Z</dcterms:created>
  <dcterms:modified xsi:type="dcterms:W3CDTF">2026-10-19T17:06:02Z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KSOTemplateUUID">
    <vt:lpwstr>v1.0_mb_E9thbLXbMlClWOb6J0DOKw==</vt:lpwstr>
  </property>
  <property fmtid="{D5CDD505-2E9C-101B-9397-08002B2CF9AE}" pid="4" name="ICV">
    <vt:lpwstr>3C09CF5ADC974ABEB45046BD8B3D0ED4_11</vt:lpwstr>
  </property>
</Properties>
</file>