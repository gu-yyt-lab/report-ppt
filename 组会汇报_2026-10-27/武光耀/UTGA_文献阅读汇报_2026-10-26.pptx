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封面信息来自论文标题页。DOI为arXiv DataCite DOI。Paper page 1.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右侧图来自Figure 1左侧，展示查询节点、查询交互及历史一跳邻居。Paper page 3.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研究缺口概括自摘要、引言和Related Work：现有CTDGN通常使用冻结文本特征，动态语义对齐仍不足。Paper pages 1–2.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创新点依据Methodology、Analysis与Computational Efficiency部分概括。Paper pages 2–8.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右侧上图来自Figure 5，右侧下图来自Figure 6。数据规模来自Table 7。Paper pages 9–10.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主图为Figure 1，展示从查询交互、历史邻居、文本Adapter到Transformer编码和DRA目标的完整数据流。Paper page 3.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右侧裁图来自Figure 1上方的PLM Adapter结构。模块细节来自Section 3.3。Paper pages 3–4.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DRA公式见Equation 1，LMM公式见Equation 5，动态权重平均见Section 3.5。Paper pages 3–4.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实验设置来自Sections 4.1–4.2与Appendix B。论文采用70/15/15时间划分及1k至20k标签预算。Paper pages 4–5 and 10–11.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左图来自Table 1，右下图来自Figure 2。相对提升22.0%以DyGnROLE为基准，17.2%以总体最强基线TGAT为基准。Paper pages 5–6.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左图为Figure 3，右图为Figure 4。结构探针与边文本线性探针结果见Tables 4–5。Paper pages 6–8.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左图来自Table 3，右图来自Table 6。效率提升以LoRA联合训练为参照；UTGA仍慢于完全冻结文本的DyGnROLE。Paper pages 7–8.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结论来自Section 6；局限来自Appendix E。论文明确将节点分类与链接预测列为后续方向。Paper pages 8 and 12.</a:t>
            </a:r>
          </a:p>
          <a:p/>
          <a:p>
            <a:r>
              <a:t>Source: D:\xwechat_files\wxid_0qocb2jlu27522_0486\msg\file\2026-10\文本+结构.pdf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椭圆 16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4953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文献阅读汇报</a:t>
            </a:r>
            <a:endParaRPr sz="127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257300"/>
            <a:ext cx="5715000" cy="16192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06000"/>
              </a:lnSpc>
              <a:buNone/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动态文本属性图边分类中的</a:t>
            </a:r>
            <a:endParaRPr sz="29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buNone/>
              <a:def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语义与时空协同演化</a:t>
            </a:r>
            <a:endParaRPr sz="29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067050"/>
            <a:ext cx="54292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lnSpcReduction="10000"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问题图中的关系会随着时间变化，那么文本表示是否应该随着时间和图结构一起变化。</a:t>
            </a:r>
            <a:endParaRPr lang="zh-CN"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文中提到的</a:t>
            </a:r>
            <a:r>
              <a:rPr lang="en-US" altLang="zh-CN"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UTGA</a:t>
            </a:r>
            <a:r>
              <a:rPr lang="zh-CN" altLang="en-US"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框架，让文本表示在图训练过程中更新，同时使用原始语言模型避免更新太大偏离原来含义。</a:t>
            </a:r>
            <a:endParaRPr lang="en-US" altLang="zh-CN"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4229100"/>
            <a:ext cx="857250" cy="57150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4495800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5476875"/>
            <a:ext cx="4476750" cy="609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研究生组会  2026.10.2</a:t>
            </a:r>
            <a:r>
              <a:rPr lang="en-US"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zh-CN"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武光耀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00850" y="704850"/>
            <a:ext cx="4762500" cy="51435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4500" t="5500" r="4500" b="50000"/>
          <a:stretch>
            <a:fillRect/>
          </a:stretch>
        </p:blipFill>
        <p:spPr>
          <a:xfrm>
            <a:off x="6953250" y="857250"/>
            <a:ext cx="4457700" cy="4838700"/>
          </a:xfrm>
          <a:prstGeom prst="roundRect">
            <a:avLst>
              <a:gd name="adj" fmla="val 2564"/>
            </a:avLst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椭圆 32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动态文本属性图与边分类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" y="1619250"/>
            <a:ext cx="1571625" cy="666750"/>
          </a:xfrm>
          <a:prstGeom prst="roundRect">
            <a:avLst>
              <a:gd name="adj" fmla="val 22857"/>
            </a:avLst>
          </a:prstGeom>
          <a:solidFill>
            <a:srgbClr val="DCE8F5"/>
          </a:solidFill>
          <a:ln w="9525">
            <a:solidFill>
              <a:srgbClr val="DCE8F5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1685925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现实交互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3622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电影</a:t>
            </a: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评论、</a:t>
            </a:r>
            <a:r>
              <a:rPr lang="zh-CN"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论坛</a:t>
            </a: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169545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581275" y="1619250"/>
            <a:ext cx="1571625" cy="666750"/>
          </a:xfrm>
          <a:prstGeom prst="roundRect">
            <a:avLst>
              <a:gd name="adj" fmla="val 22857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76525" y="1685925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动态文本图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62225" y="23622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节点、边、文本和时间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181475" y="169545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533900" y="1619250"/>
            <a:ext cx="1571625" cy="666750"/>
          </a:xfrm>
          <a:prstGeom prst="roundRect">
            <a:avLst>
              <a:gd name="adj" fmla="val 22857"/>
            </a:avLst>
          </a:prstGeom>
          <a:solidFill>
            <a:srgbClr val="FCEBDD"/>
          </a:solidFill>
          <a:ln w="9525">
            <a:solidFill>
              <a:srgbClr val="FCEBDD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29150" y="1685925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历史建模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14850" y="23622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关系随时间持续演化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34100" y="169545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486525" y="1619250"/>
            <a:ext cx="1571625" cy="666750"/>
          </a:xfrm>
          <a:prstGeom prst="roundRect">
            <a:avLst>
              <a:gd name="adj" fmla="val 22857"/>
            </a:avLst>
          </a:prstGeom>
          <a:solidFill>
            <a:srgbClr val="ECEEF1"/>
          </a:solidFill>
          <a:ln w="9525">
            <a:solidFill>
              <a:srgbClr val="ECEEF1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81775" y="1685925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边分类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67475" y="2362200"/>
            <a:ext cx="1619250" cy="4381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预测交互的类别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3314700"/>
            <a:ext cx="161925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论文任务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369570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利用时间 t 之前的交互历史，预测下一条边的类别。</a:t>
            </a:r>
            <a:endParaRPr sz="187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8650" y="4495800"/>
            <a:ext cx="56197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7000"/>
              </a:lnSpc>
              <a:buNone/>
              <a:def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电商场景预测1–5星；论坛场景判断回复是否有用；</a:t>
            </a:r>
            <a:endParaRPr sz="13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477250" y="1428750"/>
            <a:ext cx="3048000" cy="4095750"/>
          </a:xfrm>
          <a:prstGeom prst="roundRect">
            <a:avLst>
              <a:gd name="adj" fmla="val 6250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l="6000" t="10000" r="72000" b="50000"/>
          <a:stretch>
            <a:fillRect/>
          </a:stretch>
        </p:blipFill>
        <p:spPr>
          <a:xfrm>
            <a:off x="8648700" y="1638300"/>
            <a:ext cx="2705100" cy="2857500"/>
          </a:xfrm>
          <a:prstGeom prst="roundRect">
            <a:avLst>
              <a:gd name="adj" fmla="val 4225"/>
            </a:avLst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8763000" y="46291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查询边发生在时间 t</a:t>
            </a:r>
            <a:endParaRPr sz="12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模型只能使用 t 之前的历史</a:t>
            </a:r>
            <a:endParaRPr sz="12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椭圆 36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研究缺口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文本表示被冻结，图结构却持续变化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4668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传统流程</a:t>
            </a:r>
            <a:endParaRPr sz="1500" b="1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" y="1962150"/>
            <a:ext cx="1714500" cy="647700"/>
          </a:xfrm>
          <a:prstGeom prst="roundRect">
            <a:avLst>
              <a:gd name="adj" fmla="val 23529"/>
            </a:avLst>
          </a:prstGeom>
          <a:solidFill>
            <a:srgbClr val="F3F5F7"/>
          </a:solidFill>
          <a:ln w="9525">
            <a:solidFill>
              <a:srgbClr val="F3F5F7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028825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原始文本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52700" y="203835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933700" y="1962150"/>
            <a:ext cx="1714500" cy="647700"/>
          </a:xfrm>
          <a:prstGeom prst="roundRect">
            <a:avLst>
              <a:gd name="adj" fmla="val 23529"/>
            </a:avLst>
          </a:prstGeom>
          <a:solidFill>
            <a:srgbClr val="F3F5F7"/>
          </a:solidFill>
          <a:ln w="9525">
            <a:solidFill>
              <a:srgbClr val="F3F5F7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28950" y="2028825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预训练语言模型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43450" y="203835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124450" y="1962150"/>
            <a:ext cx="1714500" cy="647700"/>
          </a:xfrm>
          <a:prstGeom prst="roundRect">
            <a:avLst>
              <a:gd name="adj" fmla="val 23529"/>
            </a:avLst>
          </a:prstGeom>
          <a:solidFill>
            <a:srgbClr val="EFEFEF"/>
          </a:solidFill>
          <a:ln w="9525">
            <a:solidFill>
              <a:srgbClr val="EFEFEF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19700" y="2028825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固定文本Embedding</a:t>
            </a:r>
            <a:endParaRPr sz="1350" b="1">
              <a:solidFill>
                <a:srgbClr val="7777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34200" y="203835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315200" y="1962150"/>
            <a:ext cx="1714500" cy="647700"/>
          </a:xfrm>
          <a:prstGeom prst="roundRect">
            <a:avLst>
              <a:gd name="adj" fmla="val 23529"/>
            </a:avLst>
          </a:prstGeom>
          <a:solidFill>
            <a:srgbClr val="F3F5F7"/>
          </a:solidFill>
          <a:ln w="9525">
            <a:solidFill>
              <a:srgbClr val="F3F5F7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10450" y="2028825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动态图编码器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38700" y="27146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86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文本语义在训练中保持静止</a:t>
            </a:r>
            <a:endParaRPr sz="1125" b="1">
              <a:solidFill>
                <a:srgbClr val="C86A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3371850"/>
            <a:ext cx="106680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2950" y="36766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论文提出的问题</a:t>
            </a:r>
            <a:endParaRPr sz="15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4171950"/>
            <a:ext cx="8001000" cy="666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文本能否随网络拓扑和交互时间共同演化，同时保留原始语义？</a:t>
            </a:r>
            <a:endParaRPr sz="217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2950" y="5219700"/>
            <a:ext cx="3143250" cy="781050"/>
          </a:xfrm>
          <a:prstGeom prst="roundRect">
            <a:avLst>
              <a:gd name="adj" fmla="val 17073"/>
            </a:avLst>
          </a:prstGeom>
          <a:solidFill>
            <a:srgbClr val="DCE8F5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5334000"/>
            <a:ext cx="9715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表示脱节</a:t>
            </a:r>
            <a:endParaRPr sz="12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809750" y="5267325"/>
            <a:ext cx="1943100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固定文本表示和动态关系之间存在表示脱节</a:t>
            </a:r>
            <a:endParaRPr lang="zh-CN" altLang="en-US"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67200" y="5219700"/>
            <a:ext cx="3143250" cy="781050"/>
          </a:xfrm>
          <a:prstGeom prst="roundRect">
            <a:avLst>
              <a:gd name="adj" fmla="val 17073"/>
            </a:avLst>
          </a:prstGeom>
          <a:solidFill>
            <a:srgbClr val="FCEBDD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00550" y="5334000"/>
            <a:ext cx="9715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56E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计算开销</a:t>
            </a:r>
            <a:endParaRPr sz="1200" b="1">
              <a:solidFill>
                <a:srgbClr val="C56E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334000" y="5267325"/>
            <a:ext cx="1943100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如果直接训练完整语言模型，计算成本和显存开销会很高</a:t>
            </a:r>
            <a:endParaRPr lang="zh-CN" altLang="en-US"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791450" y="5219700"/>
            <a:ext cx="3143250" cy="781050"/>
          </a:xfrm>
          <a:prstGeom prst="roundRect">
            <a:avLst>
              <a:gd name="adj" fmla="val 17073"/>
            </a:avLst>
          </a:prstGeom>
          <a:solidFill>
            <a:srgbClr val="DCE8F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924800" y="5334000"/>
            <a:ext cx="9715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lnSpcReduction="20000"/>
          </a:bodyPr>
          <a:lstStyle>
            <a:def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</a:t>
            </a:r>
            <a:r>
              <a:rPr lang="zh-CN"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丢失</a:t>
            </a:r>
            <a:endParaRPr lang="zh-CN" sz="12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858250" y="5267325"/>
            <a:ext cx="1943100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lnSpcReduction="10000"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如果只让文本服从图结构梯度，文本又可能为了适应连接关系而丢失原来的语义。</a:t>
            </a:r>
            <a:endParaRPr lang="zh-CN" altLang="en-US"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椭圆 24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研究创新点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UTGA的三项核心设计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3714750" y="3429000"/>
            <a:ext cx="1428750" cy="1219200"/>
          </a:xfrm>
          <a:prstGeom prst="roundRect">
            <a:avLst>
              <a:gd name="adj" fmla="val 26563"/>
            </a:avLst>
          </a:prstGeom>
          <a:solidFill>
            <a:srgbClr val="5E86C9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圆角矩形 8"/>
          <p:cNvSpPr>
            <a:spLocks noGrp="1"/>
          </p:cNvSpPr>
          <p:nvPr/>
        </p:nvSpPr>
        <p:spPr>
          <a:xfrm>
            <a:off x="5276850" y="3429000"/>
            <a:ext cx="1428750" cy="1219200"/>
          </a:xfrm>
          <a:prstGeom prst="roundRect">
            <a:avLst>
              <a:gd name="adj" fmla="val 26563"/>
            </a:avLst>
          </a:prstGeom>
          <a:solidFill>
            <a:srgbClr val="F3A06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圆角矩形 9"/>
          <p:cNvSpPr>
            <a:spLocks noGrp="1"/>
          </p:cNvSpPr>
          <p:nvPr/>
        </p:nvSpPr>
        <p:spPr>
          <a:xfrm>
            <a:off x="4876800" y="1619250"/>
            <a:ext cx="685800" cy="2000250"/>
          </a:xfrm>
          <a:prstGeom prst="roundRect">
            <a:avLst>
              <a:gd name="adj" fmla="val 30556"/>
            </a:avLst>
          </a:prstGeom>
          <a:solidFill>
            <a:srgbClr val="A9AAAD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191000" y="1123950"/>
            <a:ext cx="2095500" cy="1066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fontScale="92199"/>
          </a:bodyPr>
          <a:lstStyle>
            <a:def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</a:t>
            </a:r>
            <a:endParaRPr sz="70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48125" y="37623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610225" y="3762375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62525" y="2457450"/>
            <a:ext cx="514350" cy="3810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28765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文本与图结构协同演化</a:t>
            </a:r>
            <a:endParaRPr sz="15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" y="3333750"/>
            <a:ext cx="285750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lnSpcReduction="20000"/>
          </a:bodyPr>
          <a:lstStyle>
            <a:def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动态图预训练产生的结构和时间梯度能够传入</a:t>
            </a:r>
            <a:r>
              <a:rPr lang="en-US" altLang="zh-CN"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Adapter，</a:t>
            </a:r>
            <a:r>
              <a:rPr lang="zh-CN" altLang="en-US"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因此文本表示不再完全固定，而是可以适应当前语境</a:t>
            </a:r>
            <a:r>
              <a: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72300" y="28765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67D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语言模型维护目标</a:t>
            </a:r>
            <a:endParaRPr sz="1575" b="1">
              <a:solidFill>
                <a:srgbClr val="E67D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72300" y="3333750"/>
            <a:ext cx="361950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LMM将原始Qwen3表示作为语义锚点，限制结构梯度造成的语义</a:t>
            </a:r>
            <a:r>
              <a:rPr lang="zh-CN"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丢失</a:t>
            </a:r>
            <a:r>
              <a: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72300" y="161925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轻量适配与系统分析</a:t>
            </a:r>
            <a:endParaRPr sz="1575" b="1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972300" y="2057400"/>
            <a:ext cx="39052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冻结0.6B语言模型，只训练两层Transformer Adapter，并分析表示几何与计算效率。</a:t>
            </a:r>
            <a:endParaRPr sz="127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椭圆 37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lnSpcReduction="10000"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研究数据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DTGB覆盖四类真实场景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647700" y="142875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1466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14450" y="14192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2593"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电商评价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14450" y="171450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0000"/>
          </a:bodyPr>
          <a:lstStyle>
            <a:def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Amazon · Google · Yelp</a:t>
            </a:r>
            <a:endParaRPr sz="112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14450" y="197167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5238"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1–5星评分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47700" y="2419350"/>
            <a:ext cx="495300" cy="495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5E86C9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24574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14450" y="24098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2593"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技术论坛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14450" y="270510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0000"/>
          </a:bodyPr>
          <a:lstStyle>
            <a:def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Stack E · Stack U</a:t>
            </a:r>
            <a:endParaRPr sz="112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14450" y="296227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5238"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回复是否有用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47700" y="340995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" y="34480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14450" y="34004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2593"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企业邮件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14450" y="369570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0000"/>
          </a:bodyPr>
          <a:lstStyle>
            <a:def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Enron</a:t>
            </a:r>
            <a:endParaRPr sz="112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14450" y="395287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5238"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10类邮件主题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47700" y="4400550"/>
            <a:ext cx="495300" cy="495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5E86C9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" y="44386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14450" y="439102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2593"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国际事件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14450" y="468630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0000"/>
          </a:bodyPr>
          <a:lstStyle>
            <a:def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GDELT · ICEWS</a:t>
            </a:r>
            <a:endParaRPr sz="112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314450" y="494347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5238"/>
          </a:bodyPr>
          <a:lstStyle>
            <a:def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236/266类关系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52450" y="5524500"/>
            <a:ext cx="3619500" cy="590550"/>
          </a:xfrm>
          <a:prstGeom prst="roundRect">
            <a:avLst>
              <a:gd name="adj" fmla="val 19355"/>
            </a:avLst>
          </a:prstGeom>
          <a:solidFill>
            <a:srgbClr val="F3F5F7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85800" y="56769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8个数据集  ·  最高约699万条边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781550" y="1285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8039"/>
          </a:bodyPr>
          <a:lstStyle>
            <a:def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标签分布</a:t>
            </a:r>
            <a:endParaRPr sz="12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l="6000" t="8000" r="46000" b="69000"/>
          <a:stretch>
            <a:fillRect/>
          </a:stretch>
        </p:blipFill>
        <p:spPr>
          <a:xfrm>
            <a:off x="4667250" y="1581150"/>
            <a:ext cx="4215130" cy="1981200"/>
          </a:xfrm>
          <a:prstGeom prst="roundRect">
            <a:avLst>
              <a:gd name="adj" fmla="val 5769"/>
            </a:avLst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4781550" y="378142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88039"/>
          </a:bodyPr>
          <a:lstStyle>
            <a:def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文本长度</a:t>
            </a:r>
            <a:endParaRPr sz="12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l="6000" t="29000" r="46000" b="38000"/>
          <a:stretch>
            <a:fillRect/>
          </a:stretch>
        </p:blipFill>
        <p:spPr>
          <a:xfrm>
            <a:off x="4667250" y="4048125"/>
            <a:ext cx="4138930" cy="2028825"/>
          </a:xfrm>
          <a:prstGeom prst="roundRect">
            <a:avLst>
              <a:gd name="adj" fmla="val 5714"/>
            </a:avLst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264015" y="1844675"/>
            <a:ext cx="269367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30505"/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Stack E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Stack U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只有两类，但类别数量明显不均衡；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GDELT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ICEWS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的类别很多，属于难度很高的多分类任务；三个评价数据集都是五分类。</a:t>
            </a:r>
            <a:endParaRPr lang="zh-CN" altLang="en-US" sz="1600" i="0">
              <a:solidFill>
                <a:srgbClr val="2226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92260" y="4209415"/>
            <a:ext cx="2693670" cy="2061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30505"/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Stack E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Stack U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的节点文本很长，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Enron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的节点文本只有很短的邮箱信息，但邮件边文本很长。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GDELT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ICEWS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的文本整体较短。作者利用这种差异分析</a:t>
            </a:r>
            <a:r>
              <a:rPr lang="en-US" altLang="zh-CN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UTGA</a:t>
            </a:r>
            <a:r>
              <a:rPr lang="zh-CN" altLang="en-US" sz="1600" i="0">
                <a:solidFill>
                  <a:srgbClr val="22262D"/>
                </a:solidFill>
                <a:latin typeface="微软雅黑" panose="020B0503020204020204" charset="-122"/>
                <a:ea typeface="微软雅黑" panose="020B0503020204020204" charset="-122"/>
              </a:rPr>
              <a:t>在哪些文本条件下提升更明显。</a:t>
            </a:r>
            <a:endParaRPr lang="zh-CN" altLang="en-US" sz="1600" i="0">
              <a:solidFill>
                <a:srgbClr val="2226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椭圆 28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研究方法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统一文本—图对齐框架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71500" y="1276350"/>
            <a:ext cx="11049000" cy="4171950"/>
          </a:xfrm>
          <a:prstGeom prst="roundRect">
            <a:avLst>
              <a:gd name="adj" fmla="val 4110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500" t="7500" r="5500" b="48000"/>
          <a:stretch>
            <a:fillRect/>
          </a:stretch>
        </p:blipFill>
        <p:spPr>
          <a:xfrm>
            <a:off x="704850" y="1409700"/>
            <a:ext cx="10782300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10" name="椭圆 9"/>
          <p:cNvSpPr>
            <a:spLocks noGrp="1"/>
          </p:cNvSpPr>
          <p:nvPr/>
        </p:nvSpPr>
        <p:spPr>
          <a:xfrm>
            <a:off x="1200150" y="56578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56959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71650" y="5734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历史邻居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343275" y="565785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343275" y="56959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14775" y="5734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文本适配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486400" y="56578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486400" y="56959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57900" y="5734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特征融合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629525" y="565785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29525" y="56959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01025" y="5734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序列编码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772650" y="56578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772650" y="56959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344150" y="57340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对比预训练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椭圆 42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研究方法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冻结Qwen3，训练轻量Adapter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0970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模型分工</a:t>
            </a:r>
            <a:endParaRPr sz="15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200025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DCE8F5"/>
          </a:solidFill>
          <a:ln w="9525">
            <a:solidFill>
              <a:srgbClr val="DCE8F5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066925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Frozen Qwen3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通用语言表示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76550" y="213360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276600" y="200025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E7F3F1"/>
          </a:solidFill>
          <a:ln w="9525">
            <a:solidFill>
              <a:srgbClr val="E7F3F1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71850" y="2066925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Embeddings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</a:t>
            </a: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输出的逐词向量。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486400" y="2133600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886450" y="2000250"/>
            <a:ext cx="2095500" cy="781050"/>
          </a:xfrm>
          <a:prstGeom prst="roundRect">
            <a:avLst>
              <a:gd name="adj" fmla="val 19512"/>
            </a:avLst>
          </a:prstGeom>
          <a:solidFill>
            <a:srgbClr val="FCEBDD"/>
          </a:solidFill>
          <a:ln w="9525">
            <a:solidFill>
              <a:srgbClr val="FCEBDD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81700" y="2066925"/>
            <a:ext cx="1905000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lnSpcReduction="20000"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2层Transformer Adapter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特定场景的翻译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2990850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Qwen3参数固定</a:t>
            </a:r>
            <a:endParaRPr sz="112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81700" y="29908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Adapter随训练梯度更新</a:t>
            </a:r>
            <a:endParaRPr sz="1125" b="1">
              <a:solidFill>
                <a:srgbClr val="D576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47700" y="3667125"/>
            <a:ext cx="7353300" cy="1962150"/>
          </a:xfrm>
          <a:prstGeom prst="roundRect">
            <a:avLst>
              <a:gd name="adj" fmla="val 7767"/>
            </a:avLst>
          </a:prstGeom>
          <a:solidFill>
            <a:srgbClr val="F3F5F7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" y="338137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Adapter内部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76300" y="4419600"/>
            <a:ext cx="110490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D5E0EC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33450" y="3844925"/>
            <a:ext cx="993140" cy="128651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lnSpcReduction="10000"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RMSNorm</a:t>
            </a: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用于控制向量数值范围，让训练更加稳定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962150" y="4467225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209800" y="4419600"/>
            <a:ext cx="1104900" cy="552450"/>
          </a:xfrm>
          <a:prstGeom prst="roundRect">
            <a:avLst>
              <a:gd name="adj" fmla="val 27586"/>
            </a:avLst>
          </a:prstGeom>
          <a:solidFill>
            <a:srgbClr val="DCE8F5"/>
          </a:solidFill>
          <a:ln w="9525">
            <a:solidFill>
              <a:srgbClr val="DCE8F5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3844925"/>
            <a:ext cx="1162050" cy="1317625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多头注意力</a:t>
            </a: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让文本中的不同词相互寻找关系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295650" y="4467225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543300" y="4419600"/>
            <a:ext cx="110490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D5E0EC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638550" y="3990975"/>
            <a:ext cx="967105" cy="1066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残差连接</a:t>
            </a: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防止原始信息完全丢失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629150" y="4467225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4876800" y="4419600"/>
            <a:ext cx="110490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D5E0EC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972050" y="4486275"/>
            <a:ext cx="914400" cy="4191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fontScale="91136"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RMSNorm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62650" y="4467225"/>
            <a:ext cx="3429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A9AA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3150" b="0">
              <a:solidFill>
                <a:srgbClr val="A9AA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210300" y="4419600"/>
            <a:ext cx="1104900" cy="552450"/>
          </a:xfrm>
          <a:prstGeom prst="roundRect">
            <a:avLst>
              <a:gd name="adj" fmla="val 27586"/>
            </a:avLst>
          </a:prstGeom>
          <a:solidFill>
            <a:srgbClr val="DCE8F5"/>
          </a:solidFill>
          <a:ln w="9525">
            <a:solidFill>
              <a:srgbClr val="DCE8F5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305550" y="4015740"/>
            <a:ext cx="914400" cy="1278255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 lnSpcReduction="20000"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SwiGLU</a:t>
            </a: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信息筛选模块，判断哪些信息应该保留、增强或者削弱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516255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382000" y="1409700"/>
            <a:ext cx="3067050" cy="4286250"/>
          </a:xfrm>
          <a:prstGeom prst="roundRect">
            <a:avLst>
              <a:gd name="adj" fmla="val 5590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rcRect l="24000" t="5500" r="15000" b="75000"/>
          <a:stretch>
            <a:fillRect/>
          </a:stretch>
        </p:blipFill>
        <p:spPr>
          <a:xfrm>
            <a:off x="8534400" y="1581150"/>
            <a:ext cx="2762250" cy="2876550"/>
          </a:xfrm>
          <a:prstGeom prst="roundRect">
            <a:avLst>
              <a:gd name="adj" fmla="val 4138"/>
            </a:avLst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8667750" y="4667250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论文图1中的PLM Adapter模块</a:t>
            </a:r>
            <a:endParaRPr sz="12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椭圆 24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研究方法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DRA负责适应结构，LMM负责保持语义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3905250" y="2381250"/>
            <a:ext cx="4381500" cy="1714500"/>
          </a:xfrm>
          <a:prstGeom prst="ellipse">
            <a:avLst/>
          </a:prstGeom>
          <a:solidFill>
            <a:srgbClr val="EEF3FB"/>
          </a:solidFill>
          <a:ln w="19050">
            <a:solidFill>
              <a:srgbClr val="5E86C9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29527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适配后的文本表示</a:t>
            </a:r>
            <a:endParaRPr sz="202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00100" y="2095500"/>
            <a:ext cx="2381250" cy="2286000"/>
          </a:xfrm>
          <a:prstGeom prst="roundRect">
            <a:avLst>
              <a:gd name="adj" fmla="val 10000"/>
            </a:avLst>
          </a:prstGeom>
          <a:solidFill>
            <a:srgbClr val="5E86C9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219200" y="240030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</a:t>
            </a:r>
            <a:endParaRPr sz="23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048000"/>
            <a:ext cx="1847850" cy="1047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5000"/>
              </a:lnSpc>
              <a:buNone/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真实交互节点靠近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buNone/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无关节点分开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buNone/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历史真实关系不作负样本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010650" y="2095500"/>
            <a:ext cx="2381250" cy="2286000"/>
          </a:xfrm>
          <a:prstGeom prst="roundRect">
            <a:avLst>
              <a:gd name="adj" fmla="val 10000"/>
            </a:avLst>
          </a:prstGeom>
          <a:solidFill>
            <a:srgbClr val="F3A06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9429750" y="2400300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LMM</a:t>
            </a:r>
            <a:endParaRPr sz="23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77350" y="3048000"/>
            <a:ext cx="1847850" cy="1047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5000"/>
              </a:lnSpc>
              <a:buNone/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原始Qwen3作为锚点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buNone/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允许表示适度移动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buNone/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保持文本身份不变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57550" y="2895600"/>
            <a:ext cx="571500" cy="609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⇢</a:t>
            </a:r>
            <a:endParaRPr sz="34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62950" y="2895600"/>
            <a:ext cx="571500" cy="609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F3A0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⇠</a:t>
            </a:r>
            <a:endParaRPr sz="3450" b="1">
              <a:solidFill>
                <a:srgbClr val="F3A0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286250" y="4667250"/>
            <a:ext cx="3619500" cy="781050"/>
          </a:xfrm>
          <a:prstGeom prst="roundRect">
            <a:avLst>
              <a:gd name="adj" fmla="val 21951"/>
            </a:avLst>
          </a:prstGeom>
          <a:solidFill>
            <a:srgbClr val="F3F5F7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76750" y="4829175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动态权重平均根据两个损失的下降速度自动平衡任务权重</a:t>
            </a:r>
            <a:endParaRPr sz="127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667000" y="5810250"/>
            <a:ext cx="6858000" cy="3619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结构信息提供适应方向，语义锚点限制更新幅度。</a:t>
            </a:r>
            <a:endParaRPr sz="150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椭圆 43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按时间顺序训练与评估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4287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时间划分</a:t>
            </a:r>
            <a:endParaRPr sz="15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2114550"/>
            <a:ext cx="9906000" cy="590550"/>
          </a:xfrm>
          <a:prstGeom prst="roundRect">
            <a:avLst>
              <a:gd name="adj" fmla="val 29032"/>
            </a:avLst>
          </a:prstGeom>
          <a:solidFill>
            <a:srgbClr val="F3F5F7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00100" y="2114550"/>
            <a:ext cx="6934200" cy="590550"/>
          </a:xfrm>
          <a:prstGeom prst="roundRect">
            <a:avLst>
              <a:gd name="adj" fmla="val 29032"/>
            </a:avLst>
          </a:prstGeom>
          <a:solidFill>
            <a:srgbClr val="5E86C9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734300" y="2114550"/>
            <a:ext cx="1485900" cy="590550"/>
          </a:xfrm>
          <a:prstGeom prst="rect">
            <a:avLst/>
          </a:prstGeom>
          <a:solidFill>
            <a:srgbClr val="62AAA7"/>
          </a:solidFill>
          <a:ln w="0">
            <a:noFill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9220200" y="2114550"/>
            <a:ext cx="1485900" cy="590550"/>
          </a:xfrm>
          <a:prstGeom prst="roundRect">
            <a:avLst>
              <a:gd name="adj" fmla="val 29032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22479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 70%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53350" y="22479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15%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22479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 15%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280035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过去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001250" y="28003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23900" y="37147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3752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71600" y="3657600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自监督预训练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352550" y="4038600"/>
            <a:ext cx="2000250" cy="914400"/>
          </a:xfrm>
          <a:prstGeom prst="roundRect">
            <a:avLst>
              <a:gd name="adj" fmla="val 14583"/>
            </a:avLst>
          </a:prstGeom>
          <a:solidFill>
            <a:srgbClr val="DCE8F5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66850" y="4191000"/>
            <a:ext cx="177165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最近200,000条训练交互</a:t>
            </a:r>
            <a:endParaRPr sz="120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3438525" y="371475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38525" y="3752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086225" y="3657600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预训练验证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067175" y="4038600"/>
            <a:ext cx="2000250" cy="914400"/>
          </a:xfrm>
          <a:prstGeom prst="roundRect">
            <a:avLst>
              <a:gd name="adj" fmla="val 14583"/>
            </a:avLst>
          </a:prstGeom>
          <a:solidFill>
            <a:srgbClr val="E7F3F1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181475" y="4191000"/>
            <a:ext cx="177165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30,000条验证交互</a:t>
            </a:r>
            <a:endParaRPr sz="120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6153150" y="37147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53150" y="3752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00850" y="3657600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有监督微调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781800" y="4038600"/>
            <a:ext cx="2000250" cy="914400"/>
          </a:xfrm>
          <a:prstGeom prst="roundRect">
            <a:avLst>
              <a:gd name="adj" fmla="val 14583"/>
            </a:avLst>
          </a:prstGeom>
          <a:solidFill>
            <a:srgbClr val="FCEBDD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896100" y="4191000"/>
            <a:ext cx="177165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1k / 5k / 10k / 20k标签</a:t>
            </a:r>
            <a:endParaRPr sz="120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8867775" y="371475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867775" y="3752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515475" y="3657600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最终评价</a:t>
            </a:r>
            <a:endParaRPr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496425" y="4038600"/>
            <a:ext cx="2000250" cy="914400"/>
          </a:xfrm>
          <a:prstGeom prst="roundRect">
            <a:avLst>
              <a:gd name="adj" fmla="val 14583"/>
            </a:avLst>
          </a:prstGeom>
          <a:solidFill>
            <a:srgbClr val="ECEEF1"/>
          </a:solidFill>
          <a:ln w="0">
            <a:noFill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610725" y="4191000"/>
            <a:ext cx="177165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ctr">
            <a:normAutofit/>
          </a:bodyPr>
          <a:lstStyle>
            <a:def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Macro-F1，5个随机种子</a:t>
            </a:r>
            <a:endParaRPr sz="120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23900" y="5410200"/>
            <a:ext cx="10572750" cy="590550"/>
          </a:xfrm>
          <a:prstGeom prst="roundRect">
            <a:avLst>
              <a:gd name="adj" fmla="val 19355"/>
            </a:avLst>
          </a:prstGeom>
          <a:solidFill>
            <a:srgbClr val="F3F5F7"/>
          </a:solidFill>
          <a:ln w="0"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5572125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对比范围：14种模型，涵盖记忆模型、注意力模型、随机游走与近期自监督动态图方法</a:t>
            </a:r>
            <a:endParaRPr sz="120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椭圆 24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研究结果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UTGA在8个数据集上取得最高Macro-F1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14350" y="1238250"/>
            <a:ext cx="7905750" cy="400050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7000" t="7500" r="7000" b="56000"/>
          <a:stretch>
            <a:fillRect/>
          </a:stretch>
        </p:blipFill>
        <p:spPr>
          <a:xfrm>
            <a:off x="628650" y="1352550"/>
            <a:ext cx="7677150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8686800" y="1295400"/>
            <a:ext cx="2667000" cy="1181100"/>
          </a:xfrm>
          <a:prstGeom prst="roundRect">
            <a:avLst>
              <a:gd name="adj" fmla="val 14516"/>
            </a:avLst>
          </a:prstGeom>
          <a:solidFill>
            <a:srgbClr val="5E86C9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0" y="1485900"/>
            <a:ext cx="2133600" cy="4762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7222"/>
          </a:bodyPr>
          <a:lstStyle>
            <a:def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27.53%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53500" y="2000250"/>
            <a:ext cx="213360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平均Macro-F1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686800" y="2647950"/>
            <a:ext cx="1295400" cy="933450"/>
          </a:xfrm>
          <a:prstGeom prst="roundRect">
            <a:avLst>
              <a:gd name="adj" fmla="val 16327"/>
            </a:avLst>
          </a:prstGeom>
          <a:solidFill>
            <a:srgbClr val="E7F3F1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801100" y="2800350"/>
            <a:ext cx="10668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3333"/>
          </a:bodyPr>
          <a:lstStyle>
            <a:def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+22.0%</a:t>
            </a:r>
            <a:endParaRPr sz="1875" b="1">
              <a:solidFill>
                <a:srgbClr val="4F9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3000" y="32004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相对DyGnROLE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058400" y="2647950"/>
            <a:ext cx="1295400" cy="933450"/>
          </a:xfrm>
          <a:prstGeom prst="roundRect">
            <a:avLst>
              <a:gd name="adj" fmla="val 16327"/>
            </a:avLst>
          </a:prstGeom>
          <a:solidFill>
            <a:srgbClr val="FCEBDD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172700" y="2800350"/>
            <a:ext cx="10668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3333"/>
          </a:bodyPr>
          <a:lstStyle>
            <a:def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D576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+17.2%</a:t>
            </a:r>
            <a:endParaRPr sz="1875" b="1">
              <a:solidFill>
                <a:srgbClr val="D576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172700" y="320040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相对TGAT</a:t>
            </a:r>
            <a:endParaRPr sz="9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l="7000" t="29000" r="52000" b="39000"/>
          <a:stretch>
            <a:fillRect/>
          </a:stretch>
        </p:blipFill>
        <p:spPr>
          <a:xfrm>
            <a:off x="8705850" y="3848100"/>
            <a:ext cx="2647950" cy="1847850"/>
          </a:xfrm>
          <a:prstGeom prst="roundRect">
            <a:avLst>
              <a:gd name="adj" fmla="val 6186"/>
            </a:avLst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8667750" y="5810250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1k标签的UTGA仍超过基线使用20k标签时的结果</a:t>
            </a:r>
            <a:endParaRPr sz="10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椭圆 21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短文本场景受益更明显，文本空间更易区分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90550" y="1314450"/>
            <a:ext cx="5219700" cy="4000500"/>
          </a:xfrm>
          <a:prstGeom prst="roundRect">
            <a:avLst>
              <a:gd name="adj" fmla="val 3810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14668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文本长度与性能增益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50000" t="8000" r="5000" b="60000"/>
          <a:stretch>
            <a:fillRect/>
          </a:stretch>
        </p:blipFill>
        <p:spPr>
          <a:xfrm>
            <a:off x="762000" y="1828800"/>
            <a:ext cx="4876800" cy="2952750"/>
          </a:xfrm>
          <a:prstGeom prst="roundRect">
            <a:avLst>
              <a:gd name="adj" fmla="val 3871"/>
            </a:avLst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933450" y="4857750"/>
            <a:ext cx="45720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Pearson r = -0.726，p = 0.041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节点文本越短，相对增益通常越高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096000" y="1314450"/>
            <a:ext cx="5505450" cy="4000500"/>
          </a:xfrm>
          <a:prstGeom prst="roundRect">
            <a:avLst>
              <a:gd name="adj" fmla="val 3810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24600" y="14668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文本向量的平均余弦距离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l="50000" t="20000" r="5000" b="51000"/>
          <a:stretch>
            <a:fillRect/>
          </a:stretch>
        </p:blipFill>
        <p:spPr>
          <a:xfrm>
            <a:off x="6305550" y="1828800"/>
            <a:ext cx="5086350" cy="2952750"/>
          </a:xfrm>
          <a:prstGeom prst="roundRect">
            <a:avLst>
              <a:gd name="adj" fmla="val 3871"/>
            </a:avLst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6534150" y="4857750"/>
            <a:ext cx="46291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UTGA拉开原本拥挤的文本表示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线性分类器更容易区分类别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676400" y="5657850"/>
            <a:ext cx="8839200" cy="514350"/>
          </a:xfrm>
          <a:prstGeom prst="roundRect">
            <a:avLst>
              <a:gd name="adj" fmla="val 25926"/>
            </a:avLst>
          </a:prstGeom>
          <a:solidFill>
            <a:srgbClr val="DCE8F5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85950" y="5781675"/>
            <a:ext cx="842010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表4与表5显示：UTGA文本表示能够编码PageRank和聚类等结构属性，并提高评分任务的线性可分性。</a:t>
            </a:r>
            <a:endParaRPr sz="1165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椭圆 32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消融与效率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三个组件均有效，Adapter显著降低联合训练成本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571500" y="1333500"/>
            <a:ext cx="5715000" cy="3143250"/>
          </a:xfrm>
          <a:prstGeom prst="roundRect">
            <a:avLst>
              <a:gd name="adj" fmla="val 4848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4859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6000" t="7000" r="6000" b="73000"/>
          <a:stretch>
            <a:fillRect/>
          </a:stretch>
        </p:blipFill>
        <p:spPr>
          <a:xfrm>
            <a:off x="742950" y="1847850"/>
            <a:ext cx="5372100" cy="2190750"/>
          </a:xfrm>
          <a:prstGeom prst="roundRect">
            <a:avLst>
              <a:gd name="adj" fmla="val 5217"/>
            </a:avLst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838200" y="4057650"/>
            <a:ext cx="51816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完整UTGA 27.53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无预训练 21.37  ·  无LMM 25.21  ·  MLP Adapter 25.95</a:t>
            </a:r>
            <a:endParaRPr sz="112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572250" y="1333500"/>
            <a:ext cx="5048250" cy="3143250"/>
          </a:xfrm>
          <a:prstGeom prst="roundRect">
            <a:avLst>
              <a:gd name="adj" fmla="val 4848"/>
            </a:avLst>
          </a:prstGeom>
          <a:solidFill>
            <a:srgbClr val="F3F5F7"/>
          </a:solidFill>
          <a:ln w="9525">
            <a:solidFill>
              <a:srgbClr val="D5E0EC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00850" y="14859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计算效率</a:t>
            </a:r>
            <a:endParaRPr sz="135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l="51000" t="23000" r="5000" b="58000"/>
          <a:stretch>
            <a:fillRect/>
          </a:stretch>
        </p:blipFill>
        <p:spPr>
          <a:xfrm>
            <a:off x="6762750" y="1866900"/>
            <a:ext cx="4667250" cy="1866900"/>
          </a:xfrm>
          <a:prstGeom prst="roundRect">
            <a:avLst>
              <a:gd name="adj" fmla="val 6122"/>
            </a:avLst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6953250" y="3848100"/>
            <a:ext cx="2000250" cy="5715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1600.62 samples/s</a:t>
            </a:r>
            <a:endParaRPr sz="15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485.34 MB显存</a:t>
            </a:r>
            <a:endParaRPr sz="1500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24950" y="3848100"/>
            <a:ext cx="2133600" cy="5715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9368"/>
          </a:bodyPr>
          <a:lstStyle>
            <a:def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相对LoRA</a:t>
            </a:r>
            <a:endParaRPr sz="1275" b="1">
              <a:solidFill>
                <a:srgbClr val="4F9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4F9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56×速度  ·  88.8%显存降低</a:t>
            </a:r>
            <a:endParaRPr sz="1275" b="1">
              <a:solidFill>
                <a:srgbClr val="4F9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95350" y="50482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50863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49720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8039"/>
          </a:bodyPr>
          <a:lstStyle>
            <a:def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127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24000" y="52768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为文本写入结构和时间信息</a:t>
            </a:r>
            <a:endParaRPr sz="109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514850" y="5048250"/>
            <a:ext cx="495300" cy="495300"/>
          </a:xfrm>
          <a:prstGeom prst="ellipse">
            <a:avLst/>
          </a:prstGeom>
          <a:solidFill>
            <a:srgbClr val="F3A064"/>
          </a:solidFill>
          <a:ln w="13335">
            <a:solidFill>
              <a:srgbClr val="F3A064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514850" y="50863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43500" y="49720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8039"/>
          </a:bodyPr>
          <a:lstStyle>
            <a:def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LMM</a:t>
            </a:r>
            <a:endParaRPr sz="127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43500" y="52768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限制语义漂移</a:t>
            </a:r>
            <a:endParaRPr sz="109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134350" y="5048250"/>
            <a:ext cx="495300" cy="495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5E86C9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134350" y="50863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0" y="49720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 fontScale="98039"/>
          </a:bodyPr>
          <a:lstStyle>
            <a:def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Adapter</a:t>
            </a:r>
            <a:endParaRPr sz="1275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63000" y="5276850"/>
            <a:ext cx="2571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逐词调整优于单句MLP</a:t>
            </a:r>
            <a:endParaRPr sz="109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椭圆 29"/>
          <p:cNvSpPr>
            <a:spLocks noGrp="1"/>
          </p:cNvSpPr>
          <p:nvPr/>
        </p:nvSpPr>
        <p:spPr>
          <a:xfrm>
            <a:off x="-800100" y="-876300"/>
            <a:ext cx="1695450" cy="1695450"/>
          </a:xfrm>
          <a:prstGeom prst="ellipse">
            <a:avLst/>
          </a:prstGeom>
          <a:solidFill>
            <a:srgbClr val="9CBED3"/>
          </a:solidFill>
          <a:ln w="0">
            <a:noFill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-514350" y="-571500"/>
            <a:ext cx="1162050" cy="11620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11506200" y="6191250"/>
            <a:ext cx="1381125" cy="1381125"/>
          </a:xfrm>
          <a:prstGeom prst="ellipse">
            <a:avLst/>
          </a:prstGeom>
          <a:solidFill>
            <a:srgbClr val="8FB6CF"/>
          </a:solidFill>
          <a:ln w="0">
            <a:noFill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772900" y="64579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66700"/>
            <a:ext cx="304800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研究结论</a:t>
            </a:r>
            <a:endParaRPr sz="825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857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结论与思考</a:t>
            </a:r>
            <a:endParaRPr sz="25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" y="1028700"/>
            <a:ext cx="666750" cy="47625"/>
          </a:xfrm>
          <a:prstGeom prst="roundRect">
            <a:avLst>
              <a:gd name="adj" fmla="val 50000"/>
            </a:avLst>
          </a:prstGeom>
          <a:solidFill>
            <a:srgbClr val="F3A064"/>
          </a:solidFill>
          <a:ln w="0">
            <a:noFill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666750" y="1714500"/>
            <a:ext cx="495300" cy="495300"/>
          </a:xfrm>
          <a:prstGeom prst="ellipse">
            <a:avLst/>
          </a:prstGeom>
          <a:solidFill>
            <a:srgbClr val="62AAA7"/>
          </a:solidFill>
          <a:ln w="13335">
            <a:solidFill>
              <a:srgbClr val="62AAA7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75260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52550" y="17430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5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181225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文本表示随动态图结构共同更新，可以提高边分类性能。</a:t>
            </a:r>
            <a:endParaRPr sz="135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6286500" y="1714500"/>
            <a:ext cx="495300" cy="495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5E86C9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86500" y="175260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972300" y="17430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关键机制</a:t>
            </a:r>
            <a:endParaRPr sz="15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72300" y="2181225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DRA提供结构适应方向，LMM保留原始语义身份。</a:t>
            </a:r>
            <a:endParaRPr sz="135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66750" y="3714750"/>
            <a:ext cx="495300" cy="495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5E86C9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3752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52550" y="37433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计算权衡</a:t>
            </a:r>
            <a:endParaRPr sz="15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52550" y="4181475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轻量Adapter比LoRA联合训练更快，占用显存更少。</a:t>
            </a:r>
            <a:endParaRPr sz="135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286500" y="3714750"/>
            <a:ext cx="495300" cy="495300"/>
          </a:xfrm>
          <a:prstGeom prst="ellipse">
            <a:avLst/>
          </a:prstGeom>
          <a:solidFill>
            <a:srgbClr val="5E86C9"/>
          </a:solidFill>
          <a:ln w="13335">
            <a:solidFill>
              <a:srgbClr val="5E86C9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375285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def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72300" y="37433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F69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研究局限</a:t>
            </a:r>
            <a:endParaRPr sz="1575" b="1">
              <a:solidFill>
                <a:srgbClr val="3F69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972300" y="4181475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尚未验证节点分类和链接预测；复杂多类任务绝对分数仍低。</a:t>
            </a:r>
            <a:endParaRPr sz="1350" b="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095500" y="5619750"/>
            <a:ext cx="8001000" cy="552450"/>
          </a:xfrm>
          <a:prstGeom prst="roundRect">
            <a:avLst>
              <a:gd name="adj" fmla="val 27586"/>
            </a:avLst>
          </a:prstGeom>
          <a:solidFill>
            <a:srgbClr val="F3F5F7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381250" y="57531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启发：</a:t>
            </a:r>
            <a:r>
              <a:rPr lang="en-US" altLang="zh-CN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LMM</a:t>
            </a:r>
            <a:r>
              <a:rPr lang="zh-CN" altLang="en-US" sz="1350" b="1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保护基础语义，原型库判断任务可靠性，非对称机制控制知识传递方向。</a:t>
            </a:r>
            <a:endParaRPr lang="zh-CN" altLang="en-US" sz="1350" b="1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19100" y="6429375"/>
            <a:ext cx="11353800" cy="9525"/>
          </a:xfrm>
          <a:prstGeom prst="rect">
            <a:avLst/>
          </a:prstGeom>
          <a:solidFill>
            <a:srgbClr val="D5E0EC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14350" y="648652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Analysis of Semantic and Spatio-Temporal Co-evolution for Edge Classification on Dynamic Text-Attributed Graphs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05850" y="64865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>
            <a:def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DOI: 10.48550/arXiv.2610.25906</a:t>
            </a:r>
            <a:endParaRPr sz="715" b="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353800" y="647700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lIns="47625" tIns="38100" rIns="47625" bIns="38100" anchor="t">
            <a:normAutofit/>
          </a:bodyPr>
          <a:lstStyle>
            <a:def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def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5E86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750" b="1">
              <a:solidFill>
                <a:srgbClr val="5E86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2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3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4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5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6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7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8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ags/tag9.xml><?xml version="1.0" encoding="utf-8"?>
<p:tagLst xmlns:p="http://schemas.openxmlformats.org/presentationml/2006/main">
  <p:tag name="KSO_WM_DIAGRAM_VIRTUALLY_FRAME" val="{&quot;height&quot;:61.5,&quot;left&quot;:58.5,&quot;top&quot;:411,&quot;width&quot;:802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4121</Words>
  <Application>WPS 演示</Application>
  <PresentationFormat>Converted Presentation</PresentationFormat>
  <Paragraphs>468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武嘉婧（weixin）</cp:lastModifiedBy>
  <cp:revision>6</cp:revision>
  <dcterms:created xsi:type="dcterms:W3CDTF">2026-10-26T13:35:08Z</dcterms:created>
  <dcterms:modified xsi:type="dcterms:W3CDTF">2026-10-26T15:00:30Z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D8B1ABD2A45C4C539C7BB47F02AD282A_12</vt:lpwstr>
  </property>
</Properties>
</file>