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7" r:id="rId4"/>
    <p:sldId id="258" r:id="rId5"/>
    <p:sldId id="259" r:id="rId6"/>
    <p:sldId id="260" r:id="rId7"/>
    <p:sldId id="261" r:id="rId8"/>
    <p:sldId id="262" r:id="rId9"/>
    <p:sldId id="278" r:id="rId10"/>
    <p:sldId id="263" r:id="rId11"/>
    <p:sldId id="264" r:id="rId12"/>
    <p:sldId id="270" r:id="rId13"/>
    <p:sldId id="271" r:id="rId14"/>
    <p:sldId id="272" r:id="rId15"/>
    <p:sldId id="273" r:id="rId16"/>
    <p:sldId id="274" r:id="rId17"/>
    <p:sldId id="268" r:id="rId18"/>
    <p:sldId id="26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Relationship Id="rId3" Type="http://schemas.openxmlformats.org/officeDocument/2006/relationships/image" Target="../media/image2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3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3" Type="http://schemas.openxmlformats.org/officeDocument/2006/relationships/image" Target="../media/image3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image" Target="../media/image4.png"/><Relationship Id="rId1" Type="http://schemas.openxmlformats.org/officeDocument/2006/relationships/tags" Target="../tags/tag9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image" Target="../media/image5.png"/><Relationship Id="rId1" Type="http://schemas.openxmlformats.org/officeDocument/2006/relationships/tags" Target="../tags/tag9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image" Target="../media/image6.png"/><Relationship Id="rId1" Type="http://schemas.openxmlformats.org/officeDocument/2006/relationships/tags" Target="../tags/tag9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image" Target="../media/image7.png"/><Relationship Id="rId1" Type="http://schemas.openxmlformats.org/officeDocument/2006/relationships/tags" Target="../tags/tag10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EviMaze </a:t>
            </a:r>
            <a:r>
              <a:rPr lang="zh-CN" altLang="en-US"/>
              <a:t>论文进展汇报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1140" y="99695"/>
            <a:ext cx="11802110" cy="66249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375285"/>
            <a:ext cx="10968990" cy="587438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 sz="2700"/>
              <a:t> 研究主题与总体思路</a:t>
            </a:r>
            <a:r>
              <a:rPr lang="en-US" altLang="zh-CN" sz="2700"/>
              <a:t> </a:t>
            </a:r>
            <a:endParaRPr lang="en-US" altLang="zh-CN" sz="2700"/>
          </a:p>
          <a:p>
            <a:r>
              <a:rPr lang="zh-CN" altLang="en-US"/>
              <a:t>本研究关注任务型 </a:t>
            </a:r>
            <a:r>
              <a:rPr lang="en-US" altLang="zh-CN"/>
              <a:t>Agent </a:t>
            </a:r>
            <a:r>
              <a:rPr lang="zh-CN" altLang="en-US"/>
              <a:t>在局部可见知识图上的长程检索、时间约束验证和证据完整提交问题。核心研究对象不是单纯的问答正确率，而是模型能否在有限可见范围内主动探索事实图，恢复完整证据链，并提交无 </a:t>
            </a:r>
            <a:r>
              <a:rPr lang="en-US" altLang="zh-CN"/>
              <a:t>Decoy </a:t>
            </a:r>
            <a:r>
              <a:rPr lang="zh-CN" altLang="en-US"/>
              <a:t>污染的可验证答案。</a:t>
            </a:r>
            <a:endParaRPr lang="zh-CN" altLang="en-US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整体任务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局部可见起点实体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→ 展开实体邻域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→ 从工具返回事实中发现新实体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→ 继续展开新实体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→ 分页获取可见事实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→ 恢复目标事实和上下文事实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→ 验证时间约束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→ 提交答案与完整证据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370205"/>
            <a:ext cx="10968990" cy="943610"/>
          </a:xfrm>
        </p:spPr>
        <p:txBody>
          <a:bodyPr>
            <a:normAutofit/>
          </a:bodyPr>
          <a:p>
            <a:r>
              <a:rPr lang="zh-CN" altLang="en-US"/>
              <a:t>模块关系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ym typeface="+mn-ea"/>
              </a:rPr>
              <a:t>当前论文主线由三个模块组成：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 sz="2800">
                <a:sym typeface="+mn-ea"/>
              </a:rPr>
              <a:t> 模块四：模糊化时间问题</a:t>
            </a:r>
            <a:endParaRPr lang="en-US" altLang="zh-CN" sz="2800">
              <a:sym typeface="+mn-ea"/>
            </a:endParaRPr>
          </a:p>
          <a:p>
            <a:r>
              <a:rPr lang="zh-CN" altLang="en-US">
                <a:sym typeface="+mn-ea"/>
              </a:rPr>
              <a:t>模块四负责自然语言化、模糊化和时间表达变化，例如精确日期、时间窗口、</a:t>
            </a:r>
            <a:r>
              <a:rPr lang="en-US" altLang="zh-CN">
                <a:sym typeface="+mn-ea"/>
              </a:rPr>
              <a:t>before/after </a:t>
            </a:r>
            <a:r>
              <a:rPr lang="zh-CN" altLang="en-US">
                <a:sym typeface="+mn-ea"/>
              </a:rPr>
              <a:t>的自然语言表达等。它主要测试时间表达理解和时间关系归一化。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当前模块五</a:t>
            </a: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主实验尚未正式混入模块四的模糊化题面。这样做是有意的，因为如果同时改变检索结构和时间表达，就无法判断模型失败来自导航，还是来自模糊时间理解。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模块五</a:t>
            </a:r>
            <a:r>
              <a:rPr lang="en-US" altLang="zh-CN"/>
              <a:t>C：</a:t>
            </a:r>
            <a:r>
              <a:rPr lang="zh-CN" altLang="en-US"/>
              <a:t>局部可见长程检索环境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zh-CN" altLang="en-US"/>
              <a:t>其主要机制是：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初始不公开 </a:t>
            </a:r>
            <a:r>
              <a:rPr lang="en-US" altLang="zh-CN"/>
              <a:t>Gold </a:t>
            </a:r>
            <a:r>
              <a:rPr lang="zh-CN" altLang="en-US"/>
              <a:t>事实；</a:t>
            </a:r>
            <a:endParaRPr lang="zh-CN" altLang="en-US"/>
          </a:p>
          <a:p>
            <a:r>
              <a:rPr lang="zh-CN" altLang="en-US"/>
              <a:t>- 模型只能看到局部任务信息和初始实体；</a:t>
            </a:r>
            <a:endParaRPr lang="zh-CN" altLang="en-US"/>
          </a:p>
          <a:p>
            <a:r>
              <a:rPr lang="zh-CN" altLang="en-US"/>
              <a:t>- 新实体必须先通过工具返回事实被发现；</a:t>
            </a:r>
            <a:endParaRPr lang="zh-CN" altLang="en-US"/>
          </a:p>
          <a:p>
            <a:r>
              <a:rPr lang="zh-CN" altLang="en-US"/>
              <a:t>- 邻域工具每页最多返回 3 条事实；</a:t>
            </a:r>
            <a:endParaRPr lang="zh-CN" altLang="en-US"/>
          </a:p>
          <a:p>
            <a:r>
              <a:rPr lang="en-US" altLang="zh-CN"/>
              <a:t>- `search_facts` </a:t>
            </a:r>
            <a:r>
              <a:rPr lang="zh-CN" altLang="en-US"/>
              <a:t>只能搜索当前可见事实；</a:t>
            </a:r>
            <a:endParaRPr lang="zh-CN" altLang="en-US"/>
          </a:p>
          <a:p>
            <a:r>
              <a:rPr lang="en-US" altLang="zh-CN"/>
              <a:t>- `get_fact` </a:t>
            </a:r>
            <a:r>
              <a:rPr lang="zh-CN" altLang="en-US"/>
              <a:t>不能盲取隐藏事实；</a:t>
            </a:r>
            <a:endParaRPr lang="zh-CN" altLang="en-US"/>
          </a:p>
          <a:p>
            <a:r>
              <a:rPr lang="zh-CN" altLang="en-US"/>
              <a:t>- 证据提交必须使用模型此前观察到的事实；</a:t>
            </a:r>
            <a:endParaRPr lang="zh-CN" altLang="en-US"/>
          </a:p>
          <a:p>
            <a:r>
              <a:rPr lang="en-US" altLang="zh-CN"/>
              <a:t>- Gold、Decoy </a:t>
            </a:r>
            <a:r>
              <a:rPr lang="zh-CN" altLang="en-US"/>
              <a:t>标签不向模型公开；</a:t>
            </a:r>
            <a:endParaRPr lang="zh-CN" altLang="en-US"/>
          </a:p>
          <a:p>
            <a:r>
              <a:rPr lang="en-US" altLang="zh-CN"/>
              <a:t>- Gold </a:t>
            </a:r>
            <a:r>
              <a:rPr lang="zh-CN" altLang="en-US"/>
              <a:t>必须通过实体连接和邻域展开逐步恢复。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模块六：训练与策略学习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模块六尚未正式开始。它将基于模块五</a:t>
            </a:r>
            <a:r>
              <a:rPr lang="en-US" altLang="zh-CN"/>
              <a:t>C</a:t>
            </a:r>
            <a:r>
              <a:rPr lang="zh-CN" altLang="en-US"/>
              <a:t>的轨迹数据，训练模型学习：</a:t>
            </a:r>
            <a:endParaRPr lang="en-US" altLang="zh-CN"/>
          </a:p>
          <a:p>
            <a:r>
              <a:rPr lang="zh-CN" altLang="en-US"/>
              <a:t>- 实体状态管理；</a:t>
            </a:r>
            <a:endParaRPr lang="zh-CN" altLang="en-US"/>
          </a:p>
          <a:p>
            <a:r>
              <a:rPr lang="zh-CN" altLang="en-US"/>
              <a:t>- 邻域展开和工具选择；</a:t>
            </a:r>
            <a:endParaRPr lang="zh-CN" altLang="en-US"/>
          </a:p>
          <a:p>
            <a:r>
              <a:rPr lang="zh-CN" altLang="en-US"/>
              <a:t>- 分页与停止决策；</a:t>
            </a:r>
            <a:endParaRPr lang="zh-CN" altLang="en-US"/>
          </a:p>
          <a:p>
            <a:r>
              <a:rPr lang="en-US" altLang="zh-CN"/>
              <a:t>- Gold </a:t>
            </a:r>
            <a:r>
              <a:rPr lang="zh-CN" altLang="en-US"/>
              <a:t>证据完整提交；</a:t>
            </a:r>
            <a:endParaRPr lang="zh-CN" altLang="en-US"/>
          </a:p>
          <a:p>
            <a:r>
              <a:rPr lang="en-US" altLang="zh-CN"/>
              <a:t>- Decoy </a:t>
            </a:r>
            <a:r>
              <a:rPr lang="zh-CN" altLang="en-US"/>
              <a:t>规避；</a:t>
            </a:r>
            <a:endParaRPr lang="zh-CN" altLang="en-US"/>
          </a:p>
          <a:p>
            <a:r>
              <a:rPr lang="zh-CN" altLang="en-US"/>
              <a:t>- 预算内的有效检索。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后续再将模块四的模糊化题面接入模块六，形成“长程检索 + 时间表达理解”的组合任务。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模块五当前研究设计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/>
              <a:t>1. 数据和题目审计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当前主实验为 10 题 </a:t>
            </a:r>
            <a:r>
              <a:rPr lang="en-US" altLang="zh-CN"/>
              <a:t>pilot。</a:t>
            </a:r>
            <a:r>
              <a:rPr lang="zh-CN" altLang="en-US"/>
              <a:t>经过多轮修复和审计，已经确认：</a:t>
            </a:r>
            <a:endParaRPr lang="zh-CN" altLang="en-US"/>
          </a:p>
          <a:p>
            <a:r>
              <a:rPr lang="zh-CN" altLang="en-US"/>
              <a:t>题面语义完整：通过</a:t>
            </a:r>
            <a:endParaRPr lang="zh-CN" altLang="en-US"/>
          </a:p>
          <a:p>
            <a:r>
              <a:rPr lang="zh-CN" altLang="en-US"/>
              <a:t>初始 </a:t>
            </a:r>
            <a:r>
              <a:rPr lang="en-US" altLang="zh-CN"/>
              <a:t>Gold 0/3：10/10</a:t>
            </a:r>
            <a:endParaRPr lang="en-US" altLang="zh-CN"/>
          </a:p>
          <a:p>
            <a:r>
              <a:rPr lang="en-US" altLang="zh-CN"/>
              <a:t>Gold </a:t>
            </a:r>
            <a:r>
              <a:rPr lang="zh-CN" altLang="en-US"/>
              <a:t>全部可达：10/10</a:t>
            </a:r>
            <a:endParaRPr lang="zh-CN" altLang="en-US"/>
          </a:p>
          <a:p>
            <a:r>
              <a:rPr lang="en-US" altLang="zh-CN"/>
              <a:t>Gold </a:t>
            </a:r>
            <a:r>
              <a:rPr lang="zh-CN" altLang="en-US"/>
              <a:t>唯一：10/10</a:t>
            </a:r>
            <a:endParaRPr lang="zh-CN" altLang="en-US"/>
          </a:p>
          <a:p>
            <a:r>
              <a:rPr lang="en-US" altLang="zh-CN"/>
              <a:t>Decoy </a:t>
            </a:r>
            <a:r>
              <a:rPr lang="zh-CN" altLang="en-US"/>
              <a:t>合法解释：0/10</a:t>
            </a:r>
            <a:endParaRPr lang="zh-CN" altLang="en-US"/>
          </a:p>
          <a:p>
            <a:r>
              <a:rPr lang="zh-CN" altLang="en-US"/>
              <a:t>桥接事实合法新解：0/10</a:t>
            </a:r>
            <a:endParaRPr lang="zh-CN" altLang="en-US"/>
          </a:p>
          <a:p>
            <a:r>
              <a:rPr lang="zh-CN" altLang="en-US"/>
              <a:t>答案集合一致性：通过</a:t>
            </a:r>
            <a:endParaRPr lang="zh-CN" altLang="en-US"/>
          </a:p>
          <a:p>
            <a:r>
              <a:rPr lang="en-US" altLang="zh-CN"/>
              <a:t>Allen </a:t>
            </a:r>
            <a:r>
              <a:rPr lang="zh-CN" altLang="en-US"/>
              <a:t>时间关系语义：使用模块一原生实现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模块五当前研究设计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/>
              <a:t>1. 数据和题目审计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当前主实验为 10 题 </a:t>
            </a:r>
            <a:r>
              <a:rPr lang="en-US" altLang="zh-CN"/>
              <a:t>pilot。</a:t>
            </a:r>
            <a:r>
              <a:rPr lang="zh-CN" altLang="en-US"/>
              <a:t>经过多轮修复和审计，已经确认：</a:t>
            </a:r>
            <a:endParaRPr lang="zh-CN" altLang="en-US"/>
          </a:p>
          <a:p>
            <a:r>
              <a:rPr lang="zh-CN" altLang="en-US"/>
              <a:t>题面语义完整：通过</a:t>
            </a:r>
            <a:endParaRPr lang="zh-CN" altLang="en-US"/>
          </a:p>
          <a:p>
            <a:r>
              <a:rPr lang="zh-CN" altLang="en-US"/>
              <a:t>初始 </a:t>
            </a:r>
            <a:r>
              <a:rPr lang="en-US" altLang="zh-CN"/>
              <a:t>Gold 0/3：10/10</a:t>
            </a:r>
            <a:endParaRPr lang="en-US" altLang="zh-CN"/>
          </a:p>
          <a:p>
            <a:r>
              <a:rPr lang="en-US" altLang="zh-CN"/>
              <a:t>Gold </a:t>
            </a:r>
            <a:r>
              <a:rPr lang="zh-CN" altLang="en-US"/>
              <a:t>全部可达：10/10</a:t>
            </a:r>
            <a:endParaRPr lang="zh-CN" altLang="en-US"/>
          </a:p>
          <a:p>
            <a:r>
              <a:rPr lang="en-US" altLang="zh-CN"/>
              <a:t>Gold </a:t>
            </a:r>
            <a:r>
              <a:rPr lang="zh-CN" altLang="en-US"/>
              <a:t>唯一：10/10</a:t>
            </a:r>
            <a:endParaRPr lang="zh-CN" altLang="en-US"/>
          </a:p>
          <a:p>
            <a:r>
              <a:rPr lang="en-US" altLang="zh-CN"/>
              <a:t>Decoy </a:t>
            </a:r>
            <a:r>
              <a:rPr lang="zh-CN" altLang="en-US"/>
              <a:t>合法解释：0/10</a:t>
            </a:r>
            <a:endParaRPr lang="zh-CN" altLang="en-US"/>
          </a:p>
          <a:p>
            <a:r>
              <a:rPr lang="zh-CN" altLang="en-US"/>
              <a:t>桥接事实合法新解：0/10</a:t>
            </a:r>
            <a:endParaRPr lang="zh-CN" altLang="en-US"/>
          </a:p>
          <a:p>
            <a:r>
              <a:rPr lang="zh-CN" altLang="en-US"/>
              <a:t>答案集合一致性：通过</a:t>
            </a:r>
            <a:endParaRPr lang="zh-CN" altLang="en-US"/>
          </a:p>
          <a:p>
            <a:r>
              <a:rPr lang="en-US" altLang="zh-CN"/>
              <a:t>Allen </a:t>
            </a:r>
            <a:r>
              <a:rPr lang="zh-CN" altLang="en-US"/>
              <a:t>时间关系语义：使用模块一原生实现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严格对照设计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三个条件使用同一题目、同一事实图、同一 </a:t>
            </a:r>
            <a:r>
              <a:rPr lang="en-US" altLang="zh-CN"/>
              <a:t>Gold/Decoy、</a:t>
            </a:r>
            <a:r>
              <a:rPr lang="zh-CN" altLang="en-US"/>
              <a:t>同一工具和同一预算，只改变初始呈现事实：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三条件的 </a:t>
            </a:r>
            <a:r>
              <a:rPr lang="en-US" altLang="zh-CN"/>
              <a:t>runner </a:t>
            </a:r>
            <a:r>
              <a:rPr lang="zh-CN" altLang="en-US"/>
              <a:t>和 </a:t>
            </a:r>
            <a:r>
              <a:rPr lang="en-US" altLang="zh-CN"/>
              <a:t>environment </a:t>
            </a:r>
            <a:r>
              <a:rPr lang="zh-CN" altLang="en-US"/>
              <a:t>已对齐，日志包含条件标签、数据哈希、初始事实和运行配置。</a:t>
            </a:r>
            <a:r>
              <a:rPr lang="en-US" altLang="zh-CN"/>
              <a:t>v2 </a:t>
            </a:r>
            <a:r>
              <a:rPr lang="zh-CN" altLang="en-US"/>
              <a:t>的 9 组实验校验问题数为 0。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0" y="2432685"/>
            <a:ext cx="8045450" cy="2346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76600"/>
            <a:ext cx="10969200" cy="705600"/>
          </a:xfrm>
        </p:spPr>
        <p:txBody>
          <a:bodyPr/>
          <a:p>
            <a:r>
              <a:rPr lang="zh-CN" altLang="en-US" sz="2800"/>
              <a:t>近期三模型实验结果</a:t>
            </a:r>
            <a:endParaRPr lang="zh-CN" altLang="en-US" sz="2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882070"/>
            <a:ext cx="10969200" cy="4759200"/>
          </a:xfrm>
        </p:spPr>
        <p:txBody>
          <a:bodyPr/>
          <a:p>
            <a:pPr marL="0" indent="0">
              <a:buNone/>
            </a:pPr>
            <a:r>
              <a:rPr lang="zh-CN" altLang="en-US" sz="1400"/>
              <a:t>每个模型、每个条件 10 题一次运行。联合成功定义为：</a:t>
            </a:r>
            <a:endParaRPr lang="en-US" altLang="zh-CN" sz="1400"/>
          </a:p>
          <a:p>
            <a:r>
              <a:rPr lang="zh-CN" altLang="en-US" sz="1400"/>
              <a:t>答案正确</a:t>
            </a:r>
            <a:endParaRPr lang="zh-CN" altLang="en-US" sz="1400"/>
          </a:p>
          <a:p>
            <a:r>
              <a:rPr lang="en-US" altLang="zh-CN" sz="1400"/>
              <a:t>AND </a:t>
            </a:r>
            <a:r>
              <a:rPr lang="zh-CN" altLang="en-US" sz="1400"/>
              <a:t>三条 </a:t>
            </a:r>
            <a:r>
              <a:rPr lang="en-US" altLang="zh-CN" sz="1400"/>
              <a:t>Gold </a:t>
            </a:r>
            <a:r>
              <a:rPr lang="zh-CN" altLang="en-US" sz="1400"/>
              <a:t>全部提交</a:t>
            </a:r>
            <a:endParaRPr lang="en-US" altLang="zh-CN" sz="1400"/>
          </a:p>
          <a:p>
            <a:r>
              <a:rPr lang="en-US" altLang="zh-CN" sz="1400"/>
              <a:t>AND </a:t>
            </a:r>
            <a:r>
              <a:rPr lang="zh-CN" altLang="en-US" sz="1400"/>
              <a:t>没有提交 </a:t>
            </a:r>
            <a:r>
              <a:rPr lang="en-US" altLang="zh-CN" sz="1400"/>
              <a:t>Decoy-exclusive </a:t>
            </a:r>
            <a:r>
              <a:rPr lang="zh-CN" altLang="en-US" sz="1400"/>
              <a:t>事实</a:t>
            </a: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 </a:t>
            </a:r>
            <a:r>
              <a:rPr lang="zh-CN" altLang="en-US" sz="1600" b="1"/>
              <a:t>答案正确与证据完整分离</a:t>
            </a:r>
            <a:endParaRPr lang="zh-CN" altLang="en-US" sz="1600" b="1"/>
          </a:p>
          <a:p>
            <a:pPr marL="0" indent="0">
              <a:buNone/>
            </a:pPr>
            <a:endParaRPr lang="zh-CN" altLang="en-US" sz="1600" b="1"/>
          </a:p>
          <a:p>
            <a:pPr marL="0" indent="0">
              <a:buNone/>
            </a:pPr>
            <a:r>
              <a:rPr lang="en-US" altLang="zh-CN" sz="1600" b="1"/>
              <a:t> Gold 0/3 </a:t>
            </a:r>
            <a:r>
              <a:rPr lang="zh-CN" altLang="en-US" sz="1600" b="1"/>
              <a:t>条件产生真实导航负担</a:t>
            </a:r>
            <a:endParaRPr lang="zh-CN" altLang="en-US" sz="1600" b="1"/>
          </a:p>
          <a:p>
            <a:pPr marL="0" indent="0">
              <a:buNone/>
            </a:pP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完整 </a:t>
            </a:r>
            <a:r>
              <a:rPr lang="en-US" altLang="zh-CN" sz="1600" b="1"/>
              <a:t>Gold </a:t>
            </a:r>
            <a:r>
              <a:rPr lang="zh-CN" altLang="en-US" sz="1600" b="1"/>
              <a:t>呈现提供证据提交上界</a:t>
            </a:r>
            <a:endParaRPr lang="zh-CN" altLang="en-US" sz="16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80" y="1318895"/>
            <a:ext cx="7369175" cy="46939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76600"/>
            <a:ext cx="10969200" cy="705600"/>
          </a:xfrm>
        </p:spPr>
        <p:txBody>
          <a:bodyPr/>
          <a:p>
            <a:r>
              <a:rPr lang="zh-CN" altLang="en-US" sz="2800"/>
              <a:t>近期三模型实验结果</a:t>
            </a:r>
            <a:endParaRPr lang="zh-CN" altLang="en-US" sz="2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882070"/>
            <a:ext cx="10969200" cy="4759200"/>
          </a:xfrm>
        </p:spPr>
        <p:txBody>
          <a:bodyPr/>
          <a:p>
            <a:pPr marL="0" indent="0">
              <a:buNone/>
            </a:pPr>
            <a:r>
              <a:rPr lang="zh-CN" altLang="en-US" sz="1400"/>
              <a:t>每个模型、每个条件 10 题一次运行。联合成功定义为：</a:t>
            </a:r>
            <a:endParaRPr lang="en-US" altLang="zh-CN" sz="1400"/>
          </a:p>
          <a:p>
            <a:r>
              <a:rPr lang="zh-CN" altLang="en-US" sz="1400"/>
              <a:t>答案正确</a:t>
            </a:r>
            <a:endParaRPr lang="zh-CN" altLang="en-US" sz="1400"/>
          </a:p>
          <a:p>
            <a:r>
              <a:rPr lang="en-US" altLang="zh-CN" sz="1400"/>
              <a:t>AND </a:t>
            </a:r>
            <a:r>
              <a:rPr lang="zh-CN" altLang="en-US" sz="1400"/>
              <a:t>三条 </a:t>
            </a:r>
            <a:r>
              <a:rPr lang="en-US" altLang="zh-CN" sz="1400"/>
              <a:t>Gold </a:t>
            </a:r>
            <a:r>
              <a:rPr lang="zh-CN" altLang="en-US" sz="1400"/>
              <a:t>全部提交</a:t>
            </a:r>
            <a:endParaRPr lang="en-US" altLang="zh-CN" sz="1400"/>
          </a:p>
          <a:p>
            <a:r>
              <a:rPr lang="en-US" altLang="zh-CN" sz="1400"/>
              <a:t>AND </a:t>
            </a:r>
            <a:r>
              <a:rPr lang="zh-CN" altLang="en-US" sz="1400"/>
              <a:t>没有提交 </a:t>
            </a:r>
            <a:r>
              <a:rPr lang="en-US" altLang="zh-CN" sz="1400"/>
              <a:t>Decoy-exclusive </a:t>
            </a:r>
            <a:r>
              <a:rPr lang="zh-CN" altLang="en-US" sz="1400"/>
              <a:t>事实</a:t>
            </a: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 </a:t>
            </a:r>
            <a:r>
              <a:rPr lang="zh-CN" altLang="en-US" sz="1600" b="1"/>
              <a:t>答案正确与证据完整分离</a:t>
            </a:r>
            <a:endParaRPr lang="zh-CN" altLang="en-US" sz="1600" b="1"/>
          </a:p>
          <a:p>
            <a:pPr marL="0" indent="0">
              <a:buNone/>
            </a:pPr>
            <a:endParaRPr lang="zh-CN" altLang="en-US" sz="1600" b="1"/>
          </a:p>
          <a:p>
            <a:pPr marL="0" indent="0">
              <a:buNone/>
            </a:pPr>
            <a:r>
              <a:rPr lang="en-US" altLang="zh-CN" sz="1600" b="1"/>
              <a:t> Gold 0/3 </a:t>
            </a:r>
            <a:r>
              <a:rPr lang="zh-CN" altLang="en-US" sz="1600" b="1"/>
              <a:t>条件产生真实导航负担</a:t>
            </a:r>
            <a:endParaRPr lang="zh-CN" altLang="en-US" sz="1600" b="1"/>
          </a:p>
          <a:p>
            <a:pPr marL="0" indent="0">
              <a:buNone/>
            </a:pP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完整 </a:t>
            </a:r>
            <a:r>
              <a:rPr lang="en-US" altLang="zh-CN" sz="1600" b="1"/>
              <a:t>Gold </a:t>
            </a:r>
            <a:r>
              <a:rPr lang="zh-CN" altLang="en-US" sz="1600" b="1"/>
              <a:t>呈现提供证据提交上界</a:t>
            </a:r>
            <a:endParaRPr lang="zh-CN" altLang="en-US" sz="16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80" y="1318895"/>
            <a:ext cx="7369175" cy="46939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5455" y="309245"/>
            <a:ext cx="11522075" cy="61988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8440" y="290195"/>
            <a:ext cx="11563350" cy="59480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7165" y="112395"/>
            <a:ext cx="11650980" cy="67456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2555" y="180340"/>
            <a:ext cx="11946255" cy="64973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2400"/>
              <a:t>当前对“长程检索已经建立”的判断</a:t>
            </a:r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当前结果可以支持以下表述：</a:t>
            </a:r>
            <a:endParaRPr lang="en-US" altLang="zh-CN"/>
          </a:p>
          <a:p>
            <a:r>
              <a:rPr lang="zh-CN" altLang="en-US"/>
              <a:t>&gt; 在通过 </a:t>
            </a:r>
            <a:r>
              <a:rPr lang="en-US" altLang="zh-CN"/>
              <a:t>Gold </a:t>
            </a:r>
            <a:r>
              <a:rPr lang="zh-CN" altLang="en-US"/>
              <a:t>可达性、唯一性、</a:t>
            </a:r>
            <a:r>
              <a:rPr lang="en-US" altLang="zh-CN"/>
              <a:t>Decoy </a:t>
            </a:r>
            <a:r>
              <a:rPr lang="zh-CN" altLang="en-US"/>
              <a:t>合法性和协议一致性审计的 10 题 </a:t>
            </a:r>
            <a:r>
              <a:rPr lang="en-US" altLang="zh-CN"/>
              <a:t>pilot </a:t>
            </a:r>
            <a:r>
              <a:rPr lang="zh-CN" altLang="en-US"/>
              <a:t>中，局部可见邻域图环境产生了多阶段实体导航、逐步证据恢复和预算受限检索负担。三模型在答案正确性、</a:t>
            </a:r>
            <a:r>
              <a:rPr lang="en-US" altLang="zh-CN"/>
              <a:t>Gold </a:t>
            </a:r>
            <a:r>
              <a:rPr lang="zh-CN" altLang="en-US"/>
              <a:t>证据完整性和工具轨迹上出现明显差异，初步证明该环境具备长程检索任务的有效属性。</a:t>
            </a:r>
            <a:endParaRPr lang="en-US" altLang="zh-CN"/>
          </a:p>
          <a:p>
            <a:r>
              <a:rPr lang="zh-CN" altLang="en-US"/>
              <a:t>可以具体体现长程检索的证据包括：</a:t>
            </a:r>
            <a:endParaRPr lang="en-US" altLang="zh-CN"/>
          </a:p>
          <a:p>
            <a:r>
              <a:rPr lang="en-US" altLang="zh-CN"/>
              <a:t>- hidden </a:t>
            </a:r>
            <a:r>
              <a:rPr lang="zh-CN" altLang="en-US"/>
              <a:t>条件初始 </a:t>
            </a:r>
            <a:r>
              <a:rPr lang="en-US" altLang="zh-CN"/>
              <a:t>Gold </a:t>
            </a:r>
            <a:r>
              <a:rPr lang="zh-CN" altLang="en-US"/>
              <a:t>为 0/3；</a:t>
            </a:r>
            <a:endParaRPr lang="zh-CN" altLang="en-US"/>
          </a:p>
          <a:p>
            <a:r>
              <a:rPr lang="en-US" altLang="zh-CN"/>
              <a:t>- Gold </a:t>
            </a:r>
            <a:r>
              <a:rPr lang="zh-CN" altLang="en-US"/>
              <a:t>必须通过实体连接和邻域展开发现；</a:t>
            </a:r>
            <a:endParaRPr lang="zh-CN" altLang="en-US"/>
          </a:p>
          <a:p>
            <a:r>
              <a:rPr lang="zh-CN" altLang="en-US"/>
              <a:t>- 目标事实可见后答案正确率显著上升，但 </a:t>
            </a:r>
            <a:r>
              <a:rPr lang="en-US" altLang="zh-CN"/>
              <a:t>Gold </a:t>
            </a:r>
            <a:r>
              <a:rPr lang="zh-CN" altLang="en-US"/>
              <a:t>完整率仍很低；</a:t>
            </a:r>
            <a:endParaRPr lang="zh-CN" altLang="en-US"/>
          </a:p>
          <a:p>
            <a:r>
              <a:rPr lang="zh-CN" altLang="en-US"/>
              <a:t>- 增加 </a:t>
            </a:r>
            <a:r>
              <a:rPr lang="en-US" altLang="zh-CN"/>
              <a:t>API </a:t>
            </a:r>
            <a:r>
              <a:rPr lang="zh-CN" altLang="en-US"/>
              <a:t>预算从 20 到 30 不能解决 </a:t>
            </a:r>
            <a:r>
              <a:rPr lang="en-US" altLang="zh-CN"/>
              <a:t>Gemini </a:t>
            </a:r>
            <a:r>
              <a:rPr lang="zh-CN" altLang="en-US"/>
              <a:t>的证据恢复；</a:t>
            </a:r>
            <a:endParaRPr lang="zh-CN" altLang="en-US"/>
          </a:p>
          <a:p>
            <a:r>
              <a:rPr lang="zh-CN" altLang="en-US"/>
              <a:t>- 模型出现实体未发现调用、邻域耗尽后重复展开和搜索循环；</a:t>
            </a:r>
            <a:endParaRPr lang="zh-CN" altLang="en-US"/>
          </a:p>
          <a:p>
            <a:r>
              <a:rPr lang="zh-CN" altLang="en-US"/>
              <a:t>- 完整 </a:t>
            </a:r>
            <a:r>
              <a:rPr lang="en-US" altLang="zh-CN"/>
              <a:t>Gold </a:t>
            </a:r>
            <a:r>
              <a:rPr lang="zh-CN" altLang="en-US"/>
              <a:t>呈现条件明显优于 </a:t>
            </a:r>
            <a:r>
              <a:rPr lang="en-US" altLang="zh-CN"/>
              <a:t>hidden </a:t>
            </a:r>
            <a:r>
              <a:rPr lang="zh-CN" altLang="en-US"/>
              <a:t>条件，显示导航和证据发现是主要负担。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11810" y="46355"/>
            <a:ext cx="11338560" cy="6558915"/>
          </a:xfrm>
        </p:spPr>
        <p:txBody>
          <a:bodyPr>
            <a:noAutofit/>
          </a:bodyPr>
          <a:p>
            <a:r>
              <a:rPr lang="zh-CN" altLang="en-US" sz="1400"/>
              <a:t>现在：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模块四生成前后字段审计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→ 明确实体/关系/日期/事实变化</a:t>
            </a:r>
            <a:endParaRPr lang="en-US" altLang="zh-CN" sz="1400"/>
          </a:p>
          <a:p>
            <a:r>
              <a:rPr lang="zh-CN" altLang="en-US" sz="1400"/>
              <a:t>然后：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建立模块四因素分类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→ 标记哪些因素能独立控制</a:t>
            </a:r>
            <a:endParaRPr lang="en-US" altLang="zh-CN" sz="1400"/>
          </a:p>
          <a:p>
            <a:r>
              <a:rPr lang="zh-CN" altLang="en-US" sz="1400"/>
              <a:t>接着：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冻结模块五</a:t>
            </a:r>
            <a:r>
              <a:rPr lang="en-US" altLang="zh-CN" sz="1400"/>
              <a:t>C</a:t>
            </a:r>
            <a:r>
              <a:rPr lang="zh-CN" altLang="en-US" sz="1400"/>
              <a:t>精确题面训练协议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→ 设计模块六轨迹格式和奖励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→ 训练基础导航策略</a:t>
            </a:r>
            <a:endParaRPr lang="en-US" altLang="zh-CN" sz="1400"/>
          </a:p>
          <a:p>
            <a:r>
              <a:rPr lang="zh-CN" altLang="en-US" sz="1400"/>
              <a:t>之后：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加入单因素模块四变体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→ 实体模糊化测试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→ 时间模糊化测试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→ 关系表达改写测试</a:t>
            </a:r>
            <a:endParaRPr lang="en-US" altLang="zh-CN" sz="1400"/>
          </a:p>
          <a:p>
            <a:r>
              <a:rPr lang="zh-CN" altLang="en-US" sz="1400"/>
              <a:t>最后：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组合实体模糊 + 时间模糊 + 长程检索 + </a:t>
            </a:r>
            <a:r>
              <a:rPr lang="en-US" altLang="zh-CN" sz="1400"/>
              <a:t>Decoy</a:t>
            </a:r>
            <a:endParaRPr lang="en-US" altLang="zh-CN" sz="1400"/>
          </a:p>
          <a:p>
            <a:endParaRPr lang="en-US" altLang="zh-CN" sz="14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2051</Words>
  <Application>WPS 演示</Application>
  <PresentationFormat>宽屏</PresentationFormat>
  <Paragraphs>154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EviMaze 论文进展汇报</vt:lpstr>
      <vt:lpstr>PowerPoint 演示文稿</vt:lpstr>
      <vt:lpstr>PowerPoint 演示文稿</vt:lpstr>
      <vt:lpstr>模块关系</vt:lpstr>
      <vt:lpstr>模块五C：局部可见长程检索环境 </vt:lpstr>
      <vt:lpstr>模块六：训练与策略学习</vt:lpstr>
      <vt:lpstr>模块五当前研究设计</vt:lpstr>
      <vt:lpstr>模块五当前研究设计</vt:lpstr>
      <vt:lpstr>严格对照设计</vt:lpstr>
      <vt:lpstr>近期三模型实验结果</vt:lpstr>
      <vt:lpstr>近期三模型实验结果</vt:lpstr>
      <vt:lpstr>PowerPoint 演示文稿</vt:lpstr>
      <vt:lpstr>PowerPoint 演示文稿</vt:lpstr>
      <vt:lpstr>PowerPoint 演示文稿</vt:lpstr>
      <vt:lpstr>PowerPoint 演示文稿</vt:lpstr>
      <vt:lpstr>当前对“长程检索已经建立”的判断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陈嘉伟</cp:lastModifiedBy>
  <cp:revision>160</cp:revision>
  <dcterms:created xsi:type="dcterms:W3CDTF">2019-06-19T02:08:00Z</dcterms:created>
  <dcterms:modified xsi:type="dcterms:W3CDTF">2026-10-27T08:43:09Z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CA78701BC77A40DA8DBED34C8EE540CD_11</vt:lpwstr>
  </property>
</Properties>
</file>